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71" r:id="rId3"/>
    <p:sldId id="272"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chemeClr val="tx2"/>
                </a:solidFill>
                <a:latin typeface="+mn-lt"/>
              </a:defRPr>
            </a:pPr>
            <a:r>
              <a:rPr sz="1100" b="0" i="0" u="none" strike="noStrike">
                <a:solidFill>
                  <a:schemeClr val="tx2"/>
                </a:solidFill>
                <a:latin typeface="+mn-lt"/>
              </a:rPr>
              <a:t>Overall accuracy S, 2,000 reverse designs (Wang et al., recreated)</a:t>
            </a:r>
          </a:p>
        </c:rich>
      </c:tx>
      <c:overlay val="0"/>
    </c:title>
    <c:autoTitleDeleted val="0"/>
    <c:plotArea>
      <c:layout/>
      <c:barChart>
        <c:barDir val="bar"/>
        <c:grouping val="clustered"/>
        <c:varyColors val="0"/>
        <c:ser>
          <c:idx val="0"/>
          <c:order val="0"/>
          <c:tx>
            <c:strRef>
              <c:f>Sheet1!$B$1</c:f>
              <c:strCache>
                <c:ptCount val="1"/>
                <c:pt idx="0">
                  <c:v>Overall accuracy (%)</c:v>
                </c:pt>
              </c:strCache>
            </c:strRef>
          </c:tx>
          <c:spPr>
            <a:solidFill>
              <a:srgbClr val="5B6B82"/>
            </a:solidFill>
            <a:effectLst/>
          </c:spPr>
          <c:invertIfNegative val="0"/>
          <c:dPt>
            <c:idx val="0"/>
            <c:invertIfNegative val="0"/>
            <c:bubble3D val="0"/>
            <c:extLst>
              <c:ext xmlns:c16="http://schemas.microsoft.com/office/drawing/2014/chart" uri="{C3380CC4-5D6E-409C-BE32-E72D297353CC}">
                <c16:uniqueId val="{00000001-F112-4D39-B4A4-1846D022633B}"/>
              </c:ext>
            </c:extLst>
          </c:dPt>
          <c:dPt>
            <c:idx val="1"/>
            <c:invertIfNegative val="0"/>
            <c:bubble3D val="0"/>
            <c:spPr>
              <a:solidFill>
                <a:srgbClr val="E4572E"/>
              </a:solidFill>
              <a:effectLst/>
            </c:spPr>
            <c:extLst>
              <c:ext xmlns:c16="http://schemas.microsoft.com/office/drawing/2014/chart" uri="{C3380CC4-5D6E-409C-BE32-E72D297353CC}">
                <c16:uniqueId val="{00000003-F112-4D39-B4A4-1846D022633B}"/>
              </c:ext>
            </c:extLst>
          </c:dPt>
          <c:dLbls>
            <c:numFmt formatCode="0.0#&quot;%&quot;" sourceLinked="0"/>
            <c:spPr>
              <a:noFill/>
              <a:ln>
                <a:noFill/>
              </a:ln>
              <a:effectLst/>
            </c:spPr>
            <c:txPr>
              <a:bodyPr/>
              <a:lstStyle/>
              <a:p>
                <a:pPr>
                  <a:defRPr sz="1000" b="0" i="0" u="none" strike="noStrike">
                    <a:solidFill>
                      <a:schemeClr val="tx1"/>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Standard EA</c:v>
                </c:pt>
                <c:pt idx="1">
                  <c:v>Progressive EA</c:v>
                </c:pt>
              </c:strCache>
            </c:strRef>
          </c:cat>
          <c:val>
            <c:numRef>
              <c:f>Sheet1!$B$2:$B$3</c:f>
              <c:numCache>
                <c:formatCode>General</c:formatCode>
                <c:ptCount val="2"/>
                <c:pt idx="0">
                  <c:v>87.65</c:v>
                </c:pt>
                <c:pt idx="1">
                  <c:v>98.7</c:v>
                </c:pt>
              </c:numCache>
            </c:numRef>
          </c:val>
          <c:extLst>
            <c:ext xmlns:c16="http://schemas.microsoft.com/office/drawing/2014/chart" uri="{C3380CC4-5D6E-409C-BE32-E72D297353CC}">
              <c16:uniqueId val="{00000004-F112-4D39-B4A4-1846D022633B}"/>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chemeClr val="accent4"/>
                </a:solidFill>
                <a:latin typeface="+mn-lt"/>
              </a:defRPr>
            </a:pPr>
            <a:endParaRPr lang="en-US"/>
          </a:p>
        </c:txPr>
        <c:crossAx val="2094734552"/>
        <c:crosses val="autoZero"/>
        <c:auto val="1"/>
        <c:lblAlgn val="ctr"/>
        <c:lblOffset val="100"/>
        <c:noMultiLvlLbl val="1"/>
      </c:catAx>
      <c:valAx>
        <c:axId val="2094734552"/>
        <c:scaling>
          <c:orientation val="minMax"/>
          <c:max val="110"/>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Test MSE</c:v>
                </c:pt>
              </c:strCache>
            </c:strRef>
          </c:tx>
          <c:spPr>
            <a:solidFill>
              <a:srgbClr val="E4572E"/>
            </a:solidFill>
            <a:effectLst/>
          </c:spPr>
          <c:invertIfNegative val="0"/>
          <c:dPt>
            <c:idx val="0"/>
            <c:invertIfNegative val="0"/>
            <c:bubble3D val="0"/>
            <c:extLst>
              <c:ext xmlns:c16="http://schemas.microsoft.com/office/drawing/2014/chart" uri="{C3380CC4-5D6E-409C-BE32-E72D297353CC}">
                <c16:uniqueId val="{00000001-6FC7-46CF-BF15-59D4A4C8FECA}"/>
              </c:ext>
            </c:extLst>
          </c:dPt>
          <c:dPt>
            <c:idx val="1"/>
            <c:invertIfNegative val="0"/>
            <c:bubble3D val="0"/>
            <c:spPr>
              <a:solidFill>
                <a:srgbClr val="0E9E8E"/>
              </a:solidFill>
              <a:effectLst/>
            </c:spPr>
            <c:extLst>
              <c:ext xmlns:c16="http://schemas.microsoft.com/office/drawing/2014/chart" uri="{C3380CC4-5D6E-409C-BE32-E72D297353CC}">
                <c16:uniqueId val="{00000003-6FC7-46CF-BF15-59D4A4C8FECA}"/>
              </c:ext>
            </c:extLst>
          </c:dPt>
          <c:cat>
            <c:strRef>
              <c:f>Sheet1!$A$2:$A$3</c:f>
              <c:strCache>
                <c:ptCount val="2"/>
                <c:pt idx="0">
                  <c:v>SEP-CNN</c:v>
                </c:pt>
                <c:pt idx="1">
                  <c:v>ResNet</c:v>
                </c:pt>
              </c:strCache>
            </c:strRef>
          </c:cat>
          <c:val>
            <c:numRef>
              <c:f>Sheet1!$B$2:$B$3</c:f>
              <c:numCache>
                <c:formatCode>General</c:formatCode>
                <c:ptCount val="2"/>
                <c:pt idx="0">
                  <c:v>2.28699E-3</c:v>
                </c:pt>
                <c:pt idx="1">
                  <c:v>5.5905200000000001E-5</c:v>
                </c:pt>
              </c:numCache>
            </c:numRef>
          </c:val>
          <c:extLst>
            <c:ext xmlns:c16="http://schemas.microsoft.com/office/drawing/2014/chart" uri="{C3380CC4-5D6E-409C-BE32-E72D297353CC}">
              <c16:uniqueId val="{00000004-6FC7-46CF-BF15-59D4A4C8FECA}"/>
            </c:ext>
          </c:extLst>
        </c:ser>
        <c:dLbls>
          <c:showLegendKey val="0"/>
          <c:showVal val="0"/>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chemeClr val="accent4"/>
                </a:solidFill>
                <a:latin typeface="+mn-lt"/>
              </a:defRPr>
            </a:pPr>
            <a:endParaRPr lang="en-US"/>
          </a:p>
        </c:txPr>
        <c:crossAx val="2094734552"/>
        <c:crosses val="autoZero"/>
        <c:auto val="1"/>
        <c:lblAlgn val="ctr"/>
        <c:lblOffset val="100"/>
        <c:noMultiLvlLbl val="1"/>
      </c:catAx>
      <c:valAx>
        <c:axId val="2094734552"/>
        <c:scaling>
          <c:logBase val="10"/>
          <c:orientation val="minMax"/>
          <c:max val="0.01"/>
          <c:min val="1.0000000000000001E-5"/>
        </c:scaling>
        <c:delete val="0"/>
        <c:axPos val="l"/>
        <c:majorGridlines>
          <c:spPr>
            <a:ln w="6350" cap="flat">
              <a:solidFill>
                <a:srgbClr val="C9D3DF"/>
              </a:solidFill>
              <a:prstDash val="solid"/>
              <a:round/>
            </a:ln>
          </c:spPr>
        </c:majorGridlines>
        <c:numFmt formatCode="0E+0" sourceLinked="0"/>
        <c:majorTickMark val="out"/>
        <c:minorTickMark val="none"/>
        <c:tickLblPos val="nextTo"/>
        <c:spPr>
          <a:ln w="12700" cap="flat">
            <a:solidFill>
              <a:srgbClr val="888888"/>
            </a:solidFill>
            <a:prstDash val="solid"/>
            <a:round/>
          </a:ln>
        </c:spPr>
        <c:txPr>
          <a:bodyPr/>
          <a:lstStyle/>
          <a:p>
            <a:pPr>
              <a:defRPr sz="900" b="0" i="0" u="none" strike="noStrike">
                <a:solidFill>
                  <a:schemeClr val="accent4"/>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Mean MSE</c:v>
                </c:pt>
              </c:strCache>
            </c:strRef>
          </c:tx>
          <c:spPr>
            <a:solidFill>
              <a:srgbClr val="E4572E"/>
            </a:solidFill>
            <a:effectLst/>
          </c:spPr>
          <c:invertIfNegative val="0"/>
          <c:dPt>
            <c:idx val="0"/>
            <c:invertIfNegative val="0"/>
            <c:bubble3D val="0"/>
            <c:extLst>
              <c:ext xmlns:c16="http://schemas.microsoft.com/office/drawing/2014/chart" uri="{C3380CC4-5D6E-409C-BE32-E72D297353CC}">
                <c16:uniqueId val="{00000001-AA79-4168-A581-4CC92672277F}"/>
              </c:ext>
            </c:extLst>
          </c:dPt>
          <c:dPt>
            <c:idx val="1"/>
            <c:invertIfNegative val="0"/>
            <c:bubble3D val="0"/>
            <c:spPr>
              <a:solidFill>
                <a:srgbClr val="0E9E8E"/>
              </a:solidFill>
              <a:effectLst/>
            </c:spPr>
            <c:extLst>
              <c:ext xmlns:c16="http://schemas.microsoft.com/office/drawing/2014/chart" uri="{C3380CC4-5D6E-409C-BE32-E72D297353CC}">
                <c16:uniqueId val="{00000003-AA79-4168-A581-4CC92672277F}"/>
              </c:ext>
            </c:extLst>
          </c:dPt>
          <c:dLbls>
            <c:numFmt formatCode="0.0000" sourceLinked="0"/>
            <c:spPr>
              <a:noFill/>
              <a:ln>
                <a:noFill/>
              </a:ln>
              <a:effectLst/>
            </c:spPr>
            <c:txPr>
              <a:bodyPr/>
              <a:lstStyle/>
              <a:p>
                <a:pPr>
                  <a:defRPr sz="1000" b="0" i="0" u="none" strike="noStrike">
                    <a:solidFill>
                      <a:schemeClr val="tx1"/>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SEP-CNN</c:v>
                </c:pt>
                <c:pt idx="1">
                  <c:v>ResNet</c:v>
                </c:pt>
              </c:strCache>
            </c:strRef>
          </c:cat>
          <c:val>
            <c:numRef>
              <c:f>Sheet1!$B$2:$B$3</c:f>
              <c:numCache>
                <c:formatCode>General</c:formatCode>
                <c:ptCount val="2"/>
                <c:pt idx="0">
                  <c:v>2.0769300000000001E-2</c:v>
                </c:pt>
                <c:pt idx="1">
                  <c:v>3.6718599999999997E-2</c:v>
                </c:pt>
              </c:numCache>
            </c:numRef>
          </c:val>
          <c:extLst>
            <c:ext xmlns:c16="http://schemas.microsoft.com/office/drawing/2014/chart" uri="{C3380CC4-5D6E-409C-BE32-E72D297353CC}">
              <c16:uniqueId val="{00000004-AA79-4168-A581-4CC92672277F}"/>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chemeClr val="accent4"/>
                </a:solidFill>
                <a:latin typeface="+mn-lt"/>
              </a:defRPr>
            </a:pPr>
            <a:endParaRPr lang="en-US"/>
          </a:p>
        </c:txPr>
        <c:crossAx val="2094734552"/>
        <c:crosses val="autoZero"/>
        <c:auto val="1"/>
        <c:lblAlgn val="ctr"/>
        <c:lblOffset val="100"/>
        <c:noMultiLvlLbl val="1"/>
      </c:catAx>
      <c:valAx>
        <c:axId val="2094734552"/>
        <c:scaling>
          <c:orientation val="minMax"/>
          <c:max val="0.05"/>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058451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Pavan
SCRIPT (≤30 s):
Good morning. I'm Pavan, and with Omar Khan we'll show how a 4D-printed part can be designed backwards: start from the shape you want, then compute the material layout. We review Wang et al. 2025 and Jin et al. 2024, and finish with what our own fork of Wang's code does.
TRANSITION: Let's start with a hands-on example of 4D printing.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Pavan
SCRIPT (≤30 s):
Freehand 4D printing, as in 4Doodle, uses a handheld 3D pen. Extruding plastic stores strain along the drawn path, and heating releases it, so the path programs the shape change. That's the fabrication side. The rest of our talk is a different problem, reverse design: given a target shape, choose the material layout. Our repository does not take hand-drawn sketches; its target is a numeric curve loaded from a CSV file.
TRANSITION: Wang et al. tackle reverse design directly.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Pavan
SCRIPT (≤30 s):
Part one: fast reverse design by Wang and colleagues.
TRANSITION: Here's their framework.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Pavan
SCRIPT (≤30 s):
Wang et al. design hydrogel beams made of voxels. Finite-element simulations train a neural network that predicts the bent shape. An evolutionary algorithm then searches for the layout that matches a target. They report about three seconds per design, in a space of over a million possible layouts.
TRANSITION: Let's look at how voxels encode the shape.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Pavan
SCRIPT (≤30 s):
Each voxel is either active, coded 1, which swells more, or passive, coded 0, which swells less. The beam is a 2-by-10 grid. Each column's mismatch sets its local bend, and the sequence of columns sets the overall curve. The model predicts that curve as 200 x-y points.
TRANSITION: Two engines do the work: predict and search.</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Pavan
SCRIPT (≤30 s):
To predict, SEP-CNN processes each voxel column in its own channel and passes information along to the next. To search, the progressive evolutionary algorithm locks in good columns one at a time instead of guessing all twenty genes at once. In the repository, the target is a numeric curve read from a CSV file.
TRANSITION: What do Wang et al. report?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Pavan
SCRIPT (≤30 s):
These are Wang et al.'s reported results, not ours. In their example, the optimal shape matches the target by generation 3. Their table of 2,000 reverse designs reports an overall accuracy, S, of 98.7 percent with progressive search versus 87.65 for a standard evolutionary algorithm. The chart is recreated from that table. Omar takes over.
TRANSITION: Omar: Jin et al. and our work.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Omar
SCRIPT (≤30 s):
Thanks, Pavan. Jin et al. solve a different problem: arbitrary shapes. They pad any outline into a grid, with 0 for empty, 1 for passive and 2 for active. A ResNet predicts the deformation, and an evolutionary algorithm searches with the settings in the table.
TRANSITION: Their results.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Omar
SCRIPT (≤30 s):
For a parabola target, Jin et al. report the best error falling from about 3.7 to 1.8 millimetres over 200 generations, with the optimised shape tracking the target. They also printed a hand-shaped part that opens and closes on heating. That match is shown visually, not as a measured error.
TRANSITION: How do the two papers compare?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Omar
SCRIPT (≤30 s):
The workflow is related: a learned forward model plus evolutionary search. But the models and goals differ. Wang uses SEP-CNN and progressive search for speed in a small beam. Jin uses ResNet and a standard evolutionary algorithm for arbitrary outlines. Their metrics aren't directly comparable.
TRANSITION: Part two: what our repository does.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Omar
SCRIPT (≤30 s):
Part two: what our repository actually does.
TRANSITION: We started by replacing the forward model.</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Omar
SCRIPT (≤30 s):
In our fork we replaced SEP-CNN with a retrained 2D ResNet. Both map a 2-by-10 layout to a 2-by-200 curve, but it wasn't plug-and-play. We needed matching preprocessing, the same output format, a new checkpoint and PEA integration. Both models were trained on the same 6,000 samples and tested on a separate held-out set of 2,000.
TRANSITION: What did we find?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Omar
SCRIPT (≤30 s):
Three separate results. On the held-out test set, ResNet's MSE was about 41 times lower. On two selected designs, the result was mixed. On one shared set of 1,024 generation-5 candidates, SEP-CNN had lower target-curve prediction error on 1,016. These are model predictions, not physical performance, and they don't establish a universal winner.
TRANSITION: So where does this lead?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Omar
SCRIPT (≤30 s):
Our vision, which is proposed and not built, goes from a patient's hand scan to a printed orthosis. A drawn or scanned target would first need digitizing, resampling to 200 points, and scaling. Our separate FreiHAND prototype isn't part of this code. Takeaways: representation matters, test the surrogate inside the loop, and validate physically.
TRANSITION: Thank you; questions welcome.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Omar
SCRIPT (≤30 s):
Thank you. Our question for you: which validation step should come first before moving toward orthoses? Is it a finite-element check, a printed measurement, or testing new target shapes?
TRANSITION: (Q&amp;A)</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417320"/>
            <a:ext cx="5120640" cy="1737360"/>
          </a:xfrm>
          <a:prstGeom prst="rect">
            <a:avLst/>
          </a:prstGeom>
          <a:noFill/>
          <a:ln/>
        </p:spPr>
        <p:txBody>
          <a:bodyPr wrap="square" rtlCol="0"/>
          <a:lstStyle>
            <a:lvl1pPr marL="0" indent="0" algn="l">
              <a:buNone/>
              <a:defRPr lang="en-US" sz="3000" b="1" dirty="0">
                <a:solidFill>
                  <a:schemeClr val="bg1"/>
                </a:solidFill>
                <a:latin typeface="Georgia" pitchFamily="34" charset="0"/>
                <a:ea typeface="Georgia" pitchFamily="34" charset="-122"/>
                <a:cs typeface="Georgia" pitchFamily="34" charset="-120"/>
              </a:defRPr>
            </a:lvl1pPr>
          </a:lstStyle>
          <a:p>
            <a:pPr marL="0" indent="0" algn="l">
              <a:buNone/>
            </a:pPr>
            <a:endParaRPr lang="en-US" sz="3000" dirty="0"/>
          </a:p>
        </p:txBody>
      </p:sp>
      <p:sp>
        <p:nvSpPr>
          <p:cNvPr id="3" name="Text 0"/>
          <p:cNvSpPr>
            <a:spLocks noGrp="1"/>
          </p:cNvSpPr>
          <p:nvPr>
            <p:ph type="body" idx="101" hasCustomPrompt="1"/>
          </p:nvPr>
        </p:nvSpPr>
        <p:spPr>
          <a:xfrm>
            <a:off x="548640" y="3291840"/>
            <a:ext cx="5120640" cy="822960"/>
          </a:xfrm>
          <a:prstGeom prst="rect">
            <a:avLst/>
          </a:prstGeom>
          <a:noFill/>
          <a:ln/>
        </p:spPr>
        <p:txBody>
          <a:bodyPr wrap="square" rtlCol="0"/>
          <a:lstStyle>
            <a:lvl1pPr marL="0" indent="0" algn="l">
              <a:buNone/>
              <a:defRPr lang="en-US" sz="1500" dirty="0">
                <a:solidFill>
                  <a:schemeClr val="accent5"/>
                </a:solidFill>
                <a:latin typeface="Calibri" pitchFamily="34" charset="0"/>
                <a:ea typeface="Calibri" pitchFamily="34" charset="-122"/>
                <a:cs typeface="Calibri" pitchFamily="34" charset="-120"/>
              </a:defRPr>
            </a:lvl1pPr>
          </a:lstStyle>
          <a:p>
            <a:pPr marL="0" indent="0" algn="l">
              <a:buNone/>
            </a:pPr>
            <a:endParaRPr lang="en-US" sz="15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a:effectLst/>
      </p:bgPr>
    </p:bg>
    <p:spTree>
      <p:nvGrpSpPr>
        <p:cNvPr id="1" name=""/>
        <p:cNvGrpSpPr/>
        <p:nvPr/>
      </p:nvGrpSpPr>
      <p:grpSpPr>
        <a:xfrm>
          <a:off x="0" y="0"/>
          <a:ext cx="0" cy="0"/>
          <a:chOff x="0" y="0"/>
          <a:chExt cx="0" cy="0"/>
        </a:xfrm>
      </p:grpSpPr>
      <p:sp>
        <p:nvSpPr>
          <p:cNvPr id="2" name="Shape 0"/>
          <p:cNvSpPr/>
          <p:nvPr/>
        </p:nvSpPr>
        <p:spPr>
          <a:xfrm>
            <a:off x="5074920" y="1600200"/>
            <a:ext cx="329184" cy="329184"/>
          </a:xfrm>
          <a:prstGeom prst="rect">
            <a:avLst/>
          </a:prstGeom>
          <a:solidFill>
            <a:srgbClr val="0E9E8E"/>
          </a:solidFill>
          <a:ln w="12700">
            <a:solidFill>
              <a:srgbClr val="0E9E8E"/>
            </a:solidFill>
            <a:prstDash val="solid"/>
          </a:ln>
        </p:spPr>
      </p:sp>
      <p:sp>
        <p:nvSpPr>
          <p:cNvPr id="3" name="Shape 1"/>
          <p:cNvSpPr/>
          <p:nvPr/>
        </p:nvSpPr>
        <p:spPr>
          <a:xfrm>
            <a:off x="5449824" y="1600200"/>
            <a:ext cx="329184" cy="329184"/>
          </a:xfrm>
          <a:prstGeom prst="rect">
            <a:avLst/>
          </a:prstGeom>
          <a:solidFill>
            <a:srgbClr val="0E9E8E"/>
          </a:solidFill>
          <a:ln w="12700">
            <a:solidFill>
              <a:srgbClr val="0E9E8E"/>
            </a:solidFill>
            <a:prstDash val="solid"/>
          </a:ln>
        </p:spPr>
      </p:sp>
      <p:sp>
        <p:nvSpPr>
          <p:cNvPr id="4" name="Shape 2"/>
          <p:cNvSpPr/>
          <p:nvPr/>
        </p:nvSpPr>
        <p:spPr>
          <a:xfrm>
            <a:off x="5824728" y="1600200"/>
            <a:ext cx="329184" cy="329184"/>
          </a:xfrm>
          <a:prstGeom prst="rect">
            <a:avLst/>
          </a:prstGeom>
          <a:solidFill>
            <a:srgbClr val="22325A"/>
          </a:solidFill>
          <a:ln w="12700">
            <a:solidFill>
              <a:srgbClr val="22325A"/>
            </a:solidFill>
            <a:prstDash val="solid"/>
          </a:ln>
        </p:spPr>
      </p:sp>
      <p:sp>
        <p:nvSpPr>
          <p:cNvPr id="5" name="Shape 3"/>
          <p:cNvSpPr/>
          <p:nvPr/>
        </p:nvSpPr>
        <p:spPr>
          <a:xfrm>
            <a:off x="6199632" y="1600200"/>
            <a:ext cx="329184" cy="329184"/>
          </a:xfrm>
          <a:prstGeom prst="rect">
            <a:avLst/>
          </a:prstGeom>
          <a:solidFill>
            <a:srgbClr val="22325A"/>
          </a:solidFill>
          <a:ln w="12700">
            <a:solidFill>
              <a:srgbClr val="22325A"/>
            </a:solidFill>
            <a:prstDash val="solid"/>
          </a:ln>
        </p:spPr>
      </p:sp>
      <p:sp>
        <p:nvSpPr>
          <p:cNvPr id="6" name="Shape 4"/>
          <p:cNvSpPr/>
          <p:nvPr/>
        </p:nvSpPr>
        <p:spPr>
          <a:xfrm>
            <a:off x="6574536" y="1600200"/>
            <a:ext cx="329184" cy="329184"/>
          </a:xfrm>
          <a:prstGeom prst="rect">
            <a:avLst/>
          </a:prstGeom>
          <a:solidFill>
            <a:srgbClr val="0E9E8E"/>
          </a:solidFill>
          <a:ln w="12700">
            <a:solidFill>
              <a:srgbClr val="0E9E8E"/>
            </a:solidFill>
            <a:prstDash val="solid"/>
          </a:ln>
        </p:spPr>
      </p:sp>
      <p:sp>
        <p:nvSpPr>
          <p:cNvPr id="7" name="Shape 5"/>
          <p:cNvSpPr/>
          <p:nvPr/>
        </p:nvSpPr>
        <p:spPr>
          <a:xfrm>
            <a:off x="6949440" y="1600200"/>
            <a:ext cx="329184" cy="329184"/>
          </a:xfrm>
          <a:prstGeom prst="rect">
            <a:avLst/>
          </a:prstGeom>
          <a:solidFill>
            <a:srgbClr val="0E9E8E"/>
          </a:solidFill>
          <a:ln w="12700">
            <a:solidFill>
              <a:srgbClr val="0E9E8E"/>
            </a:solidFill>
            <a:prstDash val="solid"/>
          </a:ln>
        </p:spPr>
      </p:sp>
      <p:sp>
        <p:nvSpPr>
          <p:cNvPr id="8" name="Shape 6"/>
          <p:cNvSpPr/>
          <p:nvPr/>
        </p:nvSpPr>
        <p:spPr>
          <a:xfrm>
            <a:off x="7324344" y="1600200"/>
            <a:ext cx="329184" cy="329184"/>
          </a:xfrm>
          <a:prstGeom prst="rect">
            <a:avLst/>
          </a:prstGeom>
          <a:solidFill>
            <a:srgbClr val="0E9E8E"/>
          </a:solidFill>
          <a:ln w="12700">
            <a:solidFill>
              <a:srgbClr val="0E9E8E"/>
            </a:solidFill>
            <a:prstDash val="solid"/>
          </a:ln>
        </p:spPr>
      </p:sp>
      <p:sp>
        <p:nvSpPr>
          <p:cNvPr id="9" name="Shape 7"/>
          <p:cNvSpPr/>
          <p:nvPr/>
        </p:nvSpPr>
        <p:spPr>
          <a:xfrm>
            <a:off x="7699248" y="1600200"/>
            <a:ext cx="329184" cy="329184"/>
          </a:xfrm>
          <a:prstGeom prst="rect">
            <a:avLst/>
          </a:prstGeom>
          <a:solidFill>
            <a:srgbClr val="0E9E8E"/>
          </a:solidFill>
          <a:ln w="12700">
            <a:solidFill>
              <a:srgbClr val="0E9E8E"/>
            </a:solidFill>
            <a:prstDash val="solid"/>
          </a:ln>
        </p:spPr>
      </p:sp>
      <p:sp>
        <p:nvSpPr>
          <p:cNvPr id="10" name="Shape 8"/>
          <p:cNvSpPr/>
          <p:nvPr/>
        </p:nvSpPr>
        <p:spPr>
          <a:xfrm>
            <a:off x="8074152" y="1600200"/>
            <a:ext cx="329184" cy="329184"/>
          </a:xfrm>
          <a:prstGeom prst="rect">
            <a:avLst/>
          </a:prstGeom>
          <a:solidFill>
            <a:srgbClr val="0E9E8E"/>
          </a:solidFill>
          <a:ln w="12700">
            <a:solidFill>
              <a:srgbClr val="0E9E8E"/>
            </a:solidFill>
            <a:prstDash val="solid"/>
          </a:ln>
        </p:spPr>
      </p:sp>
      <p:sp>
        <p:nvSpPr>
          <p:cNvPr id="11" name="Shape 9"/>
          <p:cNvSpPr/>
          <p:nvPr/>
        </p:nvSpPr>
        <p:spPr>
          <a:xfrm>
            <a:off x="8449056" y="1600200"/>
            <a:ext cx="329184" cy="329184"/>
          </a:xfrm>
          <a:prstGeom prst="rect">
            <a:avLst/>
          </a:prstGeom>
          <a:solidFill>
            <a:srgbClr val="22325A"/>
          </a:solidFill>
          <a:ln w="12700">
            <a:solidFill>
              <a:srgbClr val="22325A"/>
            </a:solidFill>
            <a:prstDash val="solid"/>
          </a:ln>
        </p:spPr>
      </p:sp>
      <p:sp>
        <p:nvSpPr>
          <p:cNvPr id="12" name="Shape 10"/>
          <p:cNvSpPr/>
          <p:nvPr/>
        </p:nvSpPr>
        <p:spPr>
          <a:xfrm>
            <a:off x="5074920" y="1975104"/>
            <a:ext cx="329184" cy="329184"/>
          </a:xfrm>
          <a:prstGeom prst="rect">
            <a:avLst/>
          </a:prstGeom>
          <a:solidFill>
            <a:srgbClr val="0E9E8E"/>
          </a:solidFill>
          <a:ln w="12700">
            <a:solidFill>
              <a:srgbClr val="0E9E8E"/>
            </a:solidFill>
            <a:prstDash val="solid"/>
          </a:ln>
        </p:spPr>
      </p:sp>
      <p:sp>
        <p:nvSpPr>
          <p:cNvPr id="13" name="Shape 11"/>
          <p:cNvSpPr/>
          <p:nvPr/>
        </p:nvSpPr>
        <p:spPr>
          <a:xfrm>
            <a:off x="5449824" y="1975104"/>
            <a:ext cx="329184" cy="329184"/>
          </a:xfrm>
          <a:prstGeom prst="rect">
            <a:avLst/>
          </a:prstGeom>
          <a:solidFill>
            <a:srgbClr val="0E9E8E"/>
          </a:solidFill>
          <a:ln w="12700">
            <a:solidFill>
              <a:srgbClr val="0E9E8E"/>
            </a:solidFill>
            <a:prstDash val="solid"/>
          </a:ln>
        </p:spPr>
      </p:sp>
      <p:sp>
        <p:nvSpPr>
          <p:cNvPr id="14" name="Shape 12"/>
          <p:cNvSpPr/>
          <p:nvPr/>
        </p:nvSpPr>
        <p:spPr>
          <a:xfrm>
            <a:off x="5824728" y="1975104"/>
            <a:ext cx="329184" cy="329184"/>
          </a:xfrm>
          <a:prstGeom prst="rect">
            <a:avLst/>
          </a:prstGeom>
          <a:solidFill>
            <a:srgbClr val="0E9E8E"/>
          </a:solidFill>
          <a:ln w="12700">
            <a:solidFill>
              <a:srgbClr val="0E9E8E"/>
            </a:solidFill>
            <a:prstDash val="solid"/>
          </a:ln>
        </p:spPr>
      </p:sp>
      <p:sp>
        <p:nvSpPr>
          <p:cNvPr id="15" name="Shape 13"/>
          <p:cNvSpPr/>
          <p:nvPr/>
        </p:nvSpPr>
        <p:spPr>
          <a:xfrm>
            <a:off x="6199632" y="1975104"/>
            <a:ext cx="329184" cy="329184"/>
          </a:xfrm>
          <a:prstGeom prst="rect">
            <a:avLst/>
          </a:prstGeom>
          <a:solidFill>
            <a:srgbClr val="0E9E8E"/>
          </a:solidFill>
          <a:ln w="12700">
            <a:solidFill>
              <a:srgbClr val="0E9E8E"/>
            </a:solidFill>
            <a:prstDash val="solid"/>
          </a:ln>
        </p:spPr>
      </p:sp>
      <p:sp>
        <p:nvSpPr>
          <p:cNvPr id="16" name="Shape 14"/>
          <p:cNvSpPr/>
          <p:nvPr/>
        </p:nvSpPr>
        <p:spPr>
          <a:xfrm>
            <a:off x="6574536" y="1975104"/>
            <a:ext cx="329184" cy="329184"/>
          </a:xfrm>
          <a:prstGeom prst="rect">
            <a:avLst/>
          </a:prstGeom>
          <a:solidFill>
            <a:srgbClr val="22325A"/>
          </a:solidFill>
          <a:ln w="12700">
            <a:solidFill>
              <a:srgbClr val="22325A"/>
            </a:solidFill>
            <a:prstDash val="solid"/>
          </a:ln>
        </p:spPr>
      </p:sp>
      <p:sp>
        <p:nvSpPr>
          <p:cNvPr id="17" name="Shape 15"/>
          <p:cNvSpPr/>
          <p:nvPr/>
        </p:nvSpPr>
        <p:spPr>
          <a:xfrm>
            <a:off x="6949440" y="1975104"/>
            <a:ext cx="329184" cy="329184"/>
          </a:xfrm>
          <a:prstGeom prst="rect">
            <a:avLst/>
          </a:prstGeom>
          <a:solidFill>
            <a:srgbClr val="22325A"/>
          </a:solidFill>
          <a:ln w="12700">
            <a:solidFill>
              <a:srgbClr val="22325A"/>
            </a:solidFill>
            <a:prstDash val="solid"/>
          </a:ln>
        </p:spPr>
      </p:sp>
      <p:sp>
        <p:nvSpPr>
          <p:cNvPr id="18" name="Shape 16"/>
          <p:cNvSpPr/>
          <p:nvPr/>
        </p:nvSpPr>
        <p:spPr>
          <a:xfrm>
            <a:off x="7324344" y="1975104"/>
            <a:ext cx="329184" cy="329184"/>
          </a:xfrm>
          <a:prstGeom prst="rect">
            <a:avLst/>
          </a:prstGeom>
          <a:solidFill>
            <a:srgbClr val="22325A"/>
          </a:solidFill>
          <a:ln w="12700">
            <a:solidFill>
              <a:srgbClr val="22325A"/>
            </a:solidFill>
            <a:prstDash val="solid"/>
          </a:ln>
        </p:spPr>
      </p:sp>
      <p:sp>
        <p:nvSpPr>
          <p:cNvPr id="19" name="Shape 17"/>
          <p:cNvSpPr/>
          <p:nvPr/>
        </p:nvSpPr>
        <p:spPr>
          <a:xfrm>
            <a:off x="7699248" y="1975104"/>
            <a:ext cx="329184" cy="329184"/>
          </a:xfrm>
          <a:prstGeom prst="rect">
            <a:avLst/>
          </a:prstGeom>
          <a:solidFill>
            <a:srgbClr val="22325A"/>
          </a:solidFill>
          <a:ln w="12700">
            <a:solidFill>
              <a:srgbClr val="22325A"/>
            </a:solidFill>
            <a:prstDash val="solid"/>
          </a:ln>
        </p:spPr>
      </p:sp>
      <p:sp>
        <p:nvSpPr>
          <p:cNvPr id="20" name="Shape 18"/>
          <p:cNvSpPr/>
          <p:nvPr/>
        </p:nvSpPr>
        <p:spPr>
          <a:xfrm>
            <a:off x="8074152" y="1975104"/>
            <a:ext cx="329184" cy="329184"/>
          </a:xfrm>
          <a:prstGeom prst="rect">
            <a:avLst/>
          </a:prstGeom>
          <a:solidFill>
            <a:srgbClr val="22325A"/>
          </a:solidFill>
          <a:ln w="12700">
            <a:solidFill>
              <a:srgbClr val="22325A"/>
            </a:solidFill>
            <a:prstDash val="solid"/>
          </a:ln>
        </p:spPr>
      </p:sp>
      <p:sp>
        <p:nvSpPr>
          <p:cNvPr id="21" name="Shape 19"/>
          <p:cNvSpPr/>
          <p:nvPr/>
        </p:nvSpPr>
        <p:spPr>
          <a:xfrm>
            <a:off x="8449056" y="1975104"/>
            <a:ext cx="329184" cy="329184"/>
          </a:xfrm>
          <a:prstGeom prst="rect">
            <a:avLst/>
          </a:prstGeom>
          <a:solidFill>
            <a:srgbClr val="0E9E8E"/>
          </a:solidFill>
          <a:ln w="12700">
            <a:solidFill>
              <a:srgbClr val="0E9E8E"/>
            </a:solidFill>
            <a:prstDash val="solid"/>
          </a:ln>
        </p:spPr>
      </p:sp>
      <p:sp>
        <p:nvSpPr>
          <p:cNvPr id="22" name="Text 20"/>
          <p:cNvSpPr>
            <a:spLocks noGrp="1"/>
          </p:cNvSpPr>
          <p:nvPr>
            <p:ph type="body" idx="120" hasCustomPrompt="1"/>
          </p:nvPr>
        </p:nvSpPr>
        <p:spPr>
          <a:xfrm>
            <a:off x="548640" y="1097280"/>
            <a:ext cx="2743200" cy="914400"/>
          </a:xfrm>
          <a:prstGeom prst="rect">
            <a:avLst/>
          </a:prstGeom>
          <a:noFill/>
          <a:ln/>
        </p:spPr>
        <p:txBody>
          <a:bodyPr wrap="square" rtlCol="0"/>
          <a:lstStyle>
            <a:lvl1pPr marL="0" indent="0" algn="l">
              <a:buNone/>
              <a:defRPr lang="en-US" sz="5400" b="1" dirty="0">
                <a:solidFill>
                  <a:schemeClr val="accent3"/>
                </a:solidFill>
                <a:latin typeface="Georgia" pitchFamily="34" charset="0"/>
                <a:ea typeface="Georgia" pitchFamily="34" charset="-122"/>
                <a:cs typeface="Georgia" pitchFamily="34" charset="-120"/>
              </a:defRPr>
            </a:lvl1pPr>
          </a:lstStyle>
          <a:p>
            <a:pPr marL="0" indent="0" algn="l">
              <a:buNone/>
            </a:pPr>
            <a:endParaRPr lang="en-US" sz="5400" dirty="0"/>
          </a:p>
        </p:txBody>
      </p:sp>
      <p:sp>
        <p:nvSpPr>
          <p:cNvPr id="23" name="Text 20"/>
          <p:cNvSpPr>
            <a:spLocks noGrp="1"/>
          </p:cNvSpPr>
          <p:nvPr>
            <p:ph type="title" idx="121" hasCustomPrompt="1"/>
          </p:nvPr>
        </p:nvSpPr>
        <p:spPr>
          <a:xfrm>
            <a:off x="548640" y="2103120"/>
            <a:ext cx="4297680" cy="1188720"/>
          </a:xfrm>
          <a:prstGeom prst="rect">
            <a:avLst/>
          </a:prstGeom>
          <a:noFill/>
          <a:ln/>
        </p:spPr>
        <p:txBody>
          <a:bodyPr wrap="square" rtlCol="0"/>
          <a:lstStyle>
            <a:lvl1pPr marL="0" indent="0" algn="l">
              <a:buNone/>
              <a:defRPr lang="en-US" sz="3000" b="1" dirty="0">
                <a:solidFill>
                  <a:schemeClr val="bg1"/>
                </a:solidFill>
                <a:latin typeface="Georgia" pitchFamily="34" charset="0"/>
                <a:ea typeface="Georgia" pitchFamily="34" charset="-122"/>
                <a:cs typeface="Georgia" pitchFamily="34" charset="-120"/>
              </a:defRPr>
            </a:lvl1pPr>
          </a:lstStyle>
          <a:p>
            <a:pPr marL="0" indent="0" algn="l">
              <a:buNone/>
            </a:pPr>
            <a:endParaRPr lang="en-US" sz="3000" dirty="0"/>
          </a:p>
        </p:txBody>
      </p:sp>
      <p:sp>
        <p:nvSpPr>
          <p:cNvPr id="24" name="Text 20"/>
          <p:cNvSpPr>
            <a:spLocks noGrp="1"/>
          </p:cNvSpPr>
          <p:nvPr>
            <p:ph type="body" idx="122" hasCustomPrompt="1"/>
          </p:nvPr>
        </p:nvSpPr>
        <p:spPr>
          <a:xfrm>
            <a:off x="548640" y="3383280"/>
            <a:ext cx="4297680" cy="731520"/>
          </a:xfrm>
          <a:prstGeom prst="rect">
            <a:avLst/>
          </a:prstGeom>
          <a:noFill/>
          <a:ln/>
        </p:spPr>
        <p:txBody>
          <a:bodyPr wrap="square" rtlCol="0"/>
          <a:lstStyle>
            <a:lvl1pPr marL="0" indent="0" algn="l">
              <a:buNone/>
              <a:defRPr lang="en-US" sz="1500" dirty="0">
                <a:solidFill>
                  <a:schemeClr val="accent5"/>
                </a:solidFill>
                <a:latin typeface="Calibri" pitchFamily="34" charset="0"/>
                <a:ea typeface="Calibri" pitchFamily="34" charset="-122"/>
                <a:cs typeface="Calibri" pitchFamily="34" charset="-120"/>
              </a:defRPr>
            </a:lvl1pPr>
          </a:lstStyle>
          <a:p>
            <a:pPr marL="0" indent="0" algn="l">
              <a:buNone/>
            </a:pPr>
            <a:endParaRPr lang="en-US" sz="15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chemeClr val="accent1"/>
          </a:solidFill>
          <a:ln/>
        </p:spPr>
      </p:sp>
      <p:sp>
        <p:nvSpPr>
          <p:cNvPr id="3" name="Shape 1"/>
          <p:cNvSpPr/>
          <p:nvPr/>
        </p:nvSpPr>
        <p:spPr>
          <a:xfrm>
            <a:off x="457200" y="4754880"/>
            <a:ext cx="8229600" cy="0"/>
          </a:xfrm>
          <a:prstGeom prst="line">
            <a:avLst/>
          </a:prstGeom>
          <a:noFill/>
          <a:ln w="6350">
            <a:solidFill>
              <a:srgbClr val="C9D3DF"/>
            </a:solidFill>
            <a:prstDash val="solid"/>
          </a:ln>
        </p:spPr>
      </p:sp>
      <p:sp>
        <p:nvSpPr>
          <p:cNvPr id="4" name="Text 2"/>
          <p:cNvSpPr>
            <a:spLocks noGrp="1"/>
          </p:cNvSpPr>
          <p:nvPr>
            <p:ph type="body" idx="102" hasCustomPrompt="1"/>
          </p:nvPr>
        </p:nvSpPr>
        <p:spPr>
          <a:xfrm>
            <a:off x="457200" y="256032"/>
            <a:ext cx="7315200" cy="228600"/>
          </a:xfrm>
          <a:prstGeom prst="rect">
            <a:avLst/>
          </a:prstGeom>
          <a:noFill/>
          <a:ln/>
        </p:spPr>
        <p:txBody>
          <a:bodyPr wrap="square" rtlCol="0"/>
          <a:lstStyle>
            <a:lvl1pPr marL="0" indent="0" algn="l">
              <a:buNone/>
              <a:defRPr lang="en-US" sz="1000" b="1" kern="0" spc="200" dirty="0">
                <a:solidFill>
                  <a:schemeClr val="accent1"/>
                </a:solidFill>
                <a:latin typeface="Calibri" pitchFamily="34" charset="0"/>
                <a:ea typeface="Calibri" pitchFamily="34" charset="-122"/>
                <a:cs typeface="Calibri" pitchFamily="34" charset="-120"/>
              </a:defRPr>
            </a:lvl1pPr>
          </a:lstStyle>
          <a:p>
            <a:pPr marL="0" indent="0" algn="l">
              <a:buNone/>
            </a:pPr>
            <a:endParaRPr lang="en-US" sz="1000" dirty="0"/>
          </a:p>
        </p:txBody>
      </p:sp>
      <p:sp>
        <p:nvSpPr>
          <p:cNvPr id="5" name="Text 2"/>
          <p:cNvSpPr>
            <a:spLocks noGrp="1"/>
          </p:cNvSpPr>
          <p:nvPr>
            <p:ph type="title" idx="103" hasCustomPrompt="1"/>
          </p:nvPr>
        </p:nvSpPr>
        <p:spPr>
          <a:xfrm>
            <a:off x="457200" y="502920"/>
            <a:ext cx="8229600" cy="548640"/>
          </a:xfrm>
          <a:prstGeom prst="rect">
            <a:avLst/>
          </a:prstGeom>
          <a:noFill/>
          <a:ln/>
        </p:spPr>
        <p:txBody>
          <a:bodyPr wrap="square" rtlCol="0"/>
          <a:lstStyle>
            <a:lvl1pPr marL="0" indent="0" algn="l">
              <a:buNone/>
              <a:defRPr lang="en-US" sz="2400" b="1" dirty="0">
                <a:solidFill>
                  <a:schemeClr val="tx2"/>
                </a:solidFill>
                <a:latin typeface="Georgia" pitchFamily="34" charset="0"/>
                <a:ea typeface="Georgia" pitchFamily="34" charset="-122"/>
                <a:cs typeface="Georgia" pitchFamily="34" charset="-120"/>
              </a:defRPr>
            </a:lvl1pPr>
          </a:lstStyle>
          <a:p>
            <a:pPr marL="0" indent="0" algn="l">
              <a:buNone/>
            </a:pPr>
            <a:endParaRPr lang="en-US" sz="24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82"/>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3D0C3F-64A3-D2C2-17C2-F6BC22F0DA8A}"/>
              </a:ext>
            </a:extLst>
          </p:cNvPr>
          <p:cNvSpPr>
            <a:spLocks noGrp="1"/>
          </p:cNvSpPr>
          <p:nvPr>
            <p:ph type="sldNum" sz="quarter" idx="10"/>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58013187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82"/>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chart" Target="../charts/char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20.png"/><Relationship Id="rId5" Type="http://schemas.openxmlformats.org/officeDocument/2006/relationships/image" Target="../media/image10.pn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21.png"/><Relationship Id="rId5" Type="http://schemas.openxmlformats.org/officeDocument/2006/relationships/chart" Target="../charts/chart3.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7.png"/><Relationship Id="rId7"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10.png"/><Relationship Id="rId5" Type="http://schemas.openxmlformats.org/officeDocument/2006/relationships/image" Target="../media/image22.png"/><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548640"/>
            <a:ext cx="5029200" cy="274320"/>
          </a:xfrm>
          <a:prstGeom prst="rect">
            <a:avLst/>
          </a:prstGeom>
          <a:noFill/>
          <a:ln/>
        </p:spPr>
        <p:txBody>
          <a:bodyPr wrap="square" lIns="0" tIns="0" rIns="0" bIns="0" rtlCol="0" anchor="t"/>
          <a:lstStyle/>
          <a:p>
            <a:pPr marL="0" indent="0">
              <a:buNone/>
            </a:pPr>
            <a:r>
              <a:rPr lang="en-US" sz="1100" b="1" kern="0" spc="300" dirty="0">
                <a:solidFill>
                  <a:schemeClr val="accent3"/>
                </a:solidFill>
                <a:latin typeface="Calibri" pitchFamily="34" charset="0"/>
                <a:ea typeface="Calibri" pitchFamily="34" charset="-122"/>
                <a:cs typeface="Calibri" pitchFamily="34" charset="-120"/>
              </a:rPr>
              <a:t>THE UNIVERSITY OF TEXAS AT DALLAS</a:t>
            </a:r>
            <a:endParaRPr lang="en-US" sz="1100" dirty="0"/>
          </a:p>
        </p:txBody>
      </p:sp>
      <p:sp>
        <p:nvSpPr>
          <p:cNvPr id="3" name="Text 0"/>
          <p:cNvSpPr>
            <a:spLocks noGrp="1"/>
          </p:cNvSpPr>
          <p:nvPr>
            <p:ph type="title" idx="100" hasCustomPrompt="1"/>
          </p:nvPr>
        </p:nvSpPr>
        <p:spPr>
          <a:xfrm>
            <a:off x="548640" y="1417320"/>
            <a:ext cx="5120640" cy="1737360"/>
          </a:xfrm>
          <a:prstGeom prst="rect">
            <a:avLst/>
          </a:prstGeom>
          <a:noFill/>
          <a:ln/>
        </p:spPr>
        <p:txBody>
          <a:bodyPr wrap="square" lIns="0" tIns="0" rIns="0" bIns="0" rtlCol="0" anchor="b"/>
          <a:lstStyle/>
          <a:p>
            <a:pPr marL="0" indent="0" algn="l">
              <a:buNone/>
            </a:pPr>
            <a:r>
              <a:rPr lang="en-US" sz="3000" b="1" dirty="0">
                <a:solidFill>
                  <a:schemeClr val="bg1"/>
                </a:solidFill>
                <a:latin typeface="Georgia" pitchFamily="34" charset="0"/>
                <a:ea typeface="Georgia" pitchFamily="34" charset="-122"/>
                <a:cs typeface="Georgia" pitchFamily="34" charset="-120"/>
              </a:rPr>
              <a:t>From Freehand 4D Printing to AI-Driven Fast Reverse Design</a:t>
            </a:r>
            <a:endParaRPr lang="en-US" sz="3000" dirty="0"/>
          </a:p>
        </p:txBody>
      </p:sp>
      <p:sp>
        <p:nvSpPr>
          <p:cNvPr id="4" name="Text 0"/>
          <p:cNvSpPr>
            <a:spLocks noGrp="1"/>
          </p:cNvSpPr>
          <p:nvPr>
            <p:ph type="body" idx="101" hasCustomPrompt="1"/>
          </p:nvPr>
        </p:nvSpPr>
        <p:spPr>
          <a:xfrm>
            <a:off x="548640" y="3291840"/>
            <a:ext cx="5120640" cy="822960"/>
          </a:xfrm>
          <a:prstGeom prst="rect">
            <a:avLst/>
          </a:prstGeom>
          <a:noFill/>
          <a:ln/>
        </p:spPr>
        <p:txBody>
          <a:bodyPr wrap="square" lIns="0" tIns="0" rIns="0" bIns="0" rtlCol="0" anchor="t"/>
          <a:lstStyle/>
          <a:p>
            <a:pPr marL="0" indent="0" algn="l">
              <a:buNone/>
            </a:pPr>
            <a:r>
              <a:rPr lang="en-US" sz="1500" b="1" dirty="0">
                <a:solidFill>
                  <a:schemeClr val="bg1"/>
                </a:solidFill>
                <a:latin typeface="Calibri" pitchFamily="34" charset="0"/>
                <a:ea typeface="Calibri" pitchFamily="34" charset="-122"/>
                <a:cs typeface="Calibri" pitchFamily="34" charset="-120"/>
              </a:rPr>
              <a:t>Pavan Kailas Patil  ·  Omar Khan</a:t>
            </a:r>
            <a:endParaRPr lang="en-US" sz="1500" dirty="0"/>
          </a:p>
          <a:p>
            <a:pPr marL="0" indent="0" algn="l">
              <a:buNone/>
            </a:pPr>
            <a:r>
              <a:rPr lang="en-US" sz="1200" dirty="0">
                <a:solidFill>
                  <a:schemeClr val="accent5"/>
                </a:solidFill>
                <a:latin typeface="Calibri" pitchFamily="34" charset="0"/>
                <a:ea typeface="Calibri" pitchFamily="34" charset="-122"/>
                <a:cs typeface="Calibri" pitchFamily="34" charset="-120"/>
              </a:rPr>
              <a:t>Based on Wang et al. (2025) and Jin et al. (2024)</a:t>
            </a:r>
            <a:endParaRPr lang="en-US" sz="1500" dirty="0"/>
          </a:p>
        </p:txBody>
      </p:sp>
      <p:pic>
        <p:nvPicPr>
          <p:cNvPr id="5" name="t-flat" descr="img/hero_flat.png"/>
          <p:cNvPicPr>
            <a:picLocks noChangeAspect="1"/>
          </p:cNvPicPr>
          <p:nvPr/>
        </p:nvPicPr>
        <p:blipFill>
          <a:blip r:embed="rId3"/>
          <a:stretch>
            <a:fillRect/>
          </a:stretch>
        </p:blipFill>
        <p:spPr>
          <a:xfrm>
            <a:off x="5989320" y="868680"/>
            <a:ext cx="2743200" cy="466344"/>
          </a:xfrm>
          <a:prstGeom prst="rect">
            <a:avLst/>
          </a:prstGeom>
        </p:spPr>
      </p:pic>
      <p:sp>
        <p:nvSpPr>
          <p:cNvPr id="6" name="Text 3"/>
          <p:cNvSpPr txBox="1"/>
          <p:nvPr/>
        </p:nvSpPr>
        <p:spPr>
          <a:xfrm>
            <a:off x="5989320" y="1389888"/>
            <a:ext cx="2743200" cy="228600"/>
          </a:xfrm>
          <a:prstGeom prst="rect">
            <a:avLst/>
          </a:prstGeom>
          <a:noFill/>
          <a:ln/>
        </p:spPr>
        <p:txBody>
          <a:bodyPr wrap="square" lIns="0" tIns="0" rIns="0" bIns="0" rtlCol="0" anchor="t"/>
          <a:lstStyle/>
          <a:p>
            <a:pPr marL="0" indent="0" algn="ctr">
              <a:buNone/>
            </a:pPr>
            <a:r>
              <a:rPr lang="en-US" sz="1000" dirty="0">
                <a:solidFill>
                  <a:schemeClr val="accent5"/>
                </a:solidFill>
                <a:latin typeface="Calibri" pitchFamily="34" charset="0"/>
                <a:ea typeface="Calibri" pitchFamily="34" charset="-122"/>
                <a:cs typeface="Calibri" pitchFamily="34" charset="-120"/>
              </a:rPr>
              <a:t>print flat</a:t>
            </a:r>
            <a:endParaRPr lang="en-US" sz="1000" dirty="0"/>
          </a:p>
        </p:txBody>
      </p:sp>
      <p:sp>
        <p:nvSpPr>
          <p:cNvPr id="7" name="t-arr"/>
          <p:cNvSpPr/>
          <p:nvPr/>
        </p:nvSpPr>
        <p:spPr>
          <a:xfrm>
            <a:off x="7360920" y="1691640"/>
            <a:ext cx="0" cy="502920"/>
          </a:xfrm>
          <a:prstGeom prst="line">
            <a:avLst/>
          </a:prstGeom>
          <a:noFill/>
          <a:ln w="22225">
            <a:solidFill>
              <a:schemeClr val="accent3"/>
            </a:solidFill>
            <a:prstDash val="solid"/>
            <a:tailEnd type="triangle"/>
          </a:ln>
        </p:spPr>
      </p:sp>
      <p:sp>
        <p:nvSpPr>
          <p:cNvPr id="8" name="Text 5"/>
          <p:cNvSpPr txBox="1"/>
          <p:nvPr/>
        </p:nvSpPr>
        <p:spPr>
          <a:xfrm>
            <a:off x="7498080" y="1810512"/>
            <a:ext cx="1097280" cy="274320"/>
          </a:xfrm>
          <a:prstGeom prst="rect">
            <a:avLst/>
          </a:prstGeom>
          <a:noFill/>
          <a:ln/>
        </p:spPr>
        <p:txBody>
          <a:bodyPr wrap="square" lIns="0" tIns="0" rIns="0" bIns="0" rtlCol="0" anchor="t"/>
          <a:lstStyle/>
          <a:p>
            <a:pPr marL="0" indent="0">
              <a:buNone/>
            </a:pPr>
            <a:r>
              <a:rPr lang="en-US" sz="1100" b="1" dirty="0">
                <a:solidFill>
                  <a:schemeClr val="accent3"/>
                </a:solidFill>
                <a:latin typeface="Calibri" pitchFamily="34" charset="0"/>
                <a:ea typeface="Calibri" pitchFamily="34" charset="-122"/>
                <a:cs typeface="Calibri" pitchFamily="34" charset="-120"/>
              </a:rPr>
              <a:t>trigger</a:t>
            </a:r>
            <a:endParaRPr lang="en-US" sz="1100" dirty="0"/>
          </a:p>
        </p:txBody>
      </p:sp>
      <p:pic>
        <p:nvPicPr>
          <p:cNvPr id="9" name="t-bent" descr="img/hero_bent.png"/>
          <p:cNvPicPr>
            <a:picLocks noChangeAspect="1"/>
          </p:cNvPicPr>
          <p:nvPr/>
        </p:nvPicPr>
        <p:blipFill>
          <a:blip r:embed="rId4"/>
          <a:stretch>
            <a:fillRect/>
          </a:stretch>
        </p:blipFill>
        <p:spPr>
          <a:xfrm>
            <a:off x="5943600" y="2331720"/>
            <a:ext cx="2834640" cy="1417320"/>
          </a:xfrm>
          <a:prstGeom prst="rect">
            <a:avLst/>
          </a:prstGeom>
        </p:spPr>
      </p:pic>
      <p:sp>
        <p:nvSpPr>
          <p:cNvPr id="10" name="Text 6"/>
          <p:cNvSpPr txBox="1"/>
          <p:nvPr/>
        </p:nvSpPr>
        <p:spPr>
          <a:xfrm>
            <a:off x="5989320" y="3794760"/>
            <a:ext cx="2743200" cy="228600"/>
          </a:xfrm>
          <a:prstGeom prst="rect">
            <a:avLst/>
          </a:prstGeom>
          <a:noFill/>
          <a:ln/>
        </p:spPr>
        <p:txBody>
          <a:bodyPr wrap="square" lIns="0" tIns="0" rIns="0" bIns="0" rtlCol="0" anchor="t"/>
          <a:lstStyle/>
          <a:p>
            <a:pPr marL="0" indent="0" algn="ctr">
              <a:buNone/>
            </a:pPr>
            <a:r>
              <a:rPr lang="en-US" sz="1000" dirty="0">
                <a:solidFill>
                  <a:schemeClr val="accent5"/>
                </a:solidFill>
                <a:latin typeface="Calibri" pitchFamily="34" charset="0"/>
                <a:ea typeface="Calibri" pitchFamily="34" charset="-122"/>
                <a:cs typeface="Calibri" pitchFamily="34" charset="-120"/>
              </a:rPr>
              <a:t>programmed shape</a:t>
            </a:r>
            <a:endParaRPr lang="en-US" sz="1000" dirty="0"/>
          </a:p>
        </p:txBody>
      </p:sp>
      <p:sp>
        <p:nvSpPr>
          <p:cNvPr id="11" name="Text 7"/>
          <p:cNvSpPr txBox="1"/>
          <p:nvPr/>
        </p:nvSpPr>
        <p:spPr>
          <a:xfrm>
            <a:off x="5989320" y="4617720"/>
            <a:ext cx="2743200" cy="201168"/>
          </a:xfrm>
          <a:prstGeom prst="rect">
            <a:avLst/>
          </a:prstGeom>
          <a:noFill/>
          <a:ln/>
        </p:spPr>
        <p:txBody>
          <a:bodyPr wrap="square" lIns="0" tIns="0" rIns="0" bIns="0" rtlCol="0" anchor="t"/>
          <a:lstStyle/>
          <a:p>
            <a:pPr marL="0" indent="0" algn="ctr">
              <a:buNone/>
            </a:pPr>
            <a:r>
              <a:rPr lang="en-US" sz="800" i="1" dirty="0">
                <a:solidFill>
                  <a:schemeClr val="accent4"/>
                </a:solidFill>
                <a:latin typeface="Calibri" pitchFamily="34" charset="0"/>
                <a:ea typeface="Calibri" pitchFamily="34" charset="-122"/>
                <a:cs typeface="Calibri" pitchFamily="34" charset="-120"/>
              </a:rPr>
              <a:t>Schematic illustration</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AAEF3B-E758-193B-1072-44F6C2FD21DB}"/>
              </a:ext>
            </a:extLst>
          </p:cNvPr>
          <p:cNvSpPr/>
          <p:nvPr/>
        </p:nvSpPr>
        <p:spPr>
          <a:xfrm>
            <a:off x="0" y="0"/>
            <a:ext cx="109728" cy="5143500"/>
          </a:xfrm>
          <a:prstGeom prst="rect">
            <a:avLst/>
          </a:prstGeom>
          <a:solidFill>
            <a:srgbClr val="0E9E8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7F4282EF-318D-3DAA-9E22-338E0615A2A7}"/>
              </a:ext>
            </a:extLst>
          </p:cNvPr>
          <p:cNvSpPr txBox="1"/>
          <p:nvPr/>
        </p:nvSpPr>
        <p:spPr>
          <a:xfrm>
            <a:off x="457200" y="256032"/>
            <a:ext cx="7315200" cy="302647"/>
          </a:xfrm>
          <a:prstGeom prst="rect">
            <a:avLst/>
          </a:prstGeom>
          <a:noFill/>
        </p:spPr>
        <p:txBody>
          <a:bodyPr vert="horz" wrap="square" lIns="38100" tIns="12700" rIns="38100" bIns="12700" rtlCol="0">
            <a:noAutofit/>
          </a:bodyPr>
          <a:lstStyle/>
          <a:p>
            <a:r>
              <a:rPr lang="en-US" sz="1000" b="1">
                <a:solidFill>
                  <a:srgbClr val="0E9E8E"/>
                </a:solidFill>
                <a:latin typeface="Calibri" panose="020F0502020204030204" pitchFamily="34" charset="0"/>
              </a:rPr>
              <a:t>FREIHAND - SEPARATE GEOMETRY PROTOTYPE</a:t>
            </a:r>
          </a:p>
        </p:txBody>
      </p:sp>
      <p:sp>
        <p:nvSpPr>
          <p:cNvPr id="4" name="TextBox 3">
            <a:extLst>
              <a:ext uri="{FF2B5EF4-FFF2-40B4-BE49-F238E27FC236}">
                <a16:creationId xmlns:a16="http://schemas.microsoft.com/office/drawing/2014/main" id="{CF12F217-CAFE-32AB-BE41-43DBE66C17B3}"/>
              </a:ext>
            </a:extLst>
          </p:cNvPr>
          <p:cNvSpPr txBox="1"/>
          <p:nvPr/>
        </p:nvSpPr>
        <p:spPr>
          <a:xfrm>
            <a:off x="457200" y="502920"/>
            <a:ext cx="8229600" cy="302647"/>
          </a:xfrm>
          <a:prstGeom prst="rect">
            <a:avLst/>
          </a:prstGeom>
          <a:noFill/>
        </p:spPr>
        <p:txBody>
          <a:bodyPr vert="horz" wrap="square" lIns="38100" tIns="12700" rIns="38100" bIns="12700" rtlCol="0">
            <a:noAutofit/>
          </a:bodyPr>
          <a:lstStyle/>
          <a:p>
            <a:r>
              <a:rPr lang="en-US" sz="2400" b="1">
                <a:solidFill>
                  <a:srgbClr val="14213D"/>
                </a:solidFill>
                <a:latin typeface="Georgia" panose="02040502050405020303" pitchFamily="18" charset="0"/>
              </a:rPr>
              <a:t>Normalize real FreiHAND hand geometry</a:t>
            </a:r>
          </a:p>
        </p:txBody>
      </p:sp>
      <p:cxnSp>
        <p:nvCxnSpPr>
          <p:cNvPr id="5" name="Straight Connector 4">
            <a:extLst>
              <a:ext uri="{FF2B5EF4-FFF2-40B4-BE49-F238E27FC236}">
                <a16:creationId xmlns:a16="http://schemas.microsoft.com/office/drawing/2014/main" id="{D72BF6B0-6645-F313-73E7-32911DDD86BD}"/>
              </a:ext>
            </a:extLst>
          </p:cNvPr>
          <p:cNvCxnSpPr/>
          <p:nvPr/>
        </p:nvCxnSpPr>
        <p:spPr>
          <a:xfrm>
            <a:off x="457200" y="4754880"/>
            <a:ext cx="8229600" cy="0"/>
          </a:xfrm>
          <a:prstGeom prst="line">
            <a:avLst/>
          </a:prstGeom>
          <a:ln w="6350">
            <a:solidFill>
              <a:srgbClr val="D0E9D5"/>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4EE3FBA-808A-CE32-1DE9-342569DEF06F}"/>
              </a:ext>
            </a:extLst>
          </p:cNvPr>
          <p:cNvSpPr txBox="1"/>
          <p:nvPr/>
        </p:nvSpPr>
        <p:spPr>
          <a:xfrm>
            <a:off x="457200" y="4800600"/>
            <a:ext cx="7498080" cy="302647"/>
          </a:xfrm>
          <a:prstGeom prst="rect">
            <a:avLst/>
          </a:prstGeom>
          <a:noFill/>
        </p:spPr>
        <p:txBody>
          <a:bodyPr vert="horz" wrap="square" lIns="38100" tIns="12700" rIns="38100" bIns="12700" rtlCol="0">
            <a:noAutofit/>
          </a:bodyPr>
          <a:lstStyle/>
          <a:p>
            <a:r>
              <a:rPr lang="en-US" sz="750">
                <a:solidFill>
                  <a:srgbClr val="5B6B82"/>
                </a:solidFill>
                <a:latin typeface="Calibri" panose="020F0502020204030204" pitchFamily="34" charset="0"/>
              </a:rPr>
              <a:t>Real FreiHAND training sample 00000000 [5]; loader and normalization checks [6].</a:t>
            </a:r>
          </a:p>
        </p:txBody>
      </p:sp>
      <p:sp>
        <p:nvSpPr>
          <p:cNvPr id="7" name="TextBox 6">
            <a:extLst>
              <a:ext uri="{FF2B5EF4-FFF2-40B4-BE49-F238E27FC236}">
                <a16:creationId xmlns:a16="http://schemas.microsoft.com/office/drawing/2014/main" id="{688433F5-BC4E-C341-5D31-6D02E52E88C2}"/>
              </a:ext>
            </a:extLst>
          </p:cNvPr>
          <p:cNvSpPr txBox="1"/>
          <p:nvPr/>
        </p:nvSpPr>
        <p:spPr>
          <a:xfrm>
            <a:off x="8229600" y="4800600"/>
            <a:ext cx="457200" cy="302647"/>
          </a:xfrm>
          <a:prstGeom prst="rect">
            <a:avLst/>
          </a:prstGeom>
          <a:noFill/>
        </p:spPr>
        <p:txBody>
          <a:bodyPr vert="horz" wrap="square" lIns="38100" tIns="12700" rIns="38100" bIns="12700" rtlCol="0">
            <a:noAutofit/>
          </a:bodyPr>
          <a:lstStyle/>
          <a:p>
            <a:r>
              <a:rPr lang="en-US" sz="900">
                <a:solidFill>
                  <a:srgbClr val="5B6B82"/>
                </a:solidFill>
                <a:latin typeface="Calibri" panose="020F0502020204030204" pitchFamily="34" charset="0"/>
              </a:rPr>
              <a:t>2</a:t>
            </a:r>
          </a:p>
        </p:txBody>
      </p:sp>
      <p:pic>
        <p:nvPicPr>
          <p:cNvPr id="9" name="Picture 8">
            <a:extLst>
              <a:ext uri="{FF2B5EF4-FFF2-40B4-BE49-F238E27FC236}">
                <a16:creationId xmlns:a16="http://schemas.microsoft.com/office/drawing/2014/main" id="{4E5887D8-FE06-2FCC-62A7-D8ED53CA86C1}"/>
              </a:ext>
            </a:extLst>
          </p:cNvPr>
          <p:cNvPicPr>
            <a:picLocks/>
          </p:cNvPicPr>
          <p:nvPr/>
        </p:nvPicPr>
        <p:blipFill>
          <a:blip r:embed="rId2"/>
          <a:stretch>
            <a:fillRect/>
          </a:stretch>
        </p:blipFill>
        <p:spPr>
          <a:xfrm>
            <a:off x="457200" y="1234440"/>
            <a:ext cx="5230368" cy="2944368"/>
          </a:xfrm>
          <a:prstGeom prst="rect">
            <a:avLst/>
          </a:prstGeom>
        </p:spPr>
      </p:pic>
      <p:sp>
        <p:nvSpPr>
          <p:cNvPr id="10" name="Rectangle: Rounded Corners 9">
            <a:extLst>
              <a:ext uri="{FF2B5EF4-FFF2-40B4-BE49-F238E27FC236}">
                <a16:creationId xmlns:a16="http://schemas.microsoft.com/office/drawing/2014/main" id="{284469C2-FE5B-B1B6-92F6-17F680E57EBA}"/>
              </a:ext>
            </a:extLst>
          </p:cNvPr>
          <p:cNvSpPr/>
          <p:nvPr/>
        </p:nvSpPr>
        <p:spPr>
          <a:xfrm>
            <a:off x="5897880" y="1234440"/>
            <a:ext cx="2788920" cy="2944368"/>
          </a:xfrm>
          <a:prstGeom prst="roundRect">
            <a:avLst/>
          </a:prstGeom>
          <a:solidFill>
            <a:srgbClr val="F0F0F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118BC6FB-C089-101C-3202-8F8005E85E47}"/>
              </a:ext>
            </a:extLst>
          </p:cNvPr>
          <p:cNvSpPr txBox="1"/>
          <p:nvPr/>
        </p:nvSpPr>
        <p:spPr>
          <a:xfrm>
            <a:off x="6126480" y="1463040"/>
            <a:ext cx="2286000" cy="302647"/>
          </a:xfrm>
          <a:prstGeom prst="rect">
            <a:avLst/>
          </a:prstGeom>
          <a:noFill/>
        </p:spPr>
        <p:txBody>
          <a:bodyPr vert="horz" wrap="square" lIns="38100" tIns="12700" rIns="38100" bIns="12700" rtlCol="0">
            <a:noAutofit/>
          </a:bodyPr>
          <a:lstStyle/>
          <a:p>
            <a:r>
              <a:rPr lang="en-US" sz="1000" b="1">
                <a:solidFill>
                  <a:srgbClr val="0E9E8E"/>
                </a:solidFill>
                <a:latin typeface="Calibri" panose="020F0502020204030204" pitchFamily="34" charset="0"/>
              </a:rPr>
              <a:t>REAL TRAINING SAMPLE</a:t>
            </a:r>
          </a:p>
        </p:txBody>
      </p:sp>
      <p:sp>
        <p:nvSpPr>
          <p:cNvPr id="12" name="TextBox 11">
            <a:extLst>
              <a:ext uri="{FF2B5EF4-FFF2-40B4-BE49-F238E27FC236}">
                <a16:creationId xmlns:a16="http://schemas.microsoft.com/office/drawing/2014/main" id="{D9A4A483-AD9C-32B3-F722-41C9793F809B}"/>
              </a:ext>
            </a:extLst>
          </p:cNvPr>
          <p:cNvSpPr txBox="1"/>
          <p:nvPr/>
        </p:nvSpPr>
        <p:spPr>
          <a:xfrm>
            <a:off x="6126480" y="1783080"/>
            <a:ext cx="2286000" cy="302647"/>
          </a:xfrm>
          <a:prstGeom prst="rect">
            <a:avLst/>
          </a:prstGeom>
          <a:noFill/>
        </p:spPr>
        <p:txBody>
          <a:bodyPr vert="horz" wrap="square" lIns="38100" tIns="12700" rIns="38100" bIns="12700" rtlCol="0">
            <a:noAutofit/>
          </a:bodyPr>
          <a:lstStyle/>
          <a:p>
            <a:r>
              <a:rPr lang="en-US" sz="2200" b="1">
                <a:solidFill>
                  <a:srgbClr val="14213D"/>
                </a:solidFill>
                <a:latin typeface="Georgia" panose="02040502050405020303" pitchFamily="18" charset="0"/>
              </a:rPr>
              <a:t>778 vertices
21 keypoints</a:t>
            </a:r>
          </a:p>
        </p:txBody>
      </p:sp>
      <p:sp>
        <p:nvSpPr>
          <p:cNvPr id="13" name="TextBox 12">
            <a:extLst>
              <a:ext uri="{FF2B5EF4-FFF2-40B4-BE49-F238E27FC236}">
                <a16:creationId xmlns:a16="http://schemas.microsoft.com/office/drawing/2014/main" id="{7BB7CD40-8AA8-FA44-EB9B-3171D3318394}"/>
              </a:ext>
            </a:extLst>
          </p:cNvPr>
          <p:cNvSpPr txBox="1"/>
          <p:nvPr/>
        </p:nvSpPr>
        <p:spPr>
          <a:xfrm>
            <a:off x="6126480" y="2697480"/>
            <a:ext cx="2331720" cy="302647"/>
          </a:xfrm>
          <a:prstGeom prst="rect">
            <a:avLst/>
          </a:prstGeom>
          <a:noFill/>
        </p:spPr>
        <p:txBody>
          <a:bodyPr vert="horz" wrap="square" lIns="38100" tIns="12700" rIns="38100" bIns="12700" rtlCol="0">
            <a:noAutofit/>
          </a:bodyPr>
          <a:lstStyle/>
          <a:p>
            <a:r>
              <a:rPr lang="en-US" sz="1100">
                <a:solidFill>
                  <a:srgbClr val="14213D"/>
                </a:solidFill>
                <a:latin typeface="Calibri" panose="020F0502020204030204" pitchFamily="34" charset="0"/>
              </a:rPr>
              <a:t>Loader: annotations + metadata.
Normalization creates a reversible, uniformly scaled copy; axes are unchanged.</a:t>
            </a:r>
          </a:p>
        </p:txBody>
      </p:sp>
      <p:sp>
        <p:nvSpPr>
          <p:cNvPr id="14" name="TextBox 13">
            <a:extLst>
              <a:ext uri="{FF2B5EF4-FFF2-40B4-BE49-F238E27FC236}">
                <a16:creationId xmlns:a16="http://schemas.microsoft.com/office/drawing/2014/main" id="{CD171A65-3054-DCE1-38E3-EC9693BDE309}"/>
              </a:ext>
            </a:extLst>
          </p:cNvPr>
          <p:cNvSpPr txBox="1"/>
          <p:nvPr/>
        </p:nvSpPr>
        <p:spPr>
          <a:xfrm>
            <a:off x="6126480" y="3749040"/>
            <a:ext cx="2331720" cy="302647"/>
          </a:xfrm>
          <a:prstGeom prst="rect">
            <a:avLst/>
          </a:prstGeom>
          <a:noFill/>
        </p:spPr>
        <p:txBody>
          <a:bodyPr vert="horz" wrap="square" lIns="38100" tIns="12700" rIns="38100" bIns="12700" rtlCol="0">
            <a:noAutofit/>
          </a:bodyPr>
          <a:lstStyle/>
          <a:p>
            <a:r>
              <a:rPr lang="en-US" sz="900">
                <a:solidFill>
                  <a:srgbClr val="5B6B82"/>
                </a:solidFill>
                <a:latin typeface="Calibri" panose="020F0502020204030204" pitchFamily="34" charset="0"/>
              </a:rPr>
              <a:t>50 sampled records passed prototype checks.
Not fit or clinical validation.</a:t>
            </a:r>
          </a:p>
        </p:txBody>
      </p:sp>
    </p:spTree>
    <p:extLst>
      <p:ext uri="{BB962C8B-B14F-4D97-AF65-F5344CB8AC3E}">
        <p14:creationId xmlns:p14="http://schemas.microsoft.com/office/powerpoint/2010/main" val="14953995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08EC0E-4352-2E43-4163-97E60EBA0867}"/>
              </a:ext>
            </a:extLst>
          </p:cNvPr>
          <p:cNvSpPr/>
          <p:nvPr/>
        </p:nvSpPr>
        <p:spPr>
          <a:xfrm>
            <a:off x="0" y="0"/>
            <a:ext cx="109728" cy="5143500"/>
          </a:xfrm>
          <a:prstGeom prst="rect">
            <a:avLst/>
          </a:prstGeom>
          <a:solidFill>
            <a:srgbClr val="0E9E8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B88C2010-4321-ABB1-BADD-824129F86C5A}"/>
              </a:ext>
            </a:extLst>
          </p:cNvPr>
          <p:cNvSpPr txBox="1"/>
          <p:nvPr/>
        </p:nvSpPr>
        <p:spPr>
          <a:xfrm>
            <a:off x="457200" y="256032"/>
            <a:ext cx="7315200" cy="302647"/>
          </a:xfrm>
          <a:prstGeom prst="rect">
            <a:avLst/>
          </a:prstGeom>
          <a:noFill/>
        </p:spPr>
        <p:txBody>
          <a:bodyPr vert="horz" wrap="square" lIns="38100" tIns="12700" rIns="38100" bIns="12700" rtlCol="0">
            <a:noAutofit/>
          </a:bodyPr>
          <a:lstStyle/>
          <a:p>
            <a:r>
              <a:rPr lang="en-US" sz="1000" b="1">
                <a:solidFill>
                  <a:srgbClr val="0E9E8E"/>
                </a:solidFill>
                <a:latin typeface="Calibri" panose="020F0502020204030204" pitchFamily="34" charset="0"/>
              </a:rPr>
              <a:t>FREIHAND - IMPLEMENTED SPATIAL ENCODER</a:t>
            </a:r>
          </a:p>
        </p:txBody>
      </p:sp>
      <p:sp>
        <p:nvSpPr>
          <p:cNvPr id="4" name="TextBox 3">
            <a:extLst>
              <a:ext uri="{FF2B5EF4-FFF2-40B4-BE49-F238E27FC236}">
                <a16:creationId xmlns:a16="http://schemas.microsoft.com/office/drawing/2014/main" id="{E09823D7-7552-B86B-924F-E4C1DAB99BE8}"/>
              </a:ext>
            </a:extLst>
          </p:cNvPr>
          <p:cNvSpPr txBox="1"/>
          <p:nvPr/>
        </p:nvSpPr>
        <p:spPr>
          <a:xfrm>
            <a:off x="457200" y="502920"/>
            <a:ext cx="8229600" cy="302647"/>
          </a:xfrm>
          <a:prstGeom prst="rect">
            <a:avLst/>
          </a:prstGeom>
          <a:noFill/>
        </p:spPr>
        <p:txBody>
          <a:bodyPr vert="horz" wrap="square" lIns="38100" tIns="12700" rIns="38100" bIns="12700" rtlCol="0">
            <a:noAutofit/>
          </a:bodyPr>
          <a:lstStyle/>
          <a:p>
            <a:r>
              <a:rPr lang="en-US" sz="2400" b="1">
                <a:solidFill>
                  <a:srgbClr val="14213D"/>
                </a:solidFill>
                <a:latin typeface="Georgia" panose="02040502050405020303" pitchFamily="18" charset="0"/>
              </a:rPr>
              <a:t>Voxelize vertices and named keypoints</a:t>
            </a:r>
          </a:p>
        </p:txBody>
      </p:sp>
      <p:cxnSp>
        <p:nvCxnSpPr>
          <p:cNvPr id="5" name="Straight Connector 4">
            <a:extLst>
              <a:ext uri="{FF2B5EF4-FFF2-40B4-BE49-F238E27FC236}">
                <a16:creationId xmlns:a16="http://schemas.microsoft.com/office/drawing/2014/main" id="{251D3D66-2DB5-D2D3-08E2-ADA8DDA21811}"/>
              </a:ext>
            </a:extLst>
          </p:cNvPr>
          <p:cNvCxnSpPr/>
          <p:nvPr/>
        </p:nvCxnSpPr>
        <p:spPr>
          <a:xfrm>
            <a:off x="457200" y="4754880"/>
            <a:ext cx="8229600" cy="0"/>
          </a:xfrm>
          <a:prstGeom prst="line">
            <a:avLst/>
          </a:prstGeom>
          <a:ln w="6350">
            <a:solidFill>
              <a:srgbClr val="D0E9D5"/>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7CCD2812-7420-C9D7-8875-97876557994F}"/>
              </a:ext>
            </a:extLst>
          </p:cNvPr>
          <p:cNvSpPr txBox="1"/>
          <p:nvPr/>
        </p:nvSpPr>
        <p:spPr>
          <a:xfrm>
            <a:off x="457200" y="4800600"/>
            <a:ext cx="7498080" cy="302647"/>
          </a:xfrm>
          <a:prstGeom prst="rect">
            <a:avLst/>
          </a:prstGeom>
          <a:noFill/>
        </p:spPr>
        <p:txBody>
          <a:bodyPr vert="horz" wrap="square" lIns="38100" tIns="12700" rIns="38100" bIns="12700" rtlCol="0">
            <a:noAutofit/>
          </a:bodyPr>
          <a:lstStyle/>
          <a:p>
            <a:r>
              <a:rPr lang="en-US" sz="750">
                <a:solidFill>
                  <a:srgbClr val="5B6B82"/>
                </a:solidFill>
                <a:latin typeface="Calibri" panose="020F0502020204030204" pitchFamily="34" charset="0"/>
              </a:rPr>
              <a:t>FreiHAND representation and 50-sample inspection [6]; dataset source [5].</a:t>
            </a:r>
          </a:p>
        </p:txBody>
      </p:sp>
      <p:sp>
        <p:nvSpPr>
          <p:cNvPr id="7" name="TextBox 6">
            <a:extLst>
              <a:ext uri="{FF2B5EF4-FFF2-40B4-BE49-F238E27FC236}">
                <a16:creationId xmlns:a16="http://schemas.microsoft.com/office/drawing/2014/main" id="{D557D4E8-B123-86FA-3A41-9D4445658F26}"/>
              </a:ext>
            </a:extLst>
          </p:cNvPr>
          <p:cNvSpPr txBox="1"/>
          <p:nvPr/>
        </p:nvSpPr>
        <p:spPr>
          <a:xfrm>
            <a:off x="8229600" y="4800600"/>
            <a:ext cx="457200" cy="302647"/>
          </a:xfrm>
          <a:prstGeom prst="rect">
            <a:avLst/>
          </a:prstGeom>
          <a:noFill/>
        </p:spPr>
        <p:txBody>
          <a:bodyPr vert="horz" wrap="square" lIns="38100" tIns="12700" rIns="38100" bIns="12700" rtlCol="0">
            <a:noAutofit/>
          </a:bodyPr>
          <a:lstStyle/>
          <a:p>
            <a:r>
              <a:rPr lang="en-US" sz="900">
                <a:solidFill>
                  <a:srgbClr val="5B6B82"/>
                </a:solidFill>
                <a:latin typeface="Calibri" panose="020F0502020204030204" pitchFamily="34" charset="0"/>
              </a:rPr>
              <a:t>3</a:t>
            </a:r>
          </a:p>
        </p:txBody>
      </p:sp>
      <p:pic>
        <p:nvPicPr>
          <p:cNvPr id="9" name="Picture 8">
            <a:extLst>
              <a:ext uri="{FF2B5EF4-FFF2-40B4-BE49-F238E27FC236}">
                <a16:creationId xmlns:a16="http://schemas.microsoft.com/office/drawing/2014/main" id="{51FF0BFD-48BA-E1C7-4226-63EB271FA2E4}"/>
              </a:ext>
            </a:extLst>
          </p:cNvPr>
          <p:cNvPicPr>
            <a:picLocks/>
          </p:cNvPicPr>
          <p:nvPr/>
        </p:nvPicPr>
        <p:blipFill>
          <a:blip r:embed="rId2"/>
          <a:stretch>
            <a:fillRect/>
          </a:stretch>
        </p:blipFill>
        <p:spPr>
          <a:xfrm>
            <a:off x="457200" y="1234440"/>
            <a:ext cx="5230368" cy="2944368"/>
          </a:xfrm>
          <a:prstGeom prst="rect">
            <a:avLst/>
          </a:prstGeom>
        </p:spPr>
      </p:pic>
      <p:sp>
        <p:nvSpPr>
          <p:cNvPr id="10" name="Rectangle: Rounded Corners 9">
            <a:extLst>
              <a:ext uri="{FF2B5EF4-FFF2-40B4-BE49-F238E27FC236}">
                <a16:creationId xmlns:a16="http://schemas.microsoft.com/office/drawing/2014/main" id="{28C68F7A-9B99-4AC4-7C9A-E83203BF8312}"/>
              </a:ext>
            </a:extLst>
          </p:cNvPr>
          <p:cNvSpPr/>
          <p:nvPr/>
        </p:nvSpPr>
        <p:spPr>
          <a:xfrm>
            <a:off x="5897880" y="1234440"/>
            <a:ext cx="2788920" cy="2944368"/>
          </a:xfrm>
          <a:prstGeom prst="roundRect">
            <a:avLst/>
          </a:prstGeom>
          <a:solidFill>
            <a:srgbClr val="F0F0F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A130019A-2EF5-780C-6BD8-6B9CFCF08488}"/>
              </a:ext>
            </a:extLst>
          </p:cNvPr>
          <p:cNvSpPr txBox="1"/>
          <p:nvPr/>
        </p:nvSpPr>
        <p:spPr>
          <a:xfrm>
            <a:off x="6126480" y="1481328"/>
            <a:ext cx="2286000" cy="302647"/>
          </a:xfrm>
          <a:prstGeom prst="rect">
            <a:avLst/>
          </a:prstGeom>
          <a:noFill/>
        </p:spPr>
        <p:txBody>
          <a:bodyPr vert="horz" wrap="square" lIns="38100" tIns="12700" rIns="38100" bIns="12700" rtlCol="0">
            <a:noAutofit/>
          </a:bodyPr>
          <a:lstStyle/>
          <a:p>
            <a:r>
              <a:rPr lang="en-US" sz="2500" b="1">
                <a:solidFill>
                  <a:srgbClr val="0E9E8E"/>
                </a:solidFill>
                <a:latin typeface="Georgia" panose="02040502050405020303" pitchFamily="18" charset="0"/>
              </a:rPr>
              <a:t>96³ × 22</a:t>
            </a:r>
          </a:p>
        </p:txBody>
      </p:sp>
      <p:sp>
        <p:nvSpPr>
          <p:cNvPr id="12" name="TextBox 11">
            <a:extLst>
              <a:ext uri="{FF2B5EF4-FFF2-40B4-BE49-F238E27FC236}">
                <a16:creationId xmlns:a16="http://schemas.microsoft.com/office/drawing/2014/main" id="{0630ECA3-D761-B243-2EE6-C0F2D86D0550}"/>
              </a:ext>
            </a:extLst>
          </p:cNvPr>
          <p:cNvSpPr txBox="1"/>
          <p:nvPr/>
        </p:nvSpPr>
        <p:spPr>
          <a:xfrm>
            <a:off x="6126480" y="2011680"/>
            <a:ext cx="2286000" cy="302647"/>
          </a:xfrm>
          <a:prstGeom prst="rect">
            <a:avLst/>
          </a:prstGeom>
          <a:noFill/>
        </p:spPr>
        <p:txBody>
          <a:bodyPr vert="horz" wrap="square" lIns="38100" tIns="12700" rIns="38100" bIns="12700" rtlCol="0">
            <a:noAutofit/>
          </a:bodyPr>
          <a:lstStyle/>
          <a:p>
            <a:r>
              <a:rPr lang="en-US" sz="1400" b="1">
                <a:solidFill>
                  <a:srgbClr val="14213D"/>
                </a:solidFill>
                <a:latin typeface="Calibri" panose="020F0502020204030204" pitchFamily="34" charset="0"/>
              </a:rPr>
              <a:t>binary uint8 tensor</a:t>
            </a:r>
          </a:p>
        </p:txBody>
      </p:sp>
      <p:sp>
        <p:nvSpPr>
          <p:cNvPr id="13" name="TextBox 12">
            <a:extLst>
              <a:ext uri="{FF2B5EF4-FFF2-40B4-BE49-F238E27FC236}">
                <a16:creationId xmlns:a16="http://schemas.microsoft.com/office/drawing/2014/main" id="{DC8D5C26-E497-F0FA-E4D0-CBC7BD8CB17B}"/>
              </a:ext>
            </a:extLst>
          </p:cNvPr>
          <p:cNvSpPr txBox="1"/>
          <p:nvPr/>
        </p:nvSpPr>
        <p:spPr>
          <a:xfrm>
            <a:off x="6126480" y="2395728"/>
            <a:ext cx="2331720" cy="302647"/>
          </a:xfrm>
          <a:prstGeom prst="rect">
            <a:avLst/>
          </a:prstGeom>
          <a:noFill/>
        </p:spPr>
        <p:txBody>
          <a:bodyPr vert="horz" wrap="square" lIns="38100" tIns="12700" rIns="38100" bIns="12700" rtlCol="0">
            <a:noAutofit/>
          </a:bodyPr>
          <a:lstStyle/>
          <a:p>
            <a:r>
              <a:rPr lang="en-US" sz="1050">
                <a:solidFill>
                  <a:srgbClr val="14213D"/>
                </a:solidFill>
                <a:latin typeface="Calibri" panose="020F0502020204030204" pitchFamily="34" charset="0"/>
              </a:rPr>
              <a:t>Channel 0
Observed-vertex occupancy
Channels 1–21
One named keypoint per channel
Transform and scale stored as metadata.</a:t>
            </a:r>
          </a:p>
        </p:txBody>
      </p:sp>
      <p:sp>
        <p:nvSpPr>
          <p:cNvPr id="14" name="Rectangle: Rounded Corners 13">
            <a:extLst>
              <a:ext uri="{FF2B5EF4-FFF2-40B4-BE49-F238E27FC236}">
                <a16:creationId xmlns:a16="http://schemas.microsoft.com/office/drawing/2014/main" id="{B966A4CD-431C-6C4D-9FEA-A2F2E94A1B72}"/>
              </a:ext>
            </a:extLst>
          </p:cNvPr>
          <p:cNvSpPr/>
          <p:nvPr/>
        </p:nvSpPr>
        <p:spPr>
          <a:xfrm>
            <a:off x="457200" y="4279392"/>
            <a:ext cx="8229600" cy="347472"/>
          </a:xfrm>
          <a:prstGeom prst="roundRect">
            <a:avLst/>
          </a:prstGeom>
          <a:solidFill>
            <a:srgbClr val="14213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71479847-B929-8BFA-DBB6-9D515D700541}"/>
              </a:ext>
            </a:extLst>
          </p:cNvPr>
          <p:cNvSpPr txBox="1"/>
          <p:nvPr/>
        </p:nvSpPr>
        <p:spPr>
          <a:xfrm>
            <a:off x="621792" y="4334256"/>
            <a:ext cx="7909560" cy="302647"/>
          </a:xfrm>
          <a:prstGeom prst="rect">
            <a:avLst/>
          </a:prstGeom>
          <a:noFill/>
        </p:spPr>
        <p:txBody>
          <a:bodyPr vert="horz" wrap="square" lIns="38100" tIns="12700" rIns="38100" bIns="12700" rtlCol="0">
            <a:noAutofit/>
          </a:bodyPr>
          <a:lstStyle/>
          <a:p>
            <a:r>
              <a:rPr lang="en-US" sz="950" b="1">
                <a:solidFill>
                  <a:srgbClr val="FFFFFF"/>
                </a:solidFill>
                <a:latin typeface="Calibri" panose="020F0502020204030204" pitchFamily="34" charset="0"/>
              </a:rPr>
              <a:t>LIMITATION  No face topology is supplied: channel 0 marks sampled vertices, not a continuous hand surface. Not an orthosis-fit or clinical validation system.</a:t>
            </a:r>
          </a:p>
        </p:txBody>
      </p:sp>
    </p:spTree>
    <p:extLst>
      <p:ext uri="{BB962C8B-B14F-4D97-AF65-F5344CB8AC3E}">
        <p14:creationId xmlns:p14="http://schemas.microsoft.com/office/powerpoint/2010/main" val="39960398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457200" y="256032"/>
            <a:ext cx="7315200" cy="228600"/>
          </a:xfrm>
          <a:prstGeom prst="rect">
            <a:avLst/>
          </a:prstGeom>
          <a:noFill/>
          <a:ln/>
        </p:spPr>
        <p:txBody>
          <a:bodyPr wrap="square" lIns="0" tIns="0" rIns="0" bIns="0" rtlCol="0" anchor="ctr"/>
          <a:lstStyle/>
          <a:p>
            <a:pPr marL="0" indent="0" algn="l">
              <a:buNone/>
            </a:pPr>
            <a:r>
              <a:rPr lang="en-US" sz="1000" b="1" kern="0" spc="200" dirty="0">
                <a:solidFill>
                  <a:schemeClr val="accent1"/>
                </a:solidFill>
                <a:latin typeface="Calibri" pitchFamily="34" charset="0"/>
                <a:ea typeface="Calibri" pitchFamily="34" charset="-122"/>
                <a:cs typeface="Calibri" pitchFamily="34" charset="-120"/>
              </a:rPr>
              <a:t>A HANDS-ON STARTING POINT</a:t>
            </a:r>
            <a:endParaRPr lang="en-US" sz="1000" dirty="0"/>
          </a:p>
        </p:txBody>
      </p:sp>
      <p:sp>
        <p:nvSpPr>
          <p:cNvPr id="3" name="Text 2"/>
          <p:cNvSpPr>
            <a:spLocks noGrp="1"/>
          </p:cNvSpPr>
          <p:nvPr>
            <p:ph type="title" idx="103" hasCustomPrompt="1"/>
          </p:nvPr>
        </p:nvSpPr>
        <p:spPr>
          <a:xfrm>
            <a:off x="457200" y="502920"/>
            <a:ext cx="8229600" cy="548640"/>
          </a:xfrm>
          <a:prstGeom prst="rect">
            <a:avLst/>
          </a:prstGeom>
          <a:noFill/>
          <a:ln/>
        </p:spPr>
        <p:txBody>
          <a:bodyPr wrap="square" lIns="0" tIns="0" rIns="0" bIns="0" rtlCol="0" anchor="ctr"/>
          <a:lstStyle/>
          <a:p>
            <a:pPr marL="0" indent="0" algn="l">
              <a:buNone/>
            </a:pPr>
            <a:r>
              <a:rPr lang="en-US" sz="2400" b="1" dirty="0">
                <a:solidFill>
                  <a:schemeClr val="tx2"/>
                </a:solidFill>
                <a:latin typeface="Georgia" pitchFamily="34" charset="0"/>
                <a:ea typeface="Georgia" pitchFamily="34" charset="-122"/>
                <a:cs typeface="Georgia" pitchFamily="34" charset="-120"/>
              </a:rPr>
              <a:t>Freehand 4D: a pen path programs the shape</a:t>
            </a:r>
            <a:endParaRPr lang="en-US" sz="2400" dirty="0"/>
          </a:p>
        </p:txBody>
      </p:sp>
      <p:sp>
        <p:nvSpPr>
          <p:cNvPr id="4" name="fh0-c"/>
          <p:cNvSpPr/>
          <p:nvPr/>
        </p:nvSpPr>
        <p:spPr>
          <a:xfrm>
            <a:off x="914400" y="1280160"/>
            <a:ext cx="640080" cy="640080"/>
          </a:xfrm>
          <a:prstGeom prst="ellipse">
            <a:avLst/>
          </a:prstGeom>
          <a:solidFill>
            <a:schemeClr val="accent1"/>
          </a:solidFill>
          <a:ln w="12700">
            <a:solidFill>
              <a:schemeClr val="accent1"/>
            </a:solidFill>
            <a:prstDash val="solid"/>
          </a:ln>
        </p:spPr>
      </p:sp>
      <p:pic>
        <p:nvPicPr>
          <p:cNvPr id="5" name="fh0-i" descr="preencoded.png"/>
          <p:cNvPicPr>
            <a:picLocks noChangeAspect="1"/>
          </p:cNvPicPr>
          <p:nvPr/>
        </p:nvPicPr>
        <p:blipFill>
          <a:blip r:embed="rId3"/>
          <a:stretch>
            <a:fillRect/>
          </a:stretch>
        </p:blipFill>
        <p:spPr>
          <a:xfrm>
            <a:off x="1080821" y="1446581"/>
            <a:ext cx="307238" cy="307238"/>
          </a:xfrm>
          <a:prstGeom prst="rect">
            <a:avLst/>
          </a:prstGeom>
        </p:spPr>
      </p:pic>
      <p:sp>
        <p:nvSpPr>
          <p:cNvPr id="6" name="Text 3"/>
          <p:cNvSpPr txBox="1"/>
          <p:nvPr/>
        </p:nvSpPr>
        <p:spPr>
          <a:xfrm>
            <a:off x="457200" y="2011680"/>
            <a:ext cx="1554480" cy="320040"/>
          </a:xfrm>
          <a:prstGeom prst="rect">
            <a:avLst/>
          </a:prstGeom>
          <a:noFill/>
          <a:ln/>
        </p:spPr>
        <p:txBody>
          <a:bodyPr wrap="square" lIns="0" tIns="0" rIns="0" bIns="0" rtlCol="0" anchor="t"/>
          <a:lstStyle/>
          <a:p>
            <a:pPr marL="0" indent="0" algn="ctr">
              <a:buNone/>
            </a:pPr>
            <a:r>
              <a:rPr lang="en-US" sz="1500" b="1" dirty="0">
                <a:solidFill>
                  <a:schemeClr val="tx2"/>
                </a:solidFill>
                <a:latin typeface="Georgia" pitchFamily="34" charset="0"/>
                <a:ea typeface="Georgia" pitchFamily="34" charset="-122"/>
                <a:cs typeface="Georgia" pitchFamily="34" charset="-120"/>
              </a:rPr>
              <a:t>Draw</a:t>
            </a:r>
            <a:endParaRPr lang="en-US" sz="1500" dirty="0"/>
          </a:p>
        </p:txBody>
      </p:sp>
      <p:sp>
        <p:nvSpPr>
          <p:cNvPr id="7" name="Text 4"/>
          <p:cNvSpPr txBox="1"/>
          <p:nvPr/>
        </p:nvSpPr>
        <p:spPr>
          <a:xfrm>
            <a:off x="502920" y="2331720"/>
            <a:ext cx="1463040" cy="640080"/>
          </a:xfrm>
          <a:prstGeom prst="rect">
            <a:avLst/>
          </a:prstGeom>
          <a:noFill/>
          <a:ln/>
        </p:spPr>
        <p:txBody>
          <a:bodyPr wrap="square" lIns="0" tIns="0" rIns="0" bIns="0" rtlCol="0" anchor="t"/>
          <a:lstStyle/>
          <a:p>
            <a:pPr marL="0" indent="0" algn="ctr">
              <a:buNone/>
            </a:pPr>
            <a:r>
              <a:rPr lang="en-US" sz="1150" dirty="0">
                <a:solidFill>
                  <a:schemeClr val="accent4"/>
                </a:solidFill>
                <a:latin typeface="Calibri" pitchFamily="34" charset="0"/>
                <a:ea typeface="Calibri" pitchFamily="34" charset="-122"/>
                <a:cs typeface="Calibri" pitchFamily="34" charset="-120"/>
              </a:rPr>
              <a:t>3D pen extrudes plastic along a hand-drawn path</a:t>
            </a:r>
            <a:endParaRPr lang="en-US" sz="1150" dirty="0"/>
          </a:p>
        </p:txBody>
      </p:sp>
      <p:sp>
        <p:nvSpPr>
          <p:cNvPr id="8" name="fha0"/>
          <p:cNvSpPr/>
          <p:nvPr/>
        </p:nvSpPr>
        <p:spPr>
          <a:xfrm>
            <a:off x="1673352" y="1600200"/>
            <a:ext cx="365760" cy="0"/>
          </a:xfrm>
          <a:prstGeom prst="line">
            <a:avLst/>
          </a:prstGeom>
          <a:noFill/>
          <a:ln w="22225">
            <a:solidFill>
              <a:schemeClr val="accent4"/>
            </a:solidFill>
            <a:prstDash val="solid"/>
            <a:tailEnd type="triangle"/>
          </a:ln>
        </p:spPr>
      </p:sp>
      <p:sp>
        <p:nvSpPr>
          <p:cNvPr id="9" name="fh1-c"/>
          <p:cNvSpPr/>
          <p:nvPr/>
        </p:nvSpPr>
        <p:spPr>
          <a:xfrm>
            <a:off x="2606040" y="1280160"/>
            <a:ext cx="640080" cy="640080"/>
          </a:xfrm>
          <a:prstGeom prst="ellipse">
            <a:avLst/>
          </a:prstGeom>
          <a:solidFill>
            <a:schemeClr val="accent1"/>
          </a:solidFill>
          <a:ln w="12700">
            <a:solidFill>
              <a:schemeClr val="accent1"/>
            </a:solidFill>
            <a:prstDash val="solid"/>
          </a:ln>
        </p:spPr>
      </p:sp>
      <p:pic>
        <p:nvPicPr>
          <p:cNvPr id="10" name="fh1-i" descr="preencoded.png"/>
          <p:cNvPicPr>
            <a:picLocks noChangeAspect="1"/>
          </p:cNvPicPr>
          <p:nvPr/>
        </p:nvPicPr>
        <p:blipFill>
          <a:blip r:embed="rId4"/>
          <a:stretch>
            <a:fillRect/>
          </a:stretch>
        </p:blipFill>
        <p:spPr>
          <a:xfrm>
            <a:off x="2772461" y="1446581"/>
            <a:ext cx="307238" cy="307238"/>
          </a:xfrm>
          <a:prstGeom prst="rect">
            <a:avLst/>
          </a:prstGeom>
        </p:spPr>
      </p:pic>
      <p:sp>
        <p:nvSpPr>
          <p:cNvPr id="11" name="Text 7"/>
          <p:cNvSpPr txBox="1"/>
          <p:nvPr/>
        </p:nvSpPr>
        <p:spPr>
          <a:xfrm>
            <a:off x="2148840" y="2011680"/>
            <a:ext cx="1554480" cy="320040"/>
          </a:xfrm>
          <a:prstGeom prst="rect">
            <a:avLst/>
          </a:prstGeom>
          <a:noFill/>
          <a:ln/>
        </p:spPr>
        <p:txBody>
          <a:bodyPr wrap="square" lIns="0" tIns="0" rIns="0" bIns="0" rtlCol="0" anchor="t"/>
          <a:lstStyle/>
          <a:p>
            <a:pPr marL="0" indent="0" algn="ctr">
              <a:buNone/>
            </a:pPr>
            <a:r>
              <a:rPr lang="en-US" sz="1500" b="1" dirty="0">
                <a:solidFill>
                  <a:schemeClr val="tx2"/>
                </a:solidFill>
                <a:latin typeface="Georgia" pitchFamily="34" charset="0"/>
                <a:ea typeface="Georgia" pitchFamily="34" charset="-122"/>
                <a:cs typeface="Georgia" pitchFamily="34" charset="-120"/>
              </a:rPr>
              <a:t>Store</a:t>
            </a:r>
            <a:endParaRPr lang="en-US" sz="1500" dirty="0"/>
          </a:p>
        </p:txBody>
      </p:sp>
      <p:sp>
        <p:nvSpPr>
          <p:cNvPr id="12" name="Text 8"/>
          <p:cNvSpPr txBox="1"/>
          <p:nvPr/>
        </p:nvSpPr>
        <p:spPr>
          <a:xfrm>
            <a:off x="2194560" y="2331720"/>
            <a:ext cx="1463040" cy="640080"/>
          </a:xfrm>
          <a:prstGeom prst="rect">
            <a:avLst/>
          </a:prstGeom>
          <a:noFill/>
          <a:ln/>
        </p:spPr>
        <p:txBody>
          <a:bodyPr wrap="square" lIns="0" tIns="0" rIns="0" bIns="0" rtlCol="0" anchor="t"/>
          <a:lstStyle/>
          <a:p>
            <a:pPr marL="0" indent="0" algn="ctr">
              <a:buNone/>
            </a:pPr>
            <a:r>
              <a:rPr lang="en-US" sz="1150" dirty="0">
                <a:solidFill>
                  <a:schemeClr val="accent4"/>
                </a:solidFill>
                <a:latin typeface="Calibri" pitchFamily="34" charset="0"/>
                <a:ea typeface="Calibri" pitchFamily="34" charset="-122"/>
                <a:cs typeface="Calibri" pitchFamily="34" charset="-120"/>
              </a:rPr>
              <a:t>stretching freezes strain into that path</a:t>
            </a:r>
            <a:endParaRPr lang="en-US" sz="1150" dirty="0"/>
          </a:p>
        </p:txBody>
      </p:sp>
      <p:sp>
        <p:nvSpPr>
          <p:cNvPr id="13" name="fha1"/>
          <p:cNvSpPr/>
          <p:nvPr/>
        </p:nvSpPr>
        <p:spPr>
          <a:xfrm>
            <a:off x="3364992" y="1600200"/>
            <a:ext cx="365760" cy="0"/>
          </a:xfrm>
          <a:prstGeom prst="line">
            <a:avLst/>
          </a:prstGeom>
          <a:noFill/>
          <a:ln w="22225">
            <a:solidFill>
              <a:schemeClr val="accent4"/>
            </a:solidFill>
            <a:prstDash val="solid"/>
            <a:tailEnd type="triangle"/>
          </a:ln>
        </p:spPr>
      </p:sp>
      <p:sp>
        <p:nvSpPr>
          <p:cNvPr id="14" name="fh2-c"/>
          <p:cNvSpPr/>
          <p:nvPr/>
        </p:nvSpPr>
        <p:spPr>
          <a:xfrm>
            <a:off x="4297680" y="1280160"/>
            <a:ext cx="640080" cy="640080"/>
          </a:xfrm>
          <a:prstGeom prst="ellipse">
            <a:avLst/>
          </a:prstGeom>
          <a:solidFill>
            <a:schemeClr val="accent2"/>
          </a:solidFill>
          <a:ln w="12700">
            <a:solidFill>
              <a:schemeClr val="accent2"/>
            </a:solidFill>
            <a:prstDash val="solid"/>
          </a:ln>
        </p:spPr>
      </p:sp>
      <p:pic>
        <p:nvPicPr>
          <p:cNvPr id="15" name="fh2-i" descr="preencoded.png"/>
          <p:cNvPicPr>
            <a:picLocks noChangeAspect="1"/>
          </p:cNvPicPr>
          <p:nvPr/>
        </p:nvPicPr>
        <p:blipFill>
          <a:blip r:embed="rId5"/>
          <a:stretch>
            <a:fillRect/>
          </a:stretch>
        </p:blipFill>
        <p:spPr>
          <a:xfrm>
            <a:off x="4464101" y="1446581"/>
            <a:ext cx="307238" cy="307238"/>
          </a:xfrm>
          <a:prstGeom prst="rect">
            <a:avLst/>
          </a:prstGeom>
        </p:spPr>
      </p:pic>
      <p:sp>
        <p:nvSpPr>
          <p:cNvPr id="16" name="Text 11"/>
          <p:cNvSpPr txBox="1"/>
          <p:nvPr/>
        </p:nvSpPr>
        <p:spPr>
          <a:xfrm>
            <a:off x="3840480" y="2011680"/>
            <a:ext cx="1554480" cy="320040"/>
          </a:xfrm>
          <a:prstGeom prst="rect">
            <a:avLst/>
          </a:prstGeom>
          <a:noFill/>
          <a:ln/>
        </p:spPr>
        <p:txBody>
          <a:bodyPr wrap="square" lIns="0" tIns="0" rIns="0" bIns="0" rtlCol="0" anchor="t"/>
          <a:lstStyle/>
          <a:p>
            <a:pPr marL="0" indent="0" algn="ctr">
              <a:buNone/>
            </a:pPr>
            <a:r>
              <a:rPr lang="en-US" sz="1500" b="1" dirty="0">
                <a:solidFill>
                  <a:schemeClr val="tx2"/>
                </a:solidFill>
                <a:latin typeface="Georgia" pitchFamily="34" charset="0"/>
                <a:ea typeface="Georgia" pitchFamily="34" charset="-122"/>
                <a:cs typeface="Georgia" pitchFamily="34" charset="-120"/>
              </a:rPr>
              <a:t>Heat</a:t>
            </a:r>
            <a:endParaRPr lang="en-US" sz="1500" dirty="0"/>
          </a:p>
        </p:txBody>
      </p:sp>
      <p:sp>
        <p:nvSpPr>
          <p:cNvPr id="17" name="Text 12"/>
          <p:cNvSpPr txBox="1"/>
          <p:nvPr/>
        </p:nvSpPr>
        <p:spPr>
          <a:xfrm>
            <a:off x="3886200" y="2331720"/>
            <a:ext cx="1463040" cy="640080"/>
          </a:xfrm>
          <a:prstGeom prst="rect">
            <a:avLst/>
          </a:prstGeom>
          <a:noFill/>
          <a:ln/>
        </p:spPr>
        <p:txBody>
          <a:bodyPr wrap="square" lIns="0" tIns="0" rIns="0" bIns="0" rtlCol="0" anchor="t"/>
          <a:lstStyle/>
          <a:p>
            <a:pPr marL="0" indent="0" algn="ctr">
              <a:buNone/>
            </a:pPr>
            <a:r>
              <a:rPr lang="en-US" sz="1150" dirty="0">
                <a:solidFill>
                  <a:schemeClr val="accent4"/>
                </a:solidFill>
                <a:latin typeface="Calibri" pitchFamily="34" charset="0"/>
                <a:ea typeface="Calibri" pitchFamily="34" charset="-122"/>
                <a:cs typeface="Calibri" pitchFamily="34" charset="-120"/>
              </a:rPr>
              <a:t>strain releases and the part bends</a:t>
            </a:r>
            <a:endParaRPr lang="en-US" sz="1150" dirty="0"/>
          </a:p>
        </p:txBody>
      </p:sp>
      <p:sp>
        <p:nvSpPr>
          <p:cNvPr id="18" name="fh-note"/>
          <p:cNvSpPr/>
          <p:nvPr/>
        </p:nvSpPr>
        <p:spPr>
          <a:xfrm>
            <a:off x="457200" y="3154680"/>
            <a:ext cx="4937760" cy="640080"/>
          </a:xfrm>
          <a:prstGeom prst="roundRect">
            <a:avLst>
              <a:gd name="adj" fmla="val 11429"/>
            </a:avLst>
          </a:prstGeom>
          <a:solidFill>
            <a:schemeClr val="bg2"/>
          </a:solidFill>
          <a:ln w="12700">
            <a:solidFill>
              <a:schemeClr val="bg2"/>
            </a:solidFill>
            <a:prstDash val="solid"/>
          </a:ln>
        </p:spPr>
      </p:sp>
      <p:sp>
        <p:nvSpPr>
          <p:cNvPr id="19" name="Text 14"/>
          <p:cNvSpPr txBox="1"/>
          <p:nvPr/>
        </p:nvSpPr>
        <p:spPr>
          <a:xfrm>
            <a:off x="640080" y="3154680"/>
            <a:ext cx="4572000" cy="640080"/>
          </a:xfrm>
          <a:prstGeom prst="rect">
            <a:avLst/>
          </a:prstGeom>
          <a:noFill/>
          <a:ln/>
        </p:spPr>
        <p:txBody>
          <a:bodyPr wrap="square" lIns="0" tIns="0" rIns="0" bIns="0" rtlCol="0" anchor="ctr"/>
          <a:lstStyle/>
          <a:p>
            <a:pPr marL="0" indent="0">
              <a:buNone/>
            </a:pPr>
            <a:r>
              <a:rPr lang="en-US" sz="1250" b="1" dirty="0">
                <a:solidFill>
                  <a:schemeClr val="tx2"/>
                </a:solidFill>
                <a:latin typeface="Calibri" pitchFamily="34" charset="0"/>
                <a:ea typeface="Calibri" pitchFamily="34" charset="-122"/>
                <a:cs typeface="Calibri" pitchFamily="34" charset="-120"/>
              </a:rPr>
              <a:t>Fabrication-side example: </a:t>
            </a:r>
            <a:r>
              <a:rPr lang="en-US" sz="1250" dirty="0">
                <a:solidFill>
                  <a:schemeClr val="tx1"/>
                </a:solidFill>
                <a:latin typeface="Calibri" pitchFamily="34" charset="0"/>
                <a:ea typeface="Calibri" pitchFamily="34" charset="-122"/>
                <a:cs typeface="Calibri" pitchFamily="34" charset="-120"/>
              </a:rPr>
              <a:t>the person chooses the path; the shape follows.</a:t>
            </a:r>
            <a:endParaRPr lang="en-US" sz="1250" dirty="0"/>
          </a:p>
        </p:txBody>
      </p:sp>
      <p:sp>
        <p:nvSpPr>
          <p:cNvPr id="20" name="rd"/>
          <p:cNvSpPr/>
          <p:nvPr/>
        </p:nvSpPr>
        <p:spPr>
          <a:xfrm>
            <a:off x="5669280" y="1188720"/>
            <a:ext cx="3017520" cy="3429000"/>
          </a:xfrm>
          <a:prstGeom prst="roundRect">
            <a:avLst>
              <a:gd name="adj" fmla="val 2424"/>
            </a:avLst>
          </a:prstGeom>
          <a:solidFill>
            <a:schemeClr val="tx2"/>
          </a:solidFill>
          <a:ln w="12700">
            <a:solidFill>
              <a:schemeClr val="tx2"/>
            </a:solidFill>
            <a:prstDash val="solid"/>
          </a:ln>
        </p:spPr>
      </p:sp>
      <p:sp>
        <p:nvSpPr>
          <p:cNvPr id="21" name="Text 16"/>
          <p:cNvSpPr txBox="1"/>
          <p:nvPr/>
        </p:nvSpPr>
        <p:spPr>
          <a:xfrm>
            <a:off x="5852160" y="1325880"/>
            <a:ext cx="2651760" cy="274320"/>
          </a:xfrm>
          <a:prstGeom prst="rect">
            <a:avLst/>
          </a:prstGeom>
          <a:noFill/>
          <a:ln/>
        </p:spPr>
        <p:txBody>
          <a:bodyPr wrap="square" lIns="0" tIns="0" rIns="0" bIns="0" rtlCol="0" anchor="t"/>
          <a:lstStyle/>
          <a:p>
            <a:pPr marL="0" indent="0">
              <a:buNone/>
            </a:pPr>
            <a:r>
              <a:rPr lang="en-US" sz="1000" b="1" kern="0" spc="200" dirty="0">
                <a:solidFill>
                  <a:schemeClr val="accent3"/>
                </a:solidFill>
                <a:latin typeface="Calibri" pitchFamily="34" charset="0"/>
                <a:ea typeface="Calibri" pitchFamily="34" charset="-122"/>
                <a:cs typeface="Calibri" pitchFamily="34" charset="-120"/>
              </a:rPr>
              <a:t>THIS TALK</a:t>
            </a:r>
            <a:endParaRPr lang="en-US" sz="1000" dirty="0"/>
          </a:p>
        </p:txBody>
      </p:sp>
      <p:sp>
        <p:nvSpPr>
          <p:cNvPr id="22" name="Text 17"/>
          <p:cNvSpPr txBox="1"/>
          <p:nvPr/>
        </p:nvSpPr>
        <p:spPr>
          <a:xfrm>
            <a:off x="5852160" y="1600200"/>
            <a:ext cx="2651760" cy="411480"/>
          </a:xfrm>
          <a:prstGeom prst="rect">
            <a:avLst/>
          </a:prstGeom>
          <a:noFill/>
          <a:ln/>
        </p:spPr>
        <p:txBody>
          <a:bodyPr wrap="square" lIns="0" tIns="0" rIns="0" bIns="0" rtlCol="0" anchor="t"/>
          <a:lstStyle/>
          <a:p>
            <a:pPr marL="0" indent="0">
              <a:buNone/>
            </a:pPr>
            <a:r>
              <a:rPr lang="en-US" sz="2000" b="1" dirty="0">
                <a:solidFill>
                  <a:schemeClr val="bg1"/>
                </a:solidFill>
                <a:latin typeface="Georgia" pitchFamily="34" charset="0"/>
                <a:ea typeface="Georgia" pitchFamily="34" charset="-122"/>
                <a:cs typeface="Georgia" pitchFamily="34" charset="-120"/>
              </a:rPr>
              <a:t>Reverse design</a:t>
            </a:r>
            <a:endParaRPr lang="en-US" sz="2000" dirty="0"/>
          </a:p>
        </p:txBody>
      </p:sp>
      <p:sp>
        <p:nvSpPr>
          <p:cNvPr id="23" name="Text 18"/>
          <p:cNvSpPr txBox="1"/>
          <p:nvPr/>
        </p:nvSpPr>
        <p:spPr>
          <a:xfrm>
            <a:off x="5852160" y="2103120"/>
            <a:ext cx="2651760" cy="960120"/>
          </a:xfrm>
          <a:prstGeom prst="rect">
            <a:avLst/>
          </a:prstGeom>
          <a:noFill/>
          <a:ln/>
        </p:spPr>
        <p:txBody>
          <a:bodyPr wrap="square" lIns="0" tIns="0" rIns="0" bIns="0" rtlCol="0" anchor="t"/>
          <a:lstStyle/>
          <a:p>
            <a:pPr marL="0" indent="0" algn="ctr">
              <a:buNone/>
            </a:pPr>
            <a:r>
              <a:rPr lang="en-US" sz="1400" b="1" dirty="0">
                <a:solidFill>
                  <a:schemeClr val="bg1"/>
                </a:solidFill>
                <a:latin typeface="Calibri" pitchFamily="34" charset="0"/>
                <a:ea typeface="Calibri" pitchFamily="34" charset="-122"/>
                <a:cs typeface="Calibri" pitchFamily="34" charset="-120"/>
              </a:rPr>
              <a:t>Target shape</a:t>
            </a:r>
            <a:endParaRPr lang="en-US" sz="1400" dirty="0"/>
          </a:p>
          <a:p>
            <a:pPr marL="0" indent="0" algn="ctr">
              <a:buNone/>
            </a:pPr>
            <a:r>
              <a:rPr lang="en-US" sz="1400" dirty="0">
                <a:solidFill>
                  <a:schemeClr val="accent3"/>
                </a:solidFill>
                <a:latin typeface="Calibri" pitchFamily="34" charset="0"/>
                <a:ea typeface="Calibri" pitchFamily="34" charset="-122"/>
                <a:cs typeface="Calibri" pitchFamily="34" charset="-120"/>
              </a:rPr>
              <a:t>↓  compute</a:t>
            </a:r>
            <a:endParaRPr lang="en-US" sz="1400" dirty="0"/>
          </a:p>
          <a:p>
            <a:pPr marL="0" indent="0" algn="ctr">
              <a:buNone/>
            </a:pPr>
            <a:r>
              <a:rPr lang="en-US" sz="1400" b="1" dirty="0">
                <a:solidFill>
                  <a:schemeClr val="bg1"/>
                </a:solidFill>
                <a:latin typeface="Calibri" pitchFamily="34" charset="0"/>
                <a:ea typeface="Calibri" pitchFamily="34" charset="-122"/>
                <a:cs typeface="Calibri" pitchFamily="34" charset="-120"/>
              </a:rPr>
              <a:t>Material layout</a:t>
            </a:r>
            <a:endParaRPr lang="en-US" sz="1400" dirty="0"/>
          </a:p>
        </p:txBody>
      </p:sp>
      <p:sp>
        <p:nvSpPr>
          <p:cNvPr id="24" name="rd-l"/>
          <p:cNvSpPr/>
          <p:nvPr/>
        </p:nvSpPr>
        <p:spPr>
          <a:xfrm>
            <a:off x="5943600" y="3200400"/>
            <a:ext cx="2468880" cy="0"/>
          </a:xfrm>
          <a:prstGeom prst="line">
            <a:avLst/>
          </a:prstGeom>
          <a:noFill/>
          <a:ln w="12700">
            <a:solidFill>
              <a:srgbClr val="34466E"/>
            </a:solidFill>
            <a:prstDash val="solid"/>
          </a:ln>
        </p:spPr>
      </p:sp>
      <p:sp>
        <p:nvSpPr>
          <p:cNvPr id="25" name="rd-csv-c"/>
          <p:cNvSpPr/>
          <p:nvPr/>
        </p:nvSpPr>
        <p:spPr>
          <a:xfrm>
            <a:off x="5852160" y="3337560"/>
            <a:ext cx="457200" cy="457200"/>
          </a:xfrm>
          <a:prstGeom prst="ellipse">
            <a:avLst/>
          </a:prstGeom>
          <a:solidFill>
            <a:schemeClr val="accent1"/>
          </a:solidFill>
          <a:ln w="12700">
            <a:solidFill>
              <a:schemeClr val="accent1"/>
            </a:solidFill>
            <a:prstDash val="solid"/>
          </a:ln>
        </p:spPr>
      </p:sp>
      <p:pic>
        <p:nvPicPr>
          <p:cNvPr id="26" name="rd-csv-i" descr="preencoded.png"/>
          <p:cNvPicPr>
            <a:picLocks noChangeAspect="1"/>
          </p:cNvPicPr>
          <p:nvPr/>
        </p:nvPicPr>
        <p:blipFill>
          <a:blip r:embed="rId6"/>
          <a:stretch>
            <a:fillRect/>
          </a:stretch>
        </p:blipFill>
        <p:spPr>
          <a:xfrm>
            <a:off x="5971032" y="3456432"/>
            <a:ext cx="219456" cy="219456"/>
          </a:xfrm>
          <a:prstGeom prst="rect">
            <a:avLst/>
          </a:prstGeom>
        </p:spPr>
      </p:pic>
      <p:sp>
        <p:nvSpPr>
          <p:cNvPr id="27" name="Text 21"/>
          <p:cNvSpPr txBox="1"/>
          <p:nvPr/>
        </p:nvSpPr>
        <p:spPr>
          <a:xfrm>
            <a:off x="6400800" y="3291840"/>
            <a:ext cx="2148840" cy="1188720"/>
          </a:xfrm>
          <a:prstGeom prst="rect">
            <a:avLst/>
          </a:prstGeom>
          <a:noFill/>
          <a:ln/>
        </p:spPr>
        <p:txBody>
          <a:bodyPr wrap="square" lIns="0" tIns="0" rIns="0" bIns="0" rtlCol="0" anchor="t"/>
          <a:lstStyle/>
          <a:p>
            <a:pPr marL="0" indent="0">
              <a:buNone/>
            </a:pPr>
            <a:r>
              <a:rPr lang="en-US" sz="1150" dirty="0">
                <a:solidFill>
                  <a:schemeClr val="accent5"/>
                </a:solidFill>
                <a:latin typeface="Calibri" pitchFamily="34" charset="0"/>
                <a:ea typeface="Calibri" pitchFamily="34" charset="-122"/>
                <a:cs typeface="Calibri" pitchFamily="34" charset="-120"/>
              </a:rPr>
              <a:t>Our repo: target is a numeric curve loaded from CSV. No sketch or drawing input.</a:t>
            </a:r>
            <a:endParaRPr lang="en-US" sz="1150" dirty="0"/>
          </a:p>
        </p:txBody>
      </p:sp>
      <p:sp>
        <p:nvSpPr>
          <p:cNvPr id="28" name="Text 22"/>
          <p:cNvSpPr txBox="1"/>
          <p:nvPr/>
        </p:nvSpPr>
        <p:spPr>
          <a:xfrm>
            <a:off x="457200" y="3977640"/>
            <a:ext cx="4937760" cy="640080"/>
          </a:xfrm>
          <a:prstGeom prst="rect">
            <a:avLst/>
          </a:prstGeom>
          <a:noFill/>
          <a:ln/>
        </p:spPr>
        <p:txBody>
          <a:bodyPr wrap="square" lIns="0" tIns="0" rIns="0" bIns="0" rtlCol="0" anchor="ctr"/>
          <a:lstStyle/>
          <a:p>
            <a:pPr marL="0" indent="0">
              <a:buNone/>
            </a:pPr>
            <a:r>
              <a:rPr lang="en-US" sz="1150" i="1" dirty="0">
                <a:solidFill>
                  <a:schemeClr val="accent4"/>
                </a:solidFill>
                <a:latin typeface="Calibri" pitchFamily="34" charset="0"/>
                <a:ea typeface="Calibri" pitchFamily="34" charset="-122"/>
                <a:cs typeface="Calibri" pitchFamily="34" charset="-120"/>
              </a:rPr>
              <a:t>Freehand fabrication is background only; it is not implemented in our code.</a:t>
            </a:r>
            <a:endParaRPr lang="en-US" sz="1150" dirty="0"/>
          </a:p>
        </p:txBody>
      </p:sp>
      <p:sp>
        <p:nvSpPr>
          <p:cNvPr id="29" name="Text 23"/>
          <p:cNvSpPr txBox="1"/>
          <p:nvPr/>
        </p:nvSpPr>
        <p:spPr>
          <a:xfrm>
            <a:off x="457200" y="4818888"/>
            <a:ext cx="7498080" cy="201168"/>
          </a:xfrm>
          <a:prstGeom prst="rect">
            <a:avLst/>
          </a:prstGeom>
          <a:noFill/>
          <a:ln/>
        </p:spPr>
        <p:txBody>
          <a:bodyPr wrap="square" lIns="0" tIns="0" rIns="0" bIns="0" rtlCol="0" anchor="t"/>
          <a:lstStyle/>
          <a:p>
            <a:pPr marL="0" indent="0">
              <a:buNone/>
            </a:pPr>
            <a:r>
              <a:rPr lang="en-US" sz="800" dirty="0">
                <a:solidFill>
                  <a:schemeClr val="accent4"/>
                </a:solidFill>
                <a:latin typeface="Calibri" pitchFamily="34" charset="0"/>
                <a:ea typeface="Calibri" pitchFamily="34" charset="-122"/>
                <a:cs typeface="Calibri" pitchFamily="34" charset="-120"/>
              </a:rPr>
              <a:t>4Doodle, Proc. CHI ’23, doi:10.1145/3544548.3581321 [3]; strain release on heating: Jin et al. 2024, Sec. 3.1 [2]. Icons schematic.</a:t>
            </a:r>
            <a:endParaRPr lang="en-US" sz="800" dirty="0"/>
          </a:p>
        </p:txBody>
      </p:sp>
      <p:sp>
        <p:nvSpPr>
          <p:cNvPr id="30"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82"/>
                </a:solidFill>
                <a:latin typeface="Calibri"/>
                <a:ea typeface="Calibri"/>
                <a:cs typeface="Calibri"/>
              </a:defRPr>
            </a:lvl1pPr>
          </a:lstStyle>
          <a:p>
            <a:pPr algn="r"/>
            <a:r>
              <a:rPr lang="en-US" b="0"/>
              <a:t>4</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0"/>
          <p:cNvSpPr>
            <a:spLocks noGrp="1"/>
          </p:cNvSpPr>
          <p:nvPr>
            <p:ph type="body" idx="120" hasCustomPrompt="1"/>
          </p:nvPr>
        </p:nvSpPr>
        <p:spPr>
          <a:xfrm>
            <a:off x="548640" y="1097280"/>
            <a:ext cx="2743200" cy="914400"/>
          </a:xfrm>
          <a:prstGeom prst="rect">
            <a:avLst/>
          </a:prstGeom>
          <a:noFill/>
          <a:ln/>
        </p:spPr>
        <p:txBody>
          <a:bodyPr wrap="square" lIns="0" tIns="0" rIns="0" bIns="0" rtlCol="0" anchor="b"/>
          <a:lstStyle/>
          <a:p>
            <a:pPr marL="0" indent="0" algn="l">
              <a:buNone/>
            </a:pPr>
            <a:r>
              <a:rPr lang="en-US" sz="5400" b="1" dirty="0">
                <a:solidFill>
                  <a:schemeClr val="accent3"/>
                </a:solidFill>
                <a:latin typeface="Georgia" pitchFamily="34" charset="0"/>
                <a:ea typeface="Georgia" pitchFamily="34" charset="-122"/>
                <a:cs typeface="Georgia" pitchFamily="34" charset="-120"/>
              </a:rPr>
              <a:t>01</a:t>
            </a:r>
            <a:endParaRPr lang="en-US" sz="5400" dirty="0"/>
          </a:p>
        </p:txBody>
      </p:sp>
      <p:sp>
        <p:nvSpPr>
          <p:cNvPr id="3" name="Text 20"/>
          <p:cNvSpPr>
            <a:spLocks noGrp="1"/>
          </p:cNvSpPr>
          <p:nvPr>
            <p:ph type="title" idx="121" hasCustomPrompt="1"/>
          </p:nvPr>
        </p:nvSpPr>
        <p:spPr>
          <a:xfrm>
            <a:off x="548640" y="2103120"/>
            <a:ext cx="4297680" cy="1188720"/>
          </a:xfrm>
          <a:prstGeom prst="rect">
            <a:avLst/>
          </a:prstGeom>
          <a:noFill/>
          <a:ln/>
        </p:spPr>
        <p:txBody>
          <a:bodyPr wrap="square" lIns="0" tIns="0" rIns="0" bIns="0" rtlCol="0" anchor="t"/>
          <a:lstStyle/>
          <a:p>
            <a:pPr marL="0" indent="0" algn="l">
              <a:buNone/>
            </a:pPr>
            <a:r>
              <a:rPr lang="en-US" sz="3000" b="1" dirty="0">
                <a:solidFill>
                  <a:schemeClr val="bg1"/>
                </a:solidFill>
                <a:latin typeface="Georgia" pitchFamily="34" charset="0"/>
                <a:ea typeface="Georgia" pitchFamily="34" charset="-122"/>
                <a:cs typeface="Georgia" pitchFamily="34" charset="-120"/>
              </a:rPr>
              <a:t>Fast reverse design</a:t>
            </a:r>
            <a:endParaRPr lang="en-US" sz="3000" dirty="0"/>
          </a:p>
        </p:txBody>
      </p:sp>
      <p:sp>
        <p:nvSpPr>
          <p:cNvPr id="4" name="Text 20"/>
          <p:cNvSpPr>
            <a:spLocks noGrp="1"/>
          </p:cNvSpPr>
          <p:nvPr>
            <p:ph type="body" idx="122" hasCustomPrompt="1"/>
          </p:nvPr>
        </p:nvSpPr>
        <p:spPr>
          <a:xfrm>
            <a:off x="548640" y="3383280"/>
            <a:ext cx="4297680" cy="731520"/>
          </a:xfrm>
          <a:prstGeom prst="rect">
            <a:avLst/>
          </a:prstGeom>
          <a:noFill/>
          <a:ln/>
        </p:spPr>
        <p:txBody>
          <a:bodyPr wrap="square" lIns="0" tIns="0" rIns="0" bIns="0" rtlCol="0" anchor="t"/>
          <a:lstStyle/>
          <a:p>
            <a:pPr marL="0" indent="0" algn="l">
              <a:buNone/>
            </a:pPr>
            <a:r>
              <a:rPr lang="en-US" sz="1500" dirty="0">
                <a:solidFill>
                  <a:schemeClr val="accent5"/>
                </a:solidFill>
                <a:latin typeface="Calibri" pitchFamily="34" charset="0"/>
                <a:ea typeface="Calibri" pitchFamily="34" charset="-122"/>
                <a:cs typeface="Calibri" pitchFamily="34" charset="-120"/>
              </a:rPr>
              <a:t>Wang et al., Advanced Science, 2025</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457200" y="256032"/>
            <a:ext cx="7315200" cy="228600"/>
          </a:xfrm>
          <a:prstGeom prst="rect">
            <a:avLst/>
          </a:prstGeom>
          <a:noFill/>
          <a:ln/>
        </p:spPr>
        <p:txBody>
          <a:bodyPr wrap="square" lIns="0" tIns="0" rIns="0" bIns="0" rtlCol="0" anchor="ctr"/>
          <a:lstStyle/>
          <a:p>
            <a:pPr marL="0" indent="0" algn="l">
              <a:buNone/>
            </a:pPr>
            <a:r>
              <a:rPr lang="en-US" sz="1000" b="1" kern="0" spc="200" dirty="0">
                <a:solidFill>
                  <a:schemeClr val="accent1"/>
                </a:solidFill>
                <a:latin typeface="Calibri" pitchFamily="34" charset="0"/>
                <a:ea typeface="Calibri" pitchFamily="34" charset="-122"/>
                <a:cs typeface="Calibri" pitchFamily="34" charset="-120"/>
              </a:rPr>
              <a:t>WANG ET AL. (2025)</a:t>
            </a:r>
            <a:endParaRPr lang="en-US" sz="1000" dirty="0"/>
          </a:p>
        </p:txBody>
      </p:sp>
      <p:sp>
        <p:nvSpPr>
          <p:cNvPr id="3" name="Text 2"/>
          <p:cNvSpPr>
            <a:spLocks noGrp="1"/>
          </p:cNvSpPr>
          <p:nvPr>
            <p:ph type="title" idx="103" hasCustomPrompt="1"/>
          </p:nvPr>
        </p:nvSpPr>
        <p:spPr>
          <a:xfrm>
            <a:off x="457200" y="502920"/>
            <a:ext cx="8229600" cy="548640"/>
          </a:xfrm>
          <a:prstGeom prst="rect">
            <a:avLst/>
          </a:prstGeom>
          <a:noFill/>
          <a:ln/>
        </p:spPr>
        <p:txBody>
          <a:bodyPr wrap="square" lIns="0" tIns="0" rIns="0" bIns="0" rtlCol="0" anchor="ctr"/>
          <a:lstStyle/>
          <a:p>
            <a:pPr marL="0" indent="0" algn="l">
              <a:buNone/>
            </a:pPr>
            <a:r>
              <a:rPr lang="en-US" sz="2400" b="1" dirty="0">
                <a:solidFill>
                  <a:schemeClr val="tx2"/>
                </a:solidFill>
                <a:latin typeface="Georgia" pitchFamily="34" charset="0"/>
                <a:ea typeface="Georgia" pitchFamily="34" charset="-122"/>
                <a:cs typeface="Georgia" pitchFamily="34" charset="-120"/>
              </a:rPr>
              <a:t>Simulate once, then design in seconds</a:t>
            </a:r>
            <a:endParaRPr lang="en-US" sz="2400" dirty="0"/>
          </a:p>
        </p:txBody>
      </p:sp>
      <p:pic>
        <p:nvPicPr>
          <p:cNvPr id="4" name="w1" descr="img/wang_fig1.png"/>
          <p:cNvPicPr>
            <a:picLocks noChangeAspect="1"/>
          </p:cNvPicPr>
          <p:nvPr/>
        </p:nvPicPr>
        <p:blipFill>
          <a:blip r:embed="rId3"/>
          <a:stretch>
            <a:fillRect/>
          </a:stretch>
        </p:blipFill>
        <p:spPr>
          <a:xfrm>
            <a:off x="457200" y="1188720"/>
            <a:ext cx="5486400" cy="2688336"/>
          </a:xfrm>
          <a:prstGeom prst="rect">
            <a:avLst/>
          </a:prstGeom>
        </p:spPr>
      </p:pic>
      <p:sp>
        <p:nvSpPr>
          <p:cNvPr id="5" name="Text 2"/>
          <p:cNvSpPr txBox="1"/>
          <p:nvPr/>
        </p:nvSpPr>
        <p:spPr>
          <a:xfrm>
            <a:off x="457200" y="3913632"/>
            <a:ext cx="5486400" cy="228600"/>
          </a:xfrm>
          <a:prstGeom prst="rect">
            <a:avLst/>
          </a:prstGeom>
          <a:noFill/>
          <a:ln/>
        </p:spPr>
        <p:txBody>
          <a:bodyPr wrap="square" lIns="0" tIns="0" rIns="0" bIns="0" rtlCol="0" anchor="t"/>
          <a:lstStyle/>
          <a:p>
            <a:pPr marL="0" indent="0">
              <a:buNone/>
            </a:pPr>
            <a:r>
              <a:rPr lang="en-US" sz="950" i="1" dirty="0">
                <a:solidFill>
                  <a:schemeClr val="accent4"/>
                </a:solidFill>
                <a:latin typeface="Calibri" pitchFamily="34" charset="0"/>
                <a:ea typeface="Calibri" pitchFamily="34" charset="-122"/>
                <a:cs typeface="Calibri" pitchFamily="34" charset="-120"/>
              </a:rPr>
              <a:t>Wang et al. 2025, Fig. 1: overall framework</a:t>
            </a:r>
            <a:endParaRPr lang="en-US" sz="950" dirty="0"/>
          </a:p>
        </p:txBody>
      </p:sp>
      <p:sp>
        <p:nvSpPr>
          <p:cNvPr id="6" name="Text 3"/>
          <p:cNvSpPr txBox="1"/>
          <p:nvPr/>
        </p:nvSpPr>
        <p:spPr>
          <a:xfrm>
            <a:off x="457200" y="4206240"/>
            <a:ext cx="5486400" cy="411480"/>
          </a:xfrm>
          <a:prstGeom prst="rect">
            <a:avLst/>
          </a:prstGeom>
          <a:noFill/>
          <a:ln/>
        </p:spPr>
        <p:txBody>
          <a:bodyPr wrap="square" lIns="0" tIns="0" rIns="0" bIns="0" rtlCol="0" anchor="t"/>
          <a:lstStyle/>
          <a:p>
            <a:pPr marL="0" indent="0">
              <a:buNone/>
            </a:pPr>
            <a:r>
              <a:rPr lang="en-US" sz="1200" b="1" dirty="0">
                <a:solidFill>
                  <a:schemeClr val="tx2"/>
                </a:solidFill>
                <a:latin typeface="Calibri" pitchFamily="34" charset="0"/>
                <a:ea typeface="Calibri" pitchFamily="34" charset="-122"/>
                <a:cs typeface="Calibri" pitchFamily="34" charset="-120"/>
              </a:rPr>
              <a:t>Solvent-responsive hydrogel beam  ·  FE data → neural network → evolutionary search</a:t>
            </a:r>
            <a:endParaRPr lang="en-US" sz="1200" dirty="0"/>
          </a:p>
        </p:txBody>
      </p:sp>
      <p:sp>
        <p:nvSpPr>
          <p:cNvPr id="7" name="ws0"/>
          <p:cNvSpPr/>
          <p:nvPr/>
        </p:nvSpPr>
        <p:spPr>
          <a:xfrm>
            <a:off x="6217920" y="1188720"/>
            <a:ext cx="2468880" cy="1024128"/>
          </a:xfrm>
          <a:prstGeom prst="roundRect">
            <a:avLst>
              <a:gd name="adj" fmla="val 7143"/>
            </a:avLst>
          </a:prstGeom>
          <a:solidFill>
            <a:schemeClr val="bg2"/>
          </a:solidFill>
          <a:ln w="12700">
            <a:solidFill>
              <a:schemeClr val="bg2"/>
            </a:solidFill>
            <a:prstDash val="solid"/>
          </a:ln>
        </p:spPr>
      </p:sp>
      <p:sp>
        <p:nvSpPr>
          <p:cNvPr id="8" name="Text 5"/>
          <p:cNvSpPr txBox="1"/>
          <p:nvPr/>
        </p:nvSpPr>
        <p:spPr>
          <a:xfrm>
            <a:off x="6400800" y="1261872"/>
            <a:ext cx="2148840" cy="502920"/>
          </a:xfrm>
          <a:prstGeom prst="rect">
            <a:avLst/>
          </a:prstGeom>
          <a:noFill/>
          <a:ln/>
        </p:spPr>
        <p:txBody>
          <a:bodyPr wrap="square" lIns="0" tIns="0" rIns="0" bIns="0" rtlCol="0" anchor="t"/>
          <a:lstStyle/>
          <a:p>
            <a:pPr marL="0" indent="0">
              <a:buNone/>
            </a:pPr>
            <a:r>
              <a:rPr lang="en-US" sz="2800" b="1" dirty="0">
                <a:solidFill>
                  <a:schemeClr val="accent2"/>
                </a:solidFill>
                <a:latin typeface="Georgia" pitchFamily="34" charset="0"/>
                <a:ea typeface="Georgia" pitchFamily="34" charset="-122"/>
                <a:cs typeface="Georgia" pitchFamily="34" charset="-120"/>
              </a:rPr>
              <a:t>≈3 s</a:t>
            </a:r>
            <a:endParaRPr lang="en-US" sz="2800" dirty="0"/>
          </a:p>
        </p:txBody>
      </p:sp>
      <p:sp>
        <p:nvSpPr>
          <p:cNvPr id="9" name="Text 6"/>
          <p:cNvSpPr txBox="1"/>
          <p:nvPr/>
        </p:nvSpPr>
        <p:spPr>
          <a:xfrm>
            <a:off x="6400800" y="1783080"/>
            <a:ext cx="2148840" cy="365760"/>
          </a:xfrm>
          <a:prstGeom prst="rect">
            <a:avLst/>
          </a:prstGeom>
          <a:noFill/>
          <a:ln/>
        </p:spPr>
        <p:txBody>
          <a:bodyPr wrap="square" lIns="0" tIns="0" rIns="0" bIns="0" rtlCol="0" anchor="t"/>
          <a:lstStyle/>
          <a:p>
            <a:pPr marL="0" indent="0">
              <a:buNone/>
            </a:pPr>
            <a:r>
              <a:rPr lang="en-US" sz="1100" dirty="0">
                <a:solidFill>
                  <a:schemeClr val="accent4"/>
                </a:solidFill>
                <a:latin typeface="Calibri" pitchFamily="34" charset="0"/>
                <a:ea typeface="Calibri" pitchFamily="34" charset="-122"/>
                <a:cs typeface="Calibri" pitchFamily="34" charset="-120"/>
              </a:rPr>
              <a:t>average time per design</a:t>
            </a:r>
            <a:endParaRPr lang="en-US" sz="1100" dirty="0"/>
          </a:p>
        </p:txBody>
      </p:sp>
      <p:sp>
        <p:nvSpPr>
          <p:cNvPr id="10" name="ws1"/>
          <p:cNvSpPr/>
          <p:nvPr/>
        </p:nvSpPr>
        <p:spPr>
          <a:xfrm>
            <a:off x="6217920" y="2350008"/>
            <a:ext cx="2468880" cy="1024128"/>
          </a:xfrm>
          <a:prstGeom prst="roundRect">
            <a:avLst>
              <a:gd name="adj" fmla="val 7143"/>
            </a:avLst>
          </a:prstGeom>
          <a:solidFill>
            <a:schemeClr val="bg2"/>
          </a:solidFill>
          <a:ln w="12700">
            <a:solidFill>
              <a:schemeClr val="bg2"/>
            </a:solidFill>
            <a:prstDash val="solid"/>
          </a:ln>
        </p:spPr>
      </p:sp>
      <p:sp>
        <p:nvSpPr>
          <p:cNvPr id="11" name="Text 8"/>
          <p:cNvSpPr txBox="1"/>
          <p:nvPr/>
        </p:nvSpPr>
        <p:spPr>
          <a:xfrm>
            <a:off x="6400800" y="2423160"/>
            <a:ext cx="2148840" cy="502920"/>
          </a:xfrm>
          <a:prstGeom prst="rect">
            <a:avLst/>
          </a:prstGeom>
          <a:noFill/>
          <a:ln/>
        </p:spPr>
        <p:txBody>
          <a:bodyPr wrap="square" lIns="0" tIns="0" rIns="0" bIns="0" rtlCol="0" anchor="t"/>
          <a:lstStyle/>
          <a:p>
            <a:pPr marL="0" indent="0">
              <a:buNone/>
            </a:pPr>
            <a:r>
              <a:rPr lang="en-US" sz="2800" b="1" dirty="0">
                <a:solidFill>
                  <a:schemeClr val="tx2"/>
                </a:solidFill>
                <a:latin typeface="Georgia" pitchFamily="34" charset="0"/>
                <a:ea typeface="Georgia" pitchFamily="34" charset="-122"/>
                <a:cs typeface="Georgia" pitchFamily="34" charset="-120"/>
              </a:rPr>
              <a:t>2²⁰</a:t>
            </a:r>
            <a:endParaRPr lang="en-US" sz="2800" dirty="0"/>
          </a:p>
        </p:txBody>
      </p:sp>
      <p:sp>
        <p:nvSpPr>
          <p:cNvPr id="12" name="Text 9"/>
          <p:cNvSpPr txBox="1"/>
          <p:nvPr/>
        </p:nvSpPr>
        <p:spPr>
          <a:xfrm>
            <a:off x="6400800" y="2944368"/>
            <a:ext cx="2148840" cy="365760"/>
          </a:xfrm>
          <a:prstGeom prst="rect">
            <a:avLst/>
          </a:prstGeom>
          <a:noFill/>
          <a:ln/>
        </p:spPr>
        <p:txBody>
          <a:bodyPr wrap="square" lIns="0" tIns="0" rIns="0" bIns="0" rtlCol="0" anchor="t"/>
          <a:lstStyle/>
          <a:p>
            <a:pPr marL="0" indent="0">
              <a:buNone/>
            </a:pPr>
            <a:r>
              <a:rPr lang="en-US" sz="1100" dirty="0">
                <a:solidFill>
                  <a:schemeClr val="accent4"/>
                </a:solidFill>
                <a:latin typeface="Calibri" pitchFamily="34" charset="0"/>
                <a:ea typeface="Calibri" pitchFamily="34" charset="-122"/>
                <a:cs typeface="Calibri" pitchFamily="34" charset="-120"/>
              </a:rPr>
              <a:t>≈1 million possible layouts</a:t>
            </a:r>
            <a:endParaRPr lang="en-US" sz="1100" dirty="0"/>
          </a:p>
        </p:txBody>
      </p:sp>
      <p:sp>
        <p:nvSpPr>
          <p:cNvPr id="13" name="ws2"/>
          <p:cNvSpPr/>
          <p:nvPr/>
        </p:nvSpPr>
        <p:spPr>
          <a:xfrm>
            <a:off x="6217920" y="3511296"/>
            <a:ext cx="2468880" cy="1024128"/>
          </a:xfrm>
          <a:prstGeom prst="roundRect">
            <a:avLst>
              <a:gd name="adj" fmla="val 7143"/>
            </a:avLst>
          </a:prstGeom>
          <a:solidFill>
            <a:schemeClr val="bg2"/>
          </a:solidFill>
          <a:ln w="12700">
            <a:solidFill>
              <a:schemeClr val="bg2"/>
            </a:solidFill>
            <a:prstDash val="solid"/>
          </a:ln>
        </p:spPr>
      </p:sp>
      <p:sp>
        <p:nvSpPr>
          <p:cNvPr id="14" name="Text 11"/>
          <p:cNvSpPr txBox="1"/>
          <p:nvPr/>
        </p:nvSpPr>
        <p:spPr>
          <a:xfrm>
            <a:off x="6400800" y="3584448"/>
            <a:ext cx="2148840" cy="502920"/>
          </a:xfrm>
          <a:prstGeom prst="rect">
            <a:avLst/>
          </a:prstGeom>
          <a:noFill/>
          <a:ln/>
        </p:spPr>
        <p:txBody>
          <a:bodyPr wrap="square" lIns="0" tIns="0" rIns="0" bIns="0" rtlCol="0" anchor="t"/>
          <a:lstStyle/>
          <a:p>
            <a:pPr marL="0" indent="0">
              <a:buNone/>
            </a:pPr>
            <a:r>
              <a:rPr lang="en-US" sz="2800" b="1" dirty="0">
                <a:solidFill>
                  <a:schemeClr val="accent1"/>
                </a:solidFill>
                <a:latin typeface="Georgia" pitchFamily="34" charset="0"/>
                <a:ea typeface="Georgia" pitchFamily="34" charset="-122"/>
                <a:cs typeface="Georgia" pitchFamily="34" charset="-120"/>
              </a:rPr>
              <a:t>6,000</a:t>
            </a:r>
            <a:endParaRPr lang="en-US" sz="2800" dirty="0"/>
          </a:p>
        </p:txBody>
      </p:sp>
      <p:sp>
        <p:nvSpPr>
          <p:cNvPr id="15" name="Text 12"/>
          <p:cNvSpPr txBox="1"/>
          <p:nvPr/>
        </p:nvSpPr>
        <p:spPr>
          <a:xfrm>
            <a:off x="6400800" y="4105656"/>
            <a:ext cx="2148840" cy="365760"/>
          </a:xfrm>
          <a:prstGeom prst="rect">
            <a:avLst/>
          </a:prstGeom>
          <a:noFill/>
          <a:ln/>
        </p:spPr>
        <p:txBody>
          <a:bodyPr wrap="square" lIns="0" tIns="0" rIns="0" bIns="0" rtlCol="0" anchor="t"/>
          <a:lstStyle/>
          <a:p>
            <a:pPr marL="0" indent="0">
              <a:buNone/>
            </a:pPr>
            <a:r>
              <a:rPr lang="en-US" sz="1100" dirty="0">
                <a:solidFill>
                  <a:schemeClr val="accent4"/>
                </a:solidFill>
                <a:latin typeface="Calibri" pitchFamily="34" charset="0"/>
                <a:ea typeface="Calibri" pitchFamily="34" charset="-122"/>
                <a:cs typeface="Calibri" pitchFamily="34" charset="-120"/>
              </a:rPr>
              <a:t>FE samples was the best training-set size</a:t>
            </a:r>
            <a:endParaRPr lang="en-US" sz="1100" dirty="0"/>
          </a:p>
        </p:txBody>
      </p:sp>
      <p:sp>
        <p:nvSpPr>
          <p:cNvPr id="16" name="Text 13"/>
          <p:cNvSpPr txBox="1"/>
          <p:nvPr/>
        </p:nvSpPr>
        <p:spPr>
          <a:xfrm>
            <a:off x="457200" y="4818888"/>
            <a:ext cx="7498080" cy="201168"/>
          </a:xfrm>
          <a:prstGeom prst="rect">
            <a:avLst/>
          </a:prstGeom>
          <a:noFill/>
          <a:ln/>
        </p:spPr>
        <p:txBody>
          <a:bodyPr wrap="square" lIns="0" tIns="0" rIns="0" bIns="0" rtlCol="0" anchor="t"/>
          <a:lstStyle/>
          <a:p>
            <a:pPr marL="0" indent="0">
              <a:buNone/>
            </a:pPr>
            <a:r>
              <a:rPr lang="en-US" sz="800" dirty="0">
                <a:solidFill>
                  <a:schemeClr val="accent4"/>
                </a:solidFill>
                <a:latin typeface="Calibri" pitchFamily="34" charset="0"/>
                <a:ea typeface="Calibri" pitchFamily="34" charset="-122"/>
                <a:cs typeface="Calibri" pitchFamily="34" charset="-120"/>
              </a:rPr>
              <a:t>Wang et al., Adv. Sci. 12(12), 2407825 (2025): abstract, Fig. 1, Fig. 4a [1].</a:t>
            </a:r>
            <a:endParaRPr lang="en-US" sz="8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82"/>
                </a:solidFill>
                <a:latin typeface="Calibri"/>
                <a:ea typeface="Calibri"/>
                <a:cs typeface="Calibri"/>
              </a:defRPr>
            </a:lvl1pPr>
          </a:lstStyle>
          <a:p>
            <a:pPr algn="r"/>
            <a:r>
              <a:rPr lang="en-US" b="0"/>
              <a:t>6</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457200" y="256032"/>
            <a:ext cx="7315200" cy="228600"/>
          </a:xfrm>
          <a:prstGeom prst="rect">
            <a:avLst/>
          </a:prstGeom>
          <a:noFill/>
          <a:ln/>
        </p:spPr>
        <p:txBody>
          <a:bodyPr wrap="square" lIns="0" tIns="0" rIns="0" bIns="0" rtlCol="0" anchor="ctr"/>
          <a:lstStyle/>
          <a:p>
            <a:pPr marL="0" indent="0" algn="l">
              <a:buNone/>
            </a:pPr>
            <a:r>
              <a:rPr lang="en-US" sz="1000" b="1" kern="0" spc="200" dirty="0">
                <a:solidFill>
                  <a:schemeClr val="accent1"/>
                </a:solidFill>
                <a:latin typeface="Calibri" pitchFamily="34" charset="0"/>
                <a:ea typeface="Calibri" pitchFamily="34" charset="-122"/>
                <a:cs typeface="Calibri" pitchFamily="34" charset="-120"/>
              </a:rPr>
              <a:t>WANG ET AL. (2025)</a:t>
            </a:r>
            <a:endParaRPr lang="en-US" sz="1000" dirty="0"/>
          </a:p>
        </p:txBody>
      </p:sp>
      <p:sp>
        <p:nvSpPr>
          <p:cNvPr id="3" name="Text 2"/>
          <p:cNvSpPr>
            <a:spLocks noGrp="1"/>
          </p:cNvSpPr>
          <p:nvPr>
            <p:ph type="title" idx="103" hasCustomPrompt="1"/>
          </p:nvPr>
        </p:nvSpPr>
        <p:spPr>
          <a:xfrm>
            <a:off x="457200" y="502920"/>
            <a:ext cx="8229600" cy="548640"/>
          </a:xfrm>
          <a:prstGeom prst="rect">
            <a:avLst/>
          </a:prstGeom>
          <a:noFill/>
          <a:ln/>
        </p:spPr>
        <p:txBody>
          <a:bodyPr wrap="square" lIns="0" tIns="0" rIns="0" bIns="0" rtlCol="0" anchor="ctr"/>
          <a:lstStyle/>
          <a:p>
            <a:pPr marL="0" indent="0" algn="l">
              <a:buNone/>
            </a:pPr>
            <a:r>
              <a:rPr lang="en-US" sz="2400" b="1" dirty="0">
                <a:solidFill>
                  <a:schemeClr val="tx2"/>
                </a:solidFill>
                <a:latin typeface="Georgia" pitchFamily="34" charset="0"/>
                <a:ea typeface="Georgia" pitchFamily="34" charset="-122"/>
                <a:cs typeface="Georgia" pitchFamily="34" charset="-120"/>
              </a:rPr>
              <a:t>Voxels are the design language</a:t>
            </a:r>
            <a:endParaRPr lang="en-US" sz="2400" dirty="0"/>
          </a:p>
        </p:txBody>
      </p:sp>
      <p:sp>
        <p:nvSpPr>
          <p:cNvPr id="4" name="v00"/>
          <p:cNvSpPr/>
          <p:nvPr/>
        </p:nvSpPr>
        <p:spPr>
          <a:xfrm>
            <a:off x="685800" y="1508760"/>
            <a:ext cx="420624" cy="420624"/>
          </a:xfrm>
          <a:prstGeom prst="rect">
            <a:avLst/>
          </a:prstGeom>
          <a:solidFill>
            <a:schemeClr val="accent1"/>
          </a:solidFill>
          <a:ln w="12700">
            <a:solidFill>
              <a:schemeClr val="bg1"/>
            </a:solidFill>
            <a:prstDash val="solid"/>
          </a:ln>
        </p:spPr>
      </p:sp>
      <p:sp>
        <p:nvSpPr>
          <p:cNvPr id="5" name="Text 3"/>
          <p:cNvSpPr txBox="1"/>
          <p:nvPr/>
        </p:nvSpPr>
        <p:spPr>
          <a:xfrm>
            <a:off x="685800" y="1508760"/>
            <a:ext cx="420624" cy="420624"/>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6" name="v01"/>
          <p:cNvSpPr/>
          <p:nvPr/>
        </p:nvSpPr>
        <p:spPr>
          <a:xfrm>
            <a:off x="1143000" y="1508760"/>
            <a:ext cx="420624" cy="420624"/>
          </a:xfrm>
          <a:prstGeom prst="rect">
            <a:avLst/>
          </a:prstGeom>
          <a:solidFill>
            <a:schemeClr val="accent1"/>
          </a:solidFill>
          <a:ln w="12700">
            <a:solidFill>
              <a:schemeClr val="bg1"/>
            </a:solidFill>
            <a:prstDash val="solid"/>
          </a:ln>
        </p:spPr>
      </p:sp>
      <p:sp>
        <p:nvSpPr>
          <p:cNvPr id="7" name="Text 5"/>
          <p:cNvSpPr txBox="1"/>
          <p:nvPr/>
        </p:nvSpPr>
        <p:spPr>
          <a:xfrm>
            <a:off x="1143000" y="1508760"/>
            <a:ext cx="420624" cy="420624"/>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8" name="v02"/>
          <p:cNvSpPr/>
          <p:nvPr/>
        </p:nvSpPr>
        <p:spPr>
          <a:xfrm>
            <a:off x="1600200" y="1508760"/>
            <a:ext cx="420624" cy="420624"/>
          </a:xfrm>
          <a:prstGeom prst="rect">
            <a:avLst/>
          </a:prstGeom>
          <a:solidFill>
            <a:schemeClr val="accent6"/>
          </a:solidFill>
          <a:ln w="12700">
            <a:solidFill>
              <a:schemeClr val="bg1"/>
            </a:solidFill>
            <a:prstDash val="solid"/>
          </a:ln>
        </p:spPr>
      </p:sp>
      <p:sp>
        <p:nvSpPr>
          <p:cNvPr id="9" name="Text 7"/>
          <p:cNvSpPr txBox="1"/>
          <p:nvPr/>
        </p:nvSpPr>
        <p:spPr>
          <a:xfrm>
            <a:off x="1600200" y="1508760"/>
            <a:ext cx="420624" cy="420624"/>
          </a:xfrm>
          <a:prstGeom prst="rect">
            <a:avLst/>
          </a:prstGeom>
          <a:noFill/>
          <a:ln/>
        </p:spPr>
        <p:txBody>
          <a:bodyPr wrap="square" lIns="0" tIns="0" rIns="0" bIns="0" rtlCol="0" anchor="ctr"/>
          <a:lstStyle/>
          <a:p>
            <a:pPr marL="0" indent="0" algn="ctr">
              <a:buNone/>
            </a:pPr>
            <a:r>
              <a:rPr lang="en-US" sz="1400" b="1" dirty="0">
                <a:solidFill>
                  <a:schemeClr val="tx2"/>
                </a:solidFill>
                <a:latin typeface="Calibri" pitchFamily="34" charset="0"/>
                <a:ea typeface="Calibri" pitchFamily="34" charset="-122"/>
                <a:cs typeface="Calibri" pitchFamily="34" charset="-120"/>
              </a:rPr>
              <a:t>0</a:t>
            </a:r>
            <a:endParaRPr lang="en-US" sz="1400" dirty="0"/>
          </a:p>
        </p:txBody>
      </p:sp>
      <p:sp>
        <p:nvSpPr>
          <p:cNvPr id="10" name="v03"/>
          <p:cNvSpPr/>
          <p:nvPr/>
        </p:nvSpPr>
        <p:spPr>
          <a:xfrm>
            <a:off x="2057400" y="1508760"/>
            <a:ext cx="420624" cy="420624"/>
          </a:xfrm>
          <a:prstGeom prst="rect">
            <a:avLst/>
          </a:prstGeom>
          <a:solidFill>
            <a:schemeClr val="accent6"/>
          </a:solidFill>
          <a:ln w="12700">
            <a:solidFill>
              <a:schemeClr val="bg1"/>
            </a:solidFill>
            <a:prstDash val="solid"/>
          </a:ln>
        </p:spPr>
      </p:sp>
      <p:sp>
        <p:nvSpPr>
          <p:cNvPr id="11" name="Text 9"/>
          <p:cNvSpPr txBox="1"/>
          <p:nvPr/>
        </p:nvSpPr>
        <p:spPr>
          <a:xfrm>
            <a:off x="2057400" y="1508760"/>
            <a:ext cx="420624" cy="420624"/>
          </a:xfrm>
          <a:prstGeom prst="rect">
            <a:avLst/>
          </a:prstGeom>
          <a:noFill/>
          <a:ln/>
        </p:spPr>
        <p:txBody>
          <a:bodyPr wrap="square" lIns="0" tIns="0" rIns="0" bIns="0" rtlCol="0" anchor="ctr"/>
          <a:lstStyle/>
          <a:p>
            <a:pPr marL="0" indent="0" algn="ctr">
              <a:buNone/>
            </a:pPr>
            <a:r>
              <a:rPr lang="en-US" sz="1400" b="1" dirty="0">
                <a:solidFill>
                  <a:schemeClr val="tx2"/>
                </a:solidFill>
                <a:latin typeface="Calibri" pitchFamily="34" charset="0"/>
                <a:ea typeface="Calibri" pitchFamily="34" charset="-122"/>
                <a:cs typeface="Calibri" pitchFamily="34" charset="-120"/>
              </a:rPr>
              <a:t>0</a:t>
            </a:r>
            <a:endParaRPr lang="en-US" sz="1400" dirty="0"/>
          </a:p>
        </p:txBody>
      </p:sp>
      <p:sp>
        <p:nvSpPr>
          <p:cNvPr id="12" name="v04"/>
          <p:cNvSpPr/>
          <p:nvPr/>
        </p:nvSpPr>
        <p:spPr>
          <a:xfrm>
            <a:off x="2514600" y="1508760"/>
            <a:ext cx="420624" cy="420624"/>
          </a:xfrm>
          <a:prstGeom prst="rect">
            <a:avLst/>
          </a:prstGeom>
          <a:solidFill>
            <a:schemeClr val="accent1"/>
          </a:solidFill>
          <a:ln w="12700">
            <a:solidFill>
              <a:schemeClr val="bg1"/>
            </a:solidFill>
            <a:prstDash val="solid"/>
          </a:ln>
        </p:spPr>
      </p:sp>
      <p:sp>
        <p:nvSpPr>
          <p:cNvPr id="13" name="Text 11"/>
          <p:cNvSpPr txBox="1"/>
          <p:nvPr/>
        </p:nvSpPr>
        <p:spPr>
          <a:xfrm>
            <a:off x="2514600" y="1508760"/>
            <a:ext cx="420624" cy="420624"/>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14" name="v05"/>
          <p:cNvSpPr/>
          <p:nvPr/>
        </p:nvSpPr>
        <p:spPr>
          <a:xfrm>
            <a:off x="2971800" y="1508760"/>
            <a:ext cx="420624" cy="420624"/>
          </a:xfrm>
          <a:prstGeom prst="rect">
            <a:avLst/>
          </a:prstGeom>
          <a:solidFill>
            <a:schemeClr val="accent1"/>
          </a:solidFill>
          <a:ln w="12700">
            <a:solidFill>
              <a:schemeClr val="bg1"/>
            </a:solidFill>
            <a:prstDash val="solid"/>
          </a:ln>
        </p:spPr>
      </p:sp>
      <p:sp>
        <p:nvSpPr>
          <p:cNvPr id="15" name="Text 13"/>
          <p:cNvSpPr txBox="1"/>
          <p:nvPr/>
        </p:nvSpPr>
        <p:spPr>
          <a:xfrm>
            <a:off x="2971800" y="1508760"/>
            <a:ext cx="420624" cy="420624"/>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16" name="v06"/>
          <p:cNvSpPr/>
          <p:nvPr/>
        </p:nvSpPr>
        <p:spPr>
          <a:xfrm>
            <a:off x="3429000" y="1508760"/>
            <a:ext cx="420624" cy="420624"/>
          </a:xfrm>
          <a:prstGeom prst="rect">
            <a:avLst/>
          </a:prstGeom>
          <a:solidFill>
            <a:schemeClr val="accent1"/>
          </a:solidFill>
          <a:ln w="12700">
            <a:solidFill>
              <a:schemeClr val="bg1"/>
            </a:solidFill>
            <a:prstDash val="solid"/>
          </a:ln>
        </p:spPr>
      </p:sp>
      <p:sp>
        <p:nvSpPr>
          <p:cNvPr id="17" name="Text 15"/>
          <p:cNvSpPr txBox="1"/>
          <p:nvPr/>
        </p:nvSpPr>
        <p:spPr>
          <a:xfrm>
            <a:off x="3429000" y="1508760"/>
            <a:ext cx="420624" cy="420624"/>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18" name="v07"/>
          <p:cNvSpPr/>
          <p:nvPr/>
        </p:nvSpPr>
        <p:spPr>
          <a:xfrm>
            <a:off x="3886200" y="1508760"/>
            <a:ext cx="420624" cy="420624"/>
          </a:xfrm>
          <a:prstGeom prst="rect">
            <a:avLst/>
          </a:prstGeom>
          <a:solidFill>
            <a:schemeClr val="accent1"/>
          </a:solidFill>
          <a:ln w="12700">
            <a:solidFill>
              <a:schemeClr val="bg1"/>
            </a:solidFill>
            <a:prstDash val="solid"/>
          </a:ln>
        </p:spPr>
      </p:sp>
      <p:sp>
        <p:nvSpPr>
          <p:cNvPr id="19" name="Text 17"/>
          <p:cNvSpPr txBox="1"/>
          <p:nvPr/>
        </p:nvSpPr>
        <p:spPr>
          <a:xfrm>
            <a:off x="3886200" y="1508760"/>
            <a:ext cx="420624" cy="420624"/>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20" name="v08"/>
          <p:cNvSpPr/>
          <p:nvPr/>
        </p:nvSpPr>
        <p:spPr>
          <a:xfrm>
            <a:off x="4343400" y="1508760"/>
            <a:ext cx="420624" cy="420624"/>
          </a:xfrm>
          <a:prstGeom prst="rect">
            <a:avLst/>
          </a:prstGeom>
          <a:solidFill>
            <a:schemeClr val="accent1"/>
          </a:solidFill>
          <a:ln w="12700">
            <a:solidFill>
              <a:schemeClr val="bg1"/>
            </a:solidFill>
            <a:prstDash val="solid"/>
          </a:ln>
        </p:spPr>
      </p:sp>
      <p:sp>
        <p:nvSpPr>
          <p:cNvPr id="21" name="Text 19"/>
          <p:cNvSpPr txBox="1"/>
          <p:nvPr/>
        </p:nvSpPr>
        <p:spPr>
          <a:xfrm>
            <a:off x="4343400" y="1508760"/>
            <a:ext cx="420624" cy="420624"/>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22" name="v09"/>
          <p:cNvSpPr/>
          <p:nvPr/>
        </p:nvSpPr>
        <p:spPr>
          <a:xfrm>
            <a:off x="4800600" y="1508760"/>
            <a:ext cx="420624" cy="420624"/>
          </a:xfrm>
          <a:prstGeom prst="rect">
            <a:avLst/>
          </a:prstGeom>
          <a:solidFill>
            <a:schemeClr val="accent6"/>
          </a:solidFill>
          <a:ln w="12700">
            <a:solidFill>
              <a:schemeClr val="bg1"/>
            </a:solidFill>
            <a:prstDash val="solid"/>
          </a:ln>
        </p:spPr>
      </p:sp>
      <p:sp>
        <p:nvSpPr>
          <p:cNvPr id="23" name="Text 21"/>
          <p:cNvSpPr txBox="1"/>
          <p:nvPr/>
        </p:nvSpPr>
        <p:spPr>
          <a:xfrm>
            <a:off x="4800600" y="1508760"/>
            <a:ext cx="420624" cy="420624"/>
          </a:xfrm>
          <a:prstGeom prst="rect">
            <a:avLst/>
          </a:prstGeom>
          <a:noFill/>
          <a:ln/>
        </p:spPr>
        <p:txBody>
          <a:bodyPr wrap="square" lIns="0" tIns="0" rIns="0" bIns="0" rtlCol="0" anchor="ctr"/>
          <a:lstStyle/>
          <a:p>
            <a:pPr marL="0" indent="0" algn="ctr">
              <a:buNone/>
            </a:pPr>
            <a:r>
              <a:rPr lang="en-US" sz="1400" b="1" dirty="0">
                <a:solidFill>
                  <a:schemeClr val="tx2"/>
                </a:solidFill>
                <a:latin typeface="Calibri" pitchFamily="34" charset="0"/>
                <a:ea typeface="Calibri" pitchFamily="34" charset="-122"/>
                <a:cs typeface="Calibri" pitchFamily="34" charset="-120"/>
              </a:rPr>
              <a:t>0</a:t>
            </a:r>
            <a:endParaRPr lang="en-US" sz="1400" dirty="0"/>
          </a:p>
        </p:txBody>
      </p:sp>
      <p:sp>
        <p:nvSpPr>
          <p:cNvPr id="24" name="v10"/>
          <p:cNvSpPr/>
          <p:nvPr/>
        </p:nvSpPr>
        <p:spPr>
          <a:xfrm>
            <a:off x="685800" y="1965960"/>
            <a:ext cx="420624" cy="420624"/>
          </a:xfrm>
          <a:prstGeom prst="rect">
            <a:avLst/>
          </a:prstGeom>
          <a:solidFill>
            <a:schemeClr val="accent1"/>
          </a:solidFill>
          <a:ln w="12700">
            <a:solidFill>
              <a:schemeClr val="bg1"/>
            </a:solidFill>
            <a:prstDash val="solid"/>
          </a:ln>
        </p:spPr>
      </p:sp>
      <p:sp>
        <p:nvSpPr>
          <p:cNvPr id="25" name="Text 23"/>
          <p:cNvSpPr txBox="1"/>
          <p:nvPr/>
        </p:nvSpPr>
        <p:spPr>
          <a:xfrm>
            <a:off x="685800" y="1965960"/>
            <a:ext cx="420624" cy="420624"/>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26" name="v11"/>
          <p:cNvSpPr/>
          <p:nvPr/>
        </p:nvSpPr>
        <p:spPr>
          <a:xfrm>
            <a:off x="1143000" y="1965960"/>
            <a:ext cx="420624" cy="420624"/>
          </a:xfrm>
          <a:prstGeom prst="rect">
            <a:avLst/>
          </a:prstGeom>
          <a:solidFill>
            <a:schemeClr val="accent1"/>
          </a:solidFill>
          <a:ln w="12700">
            <a:solidFill>
              <a:schemeClr val="bg1"/>
            </a:solidFill>
            <a:prstDash val="solid"/>
          </a:ln>
        </p:spPr>
      </p:sp>
      <p:sp>
        <p:nvSpPr>
          <p:cNvPr id="27" name="Text 25"/>
          <p:cNvSpPr txBox="1"/>
          <p:nvPr/>
        </p:nvSpPr>
        <p:spPr>
          <a:xfrm>
            <a:off x="1143000" y="1965960"/>
            <a:ext cx="420624" cy="420624"/>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28" name="v12"/>
          <p:cNvSpPr/>
          <p:nvPr/>
        </p:nvSpPr>
        <p:spPr>
          <a:xfrm>
            <a:off x="1600200" y="1965960"/>
            <a:ext cx="420624" cy="420624"/>
          </a:xfrm>
          <a:prstGeom prst="rect">
            <a:avLst/>
          </a:prstGeom>
          <a:solidFill>
            <a:schemeClr val="accent1"/>
          </a:solidFill>
          <a:ln w="12700">
            <a:solidFill>
              <a:schemeClr val="bg1"/>
            </a:solidFill>
            <a:prstDash val="solid"/>
          </a:ln>
        </p:spPr>
      </p:sp>
      <p:sp>
        <p:nvSpPr>
          <p:cNvPr id="29" name="Text 27"/>
          <p:cNvSpPr txBox="1"/>
          <p:nvPr/>
        </p:nvSpPr>
        <p:spPr>
          <a:xfrm>
            <a:off x="1600200" y="1965960"/>
            <a:ext cx="420624" cy="420624"/>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30" name="v13"/>
          <p:cNvSpPr/>
          <p:nvPr/>
        </p:nvSpPr>
        <p:spPr>
          <a:xfrm>
            <a:off x="2057400" y="1965960"/>
            <a:ext cx="420624" cy="420624"/>
          </a:xfrm>
          <a:prstGeom prst="rect">
            <a:avLst/>
          </a:prstGeom>
          <a:solidFill>
            <a:schemeClr val="accent1"/>
          </a:solidFill>
          <a:ln w="12700">
            <a:solidFill>
              <a:schemeClr val="bg1"/>
            </a:solidFill>
            <a:prstDash val="solid"/>
          </a:ln>
        </p:spPr>
      </p:sp>
      <p:sp>
        <p:nvSpPr>
          <p:cNvPr id="31" name="Text 29"/>
          <p:cNvSpPr txBox="1"/>
          <p:nvPr/>
        </p:nvSpPr>
        <p:spPr>
          <a:xfrm>
            <a:off x="2057400" y="1965960"/>
            <a:ext cx="420624" cy="420624"/>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32" name="v14"/>
          <p:cNvSpPr/>
          <p:nvPr/>
        </p:nvSpPr>
        <p:spPr>
          <a:xfrm>
            <a:off x="2514600" y="1965960"/>
            <a:ext cx="420624" cy="420624"/>
          </a:xfrm>
          <a:prstGeom prst="rect">
            <a:avLst/>
          </a:prstGeom>
          <a:solidFill>
            <a:schemeClr val="accent6"/>
          </a:solidFill>
          <a:ln w="12700">
            <a:solidFill>
              <a:schemeClr val="bg1"/>
            </a:solidFill>
            <a:prstDash val="solid"/>
          </a:ln>
        </p:spPr>
      </p:sp>
      <p:sp>
        <p:nvSpPr>
          <p:cNvPr id="33" name="Text 31"/>
          <p:cNvSpPr txBox="1"/>
          <p:nvPr/>
        </p:nvSpPr>
        <p:spPr>
          <a:xfrm>
            <a:off x="2514600" y="1965960"/>
            <a:ext cx="420624" cy="420624"/>
          </a:xfrm>
          <a:prstGeom prst="rect">
            <a:avLst/>
          </a:prstGeom>
          <a:noFill/>
          <a:ln/>
        </p:spPr>
        <p:txBody>
          <a:bodyPr wrap="square" lIns="0" tIns="0" rIns="0" bIns="0" rtlCol="0" anchor="ctr"/>
          <a:lstStyle/>
          <a:p>
            <a:pPr marL="0" indent="0" algn="ctr">
              <a:buNone/>
            </a:pPr>
            <a:r>
              <a:rPr lang="en-US" sz="1400" b="1" dirty="0">
                <a:solidFill>
                  <a:schemeClr val="tx2"/>
                </a:solidFill>
                <a:latin typeface="Calibri" pitchFamily="34" charset="0"/>
                <a:ea typeface="Calibri" pitchFamily="34" charset="-122"/>
                <a:cs typeface="Calibri" pitchFamily="34" charset="-120"/>
              </a:rPr>
              <a:t>0</a:t>
            </a:r>
            <a:endParaRPr lang="en-US" sz="1400" dirty="0"/>
          </a:p>
        </p:txBody>
      </p:sp>
      <p:sp>
        <p:nvSpPr>
          <p:cNvPr id="34" name="v15"/>
          <p:cNvSpPr/>
          <p:nvPr/>
        </p:nvSpPr>
        <p:spPr>
          <a:xfrm>
            <a:off x="2971800" y="1965960"/>
            <a:ext cx="420624" cy="420624"/>
          </a:xfrm>
          <a:prstGeom prst="rect">
            <a:avLst/>
          </a:prstGeom>
          <a:solidFill>
            <a:schemeClr val="accent6"/>
          </a:solidFill>
          <a:ln w="12700">
            <a:solidFill>
              <a:schemeClr val="bg1"/>
            </a:solidFill>
            <a:prstDash val="solid"/>
          </a:ln>
        </p:spPr>
      </p:sp>
      <p:sp>
        <p:nvSpPr>
          <p:cNvPr id="35" name="Text 33"/>
          <p:cNvSpPr txBox="1"/>
          <p:nvPr/>
        </p:nvSpPr>
        <p:spPr>
          <a:xfrm>
            <a:off x="2971800" y="1965960"/>
            <a:ext cx="420624" cy="420624"/>
          </a:xfrm>
          <a:prstGeom prst="rect">
            <a:avLst/>
          </a:prstGeom>
          <a:noFill/>
          <a:ln/>
        </p:spPr>
        <p:txBody>
          <a:bodyPr wrap="square" lIns="0" tIns="0" rIns="0" bIns="0" rtlCol="0" anchor="ctr"/>
          <a:lstStyle/>
          <a:p>
            <a:pPr marL="0" indent="0" algn="ctr">
              <a:buNone/>
            </a:pPr>
            <a:r>
              <a:rPr lang="en-US" sz="1400" b="1" dirty="0">
                <a:solidFill>
                  <a:schemeClr val="tx2"/>
                </a:solidFill>
                <a:latin typeface="Calibri" pitchFamily="34" charset="0"/>
                <a:ea typeface="Calibri" pitchFamily="34" charset="-122"/>
                <a:cs typeface="Calibri" pitchFamily="34" charset="-120"/>
              </a:rPr>
              <a:t>0</a:t>
            </a:r>
            <a:endParaRPr lang="en-US" sz="1400" dirty="0"/>
          </a:p>
        </p:txBody>
      </p:sp>
      <p:sp>
        <p:nvSpPr>
          <p:cNvPr id="36" name="v16"/>
          <p:cNvSpPr/>
          <p:nvPr/>
        </p:nvSpPr>
        <p:spPr>
          <a:xfrm>
            <a:off x="3429000" y="1965960"/>
            <a:ext cx="420624" cy="420624"/>
          </a:xfrm>
          <a:prstGeom prst="rect">
            <a:avLst/>
          </a:prstGeom>
          <a:solidFill>
            <a:schemeClr val="accent6"/>
          </a:solidFill>
          <a:ln w="12700">
            <a:solidFill>
              <a:schemeClr val="bg1"/>
            </a:solidFill>
            <a:prstDash val="solid"/>
          </a:ln>
        </p:spPr>
      </p:sp>
      <p:sp>
        <p:nvSpPr>
          <p:cNvPr id="37" name="Text 35"/>
          <p:cNvSpPr txBox="1"/>
          <p:nvPr/>
        </p:nvSpPr>
        <p:spPr>
          <a:xfrm>
            <a:off x="3429000" y="1965960"/>
            <a:ext cx="420624" cy="420624"/>
          </a:xfrm>
          <a:prstGeom prst="rect">
            <a:avLst/>
          </a:prstGeom>
          <a:noFill/>
          <a:ln/>
        </p:spPr>
        <p:txBody>
          <a:bodyPr wrap="square" lIns="0" tIns="0" rIns="0" bIns="0" rtlCol="0" anchor="ctr"/>
          <a:lstStyle/>
          <a:p>
            <a:pPr marL="0" indent="0" algn="ctr">
              <a:buNone/>
            </a:pPr>
            <a:r>
              <a:rPr lang="en-US" sz="1400" b="1" dirty="0">
                <a:solidFill>
                  <a:schemeClr val="tx2"/>
                </a:solidFill>
                <a:latin typeface="Calibri" pitchFamily="34" charset="0"/>
                <a:ea typeface="Calibri" pitchFamily="34" charset="-122"/>
                <a:cs typeface="Calibri" pitchFamily="34" charset="-120"/>
              </a:rPr>
              <a:t>0</a:t>
            </a:r>
            <a:endParaRPr lang="en-US" sz="1400" dirty="0"/>
          </a:p>
        </p:txBody>
      </p:sp>
      <p:sp>
        <p:nvSpPr>
          <p:cNvPr id="38" name="v17"/>
          <p:cNvSpPr/>
          <p:nvPr/>
        </p:nvSpPr>
        <p:spPr>
          <a:xfrm>
            <a:off x="3886200" y="1965960"/>
            <a:ext cx="420624" cy="420624"/>
          </a:xfrm>
          <a:prstGeom prst="rect">
            <a:avLst/>
          </a:prstGeom>
          <a:solidFill>
            <a:schemeClr val="accent6"/>
          </a:solidFill>
          <a:ln w="12700">
            <a:solidFill>
              <a:schemeClr val="bg1"/>
            </a:solidFill>
            <a:prstDash val="solid"/>
          </a:ln>
        </p:spPr>
      </p:sp>
      <p:sp>
        <p:nvSpPr>
          <p:cNvPr id="39" name="Text 37"/>
          <p:cNvSpPr txBox="1"/>
          <p:nvPr/>
        </p:nvSpPr>
        <p:spPr>
          <a:xfrm>
            <a:off x="3886200" y="1965960"/>
            <a:ext cx="420624" cy="420624"/>
          </a:xfrm>
          <a:prstGeom prst="rect">
            <a:avLst/>
          </a:prstGeom>
          <a:noFill/>
          <a:ln/>
        </p:spPr>
        <p:txBody>
          <a:bodyPr wrap="square" lIns="0" tIns="0" rIns="0" bIns="0" rtlCol="0" anchor="ctr"/>
          <a:lstStyle/>
          <a:p>
            <a:pPr marL="0" indent="0" algn="ctr">
              <a:buNone/>
            </a:pPr>
            <a:r>
              <a:rPr lang="en-US" sz="1400" b="1" dirty="0">
                <a:solidFill>
                  <a:schemeClr val="tx2"/>
                </a:solidFill>
                <a:latin typeface="Calibri" pitchFamily="34" charset="0"/>
                <a:ea typeface="Calibri" pitchFamily="34" charset="-122"/>
                <a:cs typeface="Calibri" pitchFamily="34" charset="-120"/>
              </a:rPr>
              <a:t>0</a:t>
            </a:r>
            <a:endParaRPr lang="en-US" sz="1400" dirty="0"/>
          </a:p>
        </p:txBody>
      </p:sp>
      <p:sp>
        <p:nvSpPr>
          <p:cNvPr id="40" name="v18"/>
          <p:cNvSpPr/>
          <p:nvPr/>
        </p:nvSpPr>
        <p:spPr>
          <a:xfrm>
            <a:off x="4343400" y="1965960"/>
            <a:ext cx="420624" cy="420624"/>
          </a:xfrm>
          <a:prstGeom prst="rect">
            <a:avLst/>
          </a:prstGeom>
          <a:solidFill>
            <a:schemeClr val="accent6"/>
          </a:solidFill>
          <a:ln w="12700">
            <a:solidFill>
              <a:schemeClr val="bg1"/>
            </a:solidFill>
            <a:prstDash val="solid"/>
          </a:ln>
        </p:spPr>
      </p:sp>
      <p:sp>
        <p:nvSpPr>
          <p:cNvPr id="41" name="Text 39"/>
          <p:cNvSpPr txBox="1"/>
          <p:nvPr/>
        </p:nvSpPr>
        <p:spPr>
          <a:xfrm>
            <a:off x="4343400" y="1965960"/>
            <a:ext cx="420624" cy="420624"/>
          </a:xfrm>
          <a:prstGeom prst="rect">
            <a:avLst/>
          </a:prstGeom>
          <a:noFill/>
          <a:ln/>
        </p:spPr>
        <p:txBody>
          <a:bodyPr wrap="square" lIns="0" tIns="0" rIns="0" bIns="0" rtlCol="0" anchor="ctr"/>
          <a:lstStyle/>
          <a:p>
            <a:pPr marL="0" indent="0" algn="ctr">
              <a:buNone/>
            </a:pPr>
            <a:r>
              <a:rPr lang="en-US" sz="1400" b="1" dirty="0">
                <a:solidFill>
                  <a:schemeClr val="tx2"/>
                </a:solidFill>
                <a:latin typeface="Calibri" pitchFamily="34" charset="0"/>
                <a:ea typeface="Calibri" pitchFamily="34" charset="-122"/>
                <a:cs typeface="Calibri" pitchFamily="34" charset="-120"/>
              </a:rPr>
              <a:t>0</a:t>
            </a:r>
            <a:endParaRPr lang="en-US" sz="1400" dirty="0"/>
          </a:p>
        </p:txBody>
      </p:sp>
      <p:sp>
        <p:nvSpPr>
          <p:cNvPr id="42" name="v19"/>
          <p:cNvSpPr/>
          <p:nvPr/>
        </p:nvSpPr>
        <p:spPr>
          <a:xfrm>
            <a:off x="4800600" y="1965960"/>
            <a:ext cx="420624" cy="420624"/>
          </a:xfrm>
          <a:prstGeom prst="rect">
            <a:avLst/>
          </a:prstGeom>
          <a:solidFill>
            <a:schemeClr val="accent1"/>
          </a:solidFill>
          <a:ln w="12700">
            <a:solidFill>
              <a:schemeClr val="bg1"/>
            </a:solidFill>
            <a:prstDash val="solid"/>
          </a:ln>
        </p:spPr>
      </p:sp>
      <p:sp>
        <p:nvSpPr>
          <p:cNvPr id="43" name="Text 41"/>
          <p:cNvSpPr txBox="1"/>
          <p:nvPr/>
        </p:nvSpPr>
        <p:spPr>
          <a:xfrm>
            <a:off x="4800600" y="1965960"/>
            <a:ext cx="420624" cy="420624"/>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44" name="Text 42"/>
          <p:cNvSpPr txBox="1"/>
          <p:nvPr/>
        </p:nvSpPr>
        <p:spPr>
          <a:xfrm>
            <a:off x="685800" y="1207008"/>
            <a:ext cx="3657600" cy="274320"/>
          </a:xfrm>
          <a:prstGeom prst="rect">
            <a:avLst/>
          </a:prstGeom>
          <a:noFill/>
          <a:ln/>
        </p:spPr>
        <p:txBody>
          <a:bodyPr wrap="square" lIns="0" tIns="0" rIns="0" bIns="0" rtlCol="0" anchor="t"/>
          <a:lstStyle/>
          <a:p>
            <a:pPr marL="0" indent="0">
              <a:buNone/>
            </a:pPr>
            <a:r>
              <a:rPr lang="en-US" sz="1100" b="1" dirty="0">
                <a:solidFill>
                  <a:schemeClr val="accent4"/>
                </a:solidFill>
                <a:latin typeface="Calibri" pitchFamily="34" charset="0"/>
                <a:ea typeface="Calibri" pitchFamily="34" charset="-122"/>
                <a:cs typeface="Calibri" pitchFamily="34" charset="-120"/>
              </a:rPr>
              <a:t>2 × 10 layout (example)</a:t>
            </a:r>
            <a:endParaRPr lang="en-US" sz="1100" dirty="0"/>
          </a:p>
        </p:txBody>
      </p:sp>
      <p:sp>
        <p:nvSpPr>
          <p:cNvPr id="45" name="v-arr"/>
          <p:cNvSpPr/>
          <p:nvPr/>
        </p:nvSpPr>
        <p:spPr>
          <a:xfrm>
            <a:off x="2926080" y="2487168"/>
            <a:ext cx="0" cy="320040"/>
          </a:xfrm>
          <a:prstGeom prst="line">
            <a:avLst/>
          </a:prstGeom>
          <a:noFill/>
          <a:ln w="22225">
            <a:solidFill>
              <a:schemeClr val="accent4"/>
            </a:solidFill>
            <a:prstDash val="solid"/>
            <a:tailEnd type="triangle"/>
          </a:ln>
        </p:spPr>
      </p:sp>
      <p:sp>
        <p:nvSpPr>
          <p:cNvPr id="46" name="Text 44"/>
          <p:cNvSpPr txBox="1"/>
          <p:nvPr/>
        </p:nvSpPr>
        <p:spPr>
          <a:xfrm>
            <a:off x="3063240" y="2487168"/>
            <a:ext cx="1097280" cy="274320"/>
          </a:xfrm>
          <a:prstGeom prst="rect">
            <a:avLst/>
          </a:prstGeom>
          <a:noFill/>
          <a:ln/>
        </p:spPr>
        <p:txBody>
          <a:bodyPr wrap="square" lIns="0" tIns="0" rIns="0" bIns="0" rtlCol="0" anchor="t"/>
          <a:lstStyle/>
          <a:p>
            <a:pPr marL="0" indent="0">
              <a:buNone/>
            </a:pPr>
            <a:r>
              <a:rPr lang="en-US" sz="1000" i="1" dirty="0">
                <a:solidFill>
                  <a:schemeClr val="accent4"/>
                </a:solidFill>
                <a:latin typeface="Calibri" pitchFamily="34" charset="0"/>
                <a:ea typeface="Calibri" pitchFamily="34" charset="-122"/>
                <a:cs typeface="Calibri" pitchFamily="34" charset="-120"/>
              </a:rPr>
              <a:t>swells</a:t>
            </a:r>
            <a:endParaRPr lang="en-US" sz="1000" dirty="0"/>
          </a:p>
        </p:txBody>
      </p:sp>
      <p:pic>
        <p:nvPicPr>
          <p:cNvPr id="47" name="v-bent" descr="img/hero_bent.png"/>
          <p:cNvPicPr>
            <a:picLocks noChangeAspect="1"/>
          </p:cNvPicPr>
          <p:nvPr/>
        </p:nvPicPr>
        <p:blipFill>
          <a:blip r:embed="rId3"/>
          <a:stretch>
            <a:fillRect/>
          </a:stretch>
        </p:blipFill>
        <p:spPr>
          <a:xfrm>
            <a:off x="1325880" y="2880360"/>
            <a:ext cx="3383280" cy="1691640"/>
          </a:xfrm>
          <a:prstGeom prst="rect">
            <a:avLst/>
          </a:prstGeom>
        </p:spPr>
      </p:pic>
      <p:sp>
        <p:nvSpPr>
          <p:cNvPr id="48" name="vp0"/>
          <p:cNvSpPr/>
          <p:nvPr/>
        </p:nvSpPr>
        <p:spPr>
          <a:xfrm>
            <a:off x="5486400" y="1234440"/>
            <a:ext cx="548640" cy="548640"/>
          </a:xfrm>
          <a:prstGeom prst="ellipse">
            <a:avLst/>
          </a:prstGeom>
          <a:solidFill>
            <a:schemeClr val="accent1"/>
          </a:solidFill>
          <a:ln w="12700">
            <a:solidFill>
              <a:schemeClr val="accent1"/>
            </a:solidFill>
            <a:prstDash val="solid"/>
          </a:ln>
        </p:spPr>
      </p:sp>
      <p:sp>
        <p:nvSpPr>
          <p:cNvPr id="49" name="Text 46"/>
          <p:cNvSpPr txBox="1"/>
          <p:nvPr/>
        </p:nvSpPr>
        <p:spPr>
          <a:xfrm>
            <a:off x="5486400" y="123444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latin typeface="Calibri" pitchFamily="34" charset="0"/>
                <a:ea typeface="Calibri" pitchFamily="34" charset="-122"/>
                <a:cs typeface="Calibri" pitchFamily="34" charset="-120"/>
              </a:rPr>
              <a:t>1</a:t>
            </a:r>
            <a:endParaRPr lang="en-US" sz="1800" dirty="0"/>
          </a:p>
        </p:txBody>
      </p:sp>
      <p:sp>
        <p:nvSpPr>
          <p:cNvPr id="50" name="Text 47"/>
          <p:cNvSpPr txBox="1"/>
          <p:nvPr/>
        </p:nvSpPr>
        <p:spPr>
          <a:xfrm>
            <a:off x="6172200" y="1234440"/>
            <a:ext cx="2514600" cy="548640"/>
          </a:xfrm>
          <a:prstGeom prst="rect">
            <a:avLst/>
          </a:prstGeom>
          <a:noFill/>
          <a:ln/>
        </p:spPr>
        <p:txBody>
          <a:bodyPr wrap="square" lIns="0" tIns="0" rIns="0" bIns="0" rtlCol="0" anchor="ctr"/>
          <a:lstStyle/>
          <a:p>
            <a:pPr marL="0" indent="0">
              <a:buNone/>
            </a:pPr>
            <a:r>
              <a:rPr lang="en-US" sz="1300" dirty="0">
                <a:solidFill>
                  <a:schemeClr val="tx2"/>
                </a:solidFill>
                <a:latin typeface="Calibri" pitchFamily="34" charset="0"/>
                <a:ea typeface="Calibri" pitchFamily="34" charset="-122"/>
                <a:cs typeface="Calibri" pitchFamily="34" charset="-120"/>
              </a:rPr>
              <a:t>active voxel: swells more</a:t>
            </a:r>
            <a:endParaRPr lang="en-US" sz="1300" dirty="0"/>
          </a:p>
        </p:txBody>
      </p:sp>
      <p:sp>
        <p:nvSpPr>
          <p:cNvPr id="51" name="vp1"/>
          <p:cNvSpPr/>
          <p:nvPr/>
        </p:nvSpPr>
        <p:spPr>
          <a:xfrm>
            <a:off x="5486400" y="2075688"/>
            <a:ext cx="548640" cy="548640"/>
          </a:xfrm>
          <a:prstGeom prst="ellipse">
            <a:avLst/>
          </a:prstGeom>
          <a:solidFill>
            <a:schemeClr val="accent4"/>
          </a:solidFill>
          <a:ln w="12700">
            <a:solidFill>
              <a:schemeClr val="accent4"/>
            </a:solidFill>
            <a:prstDash val="solid"/>
          </a:ln>
        </p:spPr>
      </p:sp>
      <p:sp>
        <p:nvSpPr>
          <p:cNvPr id="52" name="Text 49"/>
          <p:cNvSpPr txBox="1"/>
          <p:nvPr/>
        </p:nvSpPr>
        <p:spPr>
          <a:xfrm>
            <a:off x="5486400" y="2075688"/>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latin typeface="Calibri" pitchFamily="34" charset="0"/>
                <a:ea typeface="Calibri" pitchFamily="34" charset="-122"/>
                <a:cs typeface="Calibri" pitchFamily="34" charset="-120"/>
              </a:rPr>
              <a:t>0</a:t>
            </a:r>
            <a:endParaRPr lang="en-US" sz="1800" dirty="0"/>
          </a:p>
        </p:txBody>
      </p:sp>
      <p:sp>
        <p:nvSpPr>
          <p:cNvPr id="53" name="Text 50"/>
          <p:cNvSpPr txBox="1"/>
          <p:nvPr/>
        </p:nvSpPr>
        <p:spPr>
          <a:xfrm>
            <a:off x="6172200" y="2075688"/>
            <a:ext cx="2514600" cy="548640"/>
          </a:xfrm>
          <a:prstGeom prst="rect">
            <a:avLst/>
          </a:prstGeom>
          <a:noFill/>
          <a:ln/>
        </p:spPr>
        <p:txBody>
          <a:bodyPr wrap="square" lIns="0" tIns="0" rIns="0" bIns="0" rtlCol="0" anchor="ctr"/>
          <a:lstStyle/>
          <a:p>
            <a:pPr marL="0" indent="0">
              <a:buNone/>
            </a:pPr>
            <a:r>
              <a:rPr lang="en-US" sz="1300" dirty="0">
                <a:solidFill>
                  <a:schemeClr val="tx2"/>
                </a:solidFill>
                <a:latin typeface="Calibri" pitchFamily="34" charset="0"/>
                <a:ea typeface="Calibri" pitchFamily="34" charset="-122"/>
                <a:cs typeface="Calibri" pitchFamily="34" charset="-120"/>
              </a:rPr>
              <a:t>passive voxel: swells less</a:t>
            </a:r>
            <a:endParaRPr lang="en-US" sz="1300" dirty="0"/>
          </a:p>
        </p:txBody>
      </p:sp>
      <p:sp>
        <p:nvSpPr>
          <p:cNvPr id="54" name="vp2"/>
          <p:cNvSpPr/>
          <p:nvPr/>
        </p:nvSpPr>
        <p:spPr>
          <a:xfrm>
            <a:off x="5486400" y="2916936"/>
            <a:ext cx="548640" cy="548640"/>
          </a:xfrm>
          <a:prstGeom prst="ellipse">
            <a:avLst/>
          </a:prstGeom>
          <a:solidFill>
            <a:schemeClr val="accent2"/>
          </a:solidFill>
          <a:ln w="12700">
            <a:solidFill>
              <a:schemeClr val="accent2"/>
            </a:solidFill>
            <a:prstDash val="solid"/>
          </a:ln>
        </p:spPr>
      </p:sp>
      <p:sp>
        <p:nvSpPr>
          <p:cNvPr id="55" name="Text 52"/>
          <p:cNvSpPr txBox="1"/>
          <p:nvPr/>
        </p:nvSpPr>
        <p:spPr>
          <a:xfrm>
            <a:off x="5486400" y="2916936"/>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latin typeface="Calibri" pitchFamily="34" charset="0"/>
                <a:ea typeface="Calibri" pitchFamily="34" charset="-122"/>
                <a:cs typeface="Calibri" pitchFamily="34" charset="-120"/>
              </a:rPr>
              <a:t>↻</a:t>
            </a:r>
            <a:endParaRPr lang="en-US" sz="1800" dirty="0"/>
          </a:p>
        </p:txBody>
      </p:sp>
      <p:sp>
        <p:nvSpPr>
          <p:cNvPr id="56" name="Text 53"/>
          <p:cNvSpPr txBox="1"/>
          <p:nvPr/>
        </p:nvSpPr>
        <p:spPr>
          <a:xfrm>
            <a:off x="6172200" y="2916936"/>
            <a:ext cx="2514600" cy="548640"/>
          </a:xfrm>
          <a:prstGeom prst="rect">
            <a:avLst/>
          </a:prstGeom>
          <a:noFill/>
          <a:ln/>
        </p:spPr>
        <p:txBody>
          <a:bodyPr wrap="square" lIns="0" tIns="0" rIns="0" bIns="0" rtlCol="0" anchor="ctr"/>
          <a:lstStyle/>
          <a:p>
            <a:pPr marL="0" indent="0">
              <a:buNone/>
            </a:pPr>
            <a:r>
              <a:rPr lang="en-US" sz="1300" dirty="0">
                <a:solidFill>
                  <a:schemeClr val="tx2"/>
                </a:solidFill>
                <a:latin typeface="Calibri" pitchFamily="34" charset="0"/>
                <a:ea typeface="Calibri" pitchFamily="34" charset="-122"/>
                <a:cs typeface="Calibri" pitchFamily="34" charset="-120"/>
              </a:rPr>
              <a:t>each column's mismatch sets its local bend</a:t>
            </a:r>
            <a:endParaRPr lang="en-US" sz="1300" dirty="0"/>
          </a:p>
        </p:txBody>
      </p:sp>
      <p:sp>
        <p:nvSpPr>
          <p:cNvPr id="57" name="vp3"/>
          <p:cNvSpPr/>
          <p:nvPr/>
        </p:nvSpPr>
        <p:spPr>
          <a:xfrm>
            <a:off x="5486400" y="3758184"/>
            <a:ext cx="548640" cy="548640"/>
          </a:xfrm>
          <a:prstGeom prst="ellipse">
            <a:avLst/>
          </a:prstGeom>
          <a:solidFill>
            <a:schemeClr val="tx2"/>
          </a:solidFill>
          <a:ln w="12700">
            <a:solidFill>
              <a:schemeClr val="tx2"/>
            </a:solidFill>
            <a:prstDash val="solid"/>
          </a:ln>
        </p:spPr>
      </p:sp>
      <p:sp>
        <p:nvSpPr>
          <p:cNvPr id="58" name="Text 55"/>
          <p:cNvSpPr txBox="1"/>
          <p:nvPr/>
        </p:nvSpPr>
        <p:spPr>
          <a:xfrm>
            <a:off x="5486400" y="3758184"/>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latin typeface="Calibri" pitchFamily="34" charset="0"/>
                <a:ea typeface="Calibri" pitchFamily="34" charset="-122"/>
                <a:cs typeface="Calibri" pitchFamily="34" charset="-120"/>
              </a:rPr>
              <a:t>∿</a:t>
            </a:r>
            <a:endParaRPr lang="en-US" sz="1800" dirty="0"/>
          </a:p>
        </p:txBody>
      </p:sp>
      <p:sp>
        <p:nvSpPr>
          <p:cNvPr id="59" name="Text 56"/>
          <p:cNvSpPr txBox="1"/>
          <p:nvPr/>
        </p:nvSpPr>
        <p:spPr>
          <a:xfrm>
            <a:off x="6172200" y="3758184"/>
            <a:ext cx="2514600" cy="548640"/>
          </a:xfrm>
          <a:prstGeom prst="rect">
            <a:avLst/>
          </a:prstGeom>
          <a:noFill/>
          <a:ln/>
        </p:spPr>
        <p:txBody>
          <a:bodyPr wrap="square" lIns="0" tIns="0" rIns="0" bIns="0" rtlCol="0" anchor="ctr"/>
          <a:lstStyle/>
          <a:p>
            <a:pPr marL="0" indent="0">
              <a:buNone/>
            </a:pPr>
            <a:r>
              <a:rPr lang="en-US" sz="1300" dirty="0">
                <a:solidFill>
                  <a:schemeClr val="tx2"/>
                </a:solidFill>
                <a:latin typeface="Calibri" pitchFamily="34" charset="0"/>
                <a:ea typeface="Calibri" pitchFamily="34" charset="-122"/>
                <a:cs typeface="Calibri" pitchFamily="34" charset="-120"/>
              </a:rPr>
              <a:t>the column sequence sets the whole curve: 200 (x, y) points</a:t>
            </a:r>
            <a:endParaRPr lang="en-US" sz="1300" dirty="0"/>
          </a:p>
        </p:txBody>
      </p:sp>
      <p:sp>
        <p:nvSpPr>
          <p:cNvPr id="60" name="Text 57"/>
          <p:cNvSpPr txBox="1"/>
          <p:nvPr/>
        </p:nvSpPr>
        <p:spPr>
          <a:xfrm>
            <a:off x="457200" y="4818888"/>
            <a:ext cx="7498080" cy="201168"/>
          </a:xfrm>
          <a:prstGeom prst="rect">
            <a:avLst/>
          </a:prstGeom>
          <a:noFill/>
          <a:ln/>
        </p:spPr>
        <p:txBody>
          <a:bodyPr wrap="square" lIns="0" tIns="0" rIns="0" bIns="0" rtlCol="0" anchor="t"/>
          <a:lstStyle/>
          <a:p>
            <a:pPr marL="0" indent="0">
              <a:buNone/>
            </a:pPr>
            <a:r>
              <a:rPr lang="en-US" sz="800" dirty="0">
                <a:solidFill>
                  <a:schemeClr val="accent4"/>
                </a:solidFill>
                <a:latin typeface="Calibri" pitchFamily="34" charset="0"/>
                <a:ea typeface="Calibri" pitchFamily="34" charset="-122"/>
                <a:cs typeface="Calibri" pitchFamily="34" charset="-120"/>
              </a:rPr>
              <a:t>Wang et al. 2025, Fig. 1–2 captions, Sec. 2.2 [1]; (batch, 2, 10) → (batch, 2, 200) per repo Documentation.md [4]. Bent strip is schematic.</a:t>
            </a:r>
            <a:endParaRPr lang="en-US" sz="800" dirty="0"/>
          </a:p>
        </p:txBody>
      </p:sp>
      <p:sp>
        <p:nvSpPr>
          <p:cNvPr id="61"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82"/>
                </a:solidFill>
                <a:latin typeface="Calibri"/>
                <a:ea typeface="Calibri"/>
                <a:cs typeface="Calibri"/>
              </a:defRPr>
            </a:lvl1pPr>
          </a:lstStyle>
          <a:p>
            <a:pPr algn="r"/>
            <a:r>
              <a:rPr lang="en-US" b="0"/>
              <a:t>7</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457200" y="256032"/>
            <a:ext cx="7315200" cy="228600"/>
          </a:xfrm>
          <a:prstGeom prst="rect">
            <a:avLst/>
          </a:prstGeom>
          <a:noFill/>
          <a:ln/>
        </p:spPr>
        <p:txBody>
          <a:bodyPr wrap="square" lIns="0" tIns="0" rIns="0" bIns="0" rtlCol="0" anchor="ctr"/>
          <a:lstStyle/>
          <a:p>
            <a:pPr marL="0" indent="0" algn="l">
              <a:buNone/>
            </a:pPr>
            <a:r>
              <a:rPr lang="en-US" sz="1000" b="1" kern="0" spc="200" dirty="0">
                <a:solidFill>
                  <a:schemeClr val="accent1"/>
                </a:solidFill>
                <a:latin typeface="Calibri" pitchFamily="34" charset="0"/>
                <a:ea typeface="Calibri" pitchFamily="34" charset="-122"/>
                <a:cs typeface="Calibri" pitchFamily="34" charset="-120"/>
              </a:rPr>
              <a:t>WANG ET AL. (2025)</a:t>
            </a:r>
            <a:endParaRPr lang="en-US" sz="1000" dirty="0"/>
          </a:p>
        </p:txBody>
      </p:sp>
      <p:sp>
        <p:nvSpPr>
          <p:cNvPr id="3" name="Text 2"/>
          <p:cNvSpPr>
            <a:spLocks noGrp="1"/>
          </p:cNvSpPr>
          <p:nvPr>
            <p:ph type="title" idx="103" hasCustomPrompt="1"/>
          </p:nvPr>
        </p:nvSpPr>
        <p:spPr>
          <a:xfrm>
            <a:off x="457200" y="502920"/>
            <a:ext cx="8229600" cy="548640"/>
          </a:xfrm>
          <a:prstGeom prst="rect">
            <a:avLst/>
          </a:prstGeom>
          <a:noFill/>
          <a:ln/>
        </p:spPr>
        <p:txBody>
          <a:bodyPr wrap="square" lIns="0" tIns="0" rIns="0" bIns="0" rtlCol="0" anchor="ctr"/>
          <a:lstStyle/>
          <a:p>
            <a:pPr marL="0" indent="0" algn="l">
              <a:buNone/>
            </a:pPr>
            <a:r>
              <a:rPr lang="en-US" sz="2400" b="1" dirty="0">
                <a:solidFill>
                  <a:schemeClr val="tx2"/>
                </a:solidFill>
                <a:latin typeface="Georgia" pitchFamily="34" charset="0"/>
                <a:ea typeface="Georgia" pitchFamily="34" charset="-122"/>
                <a:cs typeface="Georgia" pitchFamily="34" charset="-120"/>
              </a:rPr>
              <a:t>Two engines: predict fast, search smart</a:t>
            </a:r>
            <a:endParaRPr lang="en-US" sz="2400" dirty="0"/>
          </a:p>
        </p:txBody>
      </p:sp>
      <p:sp>
        <p:nvSpPr>
          <p:cNvPr id="4" name="pred"/>
          <p:cNvSpPr/>
          <p:nvPr/>
        </p:nvSpPr>
        <p:spPr>
          <a:xfrm>
            <a:off x="457200" y="1188720"/>
            <a:ext cx="4023360" cy="3429000"/>
          </a:xfrm>
          <a:prstGeom prst="roundRect">
            <a:avLst>
              <a:gd name="adj" fmla="val 2133"/>
            </a:avLst>
          </a:prstGeom>
          <a:solidFill>
            <a:schemeClr val="bg2"/>
          </a:solidFill>
          <a:ln w="12700">
            <a:solidFill>
              <a:schemeClr val="bg2"/>
            </a:solidFill>
            <a:prstDash val="solid"/>
          </a:ln>
        </p:spPr>
      </p:sp>
      <p:sp>
        <p:nvSpPr>
          <p:cNvPr id="5" name="pr-c"/>
          <p:cNvSpPr/>
          <p:nvPr/>
        </p:nvSpPr>
        <p:spPr>
          <a:xfrm>
            <a:off x="640080" y="1325880"/>
            <a:ext cx="502920" cy="502920"/>
          </a:xfrm>
          <a:prstGeom prst="ellipse">
            <a:avLst/>
          </a:prstGeom>
          <a:solidFill>
            <a:schemeClr val="accent1"/>
          </a:solidFill>
          <a:ln w="12700">
            <a:solidFill>
              <a:schemeClr val="accent1"/>
            </a:solidFill>
            <a:prstDash val="solid"/>
          </a:ln>
        </p:spPr>
      </p:sp>
      <p:pic>
        <p:nvPicPr>
          <p:cNvPr id="6" name="pr-i" descr="preencoded.png"/>
          <p:cNvPicPr>
            <a:picLocks noChangeAspect="1"/>
          </p:cNvPicPr>
          <p:nvPr/>
        </p:nvPicPr>
        <p:blipFill>
          <a:blip r:embed="rId3"/>
          <a:stretch>
            <a:fillRect/>
          </a:stretch>
        </p:blipFill>
        <p:spPr>
          <a:xfrm>
            <a:off x="770839" y="1456639"/>
            <a:ext cx="241402" cy="241402"/>
          </a:xfrm>
          <a:prstGeom prst="rect">
            <a:avLst/>
          </a:prstGeom>
        </p:spPr>
      </p:pic>
      <p:sp>
        <p:nvSpPr>
          <p:cNvPr id="7" name="Text 4"/>
          <p:cNvSpPr txBox="1"/>
          <p:nvPr/>
        </p:nvSpPr>
        <p:spPr>
          <a:xfrm>
            <a:off x="1234440" y="1371600"/>
            <a:ext cx="3108960" cy="411480"/>
          </a:xfrm>
          <a:prstGeom prst="rect">
            <a:avLst/>
          </a:prstGeom>
          <a:noFill/>
          <a:ln/>
        </p:spPr>
        <p:txBody>
          <a:bodyPr wrap="square" lIns="0" tIns="0" rIns="0" bIns="0" rtlCol="0" anchor="ctr"/>
          <a:lstStyle/>
          <a:p>
            <a:pPr marL="0" indent="0">
              <a:buNone/>
            </a:pPr>
            <a:r>
              <a:rPr lang="en-US" sz="1500" b="1" dirty="0">
                <a:solidFill>
                  <a:schemeClr val="tx2"/>
                </a:solidFill>
                <a:latin typeface="Georgia" pitchFamily="34" charset="0"/>
                <a:ea typeface="Georgia" pitchFamily="34" charset="-122"/>
                <a:cs typeface="Georgia" pitchFamily="34" charset="-120"/>
              </a:rPr>
              <a:t>PREDICT  ·  SEP-CNN</a:t>
            </a:r>
            <a:endParaRPr lang="en-US" sz="1500" dirty="0"/>
          </a:p>
        </p:txBody>
      </p:sp>
      <p:pic>
        <p:nvPicPr>
          <p:cNvPr id="8" name="p-fig" descr="img/wang_fig3.png"/>
          <p:cNvPicPr>
            <a:picLocks noChangeAspect="1"/>
          </p:cNvPicPr>
          <p:nvPr/>
        </p:nvPicPr>
        <p:blipFill>
          <a:blip r:embed="rId4"/>
          <a:stretch>
            <a:fillRect/>
          </a:stretch>
        </p:blipFill>
        <p:spPr>
          <a:xfrm>
            <a:off x="594360" y="1920240"/>
            <a:ext cx="3749040" cy="1563624"/>
          </a:xfrm>
          <a:prstGeom prst="rect">
            <a:avLst/>
          </a:prstGeom>
        </p:spPr>
      </p:pic>
      <p:sp>
        <p:nvSpPr>
          <p:cNvPr id="9" name="Text 5"/>
          <p:cNvSpPr txBox="1"/>
          <p:nvPr/>
        </p:nvSpPr>
        <p:spPr>
          <a:xfrm>
            <a:off x="640080" y="3611880"/>
            <a:ext cx="3657600" cy="685800"/>
          </a:xfrm>
          <a:prstGeom prst="rect">
            <a:avLst/>
          </a:prstGeom>
          <a:noFill/>
          <a:ln/>
        </p:spPr>
        <p:txBody>
          <a:bodyPr wrap="square" lIns="0" tIns="0" rIns="0" bIns="0" rtlCol="0" anchor="t"/>
          <a:lstStyle/>
          <a:p>
            <a:pPr marL="0" indent="0">
              <a:buNone/>
            </a:pPr>
            <a:r>
              <a:rPr lang="en-US" sz="1200" dirty="0">
                <a:solidFill>
                  <a:schemeClr val="tx2"/>
                </a:solidFill>
                <a:latin typeface="Calibri" pitchFamily="34" charset="0"/>
                <a:ea typeface="Calibri" pitchFamily="34" charset="-122"/>
                <a:cs typeface="Calibri" pitchFamily="34" charset="-120"/>
              </a:rPr>
              <a:t>Each voxel column gets its own channel and passes information to the next, like a sequence.</a:t>
            </a:r>
            <a:endParaRPr lang="en-US" sz="1200" dirty="0"/>
          </a:p>
        </p:txBody>
      </p:sp>
      <p:sp>
        <p:nvSpPr>
          <p:cNvPr id="10" name="Text 6"/>
          <p:cNvSpPr txBox="1"/>
          <p:nvPr/>
        </p:nvSpPr>
        <p:spPr>
          <a:xfrm>
            <a:off x="640080" y="4315968"/>
            <a:ext cx="3657600" cy="201168"/>
          </a:xfrm>
          <a:prstGeom prst="rect">
            <a:avLst/>
          </a:prstGeom>
          <a:noFill/>
          <a:ln/>
        </p:spPr>
        <p:txBody>
          <a:bodyPr wrap="square" lIns="0" tIns="0" rIns="0" bIns="0" rtlCol="0" anchor="t"/>
          <a:lstStyle/>
          <a:p>
            <a:pPr marL="0" indent="0">
              <a:buNone/>
            </a:pPr>
            <a:r>
              <a:rPr lang="en-US" sz="900" i="1" dirty="0">
                <a:solidFill>
                  <a:schemeClr val="accent4"/>
                </a:solidFill>
                <a:latin typeface="Calibri" pitchFamily="34" charset="0"/>
                <a:ea typeface="Calibri" pitchFamily="34" charset="-122"/>
                <a:cs typeface="Calibri" pitchFamily="34" charset="-120"/>
              </a:rPr>
              <a:t>Wang et al. 2025, Fig. 3</a:t>
            </a:r>
            <a:endParaRPr lang="en-US" sz="900" dirty="0"/>
          </a:p>
        </p:txBody>
      </p:sp>
      <p:sp>
        <p:nvSpPr>
          <p:cNvPr id="11" name="srch"/>
          <p:cNvSpPr/>
          <p:nvPr/>
        </p:nvSpPr>
        <p:spPr>
          <a:xfrm>
            <a:off x="4663440" y="1188720"/>
            <a:ext cx="4023360" cy="3429000"/>
          </a:xfrm>
          <a:prstGeom prst="roundRect">
            <a:avLst>
              <a:gd name="adj" fmla="val 2133"/>
            </a:avLst>
          </a:prstGeom>
          <a:solidFill>
            <a:schemeClr val="tx2"/>
          </a:solidFill>
          <a:ln w="12700">
            <a:solidFill>
              <a:schemeClr val="tx2"/>
            </a:solidFill>
            <a:prstDash val="solid"/>
          </a:ln>
        </p:spPr>
      </p:sp>
      <p:sp>
        <p:nvSpPr>
          <p:cNvPr id="12" name="sr-c"/>
          <p:cNvSpPr/>
          <p:nvPr/>
        </p:nvSpPr>
        <p:spPr>
          <a:xfrm>
            <a:off x="4846320" y="1325880"/>
            <a:ext cx="502920" cy="502920"/>
          </a:xfrm>
          <a:prstGeom prst="ellipse">
            <a:avLst/>
          </a:prstGeom>
          <a:solidFill>
            <a:schemeClr val="accent2"/>
          </a:solidFill>
          <a:ln w="12700">
            <a:solidFill>
              <a:schemeClr val="accent2"/>
            </a:solidFill>
            <a:prstDash val="solid"/>
          </a:ln>
        </p:spPr>
      </p:sp>
      <p:pic>
        <p:nvPicPr>
          <p:cNvPr id="13" name="sr-i" descr="preencoded.png"/>
          <p:cNvPicPr>
            <a:picLocks noChangeAspect="1"/>
          </p:cNvPicPr>
          <p:nvPr/>
        </p:nvPicPr>
        <p:blipFill>
          <a:blip r:embed="rId5"/>
          <a:stretch>
            <a:fillRect/>
          </a:stretch>
        </p:blipFill>
        <p:spPr>
          <a:xfrm>
            <a:off x="4977079" y="1456639"/>
            <a:ext cx="241402" cy="241402"/>
          </a:xfrm>
          <a:prstGeom prst="rect">
            <a:avLst/>
          </a:prstGeom>
        </p:spPr>
      </p:pic>
      <p:sp>
        <p:nvSpPr>
          <p:cNvPr id="14" name="Text 9"/>
          <p:cNvSpPr txBox="1"/>
          <p:nvPr/>
        </p:nvSpPr>
        <p:spPr>
          <a:xfrm>
            <a:off x="5440680" y="1371600"/>
            <a:ext cx="3108960" cy="411480"/>
          </a:xfrm>
          <a:prstGeom prst="rect">
            <a:avLst/>
          </a:prstGeom>
          <a:noFill/>
          <a:ln/>
        </p:spPr>
        <p:txBody>
          <a:bodyPr wrap="square" lIns="0" tIns="0" rIns="0" bIns="0" rtlCol="0" anchor="ctr"/>
          <a:lstStyle/>
          <a:p>
            <a:pPr marL="0" indent="0">
              <a:buNone/>
            </a:pPr>
            <a:r>
              <a:rPr lang="en-US" sz="1500" b="1" dirty="0">
                <a:solidFill>
                  <a:schemeClr val="bg1"/>
                </a:solidFill>
                <a:latin typeface="Georgia" pitchFamily="34" charset="0"/>
                <a:ea typeface="Georgia" pitchFamily="34" charset="-122"/>
                <a:cs typeface="Georgia" pitchFamily="34" charset="-120"/>
              </a:rPr>
              <a:t>SEARCH  ·  Progressive EA</a:t>
            </a:r>
            <a:endParaRPr lang="en-US" sz="1500" dirty="0"/>
          </a:p>
        </p:txBody>
      </p:sp>
      <p:sp>
        <p:nvSpPr>
          <p:cNvPr id="15" name="Text 10"/>
          <p:cNvSpPr txBox="1"/>
          <p:nvPr/>
        </p:nvSpPr>
        <p:spPr>
          <a:xfrm>
            <a:off x="4846320" y="1965960"/>
            <a:ext cx="640080" cy="365760"/>
          </a:xfrm>
          <a:prstGeom prst="rect">
            <a:avLst/>
          </a:prstGeom>
          <a:noFill/>
          <a:ln/>
        </p:spPr>
        <p:txBody>
          <a:bodyPr wrap="square" lIns="0" tIns="0" rIns="0" bIns="0" rtlCol="0" anchor="ctr"/>
          <a:lstStyle/>
          <a:p>
            <a:pPr marL="0" indent="0">
              <a:buNone/>
            </a:pPr>
            <a:r>
              <a:rPr lang="en-US" sz="900" dirty="0">
                <a:solidFill>
                  <a:schemeClr val="accent5"/>
                </a:solidFill>
                <a:latin typeface="Calibri" pitchFamily="34" charset="0"/>
                <a:ea typeface="Calibri" pitchFamily="34" charset="-122"/>
                <a:cs typeface="Calibri" pitchFamily="34" charset="-120"/>
              </a:rPr>
              <a:t>early</a:t>
            </a:r>
            <a:endParaRPr lang="en-US" sz="900" dirty="0"/>
          </a:p>
        </p:txBody>
      </p:sp>
      <p:sp>
        <p:nvSpPr>
          <p:cNvPr id="16" name="ps00"/>
          <p:cNvSpPr/>
          <p:nvPr/>
        </p:nvSpPr>
        <p:spPr>
          <a:xfrm>
            <a:off x="5532120" y="2002536"/>
            <a:ext cx="256032" cy="292608"/>
          </a:xfrm>
          <a:prstGeom prst="rect">
            <a:avLst/>
          </a:prstGeom>
          <a:solidFill>
            <a:schemeClr val="accent1"/>
          </a:solidFill>
          <a:ln w="12700">
            <a:solidFill>
              <a:schemeClr val="accent1"/>
            </a:solidFill>
            <a:prstDash val="solid"/>
          </a:ln>
        </p:spPr>
      </p:sp>
      <p:sp>
        <p:nvSpPr>
          <p:cNvPr id="17" name="ps01"/>
          <p:cNvSpPr/>
          <p:nvPr/>
        </p:nvSpPr>
        <p:spPr>
          <a:xfrm>
            <a:off x="5824728" y="2002536"/>
            <a:ext cx="256032" cy="292608"/>
          </a:xfrm>
          <a:prstGeom prst="rect">
            <a:avLst/>
          </a:prstGeom>
          <a:solidFill>
            <a:schemeClr val="accent1"/>
          </a:solidFill>
          <a:ln w="12700">
            <a:solidFill>
              <a:schemeClr val="accent1"/>
            </a:solidFill>
            <a:prstDash val="solid"/>
          </a:ln>
        </p:spPr>
      </p:sp>
      <p:sp>
        <p:nvSpPr>
          <p:cNvPr id="18" name="ps02"/>
          <p:cNvSpPr/>
          <p:nvPr/>
        </p:nvSpPr>
        <p:spPr>
          <a:xfrm>
            <a:off x="6117336" y="2002536"/>
            <a:ext cx="256032" cy="292608"/>
          </a:xfrm>
          <a:prstGeom prst="rect">
            <a:avLst/>
          </a:prstGeom>
          <a:solidFill>
            <a:schemeClr val="accent1"/>
          </a:solidFill>
          <a:ln w="12700">
            <a:solidFill>
              <a:schemeClr val="accent1"/>
            </a:solidFill>
            <a:prstDash val="solid"/>
          </a:ln>
        </p:spPr>
      </p:sp>
      <p:sp>
        <p:nvSpPr>
          <p:cNvPr id="19" name="ps03"/>
          <p:cNvSpPr/>
          <p:nvPr/>
        </p:nvSpPr>
        <p:spPr>
          <a:xfrm>
            <a:off x="6409944" y="2002536"/>
            <a:ext cx="256032" cy="292608"/>
          </a:xfrm>
          <a:prstGeom prst="rect">
            <a:avLst/>
          </a:prstGeom>
          <a:solidFill>
            <a:srgbClr val="34466E"/>
          </a:solidFill>
          <a:ln w="12700">
            <a:solidFill>
              <a:srgbClr val="34466E"/>
            </a:solidFill>
            <a:prstDash val="solid"/>
          </a:ln>
        </p:spPr>
      </p:sp>
      <p:sp>
        <p:nvSpPr>
          <p:cNvPr id="20" name="ps04"/>
          <p:cNvSpPr/>
          <p:nvPr/>
        </p:nvSpPr>
        <p:spPr>
          <a:xfrm>
            <a:off x="6702552" y="2002536"/>
            <a:ext cx="256032" cy="292608"/>
          </a:xfrm>
          <a:prstGeom prst="rect">
            <a:avLst/>
          </a:prstGeom>
          <a:solidFill>
            <a:srgbClr val="34466E"/>
          </a:solidFill>
          <a:ln w="12700">
            <a:solidFill>
              <a:srgbClr val="34466E"/>
            </a:solidFill>
            <a:prstDash val="solid"/>
          </a:ln>
        </p:spPr>
      </p:sp>
      <p:sp>
        <p:nvSpPr>
          <p:cNvPr id="21" name="ps05"/>
          <p:cNvSpPr/>
          <p:nvPr/>
        </p:nvSpPr>
        <p:spPr>
          <a:xfrm>
            <a:off x="6995160" y="2002536"/>
            <a:ext cx="256032" cy="292608"/>
          </a:xfrm>
          <a:prstGeom prst="rect">
            <a:avLst/>
          </a:prstGeom>
          <a:solidFill>
            <a:srgbClr val="34466E"/>
          </a:solidFill>
          <a:ln w="12700">
            <a:solidFill>
              <a:srgbClr val="34466E"/>
            </a:solidFill>
            <a:prstDash val="solid"/>
          </a:ln>
        </p:spPr>
      </p:sp>
      <p:sp>
        <p:nvSpPr>
          <p:cNvPr id="22" name="ps06"/>
          <p:cNvSpPr/>
          <p:nvPr/>
        </p:nvSpPr>
        <p:spPr>
          <a:xfrm>
            <a:off x="7287768" y="2002536"/>
            <a:ext cx="256032" cy="292608"/>
          </a:xfrm>
          <a:prstGeom prst="rect">
            <a:avLst/>
          </a:prstGeom>
          <a:solidFill>
            <a:srgbClr val="34466E"/>
          </a:solidFill>
          <a:ln w="12700">
            <a:solidFill>
              <a:srgbClr val="34466E"/>
            </a:solidFill>
            <a:prstDash val="solid"/>
          </a:ln>
        </p:spPr>
      </p:sp>
      <p:sp>
        <p:nvSpPr>
          <p:cNvPr id="23" name="ps07"/>
          <p:cNvSpPr/>
          <p:nvPr/>
        </p:nvSpPr>
        <p:spPr>
          <a:xfrm>
            <a:off x="7580376" y="2002536"/>
            <a:ext cx="256032" cy="292608"/>
          </a:xfrm>
          <a:prstGeom prst="rect">
            <a:avLst/>
          </a:prstGeom>
          <a:solidFill>
            <a:srgbClr val="34466E"/>
          </a:solidFill>
          <a:ln w="12700">
            <a:solidFill>
              <a:srgbClr val="34466E"/>
            </a:solidFill>
            <a:prstDash val="solid"/>
          </a:ln>
        </p:spPr>
      </p:sp>
      <p:sp>
        <p:nvSpPr>
          <p:cNvPr id="24" name="ps08"/>
          <p:cNvSpPr/>
          <p:nvPr/>
        </p:nvSpPr>
        <p:spPr>
          <a:xfrm>
            <a:off x="7872984" y="2002536"/>
            <a:ext cx="256032" cy="292608"/>
          </a:xfrm>
          <a:prstGeom prst="rect">
            <a:avLst/>
          </a:prstGeom>
          <a:solidFill>
            <a:srgbClr val="34466E"/>
          </a:solidFill>
          <a:ln w="12700">
            <a:solidFill>
              <a:srgbClr val="34466E"/>
            </a:solidFill>
            <a:prstDash val="solid"/>
          </a:ln>
        </p:spPr>
      </p:sp>
      <p:sp>
        <p:nvSpPr>
          <p:cNvPr id="25" name="ps09"/>
          <p:cNvSpPr/>
          <p:nvPr/>
        </p:nvSpPr>
        <p:spPr>
          <a:xfrm>
            <a:off x="8165592" y="2002536"/>
            <a:ext cx="256032" cy="292608"/>
          </a:xfrm>
          <a:prstGeom prst="rect">
            <a:avLst/>
          </a:prstGeom>
          <a:solidFill>
            <a:srgbClr val="34466E"/>
          </a:solidFill>
          <a:ln w="12700">
            <a:solidFill>
              <a:srgbClr val="34466E"/>
            </a:solidFill>
            <a:prstDash val="solid"/>
          </a:ln>
        </p:spPr>
      </p:sp>
      <p:sp>
        <p:nvSpPr>
          <p:cNvPr id="26" name="Text 21"/>
          <p:cNvSpPr txBox="1"/>
          <p:nvPr/>
        </p:nvSpPr>
        <p:spPr>
          <a:xfrm>
            <a:off x="4846320" y="2468880"/>
            <a:ext cx="640080" cy="365760"/>
          </a:xfrm>
          <a:prstGeom prst="rect">
            <a:avLst/>
          </a:prstGeom>
          <a:noFill/>
          <a:ln/>
        </p:spPr>
        <p:txBody>
          <a:bodyPr wrap="square" lIns="0" tIns="0" rIns="0" bIns="0" rtlCol="0" anchor="ctr"/>
          <a:lstStyle/>
          <a:p>
            <a:pPr marL="0" indent="0">
              <a:buNone/>
            </a:pPr>
            <a:r>
              <a:rPr lang="en-US" sz="900" dirty="0">
                <a:solidFill>
                  <a:schemeClr val="accent5"/>
                </a:solidFill>
                <a:latin typeface="Calibri" pitchFamily="34" charset="0"/>
                <a:ea typeface="Calibri" pitchFamily="34" charset="-122"/>
                <a:cs typeface="Calibri" pitchFamily="34" charset="-120"/>
              </a:rPr>
              <a:t>middle</a:t>
            </a:r>
            <a:endParaRPr lang="en-US" sz="900" dirty="0"/>
          </a:p>
        </p:txBody>
      </p:sp>
      <p:sp>
        <p:nvSpPr>
          <p:cNvPr id="27" name="ps10"/>
          <p:cNvSpPr/>
          <p:nvPr/>
        </p:nvSpPr>
        <p:spPr>
          <a:xfrm>
            <a:off x="5532120" y="2505456"/>
            <a:ext cx="256032" cy="292608"/>
          </a:xfrm>
          <a:prstGeom prst="rect">
            <a:avLst/>
          </a:prstGeom>
          <a:solidFill>
            <a:schemeClr val="accent1"/>
          </a:solidFill>
          <a:ln w="12700">
            <a:solidFill>
              <a:schemeClr val="accent1"/>
            </a:solidFill>
            <a:prstDash val="solid"/>
          </a:ln>
        </p:spPr>
      </p:sp>
      <p:sp>
        <p:nvSpPr>
          <p:cNvPr id="28" name="ps11"/>
          <p:cNvSpPr/>
          <p:nvPr/>
        </p:nvSpPr>
        <p:spPr>
          <a:xfrm>
            <a:off x="5824728" y="2505456"/>
            <a:ext cx="256032" cy="292608"/>
          </a:xfrm>
          <a:prstGeom prst="rect">
            <a:avLst/>
          </a:prstGeom>
          <a:solidFill>
            <a:schemeClr val="accent1"/>
          </a:solidFill>
          <a:ln w="12700">
            <a:solidFill>
              <a:schemeClr val="accent1"/>
            </a:solidFill>
            <a:prstDash val="solid"/>
          </a:ln>
        </p:spPr>
      </p:sp>
      <p:sp>
        <p:nvSpPr>
          <p:cNvPr id="29" name="ps12"/>
          <p:cNvSpPr/>
          <p:nvPr/>
        </p:nvSpPr>
        <p:spPr>
          <a:xfrm>
            <a:off x="6117336" y="2505456"/>
            <a:ext cx="256032" cy="292608"/>
          </a:xfrm>
          <a:prstGeom prst="rect">
            <a:avLst/>
          </a:prstGeom>
          <a:solidFill>
            <a:schemeClr val="accent1"/>
          </a:solidFill>
          <a:ln w="12700">
            <a:solidFill>
              <a:schemeClr val="accent1"/>
            </a:solidFill>
            <a:prstDash val="solid"/>
          </a:ln>
        </p:spPr>
      </p:sp>
      <p:sp>
        <p:nvSpPr>
          <p:cNvPr id="30" name="ps13"/>
          <p:cNvSpPr/>
          <p:nvPr/>
        </p:nvSpPr>
        <p:spPr>
          <a:xfrm>
            <a:off x="6409944" y="2505456"/>
            <a:ext cx="256032" cy="292608"/>
          </a:xfrm>
          <a:prstGeom prst="rect">
            <a:avLst/>
          </a:prstGeom>
          <a:solidFill>
            <a:schemeClr val="accent1"/>
          </a:solidFill>
          <a:ln w="12700">
            <a:solidFill>
              <a:schemeClr val="accent1"/>
            </a:solidFill>
            <a:prstDash val="solid"/>
          </a:ln>
        </p:spPr>
      </p:sp>
      <p:sp>
        <p:nvSpPr>
          <p:cNvPr id="31" name="ps14"/>
          <p:cNvSpPr/>
          <p:nvPr/>
        </p:nvSpPr>
        <p:spPr>
          <a:xfrm>
            <a:off x="6702552" y="2505456"/>
            <a:ext cx="256032" cy="292608"/>
          </a:xfrm>
          <a:prstGeom prst="rect">
            <a:avLst/>
          </a:prstGeom>
          <a:solidFill>
            <a:schemeClr val="accent1"/>
          </a:solidFill>
          <a:ln w="12700">
            <a:solidFill>
              <a:schemeClr val="accent1"/>
            </a:solidFill>
            <a:prstDash val="solid"/>
          </a:ln>
        </p:spPr>
      </p:sp>
      <p:sp>
        <p:nvSpPr>
          <p:cNvPr id="32" name="ps15"/>
          <p:cNvSpPr/>
          <p:nvPr/>
        </p:nvSpPr>
        <p:spPr>
          <a:xfrm>
            <a:off x="6995160" y="2505456"/>
            <a:ext cx="256032" cy="292608"/>
          </a:xfrm>
          <a:prstGeom prst="rect">
            <a:avLst/>
          </a:prstGeom>
          <a:solidFill>
            <a:schemeClr val="accent1"/>
          </a:solidFill>
          <a:ln w="12700">
            <a:solidFill>
              <a:schemeClr val="accent1"/>
            </a:solidFill>
            <a:prstDash val="solid"/>
          </a:ln>
        </p:spPr>
      </p:sp>
      <p:sp>
        <p:nvSpPr>
          <p:cNvPr id="33" name="ps16"/>
          <p:cNvSpPr/>
          <p:nvPr/>
        </p:nvSpPr>
        <p:spPr>
          <a:xfrm>
            <a:off x="7287768" y="2505456"/>
            <a:ext cx="256032" cy="292608"/>
          </a:xfrm>
          <a:prstGeom prst="rect">
            <a:avLst/>
          </a:prstGeom>
          <a:solidFill>
            <a:srgbClr val="34466E"/>
          </a:solidFill>
          <a:ln w="12700">
            <a:solidFill>
              <a:srgbClr val="34466E"/>
            </a:solidFill>
            <a:prstDash val="solid"/>
          </a:ln>
        </p:spPr>
      </p:sp>
      <p:sp>
        <p:nvSpPr>
          <p:cNvPr id="34" name="ps17"/>
          <p:cNvSpPr/>
          <p:nvPr/>
        </p:nvSpPr>
        <p:spPr>
          <a:xfrm>
            <a:off x="7580376" y="2505456"/>
            <a:ext cx="256032" cy="292608"/>
          </a:xfrm>
          <a:prstGeom prst="rect">
            <a:avLst/>
          </a:prstGeom>
          <a:solidFill>
            <a:srgbClr val="34466E"/>
          </a:solidFill>
          <a:ln w="12700">
            <a:solidFill>
              <a:srgbClr val="34466E"/>
            </a:solidFill>
            <a:prstDash val="solid"/>
          </a:ln>
        </p:spPr>
      </p:sp>
      <p:sp>
        <p:nvSpPr>
          <p:cNvPr id="35" name="ps18"/>
          <p:cNvSpPr/>
          <p:nvPr/>
        </p:nvSpPr>
        <p:spPr>
          <a:xfrm>
            <a:off x="7872984" y="2505456"/>
            <a:ext cx="256032" cy="292608"/>
          </a:xfrm>
          <a:prstGeom prst="rect">
            <a:avLst/>
          </a:prstGeom>
          <a:solidFill>
            <a:srgbClr val="34466E"/>
          </a:solidFill>
          <a:ln w="12700">
            <a:solidFill>
              <a:srgbClr val="34466E"/>
            </a:solidFill>
            <a:prstDash val="solid"/>
          </a:ln>
        </p:spPr>
      </p:sp>
      <p:sp>
        <p:nvSpPr>
          <p:cNvPr id="36" name="ps19"/>
          <p:cNvSpPr/>
          <p:nvPr/>
        </p:nvSpPr>
        <p:spPr>
          <a:xfrm>
            <a:off x="8165592" y="2505456"/>
            <a:ext cx="256032" cy="292608"/>
          </a:xfrm>
          <a:prstGeom prst="rect">
            <a:avLst/>
          </a:prstGeom>
          <a:solidFill>
            <a:srgbClr val="34466E"/>
          </a:solidFill>
          <a:ln w="12700">
            <a:solidFill>
              <a:srgbClr val="34466E"/>
            </a:solidFill>
            <a:prstDash val="solid"/>
          </a:ln>
        </p:spPr>
      </p:sp>
      <p:sp>
        <p:nvSpPr>
          <p:cNvPr id="37" name="Text 32"/>
          <p:cNvSpPr txBox="1"/>
          <p:nvPr/>
        </p:nvSpPr>
        <p:spPr>
          <a:xfrm>
            <a:off x="4846320" y="2971800"/>
            <a:ext cx="640080" cy="365760"/>
          </a:xfrm>
          <a:prstGeom prst="rect">
            <a:avLst/>
          </a:prstGeom>
          <a:noFill/>
          <a:ln/>
        </p:spPr>
        <p:txBody>
          <a:bodyPr wrap="square" lIns="0" tIns="0" rIns="0" bIns="0" rtlCol="0" anchor="ctr"/>
          <a:lstStyle/>
          <a:p>
            <a:pPr marL="0" indent="0">
              <a:buNone/>
            </a:pPr>
            <a:r>
              <a:rPr lang="en-US" sz="900" dirty="0">
                <a:solidFill>
                  <a:schemeClr val="accent5"/>
                </a:solidFill>
                <a:latin typeface="Calibri" pitchFamily="34" charset="0"/>
                <a:ea typeface="Calibri" pitchFamily="34" charset="-122"/>
                <a:cs typeface="Calibri" pitchFamily="34" charset="-120"/>
              </a:rPr>
              <a:t>final</a:t>
            </a:r>
            <a:endParaRPr lang="en-US" sz="900" dirty="0"/>
          </a:p>
        </p:txBody>
      </p:sp>
      <p:sp>
        <p:nvSpPr>
          <p:cNvPr id="38" name="ps20"/>
          <p:cNvSpPr/>
          <p:nvPr/>
        </p:nvSpPr>
        <p:spPr>
          <a:xfrm>
            <a:off x="5532120" y="3008376"/>
            <a:ext cx="256032" cy="292608"/>
          </a:xfrm>
          <a:prstGeom prst="rect">
            <a:avLst/>
          </a:prstGeom>
          <a:solidFill>
            <a:schemeClr val="accent1"/>
          </a:solidFill>
          <a:ln w="12700">
            <a:solidFill>
              <a:schemeClr val="accent1"/>
            </a:solidFill>
            <a:prstDash val="solid"/>
          </a:ln>
        </p:spPr>
      </p:sp>
      <p:sp>
        <p:nvSpPr>
          <p:cNvPr id="39" name="ps21"/>
          <p:cNvSpPr/>
          <p:nvPr/>
        </p:nvSpPr>
        <p:spPr>
          <a:xfrm>
            <a:off x="5824728" y="3008376"/>
            <a:ext cx="256032" cy="292608"/>
          </a:xfrm>
          <a:prstGeom prst="rect">
            <a:avLst/>
          </a:prstGeom>
          <a:solidFill>
            <a:schemeClr val="accent1"/>
          </a:solidFill>
          <a:ln w="12700">
            <a:solidFill>
              <a:schemeClr val="accent1"/>
            </a:solidFill>
            <a:prstDash val="solid"/>
          </a:ln>
        </p:spPr>
      </p:sp>
      <p:sp>
        <p:nvSpPr>
          <p:cNvPr id="40" name="ps22"/>
          <p:cNvSpPr/>
          <p:nvPr/>
        </p:nvSpPr>
        <p:spPr>
          <a:xfrm>
            <a:off x="6117336" y="3008376"/>
            <a:ext cx="256032" cy="292608"/>
          </a:xfrm>
          <a:prstGeom prst="rect">
            <a:avLst/>
          </a:prstGeom>
          <a:solidFill>
            <a:schemeClr val="accent1"/>
          </a:solidFill>
          <a:ln w="12700">
            <a:solidFill>
              <a:schemeClr val="accent1"/>
            </a:solidFill>
            <a:prstDash val="solid"/>
          </a:ln>
        </p:spPr>
      </p:sp>
      <p:sp>
        <p:nvSpPr>
          <p:cNvPr id="41" name="ps23"/>
          <p:cNvSpPr/>
          <p:nvPr/>
        </p:nvSpPr>
        <p:spPr>
          <a:xfrm>
            <a:off x="6409944" y="3008376"/>
            <a:ext cx="256032" cy="292608"/>
          </a:xfrm>
          <a:prstGeom prst="rect">
            <a:avLst/>
          </a:prstGeom>
          <a:solidFill>
            <a:schemeClr val="accent1"/>
          </a:solidFill>
          <a:ln w="12700">
            <a:solidFill>
              <a:schemeClr val="accent1"/>
            </a:solidFill>
            <a:prstDash val="solid"/>
          </a:ln>
        </p:spPr>
      </p:sp>
      <p:sp>
        <p:nvSpPr>
          <p:cNvPr id="42" name="ps24"/>
          <p:cNvSpPr/>
          <p:nvPr/>
        </p:nvSpPr>
        <p:spPr>
          <a:xfrm>
            <a:off x="6702552" y="3008376"/>
            <a:ext cx="256032" cy="292608"/>
          </a:xfrm>
          <a:prstGeom prst="rect">
            <a:avLst/>
          </a:prstGeom>
          <a:solidFill>
            <a:schemeClr val="accent1"/>
          </a:solidFill>
          <a:ln w="12700">
            <a:solidFill>
              <a:schemeClr val="accent1"/>
            </a:solidFill>
            <a:prstDash val="solid"/>
          </a:ln>
        </p:spPr>
      </p:sp>
      <p:sp>
        <p:nvSpPr>
          <p:cNvPr id="43" name="ps25"/>
          <p:cNvSpPr/>
          <p:nvPr/>
        </p:nvSpPr>
        <p:spPr>
          <a:xfrm>
            <a:off x="6995160" y="3008376"/>
            <a:ext cx="256032" cy="292608"/>
          </a:xfrm>
          <a:prstGeom prst="rect">
            <a:avLst/>
          </a:prstGeom>
          <a:solidFill>
            <a:schemeClr val="accent1"/>
          </a:solidFill>
          <a:ln w="12700">
            <a:solidFill>
              <a:schemeClr val="accent1"/>
            </a:solidFill>
            <a:prstDash val="solid"/>
          </a:ln>
        </p:spPr>
      </p:sp>
      <p:sp>
        <p:nvSpPr>
          <p:cNvPr id="44" name="ps26"/>
          <p:cNvSpPr/>
          <p:nvPr/>
        </p:nvSpPr>
        <p:spPr>
          <a:xfrm>
            <a:off x="7287768" y="3008376"/>
            <a:ext cx="256032" cy="292608"/>
          </a:xfrm>
          <a:prstGeom prst="rect">
            <a:avLst/>
          </a:prstGeom>
          <a:solidFill>
            <a:schemeClr val="accent1"/>
          </a:solidFill>
          <a:ln w="12700">
            <a:solidFill>
              <a:schemeClr val="accent1"/>
            </a:solidFill>
            <a:prstDash val="solid"/>
          </a:ln>
        </p:spPr>
      </p:sp>
      <p:sp>
        <p:nvSpPr>
          <p:cNvPr id="45" name="ps27"/>
          <p:cNvSpPr/>
          <p:nvPr/>
        </p:nvSpPr>
        <p:spPr>
          <a:xfrm>
            <a:off x="7580376" y="3008376"/>
            <a:ext cx="256032" cy="292608"/>
          </a:xfrm>
          <a:prstGeom prst="rect">
            <a:avLst/>
          </a:prstGeom>
          <a:solidFill>
            <a:schemeClr val="accent1"/>
          </a:solidFill>
          <a:ln w="12700">
            <a:solidFill>
              <a:schemeClr val="accent1"/>
            </a:solidFill>
            <a:prstDash val="solid"/>
          </a:ln>
        </p:spPr>
      </p:sp>
      <p:sp>
        <p:nvSpPr>
          <p:cNvPr id="46" name="ps28"/>
          <p:cNvSpPr/>
          <p:nvPr/>
        </p:nvSpPr>
        <p:spPr>
          <a:xfrm>
            <a:off x="7872984" y="3008376"/>
            <a:ext cx="256032" cy="292608"/>
          </a:xfrm>
          <a:prstGeom prst="rect">
            <a:avLst/>
          </a:prstGeom>
          <a:solidFill>
            <a:schemeClr val="accent1"/>
          </a:solidFill>
          <a:ln w="12700">
            <a:solidFill>
              <a:schemeClr val="accent1"/>
            </a:solidFill>
            <a:prstDash val="solid"/>
          </a:ln>
        </p:spPr>
      </p:sp>
      <p:sp>
        <p:nvSpPr>
          <p:cNvPr id="47" name="ps29"/>
          <p:cNvSpPr/>
          <p:nvPr/>
        </p:nvSpPr>
        <p:spPr>
          <a:xfrm>
            <a:off x="8165592" y="3008376"/>
            <a:ext cx="256032" cy="292608"/>
          </a:xfrm>
          <a:prstGeom prst="rect">
            <a:avLst/>
          </a:prstGeom>
          <a:solidFill>
            <a:schemeClr val="accent1"/>
          </a:solidFill>
          <a:ln w="12700">
            <a:solidFill>
              <a:schemeClr val="accent1"/>
            </a:solidFill>
            <a:prstDash val="solid"/>
          </a:ln>
        </p:spPr>
      </p:sp>
      <p:sp>
        <p:nvSpPr>
          <p:cNvPr id="48" name="Text 43"/>
          <p:cNvSpPr txBox="1"/>
          <p:nvPr/>
        </p:nvSpPr>
        <p:spPr>
          <a:xfrm>
            <a:off x="4846320" y="3520440"/>
            <a:ext cx="3657600" cy="548640"/>
          </a:xfrm>
          <a:prstGeom prst="rect">
            <a:avLst/>
          </a:prstGeom>
          <a:noFill/>
          <a:ln/>
        </p:spPr>
        <p:txBody>
          <a:bodyPr wrap="square" lIns="0" tIns="0" rIns="0" bIns="0" rtlCol="0" anchor="t"/>
          <a:lstStyle/>
          <a:p>
            <a:pPr marL="0" indent="0">
              <a:buNone/>
            </a:pPr>
            <a:r>
              <a:rPr lang="en-US" sz="1200" dirty="0">
                <a:solidFill>
                  <a:schemeClr val="bg1"/>
                </a:solidFill>
                <a:latin typeface="Calibri" pitchFamily="34" charset="0"/>
                <a:ea typeface="Calibri" pitchFamily="34" charset="-122"/>
                <a:cs typeface="Calibri" pitchFamily="34" charset="-120"/>
              </a:rPr>
              <a:t>Locks in good columns one by one instead of guessing all 20 genes at once.</a:t>
            </a:r>
            <a:endParaRPr lang="en-US" sz="1200" dirty="0"/>
          </a:p>
        </p:txBody>
      </p:sp>
      <p:sp>
        <p:nvSpPr>
          <p:cNvPr id="49" name="Text 44"/>
          <p:cNvSpPr txBox="1"/>
          <p:nvPr/>
        </p:nvSpPr>
        <p:spPr>
          <a:xfrm>
            <a:off x="4846320" y="4114800"/>
            <a:ext cx="3657600" cy="365760"/>
          </a:xfrm>
          <a:prstGeom prst="rect">
            <a:avLst/>
          </a:prstGeom>
          <a:noFill/>
          <a:ln/>
        </p:spPr>
        <p:txBody>
          <a:bodyPr wrap="square" lIns="0" tIns="0" rIns="0" bIns="0" rtlCol="0" anchor="t"/>
          <a:lstStyle/>
          <a:p>
            <a:pPr marL="0" indent="0">
              <a:buNone/>
            </a:pPr>
            <a:r>
              <a:rPr lang="en-US" sz="1050" b="1" dirty="0">
                <a:solidFill>
                  <a:schemeClr val="accent3"/>
                </a:solidFill>
                <a:latin typeface="Calibri" pitchFamily="34" charset="0"/>
                <a:ea typeface="Calibri" pitchFamily="34" charset="-122"/>
                <a:cs typeface="Calibri" pitchFamily="34" charset="-120"/>
              </a:rPr>
              <a:t>Repo: </a:t>
            </a:r>
            <a:r>
              <a:rPr lang="en-US" sz="1050" dirty="0">
                <a:solidFill>
                  <a:schemeClr val="accent5"/>
                </a:solidFill>
                <a:latin typeface="Calibri" pitchFamily="34" charset="0"/>
                <a:ea typeface="Calibri" pitchFamily="34" charset="-122"/>
                <a:cs typeface="Calibri" pitchFamily="34" charset="-120"/>
              </a:rPr>
              <a:t>target read as a numeric curve from target_test.csv</a:t>
            </a:r>
            <a:endParaRPr lang="en-US" sz="1050" dirty="0"/>
          </a:p>
        </p:txBody>
      </p:sp>
      <p:sp>
        <p:nvSpPr>
          <p:cNvPr id="50" name="Text 45"/>
          <p:cNvSpPr txBox="1"/>
          <p:nvPr/>
        </p:nvSpPr>
        <p:spPr>
          <a:xfrm>
            <a:off x="457200" y="4818888"/>
            <a:ext cx="7498080" cy="201168"/>
          </a:xfrm>
          <a:prstGeom prst="rect">
            <a:avLst/>
          </a:prstGeom>
          <a:noFill/>
          <a:ln/>
        </p:spPr>
        <p:txBody>
          <a:bodyPr wrap="square" lIns="0" tIns="0" rIns="0" bIns="0" rtlCol="0" anchor="t"/>
          <a:lstStyle/>
          <a:p>
            <a:pPr marL="0" indent="0">
              <a:buNone/>
            </a:pPr>
            <a:r>
              <a:rPr lang="en-US" sz="800" dirty="0">
                <a:solidFill>
                  <a:schemeClr val="accent4"/>
                </a:solidFill>
                <a:latin typeface="Calibri" pitchFamily="34" charset="0"/>
                <a:ea typeface="Calibri" pitchFamily="34" charset="-122"/>
                <a:cs typeface="Calibri" pitchFamily="34" charset="-120"/>
              </a:rPr>
              <a:t>Wang et al. 2025, Fig. 3 and PEA description [1]; repository PEA_for_reverse_design.py [4]. Column-locking graphic is schematic.</a:t>
            </a:r>
            <a:endParaRPr lang="en-US" sz="800" dirty="0"/>
          </a:p>
        </p:txBody>
      </p:sp>
      <p:sp>
        <p:nvSpPr>
          <p:cNvPr id="51"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82"/>
                </a:solidFill>
                <a:latin typeface="Calibri"/>
                <a:ea typeface="Calibri"/>
                <a:cs typeface="Calibri"/>
              </a:defRPr>
            </a:lvl1pPr>
          </a:lstStyle>
          <a:p>
            <a:pPr algn="r"/>
            <a:r>
              <a:rPr lang="en-US" b="0"/>
              <a:t>8</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457200" y="256032"/>
            <a:ext cx="7315200" cy="228600"/>
          </a:xfrm>
          <a:prstGeom prst="rect">
            <a:avLst/>
          </a:prstGeom>
          <a:noFill/>
          <a:ln/>
        </p:spPr>
        <p:txBody>
          <a:bodyPr wrap="square" lIns="0" tIns="0" rIns="0" bIns="0" rtlCol="0" anchor="ctr"/>
          <a:lstStyle/>
          <a:p>
            <a:pPr marL="0" indent="0" algn="l">
              <a:buNone/>
            </a:pPr>
            <a:r>
              <a:rPr lang="en-US" sz="1000" b="1" kern="0" spc="200" dirty="0">
                <a:solidFill>
                  <a:schemeClr val="accent1"/>
                </a:solidFill>
                <a:latin typeface="Calibri" pitchFamily="34" charset="0"/>
                <a:ea typeface="Calibri" pitchFamily="34" charset="-122"/>
                <a:cs typeface="Calibri" pitchFamily="34" charset="-120"/>
              </a:rPr>
              <a:t>WANG ET AL. (2025)</a:t>
            </a:r>
            <a:endParaRPr lang="en-US" sz="1000" dirty="0"/>
          </a:p>
        </p:txBody>
      </p:sp>
      <p:sp>
        <p:nvSpPr>
          <p:cNvPr id="3" name="Text 2"/>
          <p:cNvSpPr>
            <a:spLocks noGrp="1"/>
          </p:cNvSpPr>
          <p:nvPr>
            <p:ph type="title" idx="103" hasCustomPrompt="1"/>
          </p:nvPr>
        </p:nvSpPr>
        <p:spPr>
          <a:xfrm>
            <a:off x="457200" y="502920"/>
            <a:ext cx="8229600" cy="548640"/>
          </a:xfrm>
          <a:prstGeom prst="rect">
            <a:avLst/>
          </a:prstGeom>
          <a:noFill/>
          <a:ln/>
        </p:spPr>
        <p:txBody>
          <a:bodyPr wrap="square" lIns="0" tIns="0" rIns="0" bIns="0" rtlCol="0" anchor="ctr"/>
          <a:lstStyle/>
          <a:p>
            <a:pPr marL="0" indent="0" algn="l">
              <a:buNone/>
            </a:pPr>
            <a:r>
              <a:rPr lang="en-US" sz="2400" b="1" dirty="0">
                <a:solidFill>
                  <a:schemeClr val="tx2"/>
                </a:solidFill>
                <a:latin typeface="Georgia" pitchFamily="34" charset="0"/>
                <a:ea typeface="Georgia" pitchFamily="34" charset="-122"/>
                <a:cs typeface="Georgia" pitchFamily="34" charset="-120"/>
              </a:rPr>
              <a:t>Wang et al. report: target hit by generation 3</a:t>
            </a:r>
            <a:endParaRPr lang="en-US" sz="2400" dirty="0"/>
          </a:p>
        </p:txBody>
      </p:sp>
      <p:pic>
        <p:nvPicPr>
          <p:cNvPr id="4" name="wr-h" descr="img/wang_h.png"/>
          <p:cNvPicPr>
            <a:picLocks noChangeAspect="1"/>
          </p:cNvPicPr>
          <p:nvPr/>
        </p:nvPicPr>
        <p:blipFill>
          <a:blip r:embed="rId3"/>
          <a:stretch>
            <a:fillRect/>
          </a:stretch>
        </p:blipFill>
        <p:spPr>
          <a:xfrm>
            <a:off x="457200" y="1188720"/>
            <a:ext cx="5120640" cy="1362456"/>
          </a:xfrm>
          <a:prstGeom prst="rect">
            <a:avLst/>
          </a:prstGeom>
        </p:spPr>
      </p:pic>
      <p:sp>
        <p:nvSpPr>
          <p:cNvPr id="5" name="Text 2"/>
          <p:cNvSpPr txBox="1"/>
          <p:nvPr/>
        </p:nvSpPr>
        <p:spPr>
          <a:xfrm>
            <a:off x="457200" y="2587752"/>
            <a:ext cx="5120640" cy="228600"/>
          </a:xfrm>
          <a:prstGeom prst="rect">
            <a:avLst/>
          </a:prstGeom>
          <a:noFill/>
          <a:ln/>
        </p:spPr>
        <p:txBody>
          <a:bodyPr wrap="square" lIns="0" tIns="0" rIns="0" bIns="0" rtlCol="0" anchor="t"/>
          <a:lstStyle/>
          <a:p>
            <a:pPr marL="0" indent="0">
              <a:buNone/>
            </a:pPr>
            <a:r>
              <a:rPr lang="en-US" sz="950" i="1" dirty="0">
                <a:solidFill>
                  <a:schemeClr val="accent4"/>
                </a:solidFill>
                <a:latin typeface="Calibri" pitchFamily="34" charset="0"/>
                <a:ea typeface="Calibri" pitchFamily="34" charset="-122"/>
                <a:cs typeface="Calibri" pitchFamily="34" charset="-120"/>
              </a:rPr>
              <a:t>Wang et al.: target (red) vs. optimal shape (blue), generations 0 → 3</a:t>
            </a:r>
            <a:endParaRPr lang="en-US" sz="950" dirty="0"/>
          </a:p>
        </p:txBody>
      </p:sp>
      <p:graphicFrame>
        <p:nvGraphicFramePr>
          <p:cNvPr id="6" name="Chart 0"/>
          <p:cNvGraphicFramePr/>
          <p:nvPr/>
        </p:nvGraphicFramePr>
        <p:xfrm>
          <a:off x="457200" y="2880360"/>
          <a:ext cx="5120640" cy="1783080"/>
        </p:xfrm>
        <a:graphic>
          <a:graphicData uri="http://schemas.openxmlformats.org/drawingml/2006/chart">
            <c:chart xmlns:c="http://schemas.openxmlformats.org/drawingml/2006/chart" xmlns:r="http://schemas.openxmlformats.org/officeDocument/2006/relationships" r:id="rId4"/>
          </a:graphicData>
        </a:graphic>
      </p:graphicFrame>
      <p:sp>
        <p:nvSpPr>
          <p:cNvPr id="7" name="wr-big"/>
          <p:cNvSpPr/>
          <p:nvPr/>
        </p:nvSpPr>
        <p:spPr>
          <a:xfrm>
            <a:off x="5852160" y="1188720"/>
            <a:ext cx="2834640" cy="3429000"/>
          </a:xfrm>
          <a:prstGeom prst="roundRect">
            <a:avLst>
              <a:gd name="adj" fmla="val 2581"/>
            </a:avLst>
          </a:prstGeom>
          <a:solidFill>
            <a:schemeClr val="tx2"/>
          </a:solidFill>
          <a:ln w="12700">
            <a:solidFill>
              <a:schemeClr val="tx2"/>
            </a:solidFill>
            <a:prstDash val="solid"/>
          </a:ln>
        </p:spPr>
      </p:sp>
      <p:sp>
        <p:nvSpPr>
          <p:cNvPr id="8" name="Text 4"/>
          <p:cNvSpPr txBox="1"/>
          <p:nvPr/>
        </p:nvSpPr>
        <p:spPr>
          <a:xfrm>
            <a:off x="5989320" y="1463040"/>
            <a:ext cx="2560320" cy="822960"/>
          </a:xfrm>
          <a:prstGeom prst="rect">
            <a:avLst/>
          </a:prstGeom>
          <a:noFill/>
          <a:ln/>
        </p:spPr>
        <p:txBody>
          <a:bodyPr wrap="square" lIns="0" tIns="0" rIns="0" bIns="0" rtlCol="0" anchor="t"/>
          <a:lstStyle/>
          <a:p>
            <a:pPr marL="0" indent="0" algn="ctr">
              <a:buNone/>
            </a:pPr>
            <a:r>
              <a:rPr lang="en-US" sz="4400" b="1" dirty="0">
                <a:solidFill>
                  <a:schemeClr val="accent3"/>
                </a:solidFill>
                <a:latin typeface="Georgia" pitchFamily="34" charset="0"/>
                <a:ea typeface="Georgia" pitchFamily="34" charset="-122"/>
                <a:cs typeface="Georgia" pitchFamily="34" charset="-120"/>
              </a:rPr>
              <a:t>98.7%</a:t>
            </a:r>
            <a:endParaRPr lang="en-US" sz="4400" dirty="0"/>
          </a:p>
        </p:txBody>
      </p:sp>
      <p:sp>
        <p:nvSpPr>
          <p:cNvPr id="9" name="Text 5"/>
          <p:cNvSpPr txBox="1"/>
          <p:nvPr/>
        </p:nvSpPr>
        <p:spPr>
          <a:xfrm>
            <a:off x="6035040" y="2286000"/>
            <a:ext cx="2468880" cy="457200"/>
          </a:xfrm>
          <a:prstGeom prst="rect">
            <a:avLst/>
          </a:prstGeom>
          <a:noFill/>
          <a:ln/>
        </p:spPr>
        <p:txBody>
          <a:bodyPr wrap="square" lIns="0" tIns="0" rIns="0" bIns="0" rtlCol="0" anchor="t"/>
          <a:lstStyle/>
          <a:p>
            <a:pPr marL="0" indent="0" algn="ctr">
              <a:buNone/>
            </a:pPr>
            <a:r>
              <a:rPr lang="en-US" sz="1200" dirty="0">
                <a:solidFill>
                  <a:schemeClr val="bg1"/>
                </a:solidFill>
                <a:latin typeface="Calibri" pitchFamily="34" charset="0"/>
                <a:ea typeface="Calibri" pitchFamily="34" charset="-122"/>
                <a:cs typeface="Calibri" pitchFamily="34" charset="-120"/>
              </a:rPr>
              <a:t>overall accuracy S with progressive search (DL-PEA)</a:t>
            </a:r>
            <a:endParaRPr lang="en-US" sz="1200" dirty="0"/>
          </a:p>
        </p:txBody>
      </p:sp>
      <p:sp>
        <p:nvSpPr>
          <p:cNvPr id="10" name="wr-l"/>
          <p:cNvSpPr/>
          <p:nvPr/>
        </p:nvSpPr>
        <p:spPr>
          <a:xfrm>
            <a:off x="6309360" y="2834640"/>
            <a:ext cx="1920240" cy="0"/>
          </a:xfrm>
          <a:prstGeom prst="line">
            <a:avLst/>
          </a:prstGeom>
          <a:noFill/>
          <a:ln w="12700">
            <a:solidFill>
              <a:srgbClr val="34466E"/>
            </a:solidFill>
            <a:prstDash val="solid"/>
          </a:ln>
        </p:spPr>
      </p:sp>
      <p:sp>
        <p:nvSpPr>
          <p:cNvPr id="11" name="Text 7"/>
          <p:cNvSpPr txBox="1"/>
          <p:nvPr/>
        </p:nvSpPr>
        <p:spPr>
          <a:xfrm>
            <a:off x="5989320" y="2971800"/>
            <a:ext cx="2560320" cy="502920"/>
          </a:xfrm>
          <a:prstGeom prst="rect">
            <a:avLst/>
          </a:prstGeom>
          <a:noFill/>
          <a:ln/>
        </p:spPr>
        <p:txBody>
          <a:bodyPr wrap="square" lIns="0" tIns="0" rIns="0" bIns="0" rtlCol="0" anchor="t"/>
          <a:lstStyle/>
          <a:p>
            <a:pPr marL="0" indent="0" algn="ctr">
              <a:buNone/>
            </a:pPr>
            <a:r>
              <a:rPr lang="en-US" sz="2400" b="1" dirty="0">
                <a:solidFill>
                  <a:schemeClr val="accent5"/>
                </a:solidFill>
                <a:latin typeface="Georgia" pitchFamily="34" charset="0"/>
                <a:ea typeface="Georgia" pitchFamily="34" charset="-122"/>
                <a:cs typeface="Georgia" pitchFamily="34" charset="-120"/>
              </a:rPr>
              <a:t>vs 87.65%</a:t>
            </a:r>
            <a:endParaRPr lang="en-US" sz="2400" dirty="0"/>
          </a:p>
        </p:txBody>
      </p:sp>
      <p:sp>
        <p:nvSpPr>
          <p:cNvPr id="12" name="Text 8"/>
          <p:cNvSpPr txBox="1"/>
          <p:nvPr/>
        </p:nvSpPr>
        <p:spPr>
          <a:xfrm>
            <a:off x="6035040" y="3474720"/>
            <a:ext cx="2468880" cy="320040"/>
          </a:xfrm>
          <a:prstGeom prst="rect">
            <a:avLst/>
          </a:prstGeom>
          <a:noFill/>
          <a:ln/>
        </p:spPr>
        <p:txBody>
          <a:bodyPr wrap="square" lIns="0" tIns="0" rIns="0" bIns="0" rtlCol="0" anchor="t"/>
          <a:lstStyle/>
          <a:p>
            <a:pPr marL="0" indent="0" algn="ctr">
              <a:buNone/>
            </a:pPr>
            <a:r>
              <a:rPr lang="en-US" sz="1200" dirty="0">
                <a:solidFill>
                  <a:schemeClr val="bg1"/>
                </a:solidFill>
                <a:latin typeface="Calibri" pitchFamily="34" charset="0"/>
                <a:ea typeface="Calibri" pitchFamily="34" charset="-122"/>
                <a:cs typeface="Calibri" pitchFamily="34" charset="-120"/>
              </a:rPr>
              <a:t>with a standard EA (DL-EA)</a:t>
            </a:r>
            <a:endParaRPr lang="en-US" sz="1200" dirty="0"/>
          </a:p>
        </p:txBody>
      </p:sp>
      <p:sp>
        <p:nvSpPr>
          <p:cNvPr id="13" name="Text 9"/>
          <p:cNvSpPr txBox="1"/>
          <p:nvPr/>
        </p:nvSpPr>
        <p:spPr>
          <a:xfrm>
            <a:off x="6035040" y="3977640"/>
            <a:ext cx="2468880" cy="502920"/>
          </a:xfrm>
          <a:prstGeom prst="rect">
            <a:avLst/>
          </a:prstGeom>
          <a:noFill/>
          <a:ln/>
        </p:spPr>
        <p:txBody>
          <a:bodyPr wrap="square" lIns="0" tIns="0" rIns="0" bIns="0" rtlCol="0" anchor="t"/>
          <a:lstStyle/>
          <a:p>
            <a:pPr marL="0" indent="0" algn="ctr">
              <a:buNone/>
            </a:pPr>
            <a:r>
              <a:rPr lang="en-US" sz="1000" i="1" dirty="0">
                <a:solidFill>
                  <a:schemeClr val="accent3"/>
                </a:solidFill>
                <a:latin typeface="Calibri" pitchFamily="34" charset="0"/>
                <a:ea typeface="Calibri" pitchFamily="34" charset="-122"/>
                <a:cs typeface="Calibri" pitchFamily="34" charset="-120"/>
              </a:rPr>
              <a:t>Reported by Wang et al.; not reproduced in our repo</a:t>
            </a:r>
            <a:endParaRPr lang="en-US" sz="1000" dirty="0"/>
          </a:p>
        </p:txBody>
      </p:sp>
      <p:sp>
        <p:nvSpPr>
          <p:cNvPr id="14" name="Text 10"/>
          <p:cNvSpPr txBox="1"/>
          <p:nvPr/>
        </p:nvSpPr>
        <p:spPr>
          <a:xfrm>
            <a:off x="457200" y="4818888"/>
            <a:ext cx="7498080" cy="201168"/>
          </a:xfrm>
          <a:prstGeom prst="rect">
            <a:avLst/>
          </a:prstGeom>
          <a:noFill/>
          <a:ln/>
        </p:spPr>
        <p:txBody>
          <a:bodyPr wrap="square" lIns="0" tIns="0" rIns="0" bIns="0" rtlCol="0" anchor="t"/>
          <a:lstStyle/>
          <a:p>
            <a:pPr marL="0" indent="0">
              <a:buNone/>
            </a:pPr>
            <a:r>
              <a:rPr lang="en-US" sz="800" dirty="0">
                <a:solidFill>
                  <a:schemeClr val="accent4"/>
                </a:solidFill>
                <a:latin typeface="Calibri" pitchFamily="34" charset="0"/>
                <a:ea typeface="Calibri" pitchFamily="34" charset="-122"/>
                <a:cs typeface="Calibri" pitchFamily="34" charset="-120"/>
              </a:rPr>
              <a:t>Wang et al. 2025, PEA results figure, panels h–i [1]. S = overall accuracy in their table of 2,000 reverse designs; exact definition per paper.</a:t>
            </a:r>
            <a:endParaRPr lang="en-US" sz="8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82"/>
                </a:solidFill>
                <a:latin typeface="Calibri"/>
                <a:ea typeface="Calibri"/>
                <a:cs typeface="Calibri"/>
              </a:defRPr>
            </a:lvl1pPr>
          </a:lstStyle>
          <a:p>
            <a:pPr algn="r"/>
            <a:r>
              <a:rPr lang="en-US" b="0"/>
              <a:t>9</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457200" y="256032"/>
            <a:ext cx="7315200" cy="228600"/>
          </a:xfrm>
          <a:prstGeom prst="rect">
            <a:avLst/>
          </a:prstGeom>
          <a:noFill/>
          <a:ln/>
        </p:spPr>
        <p:txBody>
          <a:bodyPr wrap="square" lIns="0" tIns="0" rIns="0" bIns="0" rtlCol="0" anchor="ctr"/>
          <a:lstStyle/>
          <a:p>
            <a:pPr marL="0" indent="0" algn="l">
              <a:buNone/>
            </a:pPr>
            <a:r>
              <a:rPr lang="en-US" sz="1000" b="1" kern="0" spc="200" dirty="0">
                <a:solidFill>
                  <a:schemeClr val="accent1"/>
                </a:solidFill>
                <a:latin typeface="Calibri" pitchFamily="34" charset="0"/>
                <a:ea typeface="Calibri" pitchFamily="34" charset="-122"/>
                <a:cs typeface="Calibri" pitchFamily="34" charset="-120"/>
              </a:rPr>
              <a:t>JIN ET AL. (2024)</a:t>
            </a:r>
            <a:endParaRPr lang="en-US" sz="1000" dirty="0"/>
          </a:p>
        </p:txBody>
      </p:sp>
      <p:sp>
        <p:nvSpPr>
          <p:cNvPr id="3" name="Text 2"/>
          <p:cNvSpPr>
            <a:spLocks noGrp="1"/>
          </p:cNvSpPr>
          <p:nvPr>
            <p:ph type="title" idx="103" hasCustomPrompt="1"/>
          </p:nvPr>
        </p:nvSpPr>
        <p:spPr>
          <a:xfrm>
            <a:off x="457200" y="502920"/>
            <a:ext cx="8229600" cy="548640"/>
          </a:xfrm>
          <a:prstGeom prst="rect">
            <a:avLst/>
          </a:prstGeom>
          <a:noFill/>
          <a:ln/>
        </p:spPr>
        <p:txBody>
          <a:bodyPr wrap="square" lIns="0" tIns="0" rIns="0" bIns="0" rtlCol="0" anchor="ctr"/>
          <a:lstStyle/>
          <a:p>
            <a:pPr marL="0" indent="0" algn="l">
              <a:buNone/>
            </a:pPr>
            <a:r>
              <a:rPr lang="en-US" sz="2400" b="1" dirty="0">
                <a:solidFill>
                  <a:schemeClr val="tx2"/>
                </a:solidFill>
                <a:latin typeface="Georgia" pitchFamily="34" charset="0"/>
                <a:ea typeface="Georgia" pitchFamily="34" charset="-122"/>
                <a:cs typeface="Georgia" pitchFamily="34" charset="-120"/>
              </a:rPr>
              <a:t>Any outline: pad it into a grid</a:t>
            </a:r>
            <a:endParaRPr lang="en-US" sz="2400" dirty="0"/>
          </a:p>
        </p:txBody>
      </p:sp>
      <p:sp>
        <p:nvSpPr>
          <p:cNvPr id="4" name="g00"/>
          <p:cNvSpPr/>
          <p:nvPr/>
        </p:nvSpPr>
        <p:spPr>
          <a:xfrm>
            <a:off x="548640" y="1280160"/>
            <a:ext cx="457200" cy="457200"/>
          </a:xfrm>
          <a:prstGeom prst="rect">
            <a:avLst/>
          </a:prstGeom>
          <a:solidFill>
            <a:schemeClr val="bg2"/>
          </a:solidFill>
          <a:ln w="6350">
            <a:solidFill>
              <a:schemeClr val="accent6"/>
            </a:solidFill>
            <a:prstDash val="solid"/>
          </a:ln>
        </p:spPr>
      </p:sp>
      <p:sp>
        <p:nvSpPr>
          <p:cNvPr id="5" name="Text 3"/>
          <p:cNvSpPr txBox="1"/>
          <p:nvPr/>
        </p:nvSpPr>
        <p:spPr>
          <a:xfrm>
            <a:off x="548640" y="1280160"/>
            <a:ext cx="457200" cy="457200"/>
          </a:xfrm>
          <a:prstGeom prst="rect">
            <a:avLst/>
          </a:prstGeom>
          <a:noFill/>
          <a:ln/>
        </p:spPr>
        <p:txBody>
          <a:bodyPr wrap="square" lIns="0" tIns="0" rIns="0" bIns="0" rtlCol="0" anchor="ctr"/>
          <a:lstStyle/>
          <a:p>
            <a:pPr marL="0" indent="0" algn="ctr">
              <a:buNone/>
            </a:pPr>
            <a:r>
              <a:rPr lang="en-US" sz="1300" b="1" dirty="0">
                <a:solidFill>
                  <a:schemeClr val="accent4"/>
                </a:solidFill>
                <a:latin typeface="Calibri" pitchFamily="34" charset="0"/>
                <a:ea typeface="Calibri" pitchFamily="34" charset="-122"/>
                <a:cs typeface="Calibri" pitchFamily="34" charset="-120"/>
              </a:rPr>
              <a:t>0</a:t>
            </a:r>
            <a:endParaRPr lang="en-US" sz="1300" dirty="0"/>
          </a:p>
        </p:txBody>
      </p:sp>
      <p:sp>
        <p:nvSpPr>
          <p:cNvPr id="6" name="g01"/>
          <p:cNvSpPr/>
          <p:nvPr/>
        </p:nvSpPr>
        <p:spPr>
          <a:xfrm>
            <a:off x="1051560" y="1280160"/>
            <a:ext cx="457200" cy="457200"/>
          </a:xfrm>
          <a:prstGeom prst="rect">
            <a:avLst/>
          </a:prstGeom>
          <a:solidFill>
            <a:schemeClr val="bg2"/>
          </a:solidFill>
          <a:ln w="6350">
            <a:solidFill>
              <a:schemeClr val="accent6"/>
            </a:solidFill>
            <a:prstDash val="solid"/>
          </a:ln>
        </p:spPr>
      </p:sp>
      <p:sp>
        <p:nvSpPr>
          <p:cNvPr id="7" name="Text 5"/>
          <p:cNvSpPr txBox="1"/>
          <p:nvPr/>
        </p:nvSpPr>
        <p:spPr>
          <a:xfrm>
            <a:off x="1051560" y="1280160"/>
            <a:ext cx="457200" cy="457200"/>
          </a:xfrm>
          <a:prstGeom prst="rect">
            <a:avLst/>
          </a:prstGeom>
          <a:noFill/>
          <a:ln/>
        </p:spPr>
        <p:txBody>
          <a:bodyPr wrap="square" lIns="0" tIns="0" rIns="0" bIns="0" rtlCol="0" anchor="ctr"/>
          <a:lstStyle/>
          <a:p>
            <a:pPr marL="0" indent="0" algn="ctr">
              <a:buNone/>
            </a:pPr>
            <a:r>
              <a:rPr lang="en-US" sz="1300" b="1" dirty="0">
                <a:solidFill>
                  <a:schemeClr val="accent4"/>
                </a:solidFill>
                <a:latin typeface="Calibri" pitchFamily="34" charset="0"/>
                <a:ea typeface="Calibri" pitchFamily="34" charset="-122"/>
                <a:cs typeface="Calibri" pitchFamily="34" charset="-120"/>
              </a:rPr>
              <a:t>0</a:t>
            </a:r>
            <a:endParaRPr lang="en-US" sz="1300" dirty="0"/>
          </a:p>
        </p:txBody>
      </p:sp>
      <p:sp>
        <p:nvSpPr>
          <p:cNvPr id="8" name="g02"/>
          <p:cNvSpPr/>
          <p:nvPr/>
        </p:nvSpPr>
        <p:spPr>
          <a:xfrm>
            <a:off x="1554480" y="1280160"/>
            <a:ext cx="457200" cy="457200"/>
          </a:xfrm>
          <a:prstGeom prst="rect">
            <a:avLst/>
          </a:prstGeom>
          <a:solidFill>
            <a:schemeClr val="accent2"/>
          </a:solidFill>
          <a:ln w="6350">
            <a:solidFill>
              <a:schemeClr val="accent6"/>
            </a:solidFill>
            <a:prstDash val="solid"/>
          </a:ln>
        </p:spPr>
      </p:sp>
      <p:sp>
        <p:nvSpPr>
          <p:cNvPr id="9" name="Text 7"/>
          <p:cNvSpPr txBox="1"/>
          <p:nvPr/>
        </p:nvSpPr>
        <p:spPr>
          <a:xfrm>
            <a:off x="1554480" y="1280160"/>
            <a:ext cx="457200" cy="457200"/>
          </a:xfrm>
          <a:prstGeom prst="rect">
            <a:avLst/>
          </a:prstGeom>
          <a:noFill/>
          <a:ln/>
        </p:spPr>
        <p:txBody>
          <a:bodyPr wrap="square" lIns="0" tIns="0" rIns="0" bIns="0" rtlCol="0" anchor="ctr"/>
          <a:lstStyle/>
          <a:p>
            <a:pPr marL="0" indent="0" algn="ctr">
              <a:buNone/>
            </a:pPr>
            <a:r>
              <a:rPr lang="en-US" sz="1300" b="1" dirty="0">
                <a:solidFill>
                  <a:schemeClr val="bg1"/>
                </a:solidFill>
                <a:latin typeface="Calibri" pitchFamily="34" charset="0"/>
                <a:ea typeface="Calibri" pitchFamily="34" charset="-122"/>
                <a:cs typeface="Calibri" pitchFamily="34" charset="-120"/>
              </a:rPr>
              <a:t>2</a:t>
            </a:r>
            <a:endParaRPr lang="en-US" sz="1300" dirty="0"/>
          </a:p>
        </p:txBody>
      </p:sp>
      <p:sp>
        <p:nvSpPr>
          <p:cNvPr id="10" name="g03"/>
          <p:cNvSpPr/>
          <p:nvPr/>
        </p:nvSpPr>
        <p:spPr>
          <a:xfrm>
            <a:off x="2057400" y="1280160"/>
            <a:ext cx="457200" cy="457200"/>
          </a:xfrm>
          <a:prstGeom prst="rect">
            <a:avLst/>
          </a:prstGeom>
          <a:solidFill>
            <a:schemeClr val="accent2"/>
          </a:solidFill>
          <a:ln w="6350">
            <a:solidFill>
              <a:schemeClr val="accent6"/>
            </a:solidFill>
            <a:prstDash val="solid"/>
          </a:ln>
        </p:spPr>
      </p:sp>
      <p:sp>
        <p:nvSpPr>
          <p:cNvPr id="11" name="Text 9"/>
          <p:cNvSpPr txBox="1"/>
          <p:nvPr/>
        </p:nvSpPr>
        <p:spPr>
          <a:xfrm>
            <a:off x="2057400" y="1280160"/>
            <a:ext cx="457200" cy="457200"/>
          </a:xfrm>
          <a:prstGeom prst="rect">
            <a:avLst/>
          </a:prstGeom>
          <a:noFill/>
          <a:ln/>
        </p:spPr>
        <p:txBody>
          <a:bodyPr wrap="square" lIns="0" tIns="0" rIns="0" bIns="0" rtlCol="0" anchor="ctr"/>
          <a:lstStyle/>
          <a:p>
            <a:pPr marL="0" indent="0" algn="ctr">
              <a:buNone/>
            </a:pPr>
            <a:r>
              <a:rPr lang="en-US" sz="1300" b="1" dirty="0">
                <a:solidFill>
                  <a:schemeClr val="bg1"/>
                </a:solidFill>
                <a:latin typeface="Calibri" pitchFamily="34" charset="0"/>
                <a:ea typeface="Calibri" pitchFamily="34" charset="-122"/>
                <a:cs typeface="Calibri" pitchFamily="34" charset="-120"/>
              </a:rPr>
              <a:t>2</a:t>
            </a:r>
            <a:endParaRPr lang="en-US" sz="1300" dirty="0"/>
          </a:p>
        </p:txBody>
      </p:sp>
      <p:sp>
        <p:nvSpPr>
          <p:cNvPr id="12" name="g04"/>
          <p:cNvSpPr/>
          <p:nvPr/>
        </p:nvSpPr>
        <p:spPr>
          <a:xfrm>
            <a:off x="2560320" y="1280160"/>
            <a:ext cx="457200" cy="457200"/>
          </a:xfrm>
          <a:prstGeom prst="rect">
            <a:avLst/>
          </a:prstGeom>
          <a:solidFill>
            <a:schemeClr val="bg2"/>
          </a:solidFill>
          <a:ln w="6350">
            <a:solidFill>
              <a:schemeClr val="accent6"/>
            </a:solidFill>
            <a:prstDash val="solid"/>
          </a:ln>
        </p:spPr>
      </p:sp>
      <p:sp>
        <p:nvSpPr>
          <p:cNvPr id="13" name="Text 11"/>
          <p:cNvSpPr txBox="1"/>
          <p:nvPr/>
        </p:nvSpPr>
        <p:spPr>
          <a:xfrm>
            <a:off x="2560320" y="1280160"/>
            <a:ext cx="457200" cy="457200"/>
          </a:xfrm>
          <a:prstGeom prst="rect">
            <a:avLst/>
          </a:prstGeom>
          <a:noFill/>
          <a:ln/>
        </p:spPr>
        <p:txBody>
          <a:bodyPr wrap="square" lIns="0" tIns="0" rIns="0" bIns="0" rtlCol="0" anchor="ctr"/>
          <a:lstStyle/>
          <a:p>
            <a:pPr marL="0" indent="0" algn="ctr">
              <a:buNone/>
            </a:pPr>
            <a:r>
              <a:rPr lang="en-US" sz="1300" b="1" dirty="0">
                <a:solidFill>
                  <a:schemeClr val="accent4"/>
                </a:solidFill>
                <a:latin typeface="Calibri" pitchFamily="34" charset="0"/>
                <a:ea typeface="Calibri" pitchFamily="34" charset="-122"/>
                <a:cs typeface="Calibri" pitchFamily="34" charset="-120"/>
              </a:rPr>
              <a:t>0</a:t>
            </a:r>
            <a:endParaRPr lang="en-US" sz="1300" dirty="0"/>
          </a:p>
        </p:txBody>
      </p:sp>
      <p:sp>
        <p:nvSpPr>
          <p:cNvPr id="14" name="g05"/>
          <p:cNvSpPr/>
          <p:nvPr/>
        </p:nvSpPr>
        <p:spPr>
          <a:xfrm>
            <a:off x="3063240" y="1280160"/>
            <a:ext cx="457200" cy="457200"/>
          </a:xfrm>
          <a:prstGeom prst="rect">
            <a:avLst/>
          </a:prstGeom>
          <a:solidFill>
            <a:schemeClr val="bg2"/>
          </a:solidFill>
          <a:ln w="6350">
            <a:solidFill>
              <a:schemeClr val="accent6"/>
            </a:solidFill>
            <a:prstDash val="solid"/>
          </a:ln>
        </p:spPr>
      </p:sp>
      <p:sp>
        <p:nvSpPr>
          <p:cNvPr id="15" name="Text 13"/>
          <p:cNvSpPr txBox="1"/>
          <p:nvPr/>
        </p:nvSpPr>
        <p:spPr>
          <a:xfrm>
            <a:off x="3063240" y="1280160"/>
            <a:ext cx="457200" cy="457200"/>
          </a:xfrm>
          <a:prstGeom prst="rect">
            <a:avLst/>
          </a:prstGeom>
          <a:noFill/>
          <a:ln/>
        </p:spPr>
        <p:txBody>
          <a:bodyPr wrap="square" lIns="0" tIns="0" rIns="0" bIns="0" rtlCol="0" anchor="ctr"/>
          <a:lstStyle/>
          <a:p>
            <a:pPr marL="0" indent="0" algn="ctr">
              <a:buNone/>
            </a:pPr>
            <a:r>
              <a:rPr lang="en-US" sz="1300" b="1" dirty="0">
                <a:solidFill>
                  <a:schemeClr val="accent4"/>
                </a:solidFill>
                <a:latin typeface="Calibri" pitchFamily="34" charset="0"/>
                <a:ea typeface="Calibri" pitchFamily="34" charset="-122"/>
                <a:cs typeface="Calibri" pitchFamily="34" charset="-120"/>
              </a:rPr>
              <a:t>0</a:t>
            </a:r>
            <a:endParaRPr lang="en-US" sz="1300" dirty="0"/>
          </a:p>
        </p:txBody>
      </p:sp>
      <p:sp>
        <p:nvSpPr>
          <p:cNvPr id="16" name="g10"/>
          <p:cNvSpPr/>
          <p:nvPr/>
        </p:nvSpPr>
        <p:spPr>
          <a:xfrm>
            <a:off x="548640" y="1783080"/>
            <a:ext cx="457200" cy="457200"/>
          </a:xfrm>
          <a:prstGeom prst="rect">
            <a:avLst/>
          </a:prstGeom>
          <a:solidFill>
            <a:schemeClr val="bg2"/>
          </a:solidFill>
          <a:ln w="6350">
            <a:solidFill>
              <a:schemeClr val="accent6"/>
            </a:solidFill>
            <a:prstDash val="solid"/>
          </a:ln>
        </p:spPr>
      </p:sp>
      <p:sp>
        <p:nvSpPr>
          <p:cNvPr id="17" name="Text 15"/>
          <p:cNvSpPr txBox="1"/>
          <p:nvPr/>
        </p:nvSpPr>
        <p:spPr>
          <a:xfrm>
            <a:off x="548640" y="1783080"/>
            <a:ext cx="457200" cy="457200"/>
          </a:xfrm>
          <a:prstGeom prst="rect">
            <a:avLst/>
          </a:prstGeom>
          <a:noFill/>
          <a:ln/>
        </p:spPr>
        <p:txBody>
          <a:bodyPr wrap="square" lIns="0" tIns="0" rIns="0" bIns="0" rtlCol="0" anchor="ctr"/>
          <a:lstStyle/>
          <a:p>
            <a:pPr marL="0" indent="0" algn="ctr">
              <a:buNone/>
            </a:pPr>
            <a:r>
              <a:rPr lang="en-US" sz="1300" b="1" dirty="0">
                <a:solidFill>
                  <a:schemeClr val="accent4"/>
                </a:solidFill>
                <a:latin typeface="Calibri" pitchFamily="34" charset="0"/>
                <a:ea typeface="Calibri" pitchFamily="34" charset="-122"/>
                <a:cs typeface="Calibri" pitchFamily="34" charset="-120"/>
              </a:rPr>
              <a:t>0</a:t>
            </a:r>
            <a:endParaRPr lang="en-US" sz="1300" dirty="0"/>
          </a:p>
        </p:txBody>
      </p:sp>
      <p:sp>
        <p:nvSpPr>
          <p:cNvPr id="18" name="g11"/>
          <p:cNvSpPr/>
          <p:nvPr/>
        </p:nvSpPr>
        <p:spPr>
          <a:xfrm>
            <a:off x="1051560" y="1783080"/>
            <a:ext cx="457200" cy="457200"/>
          </a:xfrm>
          <a:prstGeom prst="rect">
            <a:avLst/>
          </a:prstGeom>
          <a:solidFill>
            <a:schemeClr val="accent2"/>
          </a:solidFill>
          <a:ln w="6350">
            <a:solidFill>
              <a:schemeClr val="accent6"/>
            </a:solidFill>
            <a:prstDash val="solid"/>
          </a:ln>
        </p:spPr>
      </p:sp>
      <p:sp>
        <p:nvSpPr>
          <p:cNvPr id="19" name="Text 17"/>
          <p:cNvSpPr txBox="1"/>
          <p:nvPr/>
        </p:nvSpPr>
        <p:spPr>
          <a:xfrm>
            <a:off x="1051560" y="1783080"/>
            <a:ext cx="457200" cy="457200"/>
          </a:xfrm>
          <a:prstGeom prst="rect">
            <a:avLst/>
          </a:prstGeom>
          <a:noFill/>
          <a:ln/>
        </p:spPr>
        <p:txBody>
          <a:bodyPr wrap="square" lIns="0" tIns="0" rIns="0" bIns="0" rtlCol="0" anchor="ctr"/>
          <a:lstStyle/>
          <a:p>
            <a:pPr marL="0" indent="0" algn="ctr">
              <a:buNone/>
            </a:pPr>
            <a:r>
              <a:rPr lang="en-US" sz="1300" b="1" dirty="0">
                <a:solidFill>
                  <a:schemeClr val="bg1"/>
                </a:solidFill>
                <a:latin typeface="Calibri" pitchFamily="34" charset="0"/>
                <a:ea typeface="Calibri" pitchFamily="34" charset="-122"/>
                <a:cs typeface="Calibri" pitchFamily="34" charset="-120"/>
              </a:rPr>
              <a:t>2</a:t>
            </a:r>
            <a:endParaRPr lang="en-US" sz="1300" dirty="0"/>
          </a:p>
        </p:txBody>
      </p:sp>
      <p:sp>
        <p:nvSpPr>
          <p:cNvPr id="20" name="g12"/>
          <p:cNvSpPr/>
          <p:nvPr/>
        </p:nvSpPr>
        <p:spPr>
          <a:xfrm>
            <a:off x="1554480" y="1783080"/>
            <a:ext cx="457200" cy="457200"/>
          </a:xfrm>
          <a:prstGeom prst="rect">
            <a:avLst/>
          </a:prstGeom>
          <a:solidFill>
            <a:schemeClr val="accent1"/>
          </a:solidFill>
          <a:ln w="6350">
            <a:solidFill>
              <a:schemeClr val="accent6"/>
            </a:solidFill>
            <a:prstDash val="solid"/>
          </a:ln>
        </p:spPr>
      </p:sp>
      <p:sp>
        <p:nvSpPr>
          <p:cNvPr id="21" name="Text 19"/>
          <p:cNvSpPr txBox="1"/>
          <p:nvPr/>
        </p:nvSpPr>
        <p:spPr>
          <a:xfrm>
            <a:off x="1554480" y="1783080"/>
            <a:ext cx="457200" cy="457200"/>
          </a:xfrm>
          <a:prstGeom prst="rect">
            <a:avLst/>
          </a:prstGeom>
          <a:noFill/>
          <a:ln/>
        </p:spPr>
        <p:txBody>
          <a:bodyPr wrap="square" lIns="0" tIns="0" rIns="0" bIns="0" rtlCol="0" anchor="ctr"/>
          <a:lstStyle/>
          <a:p>
            <a:pPr marL="0" indent="0" algn="ctr">
              <a:buNone/>
            </a:pPr>
            <a:r>
              <a:rPr lang="en-US" sz="1300" b="1" dirty="0">
                <a:solidFill>
                  <a:schemeClr val="bg1"/>
                </a:solidFill>
                <a:latin typeface="Calibri" pitchFamily="34" charset="0"/>
                <a:ea typeface="Calibri" pitchFamily="34" charset="-122"/>
                <a:cs typeface="Calibri" pitchFamily="34" charset="-120"/>
              </a:rPr>
              <a:t>1</a:t>
            </a:r>
            <a:endParaRPr lang="en-US" sz="1300" dirty="0"/>
          </a:p>
        </p:txBody>
      </p:sp>
      <p:sp>
        <p:nvSpPr>
          <p:cNvPr id="22" name="g13"/>
          <p:cNvSpPr/>
          <p:nvPr/>
        </p:nvSpPr>
        <p:spPr>
          <a:xfrm>
            <a:off x="2057400" y="1783080"/>
            <a:ext cx="457200" cy="457200"/>
          </a:xfrm>
          <a:prstGeom prst="rect">
            <a:avLst/>
          </a:prstGeom>
          <a:solidFill>
            <a:schemeClr val="accent1"/>
          </a:solidFill>
          <a:ln w="6350">
            <a:solidFill>
              <a:schemeClr val="accent6"/>
            </a:solidFill>
            <a:prstDash val="solid"/>
          </a:ln>
        </p:spPr>
      </p:sp>
      <p:sp>
        <p:nvSpPr>
          <p:cNvPr id="23" name="Text 21"/>
          <p:cNvSpPr txBox="1"/>
          <p:nvPr/>
        </p:nvSpPr>
        <p:spPr>
          <a:xfrm>
            <a:off x="2057400" y="1783080"/>
            <a:ext cx="457200" cy="457200"/>
          </a:xfrm>
          <a:prstGeom prst="rect">
            <a:avLst/>
          </a:prstGeom>
          <a:noFill/>
          <a:ln/>
        </p:spPr>
        <p:txBody>
          <a:bodyPr wrap="square" lIns="0" tIns="0" rIns="0" bIns="0" rtlCol="0" anchor="ctr"/>
          <a:lstStyle/>
          <a:p>
            <a:pPr marL="0" indent="0" algn="ctr">
              <a:buNone/>
            </a:pPr>
            <a:r>
              <a:rPr lang="en-US" sz="1300" b="1" dirty="0">
                <a:solidFill>
                  <a:schemeClr val="bg1"/>
                </a:solidFill>
                <a:latin typeface="Calibri" pitchFamily="34" charset="0"/>
                <a:ea typeface="Calibri" pitchFamily="34" charset="-122"/>
                <a:cs typeface="Calibri" pitchFamily="34" charset="-120"/>
              </a:rPr>
              <a:t>1</a:t>
            </a:r>
            <a:endParaRPr lang="en-US" sz="1300" dirty="0"/>
          </a:p>
        </p:txBody>
      </p:sp>
      <p:sp>
        <p:nvSpPr>
          <p:cNvPr id="24" name="g14"/>
          <p:cNvSpPr/>
          <p:nvPr/>
        </p:nvSpPr>
        <p:spPr>
          <a:xfrm>
            <a:off x="2560320" y="1783080"/>
            <a:ext cx="457200" cy="457200"/>
          </a:xfrm>
          <a:prstGeom prst="rect">
            <a:avLst/>
          </a:prstGeom>
          <a:solidFill>
            <a:schemeClr val="accent2"/>
          </a:solidFill>
          <a:ln w="6350">
            <a:solidFill>
              <a:schemeClr val="accent6"/>
            </a:solidFill>
            <a:prstDash val="solid"/>
          </a:ln>
        </p:spPr>
      </p:sp>
      <p:sp>
        <p:nvSpPr>
          <p:cNvPr id="25" name="Text 23"/>
          <p:cNvSpPr txBox="1"/>
          <p:nvPr/>
        </p:nvSpPr>
        <p:spPr>
          <a:xfrm>
            <a:off x="2560320" y="1783080"/>
            <a:ext cx="457200" cy="457200"/>
          </a:xfrm>
          <a:prstGeom prst="rect">
            <a:avLst/>
          </a:prstGeom>
          <a:noFill/>
          <a:ln/>
        </p:spPr>
        <p:txBody>
          <a:bodyPr wrap="square" lIns="0" tIns="0" rIns="0" bIns="0" rtlCol="0" anchor="ctr"/>
          <a:lstStyle/>
          <a:p>
            <a:pPr marL="0" indent="0" algn="ctr">
              <a:buNone/>
            </a:pPr>
            <a:r>
              <a:rPr lang="en-US" sz="1300" b="1" dirty="0">
                <a:solidFill>
                  <a:schemeClr val="bg1"/>
                </a:solidFill>
                <a:latin typeface="Calibri" pitchFamily="34" charset="0"/>
                <a:ea typeface="Calibri" pitchFamily="34" charset="-122"/>
                <a:cs typeface="Calibri" pitchFamily="34" charset="-120"/>
              </a:rPr>
              <a:t>2</a:t>
            </a:r>
            <a:endParaRPr lang="en-US" sz="1300" dirty="0"/>
          </a:p>
        </p:txBody>
      </p:sp>
      <p:sp>
        <p:nvSpPr>
          <p:cNvPr id="26" name="g15"/>
          <p:cNvSpPr/>
          <p:nvPr/>
        </p:nvSpPr>
        <p:spPr>
          <a:xfrm>
            <a:off x="3063240" y="1783080"/>
            <a:ext cx="457200" cy="457200"/>
          </a:xfrm>
          <a:prstGeom prst="rect">
            <a:avLst/>
          </a:prstGeom>
          <a:solidFill>
            <a:schemeClr val="bg2"/>
          </a:solidFill>
          <a:ln w="6350">
            <a:solidFill>
              <a:schemeClr val="accent6"/>
            </a:solidFill>
            <a:prstDash val="solid"/>
          </a:ln>
        </p:spPr>
      </p:sp>
      <p:sp>
        <p:nvSpPr>
          <p:cNvPr id="27" name="Text 25"/>
          <p:cNvSpPr txBox="1"/>
          <p:nvPr/>
        </p:nvSpPr>
        <p:spPr>
          <a:xfrm>
            <a:off x="3063240" y="1783080"/>
            <a:ext cx="457200" cy="457200"/>
          </a:xfrm>
          <a:prstGeom prst="rect">
            <a:avLst/>
          </a:prstGeom>
          <a:noFill/>
          <a:ln/>
        </p:spPr>
        <p:txBody>
          <a:bodyPr wrap="square" lIns="0" tIns="0" rIns="0" bIns="0" rtlCol="0" anchor="ctr"/>
          <a:lstStyle/>
          <a:p>
            <a:pPr marL="0" indent="0" algn="ctr">
              <a:buNone/>
            </a:pPr>
            <a:r>
              <a:rPr lang="en-US" sz="1300" b="1" dirty="0">
                <a:solidFill>
                  <a:schemeClr val="accent4"/>
                </a:solidFill>
                <a:latin typeface="Calibri" pitchFamily="34" charset="0"/>
                <a:ea typeface="Calibri" pitchFamily="34" charset="-122"/>
                <a:cs typeface="Calibri" pitchFamily="34" charset="-120"/>
              </a:rPr>
              <a:t>0</a:t>
            </a:r>
            <a:endParaRPr lang="en-US" sz="1300" dirty="0"/>
          </a:p>
        </p:txBody>
      </p:sp>
      <p:sp>
        <p:nvSpPr>
          <p:cNvPr id="28" name="g20"/>
          <p:cNvSpPr/>
          <p:nvPr/>
        </p:nvSpPr>
        <p:spPr>
          <a:xfrm>
            <a:off x="548640" y="2286000"/>
            <a:ext cx="457200" cy="457200"/>
          </a:xfrm>
          <a:prstGeom prst="rect">
            <a:avLst/>
          </a:prstGeom>
          <a:solidFill>
            <a:schemeClr val="accent2"/>
          </a:solidFill>
          <a:ln w="6350">
            <a:solidFill>
              <a:schemeClr val="accent6"/>
            </a:solidFill>
            <a:prstDash val="solid"/>
          </a:ln>
        </p:spPr>
      </p:sp>
      <p:sp>
        <p:nvSpPr>
          <p:cNvPr id="29" name="Text 27"/>
          <p:cNvSpPr txBox="1"/>
          <p:nvPr/>
        </p:nvSpPr>
        <p:spPr>
          <a:xfrm>
            <a:off x="548640" y="2286000"/>
            <a:ext cx="457200" cy="457200"/>
          </a:xfrm>
          <a:prstGeom prst="rect">
            <a:avLst/>
          </a:prstGeom>
          <a:noFill/>
          <a:ln/>
        </p:spPr>
        <p:txBody>
          <a:bodyPr wrap="square" lIns="0" tIns="0" rIns="0" bIns="0" rtlCol="0" anchor="ctr"/>
          <a:lstStyle/>
          <a:p>
            <a:pPr marL="0" indent="0" algn="ctr">
              <a:buNone/>
            </a:pPr>
            <a:r>
              <a:rPr lang="en-US" sz="1300" b="1" dirty="0">
                <a:solidFill>
                  <a:schemeClr val="bg1"/>
                </a:solidFill>
                <a:latin typeface="Calibri" pitchFamily="34" charset="0"/>
                <a:ea typeface="Calibri" pitchFamily="34" charset="-122"/>
                <a:cs typeface="Calibri" pitchFamily="34" charset="-120"/>
              </a:rPr>
              <a:t>2</a:t>
            </a:r>
            <a:endParaRPr lang="en-US" sz="1300" dirty="0"/>
          </a:p>
        </p:txBody>
      </p:sp>
      <p:sp>
        <p:nvSpPr>
          <p:cNvPr id="30" name="g21"/>
          <p:cNvSpPr/>
          <p:nvPr/>
        </p:nvSpPr>
        <p:spPr>
          <a:xfrm>
            <a:off x="1051560" y="2286000"/>
            <a:ext cx="457200" cy="457200"/>
          </a:xfrm>
          <a:prstGeom prst="rect">
            <a:avLst/>
          </a:prstGeom>
          <a:solidFill>
            <a:schemeClr val="accent1"/>
          </a:solidFill>
          <a:ln w="6350">
            <a:solidFill>
              <a:schemeClr val="accent6"/>
            </a:solidFill>
            <a:prstDash val="solid"/>
          </a:ln>
        </p:spPr>
      </p:sp>
      <p:sp>
        <p:nvSpPr>
          <p:cNvPr id="31" name="Text 29"/>
          <p:cNvSpPr txBox="1"/>
          <p:nvPr/>
        </p:nvSpPr>
        <p:spPr>
          <a:xfrm>
            <a:off x="1051560" y="2286000"/>
            <a:ext cx="457200" cy="457200"/>
          </a:xfrm>
          <a:prstGeom prst="rect">
            <a:avLst/>
          </a:prstGeom>
          <a:noFill/>
          <a:ln/>
        </p:spPr>
        <p:txBody>
          <a:bodyPr wrap="square" lIns="0" tIns="0" rIns="0" bIns="0" rtlCol="0" anchor="ctr"/>
          <a:lstStyle/>
          <a:p>
            <a:pPr marL="0" indent="0" algn="ctr">
              <a:buNone/>
            </a:pPr>
            <a:r>
              <a:rPr lang="en-US" sz="1300" b="1" dirty="0">
                <a:solidFill>
                  <a:schemeClr val="bg1"/>
                </a:solidFill>
                <a:latin typeface="Calibri" pitchFamily="34" charset="0"/>
                <a:ea typeface="Calibri" pitchFamily="34" charset="-122"/>
                <a:cs typeface="Calibri" pitchFamily="34" charset="-120"/>
              </a:rPr>
              <a:t>1</a:t>
            </a:r>
            <a:endParaRPr lang="en-US" sz="1300" dirty="0"/>
          </a:p>
        </p:txBody>
      </p:sp>
      <p:sp>
        <p:nvSpPr>
          <p:cNvPr id="32" name="g22"/>
          <p:cNvSpPr/>
          <p:nvPr/>
        </p:nvSpPr>
        <p:spPr>
          <a:xfrm>
            <a:off x="1554480" y="2286000"/>
            <a:ext cx="457200" cy="457200"/>
          </a:xfrm>
          <a:prstGeom prst="rect">
            <a:avLst/>
          </a:prstGeom>
          <a:solidFill>
            <a:schemeClr val="accent1"/>
          </a:solidFill>
          <a:ln w="6350">
            <a:solidFill>
              <a:schemeClr val="accent6"/>
            </a:solidFill>
            <a:prstDash val="solid"/>
          </a:ln>
        </p:spPr>
      </p:sp>
      <p:sp>
        <p:nvSpPr>
          <p:cNvPr id="33" name="Text 31"/>
          <p:cNvSpPr txBox="1"/>
          <p:nvPr/>
        </p:nvSpPr>
        <p:spPr>
          <a:xfrm>
            <a:off x="1554480" y="2286000"/>
            <a:ext cx="457200" cy="457200"/>
          </a:xfrm>
          <a:prstGeom prst="rect">
            <a:avLst/>
          </a:prstGeom>
          <a:noFill/>
          <a:ln/>
        </p:spPr>
        <p:txBody>
          <a:bodyPr wrap="square" lIns="0" tIns="0" rIns="0" bIns="0" rtlCol="0" anchor="ctr"/>
          <a:lstStyle/>
          <a:p>
            <a:pPr marL="0" indent="0" algn="ctr">
              <a:buNone/>
            </a:pPr>
            <a:r>
              <a:rPr lang="en-US" sz="1300" b="1" dirty="0">
                <a:solidFill>
                  <a:schemeClr val="bg1"/>
                </a:solidFill>
                <a:latin typeface="Calibri" pitchFamily="34" charset="0"/>
                <a:ea typeface="Calibri" pitchFamily="34" charset="-122"/>
                <a:cs typeface="Calibri" pitchFamily="34" charset="-120"/>
              </a:rPr>
              <a:t>1</a:t>
            </a:r>
            <a:endParaRPr lang="en-US" sz="1300" dirty="0"/>
          </a:p>
        </p:txBody>
      </p:sp>
      <p:sp>
        <p:nvSpPr>
          <p:cNvPr id="34" name="g23"/>
          <p:cNvSpPr/>
          <p:nvPr/>
        </p:nvSpPr>
        <p:spPr>
          <a:xfrm>
            <a:off x="2057400" y="2286000"/>
            <a:ext cx="457200" cy="457200"/>
          </a:xfrm>
          <a:prstGeom prst="rect">
            <a:avLst/>
          </a:prstGeom>
          <a:solidFill>
            <a:schemeClr val="accent2"/>
          </a:solidFill>
          <a:ln w="6350">
            <a:solidFill>
              <a:schemeClr val="accent6"/>
            </a:solidFill>
            <a:prstDash val="solid"/>
          </a:ln>
        </p:spPr>
      </p:sp>
      <p:sp>
        <p:nvSpPr>
          <p:cNvPr id="35" name="Text 33"/>
          <p:cNvSpPr txBox="1"/>
          <p:nvPr/>
        </p:nvSpPr>
        <p:spPr>
          <a:xfrm>
            <a:off x="2057400" y="2286000"/>
            <a:ext cx="457200" cy="457200"/>
          </a:xfrm>
          <a:prstGeom prst="rect">
            <a:avLst/>
          </a:prstGeom>
          <a:noFill/>
          <a:ln/>
        </p:spPr>
        <p:txBody>
          <a:bodyPr wrap="square" lIns="0" tIns="0" rIns="0" bIns="0" rtlCol="0" anchor="ctr"/>
          <a:lstStyle/>
          <a:p>
            <a:pPr marL="0" indent="0" algn="ctr">
              <a:buNone/>
            </a:pPr>
            <a:r>
              <a:rPr lang="en-US" sz="1300" b="1" dirty="0">
                <a:solidFill>
                  <a:schemeClr val="bg1"/>
                </a:solidFill>
                <a:latin typeface="Calibri" pitchFamily="34" charset="0"/>
                <a:ea typeface="Calibri" pitchFamily="34" charset="-122"/>
                <a:cs typeface="Calibri" pitchFamily="34" charset="-120"/>
              </a:rPr>
              <a:t>2</a:t>
            </a:r>
            <a:endParaRPr lang="en-US" sz="1300" dirty="0"/>
          </a:p>
        </p:txBody>
      </p:sp>
      <p:sp>
        <p:nvSpPr>
          <p:cNvPr id="36" name="g24"/>
          <p:cNvSpPr/>
          <p:nvPr/>
        </p:nvSpPr>
        <p:spPr>
          <a:xfrm>
            <a:off x="2560320" y="2286000"/>
            <a:ext cx="457200" cy="457200"/>
          </a:xfrm>
          <a:prstGeom prst="rect">
            <a:avLst/>
          </a:prstGeom>
          <a:solidFill>
            <a:schemeClr val="accent1"/>
          </a:solidFill>
          <a:ln w="6350">
            <a:solidFill>
              <a:schemeClr val="accent6"/>
            </a:solidFill>
            <a:prstDash val="solid"/>
          </a:ln>
        </p:spPr>
      </p:sp>
      <p:sp>
        <p:nvSpPr>
          <p:cNvPr id="37" name="Text 35"/>
          <p:cNvSpPr txBox="1"/>
          <p:nvPr/>
        </p:nvSpPr>
        <p:spPr>
          <a:xfrm>
            <a:off x="2560320" y="2286000"/>
            <a:ext cx="457200" cy="457200"/>
          </a:xfrm>
          <a:prstGeom prst="rect">
            <a:avLst/>
          </a:prstGeom>
          <a:noFill/>
          <a:ln/>
        </p:spPr>
        <p:txBody>
          <a:bodyPr wrap="square" lIns="0" tIns="0" rIns="0" bIns="0" rtlCol="0" anchor="ctr"/>
          <a:lstStyle/>
          <a:p>
            <a:pPr marL="0" indent="0" algn="ctr">
              <a:buNone/>
            </a:pPr>
            <a:r>
              <a:rPr lang="en-US" sz="1300" b="1" dirty="0">
                <a:solidFill>
                  <a:schemeClr val="bg1"/>
                </a:solidFill>
                <a:latin typeface="Calibri" pitchFamily="34" charset="0"/>
                <a:ea typeface="Calibri" pitchFamily="34" charset="-122"/>
                <a:cs typeface="Calibri" pitchFamily="34" charset="-120"/>
              </a:rPr>
              <a:t>1</a:t>
            </a:r>
            <a:endParaRPr lang="en-US" sz="1300" dirty="0"/>
          </a:p>
        </p:txBody>
      </p:sp>
      <p:sp>
        <p:nvSpPr>
          <p:cNvPr id="38" name="g25"/>
          <p:cNvSpPr/>
          <p:nvPr/>
        </p:nvSpPr>
        <p:spPr>
          <a:xfrm>
            <a:off x="3063240" y="2286000"/>
            <a:ext cx="457200" cy="457200"/>
          </a:xfrm>
          <a:prstGeom prst="rect">
            <a:avLst/>
          </a:prstGeom>
          <a:solidFill>
            <a:schemeClr val="accent2"/>
          </a:solidFill>
          <a:ln w="6350">
            <a:solidFill>
              <a:schemeClr val="accent6"/>
            </a:solidFill>
            <a:prstDash val="solid"/>
          </a:ln>
        </p:spPr>
      </p:sp>
      <p:sp>
        <p:nvSpPr>
          <p:cNvPr id="39" name="Text 37"/>
          <p:cNvSpPr txBox="1"/>
          <p:nvPr/>
        </p:nvSpPr>
        <p:spPr>
          <a:xfrm>
            <a:off x="3063240" y="2286000"/>
            <a:ext cx="457200" cy="457200"/>
          </a:xfrm>
          <a:prstGeom prst="rect">
            <a:avLst/>
          </a:prstGeom>
          <a:noFill/>
          <a:ln/>
        </p:spPr>
        <p:txBody>
          <a:bodyPr wrap="square" lIns="0" tIns="0" rIns="0" bIns="0" rtlCol="0" anchor="ctr"/>
          <a:lstStyle/>
          <a:p>
            <a:pPr marL="0" indent="0" algn="ctr">
              <a:buNone/>
            </a:pPr>
            <a:r>
              <a:rPr lang="en-US" sz="1300" b="1" dirty="0">
                <a:solidFill>
                  <a:schemeClr val="bg1"/>
                </a:solidFill>
                <a:latin typeface="Calibri" pitchFamily="34" charset="0"/>
                <a:ea typeface="Calibri" pitchFamily="34" charset="-122"/>
                <a:cs typeface="Calibri" pitchFamily="34" charset="-120"/>
              </a:rPr>
              <a:t>2</a:t>
            </a:r>
            <a:endParaRPr lang="en-US" sz="1300" dirty="0"/>
          </a:p>
        </p:txBody>
      </p:sp>
      <p:sp>
        <p:nvSpPr>
          <p:cNvPr id="40" name="g30"/>
          <p:cNvSpPr/>
          <p:nvPr/>
        </p:nvSpPr>
        <p:spPr>
          <a:xfrm>
            <a:off x="548640" y="2788920"/>
            <a:ext cx="457200" cy="457200"/>
          </a:xfrm>
          <a:prstGeom prst="rect">
            <a:avLst/>
          </a:prstGeom>
          <a:solidFill>
            <a:schemeClr val="bg2"/>
          </a:solidFill>
          <a:ln w="6350">
            <a:solidFill>
              <a:schemeClr val="accent6"/>
            </a:solidFill>
            <a:prstDash val="solid"/>
          </a:ln>
        </p:spPr>
      </p:sp>
      <p:sp>
        <p:nvSpPr>
          <p:cNvPr id="41" name="Text 39"/>
          <p:cNvSpPr txBox="1"/>
          <p:nvPr/>
        </p:nvSpPr>
        <p:spPr>
          <a:xfrm>
            <a:off x="548640" y="2788920"/>
            <a:ext cx="457200" cy="457200"/>
          </a:xfrm>
          <a:prstGeom prst="rect">
            <a:avLst/>
          </a:prstGeom>
          <a:noFill/>
          <a:ln/>
        </p:spPr>
        <p:txBody>
          <a:bodyPr wrap="square" lIns="0" tIns="0" rIns="0" bIns="0" rtlCol="0" anchor="ctr"/>
          <a:lstStyle/>
          <a:p>
            <a:pPr marL="0" indent="0" algn="ctr">
              <a:buNone/>
            </a:pPr>
            <a:r>
              <a:rPr lang="en-US" sz="1300" b="1" dirty="0">
                <a:solidFill>
                  <a:schemeClr val="accent4"/>
                </a:solidFill>
                <a:latin typeface="Calibri" pitchFamily="34" charset="0"/>
                <a:ea typeface="Calibri" pitchFamily="34" charset="-122"/>
                <a:cs typeface="Calibri" pitchFamily="34" charset="-120"/>
              </a:rPr>
              <a:t>0</a:t>
            </a:r>
            <a:endParaRPr lang="en-US" sz="1300" dirty="0"/>
          </a:p>
        </p:txBody>
      </p:sp>
      <p:sp>
        <p:nvSpPr>
          <p:cNvPr id="42" name="g31"/>
          <p:cNvSpPr/>
          <p:nvPr/>
        </p:nvSpPr>
        <p:spPr>
          <a:xfrm>
            <a:off x="1051560" y="2788920"/>
            <a:ext cx="457200" cy="457200"/>
          </a:xfrm>
          <a:prstGeom prst="rect">
            <a:avLst/>
          </a:prstGeom>
          <a:solidFill>
            <a:schemeClr val="accent1"/>
          </a:solidFill>
          <a:ln w="6350">
            <a:solidFill>
              <a:schemeClr val="accent6"/>
            </a:solidFill>
            <a:prstDash val="solid"/>
          </a:ln>
        </p:spPr>
      </p:sp>
      <p:sp>
        <p:nvSpPr>
          <p:cNvPr id="43" name="Text 41"/>
          <p:cNvSpPr txBox="1"/>
          <p:nvPr/>
        </p:nvSpPr>
        <p:spPr>
          <a:xfrm>
            <a:off x="1051560" y="2788920"/>
            <a:ext cx="457200" cy="457200"/>
          </a:xfrm>
          <a:prstGeom prst="rect">
            <a:avLst/>
          </a:prstGeom>
          <a:noFill/>
          <a:ln/>
        </p:spPr>
        <p:txBody>
          <a:bodyPr wrap="square" lIns="0" tIns="0" rIns="0" bIns="0" rtlCol="0" anchor="ctr"/>
          <a:lstStyle/>
          <a:p>
            <a:pPr marL="0" indent="0" algn="ctr">
              <a:buNone/>
            </a:pPr>
            <a:r>
              <a:rPr lang="en-US" sz="1300" b="1" dirty="0">
                <a:solidFill>
                  <a:schemeClr val="bg1"/>
                </a:solidFill>
                <a:latin typeface="Calibri" pitchFamily="34" charset="0"/>
                <a:ea typeface="Calibri" pitchFamily="34" charset="-122"/>
                <a:cs typeface="Calibri" pitchFamily="34" charset="-120"/>
              </a:rPr>
              <a:t>1</a:t>
            </a:r>
            <a:endParaRPr lang="en-US" sz="1300" dirty="0"/>
          </a:p>
        </p:txBody>
      </p:sp>
      <p:sp>
        <p:nvSpPr>
          <p:cNvPr id="44" name="g32"/>
          <p:cNvSpPr/>
          <p:nvPr/>
        </p:nvSpPr>
        <p:spPr>
          <a:xfrm>
            <a:off x="1554480" y="2788920"/>
            <a:ext cx="457200" cy="457200"/>
          </a:xfrm>
          <a:prstGeom prst="rect">
            <a:avLst/>
          </a:prstGeom>
          <a:solidFill>
            <a:schemeClr val="accent2"/>
          </a:solidFill>
          <a:ln w="6350">
            <a:solidFill>
              <a:schemeClr val="accent6"/>
            </a:solidFill>
            <a:prstDash val="solid"/>
          </a:ln>
        </p:spPr>
      </p:sp>
      <p:sp>
        <p:nvSpPr>
          <p:cNvPr id="45" name="Text 43"/>
          <p:cNvSpPr txBox="1"/>
          <p:nvPr/>
        </p:nvSpPr>
        <p:spPr>
          <a:xfrm>
            <a:off x="1554480" y="2788920"/>
            <a:ext cx="457200" cy="457200"/>
          </a:xfrm>
          <a:prstGeom prst="rect">
            <a:avLst/>
          </a:prstGeom>
          <a:noFill/>
          <a:ln/>
        </p:spPr>
        <p:txBody>
          <a:bodyPr wrap="square" lIns="0" tIns="0" rIns="0" bIns="0" rtlCol="0" anchor="ctr"/>
          <a:lstStyle/>
          <a:p>
            <a:pPr marL="0" indent="0" algn="ctr">
              <a:buNone/>
            </a:pPr>
            <a:r>
              <a:rPr lang="en-US" sz="1300" b="1" dirty="0">
                <a:solidFill>
                  <a:schemeClr val="bg1"/>
                </a:solidFill>
                <a:latin typeface="Calibri" pitchFamily="34" charset="0"/>
                <a:ea typeface="Calibri" pitchFamily="34" charset="-122"/>
                <a:cs typeface="Calibri" pitchFamily="34" charset="-120"/>
              </a:rPr>
              <a:t>2</a:t>
            </a:r>
            <a:endParaRPr lang="en-US" sz="1300" dirty="0"/>
          </a:p>
        </p:txBody>
      </p:sp>
      <p:sp>
        <p:nvSpPr>
          <p:cNvPr id="46" name="g33"/>
          <p:cNvSpPr/>
          <p:nvPr/>
        </p:nvSpPr>
        <p:spPr>
          <a:xfrm>
            <a:off x="2057400" y="2788920"/>
            <a:ext cx="457200" cy="457200"/>
          </a:xfrm>
          <a:prstGeom prst="rect">
            <a:avLst/>
          </a:prstGeom>
          <a:solidFill>
            <a:schemeClr val="accent2"/>
          </a:solidFill>
          <a:ln w="6350">
            <a:solidFill>
              <a:schemeClr val="accent6"/>
            </a:solidFill>
            <a:prstDash val="solid"/>
          </a:ln>
        </p:spPr>
      </p:sp>
      <p:sp>
        <p:nvSpPr>
          <p:cNvPr id="47" name="Text 45"/>
          <p:cNvSpPr txBox="1"/>
          <p:nvPr/>
        </p:nvSpPr>
        <p:spPr>
          <a:xfrm>
            <a:off x="2057400" y="2788920"/>
            <a:ext cx="457200" cy="457200"/>
          </a:xfrm>
          <a:prstGeom prst="rect">
            <a:avLst/>
          </a:prstGeom>
          <a:noFill/>
          <a:ln/>
        </p:spPr>
        <p:txBody>
          <a:bodyPr wrap="square" lIns="0" tIns="0" rIns="0" bIns="0" rtlCol="0" anchor="ctr"/>
          <a:lstStyle/>
          <a:p>
            <a:pPr marL="0" indent="0" algn="ctr">
              <a:buNone/>
            </a:pPr>
            <a:r>
              <a:rPr lang="en-US" sz="1300" b="1" dirty="0">
                <a:solidFill>
                  <a:schemeClr val="bg1"/>
                </a:solidFill>
                <a:latin typeface="Calibri" pitchFamily="34" charset="0"/>
                <a:ea typeface="Calibri" pitchFamily="34" charset="-122"/>
                <a:cs typeface="Calibri" pitchFamily="34" charset="-120"/>
              </a:rPr>
              <a:t>2</a:t>
            </a:r>
            <a:endParaRPr lang="en-US" sz="1300" dirty="0"/>
          </a:p>
        </p:txBody>
      </p:sp>
      <p:sp>
        <p:nvSpPr>
          <p:cNvPr id="48" name="g34"/>
          <p:cNvSpPr/>
          <p:nvPr/>
        </p:nvSpPr>
        <p:spPr>
          <a:xfrm>
            <a:off x="2560320" y="2788920"/>
            <a:ext cx="457200" cy="457200"/>
          </a:xfrm>
          <a:prstGeom prst="rect">
            <a:avLst/>
          </a:prstGeom>
          <a:solidFill>
            <a:schemeClr val="accent1"/>
          </a:solidFill>
          <a:ln w="6350">
            <a:solidFill>
              <a:schemeClr val="accent6"/>
            </a:solidFill>
            <a:prstDash val="solid"/>
          </a:ln>
        </p:spPr>
      </p:sp>
      <p:sp>
        <p:nvSpPr>
          <p:cNvPr id="49" name="Text 47"/>
          <p:cNvSpPr txBox="1"/>
          <p:nvPr/>
        </p:nvSpPr>
        <p:spPr>
          <a:xfrm>
            <a:off x="2560320" y="2788920"/>
            <a:ext cx="457200" cy="457200"/>
          </a:xfrm>
          <a:prstGeom prst="rect">
            <a:avLst/>
          </a:prstGeom>
          <a:noFill/>
          <a:ln/>
        </p:spPr>
        <p:txBody>
          <a:bodyPr wrap="square" lIns="0" tIns="0" rIns="0" bIns="0" rtlCol="0" anchor="ctr"/>
          <a:lstStyle/>
          <a:p>
            <a:pPr marL="0" indent="0" algn="ctr">
              <a:buNone/>
            </a:pPr>
            <a:r>
              <a:rPr lang="en-US" sz="1300" b="1" dirty="0">
                <a:solidFill>
                  <a:schemeClr val="bg1"/>
                </a:solidFill>
                <a:latin typeface="Calibri" pitchFamily="34" charset="0"/>
                <a:ea typeface="Calibri" pitchFamily="34" charset="-122"/>
                <a:cs typeface="Calibri" pitchFamily="34" charset="-120"/>
              </a:rPr>
              <a:t>1</a:t>
            </a:r>
            <a:endParaRPr lang="en-US" sz="1300" dirty="0"/>
          </a:p>
        </p:txBody>
      </p:sp>
      <p:sp>
        <p:nvSpPr>
          <p:cNvPr id="50" name="g35"/>
          <p:cNvSpPr/>
          <p:nvPr/>
        </p:nvSpPr>
        <p:spPr>
          <a:xfrm>
            <a:off x="3063240" y="2788920"/>
            <a:ext cx="457200" cy="457200"/>
          </a:xfrm>
          <a:prstGeom prst="rect">
            <a:avLst/>
          </a:prstGeom>
          <a:solidFill>
            <a:schemeClr val="bg2"/>
          </a:solidFill>
          <a:ln w="6350">
            <a:solidFill>
              <a:schemeClr val="accent6"/>
            </a:solidFill>
            <a:prstDash val="solid"/>
          </a:ln>
        </p:spPr>
      </p:sp>
      <p:sp>
        <p:nvSpPr>
          <p:cNvPr id="51" name="Text 49"/>
          <p:cNvSpPr txBox="1"/>
          <p:nvPr/>
        </p:nvSpPr>
        <p:spPr>
          <a:xfrm>
            <a:off x="3063240" y="2788920"/>
            <a:ext cx="457200" cy="457200"/>
          </a:xfrm>
          <a:prstGeom prst="rect">
            <a:avLst/>
          </a:prstGeom>
          <a:noFill/>
          <a:ln/>
        </p:spPr>
        <p:txBody>
          <a:bodyPr wrap="square" lIns="0" tIns="0" rIns="0" bIns="0" rtlCol="0" anchor="ctr"/>
          <a:lstStyle/>
          <a:p>
            <a:pPr marL="0" indent="0" algn="ctr">
              <a:buNone/>
            </a:pPr>
            <a:r>
              <a:rPr lang="en-US" sz="1300" b="1" dirty="0">
                <a:solidFill>
                  <a:schemeClr val="accent4"/>
                </a:solidFill>
                <a:latin typeface="Calibri" pitchFamily="34" charset="0"/>
                <a:ea typeface="Calibri" pitchFamily="34" charset="-122"/>
                <a:cs typeface="Calibri" pitchFamily="34" charset="-120"/>
              </a:rPr>
              <a:t>0</a:t>
            </a:r>
            <a:endParaRPr lang="en-US" sz="1300" dirty="0"/>
          </a:p>
        </p:txBody>
      </p:sp>
      <p:sp>
        <p:nvSpPr>
          <p:cNvPr id="52" name="Text 50"/>
          <p:cNvSpPr txBox="1"/>
          <p:nvPr/>
        </p:nvSpPr>
        <p:spPr>
          <a:xfrm>
            <a:off x="457200" y="3383280"/>
            <a:ext cx="3566160" cy="274320"/>
          </a:xfrm>
          <a:prstGeom prst="rect">
            <a:avLst/>
          </a:prstGeom>
          <a:noFill/>
          <a:ln/>
        </p:spPr>
        <p:txBody>
          <a:bodyPr wrap="square" lIns="0" tIns="0" rIns="0" bIns="0" rtlCol="0" anchor="t"/>
          <a:lstStyle/>
          <a:p>
            <a:pPr marL="0" indent="0">
              <a:buNone/>
            </a:pPr>
            <a:r>
              <a:rPr lang="en-US" sz="1100" b="1" dirty="0">
                <a:solidFill>
                  <a:schemeClr val="accent4"/>
                </a:solidFill>
                <a:latin typeface="Calibri" pitchFamily="34" charset="0"/>
                <a:ea typeface="Calibri" pitchFamily="34" charset="-122"/>
                <a:cs typeface="Calibri" pitchFamily="34" charset="-120"/>
              </a:rPr>
              <a:t>0 </a:t>
            </a:r>
            <a:r>
              <a:rPr lang="en-US" sz="1100" dirty="0">
                <a:solidFill>
                  <a:schemeClr val="tx2"/>
                </a:solidFill>
                <a:latin typeface="Calibri" pitchFamily="34" charset="0"/>
                <a:ea typeface="Calibri" pitchFamily="34" charset="-122"/>
                <a:cs typeface="Calibri" pitchFamily="34" charset="-120"/>
              </a:rPr>
              <a:t>empty   </a:t>
            </a:r>
            <a:r>
              <a:rPr lang="en-US" sz="1100" b="1" dirty="0">
                <a:solidFill>
                  <a:schemeClr val="accent1"/>
                </a:solidFill>
                <a:latin typeface="Calibri" pitchFamily="34" charset="0"/>
                <a:ea typeface="Calibri" pitchFamily="34" charset="-122"/>
                <a:cs typeface="Calibri" pitchFamily="34" charset="-120"/>
              </a:rPr>
              <a:t>1 </a:t>
            </a:r>
            <a:r>
              <a:rPr lang="en-US" sz="1100" dirty="0">
                <a:solidFill>
                  <a:schemeClr val="tx2"/>
                </a:solidFill>
                <a:latin typeface="Calibri" pitchFamily="34" charset="0"/>
                <a:ea typeface="Calibri" pitchFamily="34" charset="-122"/>
                <a:cs typeface="Calibri" pitchFamily="34" charset="-120"/>
              </a:rPr>
              <a:t>passive (TPU)   </a:t>
            </a:r>
            <a:r>
              <a:rPr lang="en-US" sz="1100" b="1" dirty="0">
                <a:solidFill>
                  <a:schemeClr val="accent2"/>
                </a:solidFill>
                <a:latin typeface="Calibri" pitchFamily="34" charset="0"/>
                <a:ea typeface="Calibri" pitchFamily="34" charset="-122"/>
                <a:cs typeface="Calibri" pitchFamily="34" charset="-120"/>
              </a:rPr>
              <a:t>2 </a:t>
            </a:r>
            <a:r>
              <a:rPr lang="en-US" sz="1100" dirty="0">
                <a:solidFill>
                  <a:schemeClr val="tx2"/>
                </a:solidFill>
                <a:latin typeface="Calibri" pitchFamily="34" charset="0"/>
                <a:ea typeface="Calibri" pitchFamily="34" charset="-122"/>
                <a:cs typeface="Calibri" pitchFamily="34" charset="-120"/>
              </a:rPr>
              <a:t>active (SMP)</a:t>
            </a:r>
            <a:endParaRPr lang="en-US" sz="1100" dirty="0"/>
          </a:p>
        </p:txBody>
      </p:sp>
      <p:sp>
        <p:nvSpPr>
          <p:cNvPr id="53" name="Text 51"/>
          <p:cNvSpPr txBox="1"/>
          <p:nvPr/>
        </p:nvSpPr>
        <p:spPr>
          <a:xfrm>
            <a:off x="457200" y="3794760"/>
            <a:ext cx="3566160" cy="548640"/>
          </a:xfrm>
          <a:prstGeom prst="rect">
            <a:avLst/>
          </a:prstGeom>
          <a:noFill/>
          <a:ln/>
        </p:spPr>
        <p:txBody>
          <a:bodyPr wrap="square" lIns="0" tIns="0" rIns="0" bIns="0" rtlCol="0" anchor="t"/>
          <a:lstStyle/>
          <a:p>
            <a:pPr marL="0" indent="0">
              <a:buNone/>
            </a:pPr>
            <a:r>
              <a:rPr lang="en-US" sz="1200" b="1" dirty="0">
                <a:solidFill>
                  <a:schemeClr val="tx2"/>
                </a:solidFill>
                <a:latin typeface="Calibri" pitchFamily="34" charset="0"/>
                <a:ea typeface="Calibri" pitchFamily="34" charset="-122"/>
                <a:cs typeface="Calibri" pitchFamily="34" charset="-120"/>
              </a:rPr>
              <a:t>Grid → ResNet (5 residual blocks) → predicted deformation</a:t>
            </a:r>
            <a:endParaRPr lang="en-US" sz="1200" dirty="0"/>
          </a:p>
        </p:txBody>
      </p:sp>
      <p:sp>
        <p:nvSpPr>
          <p:cNvPr id="54" name="Text 52"/>
          <p:cNvSpPr txBox="1"/>
          <p:nvPr/>
        </p:nvSpPr>
        <p:spPr>
          <a:xfrm>
            <a:off x="457200" y="4389120"/>
            <a:ext cx="3566160" cy="201168"/>
          </a:xfrm>
          <a:prstGeom prst="rect">
            <a:avLst/>
          </a:prstGeom>
          <a:noFill/>
          <a:ln/>
        </p:spPr>
        <p:txBody>
          <a:bodyPr wrap="square" lIns="0" tIns="0" rIns="0" bIns="0" rtlCol="0" anchor="t"/>
          <a:lstStyle/>
          <a:p>
            <a:pPr marL="0" indent="0">
              <a:buNone/>
            </a:pPr>
            <a:r>
              <a:rPr lang="en-US" sz="900" i="1" dirty="0">
                <a:solidFill>
                  <a:schemeClr val="accent4"/>
                </a:solidFill>
                <a:latin typeface="Calibri" pitchFamily="34" charset="0"/>
                <a:ea typeface="Calibri" pitchFamily="34" charset="-122"/>
                <a:cs typeface="Calibri" pitchFamily="34" charset="-120"/>
              </a:rPr>
              <a:t>Illustrative grid</a:t>
            </a:r>
            <a:endParaRPr lang="en-US" sz="9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297680" y="1234440"/>
          <a:ext cx="4389120" cy="914400"/>
        </p:xfrm>
        <a:graphic>
          <a:graphicData uri="http://schemas.openxmlformats.org/drawingml/2006/table">
            <a:tbl>
              <a:tblPr/>
              <a:tblGrid>
                <a:gridCol w="118872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tblGrid>
              <a:tr h="384048">
                <a:tc>
                  <a:txBody>
                    <a:bodyPr/>
                    <a:lstStyle/>
                    <a:p>
                      <a:pPr marL="0" indent="0">
                        <a:buNone/>
                      </a:pPr>
                      <a:r>
                        <a:rPr lang="en-US" sz="1200" b="1" dirty="0">
                          <a:solidFill>
                            <a:schemeClr val="bg1"/>
                          </a:solidFill>
                          <a:latin typeface="Calibri" pitchFamily="34" charset="0"/>
                          <a:ea typeface="Calibri" pitchFamily="34" charset="-122"/>
                          <a:cs typeface="Calibri" pitchFamily="34" charset="-120"/>
                        </a:rPr>
                        <a:t>Search step</a:t>
                      </a:r>
                      <a:endParaRPr lang="en-US" sz="1200" dirty="0">
                        <a:latin typeface="Calibri" charset="0"/>
                        <a:ea typeface="Calibri" charset="0"/>
                        <a:cs typeface="Calibri" charset="0"/>
                      </a:endParaRPr>
                    </a:p>
                  </a:txBody>
                  <a:tcPr marT="27432" marB="2743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latin typeface="Calibri" pitchFamily="34" charset="0"/>
                          <a:ea typeface="Calibri" pitchFamily="34" charset="-122"/>
                          <a:cs typeface="Calibri" pitchFamily="34" charset="-120"/>
                        </a:rPr>
                        <a:t>Jin et al. setting</a:t>
                      </a:r>
                      <a:endParaRPr lang="en-US" sz="1200" dirty="0">
                        <a:latin typeface="Calibri" charset="0"/>
                        <a:ea typeface="Calibri" charset="0"/>
                        <a:cs typeface="Calibri" charset="0"/>
                      </a:endParaRPr>
                    </a:p>
                  </a:txBody>
                  <a:tcPr marT="27432" marB="2743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84048">
                <a:tc>
                  <a:txBody>
                    <a:bodyPr/>
                    <a:lstStyle/>
                    <a:p>
                      <a:pPr marL="0" indent="0">
                        <a:buNone/>
                      </a:pPr>
                      <a:r>
                        <a:rPr lang="en-US" sz="1200" b="1" dirty="0">
                          <a:solidFill>
                            <a:schemeClr val="accent1"/>
                          </a:solidFill>
                          <a:latin typeface="Calibri" pitchFamily="34" charset="0"/>
                          <a:ea typeface="Calibri" pitchFamily="34" charset="-122"/>
                          <a:cs typeface="Calibri" pitchFamily="34" charset="-120"/>
                        </a:rPr>
                        <a:t>Start</a:t>
                      </a:r>
                      <a:endParaRPr lang="en-US" sz="1200" dirty="0">
                        <a:latin typeface="Calibri" charset="0"/>
                        <a:ea typeface="Calibri" charset="0"/>
                        <a:cs typeface="Calibri" charset="0"/>
                      </a:endParaRPr>
                    </a:p>
                  </a:txBody>
                  <a:tcPr marT="27432" marB="2743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5,000 random layouts</a:t>
                      </a:r>
                      <a:endParaRPr lang="en-US" sz="1200" dirty="0">
                        <a:latin typeface="Calibri" charset="0"/>
                        <a:ea typeface="Calibri" charset="0"/>
                        <a:cs typeface="Calibri" charset="0"/>
                      </a:endParaRPr>
                    </a:p>
                  </a:txBody>
                  <a:tcPr marT="27432" marB="2743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84048">
                <a:tc>
                  <a:txBody>
                    <a:bodyPr/>
                    <a:lstStyle/>
                    <a:p>
                      <a:pPr marL="0" indent="0">
                        <a:buNone/>
                      </a:pPr>
                      <a:r>
                        <a:rPr lang="en-US" sz="1200" b="1" dirty="0">
                          <a:solidFill>
                            <a:schemeClr val="accent1"/>
                          </a:solidFill>
                          <a:latin typeface="Calibri" pitchFamily="34" charset="0"/>
                          <a:ea typeface="Calibri" pitchFamily="34" charset="-122"/>
                          <a:cs typeface="Calibri" pitchFamily="34" charset="-120"/>
                        </a:rPr>
                        <a:t>Score</a:t>
                      </a:r>
                      <a:endParaRPr lang="en-US" sz="1200" dirty="0">
                        <a:latin typeface="Calibri" charset="0"/>
                        <a:ea typeface="Calibri" charset="0"/>
                        <a:cs typeface="Calibri" charset="0"/>
                      </a:endParaRPr>
                    </a:p>
                  </a:txBody>
                  <a:tcPr marT="27432" marB="2743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RMSE: predicted vs. target coordinates</a:t>
                      </a:r>
                      <a:endParaRPr lang="en-US" sz="1200" dirty="0">
                        <a:latin typeface="Calibri" charset="0"/>
                        <a:ea typeface="Calibri" charset="0"/>
                        <a:cs typeface="Calibri" charset="0"/>
                      </a:endParaRPr>
                    </a:p>
                  </a:txBody>
                  <a:tcPr marT="27432" marB="2743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384048">
                <a:tc>
                  <a:txBody>
                    <a:bodyPr/>
                    <a:lstStyle/>
                    <a:p>
                      <a:pPr marL="0" indent="0">
                        <a:buNone/>
                      </a:pPr>
                      <a:r>
                        <a:rPr lang="en-US" sz="1200" b="1" dirty="0">
                          <a:solidFill>
                            <a:schemeClr val="accent1"/>
                          </a:solidFill>
                          <a:latin typeface="Calibri" pitchFamily="34" charset="0"/>
                          <a:ea typeface="Calibri" pitchFamily="34" charset="-122"/>
                          <a:cs typeface="Calibri" pitchFamily="34" charset="-120"/>
                        </a:rPr>
                        <a:t>Keep</a:t>
                      </a:r>
                      <a:endParaRPr lang="en-US" sz="1200" dirty="0">
                        <a:latin typeface="Calibri" charset="0"/>
                        <a:ea typeface="Calibri" charset="0"/>
                        <a:cs typeface="Calibri" charset="0"/>
                      </a:endParaRPr>
                    </a:p>
                  </a:txBody>
                  <a:tcPr marT="27432" marB="2743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top 10% (elites)</a:t>
                      </a:r>
                      <a:endParaRPr lang="en-US" sz="1200" dirty="0">
                        <a:latin typeface="Calibri" charset="0"/>
                        <a:ea typeface="Calibri" charset="0"/>
                        <a:cs typeface="Calibri" charset="0"/>
                      </a:endParaRPr>
                    </a:p>
                  </a:txBody>
                  <a:tcPr marT="27432" marB="2743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84048">
                <a:tc>
                  <a:txBody>
                    <a:bodyPr/>
                    <a:lstStyle/>
                    <a:p>
                      <a:pPr marL="0" indent="0">
                        <a:buNone/>
                      </a:pPr>
                      <a:r>
                        <a:rPr lang="en-US" sz="1200" b="1" dirty="0">
                          <a:solidFill>
                            <a:schemeClr val="accent1"/>
                          </a:solidFill>
                          <a:latin typeface="Calibri" pitchFamily="34" charset="0"/>
                          <a:ea typeface="Calibri" pitchFamily="34" charset="-122"/>
                          <a:cs typeface="Calibri" pitchFamily="34" charset="-120"/>
                        </a:rPr>
                        <a:t>Mix</a:t>
                      </a:r>
                      <a:endParaRPr lang="en-US" sz="1200" dirty="0">
                        <a:latin typeface="Calibri" charset="0"/>
                        <a:ea typeface="Calibri" charset="0"/>
                        <a:cs typeface="Calibri" charset="0"/>
                      </a:endParaRPr>
                    </a:p>
                  </a:txBody>
                  <a:tcPr marT="27432" marB="2743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70% two-point column crossover</a:t>
                      </a:r>
                      <a:endParaRPr lang="en-US" sz="1200" dirty="0">
                        <a:latin typeface="Calibri" charset="0"/>
                        <a:ea typeface="Calibri" charset="0"/>
                        <a:cs typeface="Calibri" charset="0"/>
                      </a:endParaRPr>
                    </a:p>
                  </a:txBody>
                  <a:tcPr marT="27432" marB="2743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384048">
                <a:tc>
                  <a:txBody>
                    <a:bodyPr/>
                    <a:lstStyle/>
                    <a:p>
                      <a:pPr marL="0" indent="0">
                        <a:buNone/>
                      </a:pPr>
                      <a:r>
                        <a:rPr lang="en-US" sz="1200" b="1" dirty="0">
                          <a:solidFill>
                            <a:schemeClr val="accent1"/>
                          </a:solidFill>
                          <a:latin typeface="Calibri" pitchFamily="34" charset="0"/>
                          <a:ea typeface="Calibri" pitchFamily="34" charset="-122"/>
                          <a:cs typeface="Calibri" pitchFamily="34" charset="-120"/>
                        </a:rPr>
                        <a:t>Mutate</a:t>
                      </a:r>
                      <a:endParaRPr lang="en-US" sz="1200" dirty="0">
                        <a:latin typeface="Calibri" charset="0"/>
                        <a:ea typeface="Calibri" charset="0"/>
                        <a:cs typeface="Calibri" charset="0"/>
                      </a:endParaRPr>
                    </a:p>
                  </a:txBody>
                  <a:tcPr marT="27432" marB="2743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20% random column flip (1 ↔ 2)</a:t>
                      </a:r>
                      <a:endParaRPr lang="en-US" sz="1200" dirty="0">
                        <a:latin typeface="Calibri" charset="0"/>
                        <a:ea typeface="Calibri" charset="0"/>
                        <a:cs typeface="Calibri" charset="0"/>
                      </a:endParaRPr>
                    </a:p>
                  </a:txBody>
                  <a:tcPr marT="27432" marB="2743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
        <p:nvSpPr>
          <p:cNvPr id="56" name="jin-why"/>
          <p:cNvSpPr/>
          <p:nvPr/>
        </p:nvSpPr>
        <p:spPr>
          <a:xfrm>
            <a:off x="4297680" y="3749040"/>
            <a:ext cx="4389120" cy="868680"/>
          </a:xfrm>
          <a:prstGeom prst="roundRect">
            <a:avLst>
              <a:gd name="adj" fmla="val 8421"/>
            </a:avLst>
          </a:prstGeom>
          <a:solidFill>
            <a:schemeClr val="bg2"/>
          </a:solidFill>
          <a:ln w="12700">
            <a:solidFill>
              <a:schemeClr val="bg2"/>
            </a:solidFill>
            <a:prstDash val="solid"/>
          </a:ln>
        </p:spPr>
      </p:sp>
      <p:sp>
        <p:nvSpPr>
          <p:cNvPr id="57" name="Text 54"/>
          <p:cNvSpPr txBox="1"/>
          <p:nvPr/>
        </p:nvSpPr>
        <p:spPr>
          <a:xfrm>
            <a:off x="4480560" y="3749040"/>
            <a:ext cx="4023360" cy="868680"/>
          </a:xfrm>
          <a:prstGeom prst="rect">
            <a:avLst/>
          </a:prstGeom>
          <a:noFill/>
          <a:ln/>
        </p:spPr>
        <p:txBody>
          <a:bodyPr wrap="square" lIns="0" tIns="0" rIns="0" bIns="0" rtlCol="0" anchor="ctr"/>
          <a:lstStyle/>
          <a:p>
            <a:pPr marL="0" indent="0">
              <a:buNone/>
            </a:pPr>
            <a:r>
              <a:rPr lang="en-US" sz="1250" b="1" dirty="0">
                <a:solidFill>
                  <a:schemeClr val="tx2"/>
                </a:solidFill>
                <a:latin typeface="Calibri" pitchFamily="34" charset="0"/>
                <a:ea typeface="Calibri" pitchFamily="34" charset="-122"/>
                <a:cs typeface="Calibri" pitchFamily="34" charset="-120"/>
              </a:rPr>
              <a:t>Why it matters: </a:t>
            </a:r>
            <a:r>
              <a:rPr lang="en-US" sz="1250" dirty="0">
                <a:solidFill>
                  <a:schemeClr val="tx1"/>
                </a:solidFill>
                <a:latin typeface="Calibri" pitchFamily="34" charset="0"/>
                <a:ea typeface="Calibri" pitchFamily="34" charset="-122"/>
                <a:cs typeface="Calibri" pitchFamily="34" charset="-120"/>
              </a:rPr>
              <a:t>padding turns irregular shapes into fixed-size inputs a CNN can read.</a:t>
            </a:r>
            <a:endParaRPr lang="en-US" sz="1250" dirty="0"/>
          </a:p>
        </p:txBody>
      </p:sp>
      <p:sp>
        <p:nvSpPr>
          <p:cNvPr id="58" name="Text 55"/>
          <p:cNvSpPr txBox="1"/>
          <p:nvPr/>
        </p:nvSpPr>
        <p:spPr>
          <a:xfrm>
            <a:off x="457200" y="4818888"/>
            <a:ext cx="7498080" cy="201168"/>
          </a:xfrm>
          <a:prstGeom prst="rect">
            <a:avLst/>
          </a:prstGeom>
          <a:noFill/>
          <a:ln/>
        </p:spPr>
        <p:txBody>
          <a:bodyPr wrap="square" lIns="0" tIns="0" rIns="0" bIns="0" rtlCol="0" anchor="t"/>
          <a:lstStyle/>
          <a:p>
            <a:pPr marL="0" indent="0">
              <a:buNone/>
            </a:pPr>
            <a:r>
              <a:rPr lang="en-US" sz="800" dirty="0">
                <a:solidFill>
                  <a:schemeClr val="accent4"/>
                </a:solidFill>
                <a:latin typeface="Calibri" pitchFamily="34" charset="0"/>
                <a:ea typeface="Calibri" pitchFamily="34" charset="-122"/>
                <a:cs typeface="Calibri" pitchFamily="34" charset="-120"/>
              </a:rPr>
              <a:t>Jin et al., Appl. Mater. Today 40, 102373 (2024), Secs. 2–4 [2].</a:t>
            </a:r>
            <a:endParaRPr lang="en-US" sz="800" dirty="0"/>
          </a:p>
        </p:txBody>
      </p:sp>
      <p:sp>
        <p:nvSpPr>
          <p:cNvPr id="59"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82"/>
                </a:solidFill>
                <a:latin typeface="Calibri"/>
                <a:ea typeface="Calibri"/>
                <a:cs typeface="Calibri"/>
              </a:defRPr>
            </a:lvl1pPr>
          </a:lstStyle>
          <a:p>
            <a:pPr algn="r"/>
            <a:r>
              <a:rPr lang="en-US" b="0"/>
              <a:t>10</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457200" y="256032"/>
            <a:ext cx="7315200" cy="228600"/>
          </a:xfrm>
          <a:prstGeom prst="rect">
            <a:avLst/>
          </a:prstGeom>
          <a:noFill/>
          <a:ln/>
        </p:spPr>
        <p:txBody>
          <a:bodyPr wrap="square" lIns="0" tIns="0" rIns="0" bIns="0" rtlCol="0" anchor="ctr"/>
          <a:lstStyle/>
          <a:p>
            <a:pPr marL="0" indent="0" algn="l">
              <a:buNone/>
            </a:pPr>
            <a:r>
              <a:rPr lang="en-US" sz="1000" b="1" kern="0" spc="200" dirty="0">
                <a:solidFill>
                  <a:schemeClr val="accent1"/>
                </a:solidFill>
                <a:latin typeface="Calibri" pitchFamily="34" charset="0"/>
                <a:ea typeface="Calibri" pitchFamily="34" charset="-122"/>
                <a:cs typeface="Calibri" pitchFamily="34" charset="-120"/>
              </a:rPr>
              <a:t>JIN ET AL. (2024)</a:t>
            </a:r>
            <a:endParaRPr lang="en-US" sz="1000" dirty="0"/>
          </a:p>
        </p:txBody>
      </p:sp>
      <p:sp>
        <p:nvSpPr>
          <p:cNvPr id="3" name="Text 2"/>
          <p:cNvSpPr>
            <a:spLocks noGrp="1"/>
          </p:cNvSpPr>
          <p:nvPr>
            <p:ph type="title" idx="103" hasCustomPrompt="1"/>
          </p:nvPr>
        </p:nvSpPr>
        <p:spPr>
          <a:xfrm>
            <a:off x="457200" y="502920"/>
            <a:ext cx="8229600" cy="548640"/>
          </a:xfrm>
          <a:prstGeom prst="rect">
            <a:avLst/>
          </a:prstGeom>
          <a:noFill/>
          <a:ln/>
        </p:spPr>
        <p:txBody>
          <a:bodyPr wrap="square" lIns="0" tIns="0" rIns="0" bIns="0" rtlCol="0" anchor="ctr"/>
          <a:lstStyle/>
          <a:p>
            <a:pPr marL="0" indent="0" algn="l">
              <a:buNone/>
            </a:pPr>
            <a:r>
              <a:rPr lang="en-US" sz="2400" b="1" dirty="0">
                <a:solidFill>
                  <a:schemeClr val="tx2"/>
                </a:solidFill>
                <a:latin typeface="Georgia" pitchFamily="34" charset="0"/>
                <a:ea typeface="Georgia" pitchFamily="34" charset="-122"/>
                <a:cs typeface="Georgia" pitchFamily="34" charset="-120"/>
              </a:rPr>
              <a:t>Result: curves matched, and a printed hand</a:t>
            </a:r>
            <a:endParaRPr lang="en-US" sz="2400" dirty="0"/>
          </a:p>
        </p:txBody>
      </p:sp>
      <p:pic>
        <p:nvPicPr>
          <p:cNvPr id="4" name="j6a" descr="img/jin_fig6a.png"/>
          <p:cNvPicPr>
            <a:picLocks noChangeAspect="1"/>
          </p:cNvPicPr>
          <p:nvPr/>
        </p:nvPicPr>
        <p:blipFill>
          <a:blip r:embed="rId3"/>
          <a:stretch>
            <a:fillRect/>
          </a:stretch>
        </p:blipFill>
        <p:spPr>
          <a:xfrm>
            <a:off x="457200" y="1143000"/>
            <a:ext cx="3840480" cy="1463040"/>
          </a:xfrm>
          <a:prstGeom prst="rect">
            <a:avLst/>
          </a:prstGeom>
        </p:spPr>
      </p:pic>
      <p:pic>
        <p:nvPicPr>
          <p:cNvPr id="5" name="j6c" descr="img/jin_fig6c.png"/>
          <p:cNvPicPr>
            <a:picLocks noChangeAspect="1"/>
          </p:cNvPicPr>
          <p:nvPr/>
        </p:nvPicPr>
        <p:blipFill>
          <a:blip r:embed="rId4"/>
          <a:stretch>
            <a:fillRect/>
          </a:stretch>
        </p:blipFill>
        <p:spPr>
          <a:xfrm>
            <a:off x="457200" y="2743200"/>
            <a:ext cx="2148840" cy="1636776"/>
          </a:xfrm>
          <a:prstGeom prst="rect">
            <a:avLst/>
          </a:prstGeom>
        </p:spPr>
      </p:pic>
      <p:pic>
        <p:nvPicPr>
          <p:cNvPr id="6" name="j6d" descr="img/jin_fig6d.png"/>
          <p:cNvPicPr>
            <a:picLocks noChangeAspect="1"/>
          </p:cNvPicPr>
          <p:nvPr/>
        </p:nvPicPr>
        <p:blipFill>
          <a:blip r:embed="rId5"/>
          <a:stretch>
            <a:fillRect/>
          </a:stretch>
        </p:blipFill>
        <p:spPr>
          <a:xfrm>
            <a:off x="2743200" y="2743200"/>
            <a:ext cx="2194560" cy="1636776"/>
          </a:xfrm>
          <a:prstGeom prst="rect">
            <a:avLst/>
          </a:prstGeom>
        </p:spPr>
      </p:pic>
      <p:sp>
        <p:nvSpPr>
          <p:cNvPr id="7" name="Text 2"/>
          <p:cNvSpPr txBox="1"/>
          <p:nvPr/>
        </p:nvSpPr>
        <p:spPr>
          <a:xfrm>
            <a:off x="457200" y="4434840"/>
            <a:ext cx="4572000" cy="228600"/>
          </a:xfrm>
          <a:prstGeom prst="rect">
            <a:avLst/>
          </a:prstGeom>
          <a:noFill/>
          <a:ln/>
        </p:spPr>
        <p:txBody>
          <a:bodyPr wrap="square" lIns="0" tIns="0" rIns="0" bIns="0" rtlCol="0" anchor="t"/>
          <a:lstStyle/>
          <a:p>
            <a:pPr marL="0" indent="0">
              <a:buNone/>
            </a:pPr>
            <a:r>
              <a:rPr lang="en-US" sz="900" i="1" dirty="0">
                <a:solidFill>
                  <a:schemeClr val="accent4"/>
                </a:solidFill>
                <a:latin typeface="Calibri" pitchFamily="34" charset="0"/>
                <a:ea typeface="Calibri" pitchFamily="34" charset="-122"/>
                <a:cs typeface="Calibri" pitchFamily="34" charset="-120"/>
              </a:rPr>
              <a:t>Fig. 6: (a) optimised layout &amp; FE result · (c) error vs. generation · (d) target vs. optimised</a:t>
            </a:r>
            <a:endParaRPr lang="en-US" sz="900" dirty="0"/>
          </a:p>
        </p:txBody>
      </p:sp>
      <p:sp>
        <p:nvSpPr>
          <p:cNvPr id="8" name="jr1"/>
          <p:cNvSpPr/>
          <p:nvPr/>
        </p:nvSpPr>
        <p:spPr>
          <a:xfrm>
            <a:off x="5257800" y="1188720"/>
            <a:ext cx="3429000" cy="1325880"/>
          </a:xfrm>
          <a:prstGeom prst="roundRect">
            <a:avLst>
              <a:gd name="adj" fmla="val 5517"/>
            </a:avLst>
          </a:prstGeom>
          <a:solidFill>
            <a:schemeClr val="bg2"/>
          </a:solidFill>
          <a:ln w="12700">
            <a:solidFill>
              <a:schemeClr val="bg2"/>
            </a:solidFill>
            <a:prstDash val="solid"/>
          </a:ln>
        </p:spPr>
      </p:sp>
      <p:sp>
        <p:nvSpPr>
          <p:cNvPr id="9" name="Text 4"/>
          <p:cNvSpPr txBox="1"/>
          <p:nvPr/>
        </p:nvSpPr>
        <p:spPr>
          <a:xfrm>
            <a:off x="5440680" y="1280160"/>
            <a:ext cx="3108960" cy="548640"/>
          </a:xfrm>
          <a:prstGeom prst="rect">
            <a:avLst/>
          </a:prstGeom>
          <a:noFill/>
          <a:ln/>
        </p:spPr>
        <p:txBody>
          <a:bodyPr wrap="square" lIns="0" tIns="0" rIns="0" bIns="0" rtlCol="0" anchor="t"/>
          <a:lstStyle/>
          <a:p>
            <a:pPr marL="0" indent="0">
              <a:buNone/>
            </a:pPr>
            <a:r>
              <a:rPr lang="en-US" sz="2600" b="1" dirty="0">
                <a:solidFill>
                  <a:schemeClr val="accent1"/>
                </a:solidFill>
                <a:latin typeface="Georgia" pitchFamily="34" charset="0"/>
                <a:ea typeface="Georgia" pitchFamily="34" charset="-122"/>
                <a:cs typeface="Georgia" pitchFamily="34" charset="-120"/>
              </a:rPr>
              <a:t>3.7 → 1.8 mm</a:t>
            </a:r>
            <a:endParaRPr lang="en-US" sz="2600" dirty="0"/>
          </a:p>
        </p:txBody>
      </p:sp>
      <p:sp>
        <p:nvSpPr>
          <p:cNvPr id="10" name="Text 5"/>
          <p:cNvSpPr txBox="1"/>
          <p:nvPr/>
        </p:nvSpPr>
        <p:spPr>
          <a:xfrm>
            <a:off x="5440680" y="1874520"/>
            <a:ext cx="3108960" cy="548640"/>
          </a:xfrm>
          <a:prstGeom prst="rect">
            <a:avLst/>
          </a:prstGeom>
          <a:noFill/>
          <a:ln/>
        </p:spPr>
        <p:txBody>
          <a:bodyPr wrap="square" lIns="0" tIns="0" rIns="0" bIns="0" rtlCol="0" anchor="t"/>
          <a:lstStyle/>
          <a:p>
            <a:pPr marL="0" indent="0">
              <a:buNone/>
            </a:pPr>
            <a:r>
              <a:rPr lang="en-US" sz="1200" dirty="0">
                <a:solidFill>
                  <a:schemeClr val="tx1"/>
                </a:solidFill>
                <a:latin typeface="Calibri" pitchFamily="34" charset="0"/>
                <a:ea typeface="Calibri" pitchFamily="34" charset="-122"/>
                <a:cs typeface="Calibri" pitchFamily="34" charset="-120"/>
              </a:rPr>
              <a:t>best RMSE over 200 generations (read from Fig. 6c)</a:t>
            </a:r>
            <a:endParaRPr lang="en-US" sz="1200" dirty="0"/>
          </a:p>
        </p:txBody>
      </p:sp>
      <p:sp>
        <p:nvSpPr>
          <p:cNvPr id="11" name="jr2"/>
          <p:cNvSpPr/>
          <p:nvPr/>
        </p:nvSpPr>
        <p:spPr>
          <a:xfrm>
            <a:off x="5257800" y="2697480"/>
            <a:ext cx="3429000" cy="1920240"/>
          </a:xfrm>
          <a:prstGeom prst="roundRect">
            <a:avLst>
              <a:gd name="adj" fmla="val 3810"/>
            </a:avLst>
          </a:prstGeom>
          <a:solidFill>
            <a:schemeClr val="tx2"/>
          </a:solidFill>
          <a:ln w="12700">
            <a:solidFill>
              <a:schemeClr val="tx2"/>
            </a:solidFill>
            <a:prstDash val="solid"/>
          </a:ln>
        </p:spPr>
      </p:sp>
      <p:sp>
        <p:nvSpPr>
          <p:cNvPr id="12" name="jrh-c"/>
          <p:cNvSpPr/>
          <p:nvPr/>
        </p:nvSpPr>
        <p:spPr>
          <a:xfrm>
            <a:off x="5440680" y="2834640"/>
            <a:ext cx="548640" cy="548640"/>
          </a:xfrm>
          <a:prstGeom prst="ellipse">
            <a:avLst/>
          </a:prstGeom>
          <a:solidFill>
            <a:schemeClr val="accent2"/>
          </a:solidFill>
          <a:ln w="12700">
            <a:solidFill>
              <a:schemeClr val="accent2"/>
            </a:solidFill>
            <a:prstDash val="solid"/>
          </a:ln>
        </p:spPr>
      </p:sp>
      <p:pic>
        <p:nvPicPr>
          <p:cNvPr id="13" name="jrh-i" descr="preencoded.png"/>
          <p:cNvPicPr>
            <a:picLocks noChangeAspect="1"/>
          </p:cNvPicPr>
          <p:nvPr/>
        </p:nvPicPr>
        <p:blipFill>
          <a:blip r:embed="rId6"/>
          <a:stretch>
            <a:fillRect/>
          </a:stretch>
        </p:blipFill>
        <p:spPr>
          <a:xfrm>
            <a:off x="5583326" y="2977286"/>
            <a:ext cx="263347" cy="263347"/>
          </a:xfrm>
          <a:prstGeom prst="rect">
            <a:avLst/>
          </a:prstGeom>
        </p:spPr>
      </p:pic>
      <p:sp>
        <p:nvSpPr>
          <p:cNvPr id="14" name="Text 8"/>
          <p:cNvSpPr txBox="1"/>
          <p:nvPr/>
        </p:nvSpPr>
        <p:spPr>
          <a:xfrm>
            <a:off x="6126480" y="2834640"/>
            <a:ext cx="2468880" cy="548640"/>
          </a:xfrm>
          <a:prstGeom prst="rect">
            <a:avLst/>
          </a:prstGeom>
          <a:noFill/>
          <a:ln/>
        </p:spPr>
        <p:txBody>
          <a:bodyPr wrap="square" lIns="0" tIns="0" rIns="0" bIns="0" rtlCol="0" anchor="ctr"/>
          <a:lstStyle/>
          <a:p>
            <a:pPr marL="0" indent="0">
              <a:buNone/>
            </a:pPr>
            <a:r>
              <a:rPr lang="en-US" sz="1600" b="1" dirty="0">
                <a:solidFill>
                  <a:schemeClr val="bg1"/>
                </a:solidFill>
                <a:latin typeface="Georgia" pitchFamily="34" charset="0"/>
                <a:ea typeface="Georgia" pitchFamily="34" charset="-122"/>
                <a:cs typeface="Georgia" pitchFamily="34" charset="-120"/>
              </a:rPr>
              <a:t>Printed hand shape</a:t>
            </a:r>
            <a:endParaRPr lang="en-US" sz="1600" dirty="0"/>
          </a:p>
        </p:txBody>
      </p:sp>
      <p:sp>
        <p:nvSpPr>
          <p:cNvPr id="15" name="Text 9"/>
          <p:cNvSpPr txBox="1"/>
          <p:nvPr/>
        </p:nvSpPr>
        <p:spPr>
          <a:xfrm>
            <a:off x="5440680" y="3474720"/>
            <a:ext cx="3108960" cy="1051560"/>
          </a:xfrm>
          <a:prstGeom prst="rect">
            <a:avLst/>
          </a:prstGeom>
          <a:noFill/>
          <a:ln/>
        </p:spPr>
        <p:txBody>
          <a:bodyPr wrap="square" lIns="0" tIns="0" rIns="0" bIns="0" rtlCol="0" anchor="t"/>
          <a:lstStyle/>
          <a:p>
            <a:pPr marL="0" indent="0">
              <a:buNone/>
            </a:pPr>
            <a:r>
              <a:rPr lang="en-US" sz="1200" dirty="0">
                <a:solidFill>
                  <a:schemeClr val="accent5"/>
                </a:solidFill>
                <a:latin typeface="Calibri" pitchFamily="34" charset="0"/>
                <a:ea typeface="Calibri" pitchFamily="34" charset="-122"/>
                <a:cs typeface="Calibri" pitchFamily="34" charset="-120"/>
              </a:rPr>
              <a:t>SMP/TPU part opens and closes on heating, like the target hand motion. Agreement is shown visually; no numeric printed error is reported.</a:t>
            </a:r>
            <a:endParaRPr lang="en-US" sz="1200" dirty="0"/>
          </a:p>
        </p:txBody>
      </p:sp>
      <p:sp>
        <p:nvSpPr>
          <p:cNvPr id="16" name="Text 10"/>
          <p:cNvSpPr txBox="1"/>
          <p:nvPr/>
        </p:nvSpPr>
        <p:spPr>
          <a:xfrm>
            <a:off x="457200" y="4818888"/>
            <a:ext cx="7498080" cy="201168"/>
          </a:xfrm>
          <a:prstGeom prst="rect">
            <a:avLst/>
          </a:prstGeom>
          <a:noFill/>
          <a:ln/>
        </p:spPr>
        <p:txBody>
          <a:bodyPr wrap="square" lIns="0" tIns="0" rIns="0" bIns="0" rtlCol="0" anchor="t"/>
          <a:lstStyle/>
          <a:p>
            <a:pPr marL="0" indent="0">
              <a:buNone/>
            </a:pPr>
            <a:r>
              <a:rPr lang="en-US" sz="800" dirty="0">
                <a:solidFill>
                  <a:schemeClr val="accent4"/>
                </a:solidFill>
                <a:latin typeface="Calibri" pitchFamily="34" charset="0"/>
                <a:ea typeface="Calibri" pitchFamily="34" charset="-122"/>
                <a:cs typeface="Calibri" pitchFamily="34" charset="-120"/>
              </a:rPr>
              <a:t>Jin et al. 2024, Fig. 6 and Fig. 7 [2]. Fig. 6 panels cleaned of a caption overlay from our source copy.</a:t>
            </a:r>
            <a:endParaRPr lang="en-US" sz="8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82"/>
                </a:solidFill>
                <a:latin typeface="Calibri"/>
                <a:ea typeface="Calibri"/>
                <a:cs typeface="Calibri"/>
              </a:defRPr>
            </a:lvl1pPr>
          </a:lstStyle>
          <a:p>
            <a:pPr algn="r"/>
            <a:r>
              <a:rPr lang="en-US" b="0"/>
              <a:t>11</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457200" y="256032"/>
            <a:ext cx="7315200" cy="228600"/>
          </a:xfrm>
          <a:prstGeom prst="rect">
            <a:avLst/>
          </a:prstGeom>
          <a:noFill/>
          <a:ln/>
        </p:spPr>
        <p:txBody>
          <a:bodyPr wrap="square" lIns="0" tIns="0" rIns="0" bIns="0" rtlCol="0" anchor="ctr"/>
          <a:lstStyle/>
          <a:p>
            <a:pPr marL="0" indent="0" algn="l">
              <a:buNone/>
            </a:pPr>
            <a:r>
              <a:rPr lang="en-US" sz="1000" b="1" kern="0" spc="200" dirty="0">
                <a:solidFill>
                  <a:schemeClr val="accent1"/>
                </a:solidFill>
                <a:latin typeface="Calibri" pitchFamily="34" charset="0"/>
                <a:ea typeface="Calibri" pitchFamily="34" charset="-122"/>
                <a:cs typeface="Calibri" pitchFamily="34" charset="-120"/>
              </a:rPr>
              <a:t>COMPARISON</a:t>
            </a:r>
            <a:endParaRPr lang="en-US" sz="1000" dirty="0"/>
          </a:p>
        </p:txBody>
      </p:sp>
      <p:sp>
        <p:nvSpPr>
          <p:cNvPr id="3" name="Text 2"/>
          <p:cNvSpPr>
            <a:spLocks noGrp="1"/>
          </p:cNvSpPr>
          <p:nvPr>
            <p:ph type="title" idx="103" hasCustomPrompt="1"/>
          </p:nvPr>
        </p:nvSpPr>
        <p:spPr>
          <a:xfrm>
            <a:off x="457200" y="502920"/>
            <a:ext cx="8229600" cy="548640"/>
          </a:xfrm>
          <a:prstGeom prst="rect">
            <a:avLst/>
          </a:prstGeom>
          <a:noFill/>
          <a:ln/>
        </p:spPr>
        <p:txBody>
          <a:bodyPr wrap="square" lIns="0" tIns="0" rIns="0" bIns="0" rtlCol="0" anchor="ctr"/>
          <a:lstStyle/>
          <a:p>
            <a:pPr marL="0" indent="0" algn="l">
              <a:buNone/>
            </a:pPr>
            <a:r>
              <a:rPr lang="en-US" sz="2400" b="1" dirty="0">
                <a:solidFill>
                  <a:schemeClr val="tx2"/>
                </a:solidFill>
                <a:latin typeface="Georgia" pitchFamily="34" charset="0"/>
                <a:ea typeface="Georgia" pitchFamily="34" charset="-122"/>
                <a:cs typeface="Georgia" pitchFamily="34" charset="-120"/>
              </a:rPr>
              <a:t>Related workflow, different models and goals</a:t>
            </a:r>
            <a:endParaRPr lang="en-US" sz="2400" dirty="0"/>
          </a:p>
        </p:txBody>
      </p:sp>
      <p:sp>
        <p:nvSpPr>
          <p:cNvPr id="4" name="hw"/>
          <p:cNvSpPr/>
          <p:nvPr/>
        </p:nvSpPr>
        <p:spPr>
          <a:xfrm>
            <a:off x="457200" y="1188720"/>
            <a:ext cx="3246120" cy="3429000"/>
          </a:xfrm>
          <a:prstGeom prst="roundRect">
            <a:avLst>
              <a:gd name="adj" fmla="val 2254"/>
            </a:avLst>
          </a:prstGeom>
          <a:solidFill>
            <a:schemeClr val="bg2"/>
          </a:solidFill>
          <a:ln w="12700">
            <a:solidFill>
              <a:schemeClr val="bg2"/>
            </a:solidFill>
            <a:prstDash val="solid"/>
          </a:ln>
        </p:spPr>
      </p:sp>
      <p:sp>
        <p:nvSpPr>
          <p:cNvPr id="5" name="hj"/>
          <p:cNvSpPr/>
          <p:nvPr/>
        </p:nvSpPr>
        <p:spPr>
          <a:xfrm>
            <a:off x="5440680" y="1188720"/>
            <a:ext cx="3246120" cy="3429000"/>
          </a:xfrm>
          <a:prstGeom prst="roundRect">
            <a:avLst>
              <a:gd name="adj" fmla="val 2254"/>
            </a:avLst>
          </a:prstGeom>
          <a:solidFill>
            <a:schemeClr val="bg2"/>
          </a:solidFill>
          <a:ln w="12700">
            <a:solidFill>
              <a:schemeClr val="bg2"/>
            </a:solidFill>
            <a:prstDash val="solid"/>
          </a:ln>
        </p:spPr>
      </p:sp>
      <p:sp>
        <p:nvSpPr>
          <p:cNvPr id="6" name="Text 4"/>
          <p:cNvSpPr txBox="1"/>
          <p:nvPr/>
        </p:nvSpPr>
        <p:spPr>
          <a:xfrm>
            <a:off x="640080" y="1280160"/>
            <a:ext cx="2880360" cy="411480"/>
          </a:xfrm>
          <a:prstGeom prst="rect">
            <a:avLst/>
          </a:prstGeom>
          <a:noFill/>
          <a:ln/>
        </p:spPr>
        <p:txBody>
          <a:bodyPr wrap="square" lIns="0" tIns="0" rIns="0" bIns="0" rtlCol="0" anchor="t"/>
          <a:lstStyle/>
          <a:p>
            <a:pPr marL="0" indent="0" algn="ctr">
              <a:buNone/>
            </a:pPr>
            <a:r>
              <a:rPr lang="en-US" sz="1800" b="1" dirty="0">
                <a:solidFill>
                  <a:schemeClr val="accent2"/>
                </a:solidFill>
                <a:latin typeface="Georgia" pitchFamily="34" charset="0"/>
                <a:ea typeface="Georgia" pitchFamily="34" charset="-122"/>
                <a:cs typeface="Georgia" pitchFamily="34" charset="-120"/>
              </a:rPr>
              <a:t>Wang et al.</a:t>
            </a:r>
            <a:endParaRPr lang="en-US" sz="1800" dirty="0"/>
          </a:p>
        </p:txBody>
      </p:sp>
      <p:sp>
        <p:nvSpPr>
          <p:cNvPr id="7" name="Text 5"/>
          <p:cNvSpPr txBox="1"/>
          <p:nvPr/>
        </p:nvSpPr>
        <p:spPr>
          <a:xfrm>
            <a:off x="5623560" y="1280160"/>
            <a:ext cx="2880360" cy="411480"/>
          </a:xfrm>
          <a:prstGeom prst="rect">
            <a:avLst/>
          </a:prstGeom>
          <a:noFill/>
          <a:ln/>
        </p:spPr>
        <p:txBody>
          <a:bodyPr wrap="square" lIns="0" tIns="0" rIns="0" bIns="0" rtlCol="0" anchor="t"/>
          <a:lstStyle/>
          <a:p>
            <a:pPr marL="0" indent="0" algn="ctr">
              <a:buNone/>
            </a:pPr>
            <a:r>
              <a:rPr lang="en-US" sz="1800" b="1" dirty="0">
                <a:solidFill>
                  <a:schemeClr val="accent1"/>
                </a:solidFill>
                <a:latin typeface="Georgia" pitchFamily="34" charset="0"/>
                <a:ea typeface="Georgia" pitchFamily="34" charset="-122"/>
                <a:cs typeface="Georgia" pitchFamily="34" charset="-120"/>
              </a:rPr>
              <a:t>Jin et al.</a:t>
            </a:r>
            <a:endParaRPr lang="en-US" sz="1800" dirty="0"/>
          </a:p>
        </p:txBody>
      </p:sp>
      <p:sp>
        <p:nvSpPr>
          <p:cNvPr id="8" name="Text 6"/>
          <p:cNvSpPr txBox="1"/>
          <p:nvPr/>
        </p:nvSpPr>
        <p:spPr>
          <a:xfrm>
            <a:off x="640080" y="1783080"/>
            <a:ext cx="2880360" cy="384048"/>
          </a:xfrm>
          <a:prstGeom prst="rect">
            <a:avLst/>
          </a:prstGeom>
          <a:noFill/>
          <a:ln/>
        </p:spPr>
        <p:txBody>
          <a:bodyPr wrap="square" lIns="0" tIns="0" rIns="0" bIns="0" rtlCol="0" anchor="ctr"/>
          <a:lstStyle/>
          <a:p>
            <a:pPr marL="0" indent="0" algn="ctr">
              <a:buNone/>
            </a:pPr>
            <a:r>
              <a:rPr lang="en-US" sz="1300" dirty="0">
                <a:solidFill>
                  <a:schemeClr val="tx2"/>
                </a:solidFill>
                <a:latin typeface="Calibri" pitchFamily="34" charset="0"/>
                <a:ea typeface="Calibri" pitchFamily="34" charset="-122"/>
                <a:cs typeface="Calibri" pitchFamily="34" charset="-120"/>
              </a:rPr>
              <a:t>Speed</a:t>
            </a:r>
            <a:endParaRPr lang="en-US" sz="1300" dirty="0"/>
          </a:p>
        </p:txBody>
      </p:sp>
      <p:sp>
        <p:nvSpPr>
          <p:cNvPr id="9" name="hl0"/>
          <p:cNvSpPr/>
          <p:nvPr/>
        </p:nvSpPr>
        <p:spPr>
          <a:xfrm>
            <a:off x="3886200" y="1810512"/>
            <a:ext cx="1371600" cy="329184"/>
          </a:xfrm>
          <a:prstGeom prst="roundRect">
            <a:avLst>
              <a:gd name="adj" fmla="val 22222"/>
            </a:avLst>
          </a:prstGeom>
          <a:solidFill>
            <a:schemeClr val="tx2"/>
          </a:solidFill>
          <a:ln w="12700">
            <a:solidFill>
              <a:schemeClr val="tx2"/>
            </a:solidFill>
            <a:prstDash val="solid"/>
          </a:ln>
        </p:spPr>
      </p:sp>
      <p:sp>
        <p:nvSpPr>
          <p:cNvPr id="10" name="Text 8"/>
          <p:cNvSpPr txBox="1"/>
          <p:nvPr/>
        </p:nvSpPr>
        <p:spPr>
          <a:xfrm>
            <a:off x="3886200" y="1810512"/>
            <a:ext cx="1371600" cy="329184"/>
          </a:xfrm>
          <a:prstGeom prst="rect">
            <a:avLst/>
          </a:prstGeom>
          <a:noFill/>
          <a:ln/>
        </p:spPr>
        <p:txBody>
          <a:bodyPr wrap="square" lIns="0" tIns="0" rIns="0" bIns="0" rtlCol="0" anchor="ctr"/>
          <a:lstStyle/>
          <a:p>
            <a:pPr marL="0" indent="0" algn="ctr">
              <a:buNone/>
            </a:pPr>
            <a:r>
              <a:rPr lang="en-US" sz="1100" b="1" dirty="0">
                <a:solidFill>
                  <a:schemeClr val="bg1"/>
                </a:solidFill>
                <a:latin typeface="Calibri" pitchFamily="34" charset="0"/>
                <a:ea typeface="Calibri" pitchFamily="34" charset="-122"/>
                <a:cs typeface="Calibri" pitchFamily="34" charset="-120"/>
              </a:rPr>
              <a:t>Goal</a:t>
            </a:r>
            <a:endParaRPr lang="en-US" sz="1100" dirty="0"/>
          </a:p>
        </p:txBody>
      </p:sp>
      <p:sp>
        <p:nvSpPr>
          <p:cNvPr id="11" name="Text 9"/>
          <p:cNvSpPr txBox="1"/>
          <p:nvPr/>
        </p:nvSpPr>
        <p:spPr>
          <a:xfrm>
            <a:off x="5623560" y="1783080"/>
            <a:ext cx="2880360" cy="384048"/>
          </a:xfrm>
          <a:prstGeom prst="rect">
            <a:avLst/>
          </a:prstGeom>
          <a:noFill/>
          <a:ln/>
        </p:spPr>
        <p:txBody>
          <a:bodyPr wrap="square" lIns="0" tIns="0" rIns="0" bIns="0" rtlCol="0" anchor="ctr"/>
          <a:lstStyle/>
          <a:p>
            <a:pPr marL="0" indent="0" algn="ctr">
              <a:buNone/>
            </a:pPr>
            <a:r>
              <a:rPr lang="en-US" sz="1300" dirty="0">
                <a:solidFill>
                  <a:schemeClr val="tx2"/>
                </a:solidFill>
                <a:latin typeface="Calibri" pitchFamily="34" charset="0"/>
                <a:ea typeface="Calibri" pitchFamily="34" charset="-122"/>
                <a:cs typeface="Calibri" pitchFamily="34" charset="-120"/>
              </a:rPr>
              <a:t>Shape freedom</a:t>
            </a:r>
            <a:endParaRPr lang="en-US" sz="1300" dirty="0"/>
          </a:p>
        </p:txBody>
      </p:sp>
      <p:sp>
        <p:nvSpPr>
          <p:cNvPr id="12" name="Text 10"/>
          <p:cNvSpPr txBox="1"/>
          <p:nvPr/>
        </p:nvSpPr>
        <p:spPr>
          <a:xfrm>
            <a:off x="640080" y="2240280"/>
            <a:ext cx="2880360" cy="384048"/>
          </a:xfrm>
          <a:prstGeom prst="rect">
            <a:avLst/>
          </a:prstGeom>
          <a:noFill/>
          <a:ln/>
        </p:spPr>
        <p:txBody>
          <a:bodyPr wrap="square" lIns="0" tIns="0" rIns="0" bIns="0" rtlCol="0" anchor="ctr"/>
          <a:lstStyle/>
          <a:p>
            <a:pPr marL="0" indent="0" algn="ctr">
              <a:buNone/>
            </a:pPr>
            <a:r>
              <a:rPr lang="en-US" sz="1300" dirty="0">
                <a:solidFill>
                  <a:schemeClr val="tx2"/>
                </a:solidFill>
                <a:latin typeface="Calibri" pitchFamily="34" charset="0"/>
                <a:ea typeface="Calibri" pitchFamily="34" charset="-122"/>
                <a:cs typeface="Calibri" pitchFamily="34" charset="-120"/>
              </a:rPr>
              <a:t>Hydrogel (solvent)</a:t>
            </a:r>
            <a:endParaRPr lang="en-US" sz="1300" dirty="0"/>
          </a:p>
        </p:txBody>
      </p:sp>
      <p:sp>
        <p:nvSpPr>
          <p:cNvPr id="13" name="hl1"/>
          <p:cNvSpPr/>
          <p:nvPr/>
        </p:nvSpPr>
        <p:spPr>
          <a:xfrm>
            <a:off x="3886200" y="2267712"/>
            <a:ext cx="1371600" cy="329184"/>
          </a:xfrm>
          <a:prstGeom prst="roundRect">
            <a:avLst>
              <a:gd name="adj" fmla="val 22222"/>
            </a:avLst>
          </a:prstGeom>
          <a:solidFill>
            <a:schemeClr val="tx2"/>
          </a:solidFill>
          <a:ln w="12700">
            <a:solidFill>
              <a:schemeClr val="tx2"/>
            </a:solidFill>
            <a:prstDash val="solid"/>
          </a:ln>
        </p:spPr>
      </p:sp>
      <p:sp>
        <p:nvSpPr>
          <p:cNvPr id="14" name="Text 12"/>
          <p:cNvSpPr txBox="1"/>
          <p:nvPr/>
        </p:nvSpPr>
        <p:spPr>
          <a:xfrm>
            <a:off x="3886200" y="2267712"/>
            <a:ext cx="1371600" cy="329184"/>
          </a:xfrm>
          <a:prstGeom prst="rect">
            <a:avLst/>
          </a:prstGeom>
          <a:noFill/>
          <a:ln/>
        </p:spPr>
        <p:txBody>
          <a:bodyPr wrap="square" lIns="0" tIns="0" rIns="0" bIns="0" rtlCol="0" anchor="ctr"/>
          <a:lstStyle/>
          <a:p>
            <a:pPr marL="0" indent="0" algn="ctr">
              <a:buNone/>
            </a:pPr>
            <a:r>
              <a:rPr lang="en-US" sz="1100" b="1" dirty="0">
                <a:solidFill>
                  <a:schemeClr val="bg1"/>
                </a:solidFill>
                <a:latin typeface="Calibri" pitchFamily="34" charset="0"/>
                <a:ea typeface="Calibri" pitchFamily="34" charset="-122"/>
                <a:cs typeface="Calibri" pitchFamily="34" charset="-120"/>
              </a:rPr>
              <a:t>Material</a:t>
            </a:r>
            <a:endParaRPr lang="en-US" sz="1100" dirty="0"/>
          </a:p>
        </p:txBody>
      </p:sp>
      <p:sp>
        <p:nvSpPr>
          <p:cNvPr id="15" name="Text 13"/>
          <p:cNvSpPr txBox="1"/>
          <p:nvPr/>
        </p:nvSpPr>
        <p:spPr>
          <a:xfrm>
            <a:off x="5623560" y="2240280"/>
            <a:ext cx="2880360" cy="384048"/>
          </a:xfrm>
          <a:prstGeom prst="rect">
            <a:avLst/>
          </a:prstGeom>
          <a:noFill/>
          <a:ln/>
        </p:spPr>
        <p:txBody>
          <a:bodyPr wrap="square" lIns="0" tIns="0" rIns="0" bIns="0" rtlCol="0" anchor="ctr"/>
          <a:lstStyle/>
          <a:p>
            <a:pPr marL="0" indent="0" algn="ctr">
              <a:buNone/>
            </a:pPr>
            <a:r>
              <a:rPr lang="en-US" sz="1300" dirty="0">
                <a:solidFill>
                  <a:schemeClr val="tx2"/>
                </a:solidFill>
                <a:latin typeface="Calibri" pitchFamily="34" charset="0"/>
                <a:ea typeface="Calibri" pitchFamily="34" charset="-122"/>
                <a:cs typeface="Calibri" pitchFamily="34" charset="-120"/>
              </a:rPr>
              <a:t>SMP + TPU (heat)</a:t>
            </a:r>
            <a:endParaRPr lang="en-US" sz="1300" dirty="0"/>
          </a:p>
        </p:txBody>
      </p:sp>
      <p:sp>
        <p:nvSpPr>
          <p:cNvPr id="16" name="Text 14"/>
          <p:cNvSpPr txBox="1"/>
          <p:nvPr/>
        </p:nvSpPr>
        <p:spPr>
          <a:xfrm>
            <a:off x="640080" y="2697480"/>
            <a:ext cx="2880360" cy="384048"/>
          </a:xfrm>
          <a:prstGeom prst="rect">
            <a:avLst/>
          </a:prstGeom>
          <a:noFill/>
          <a:ln/>
        </p:spPr>
        <p:txBody>
          <a:bodyPr wrap="square" lIns="0" tIns="0" rIns="0" bIns="0" rtlCol="0" anchor="ctr"/>
          <a:lstStyle/>
          <a:p>
            <a:pPr marL="0" indent="0" algn="ctr">
              <a:buNone/>
            </a:pPr>
            <a:r>
              <a:rPr lang="en-US" sz="1300" dirty="0">
                <a:solidFill>
                  <a:schemeClr val="tx2"/>
                </a:solidFill>
                <a:latin typeface="Calibri" pitchFamily="34" charset="0"/>
                <a:ea typeface="Calibri" pitchFamily="34" charset="-122"/>
                <a:cs typeface="Calibri" pitchFamily="34" charset="-120"/>
              </a:rPr>
              <a:t>2 × 10 binary beam</a:t>
            </a:r>
            <a:endParaRPr lang="en-US" sz="1300" dirty="0"/>
          </a:p>
        </p:txBody>
      </p:sp>
      <p:sp>
        <p:nvSpPr>
          <p:cNvPr id="17" name="hl2"/>
          <p:cNvSpPr/>
          <p:nvPr/>
        </p:nvSpPr>
        <p:spPr>
          <a:xfrm>
            <a:off x="3886200" y="2724912"/>
            <a:ext cx="1371600" cy="329184"/>
          </a:xfrm>
          <a:prstGeom prst="roundRect">
            <a:avLst>
              <a:gd name="adj" fmla="val 22222"/>
            </a:avLst>
          </a:prstGeom>
          <a:solidFill>
            <a:schemeClr val="tx2"/>
          </a:solidFill>
          <a:ln w="12700">
            <a:solidFill>
              <a:schemeClr val="tx2"/>
            </a:solidFill>
            <a:prstDash val="solid"/>
          </a:ln>
        </p:spPr>
      </p:sp>
      <p:sp>
        <p:nvSpPr>
          <p:cNvPr id="18" name="Text 16"/>
          <p:cNvSpPr txBox="1"/>
          <p:nvPr/>
        </p:nvSpPr>
        <p:spPr>
          <a:xfrm>
            <a:off x="3886200" y="2724912"/>
            <a:ext cx="1371600" cy="329184"/>
          </a:xfrm>
          <a:prstGeom prst="rect">
            <a:avLst/>
          </a:prstGeom>
          <a:noFill/>
          <a:ln/>
        </p:spPr>
        <p:txBody>
          <a:bodyPr wrap="square" lIns="0" tIns="0" rIns="0" bIns="0" rtlCol="0" anchor="ctr"/>
          <a:lstStyle/>
          <a:p>
            <a:pPr marL="0" indent="0" algn="ctr">
              <a:buNone/>
            </a:pPr>
            <a:r>
              <a:rPr lang="en-US" sz="1100" b="1" dirty="0">
                <a:solidFill>
                  <a:schemeClr val="bg1"/>
                </a:solidFill>
                <a:latin typeface="Calibri" pitchFamily="34" charset="0"/>
                <a:ea typeface="Calibri" pitchFamily="34" charset="-122"/>
                <a:cs typeface="Calibri" pitchFamily="34" charset="-120"/>
              </a:rPr>
              <a:t>Layout</a:t>
            </a:r>
            <a:endParaRPr lang="en-US" sz="1100" dirty="0"/>
          </a:p>
        </p:txBody>
      </p:sp>
      <p:sp>
        <p:nvSpPr>
          <p:cNvPr id="19" name="Text 17"/>
          <p:cNvSpPr txBox="1"/>
          <p:nvPr/>
        </p:nvSpPr>
        <p:spPr>
          <a:xfrm>
            <a:off x="5623560" y="2697480"/>
            <a:ext cx="2880360" cy="384048"/>
          </a:xfrm>
          <a:prstGeom prst="rect">
            <a:avLst/>
          </a:prstGeom>
          <a:noFill/>
          <a:ln/>
        </p:spPr>
        <p:txBody>
          <a:bodyPr wrap="square" lIns="0" tIns="0" rIns="0" bIns="0" rtlCol="0" anchor="ctr"/>
          <a:lstStyle/>
          <a:p>
            <a:pPr marL="0" indent="0" algn="ctr">
              <a:buNone/>
            </a:pPr>
            <a:r>
              <a:rPr lang="en-US" sz="1300" dirty="0">
                <a:solidFill>
                  <a:schemeClr val="tx2"/>
                </a:solidFill>
                <a:latin typeface="Calibri" pitchFamily="34" charset="0"/>
                <a:ea typeface="Calibri" pitchFamily="34" charset="-122"/>
                <a:cs typeface="Calibri" pitchFamily="34" charset="-120"/>
              </a:rPr>
              <a:t>Padded 0/1/2 grid</a:t>
            </a:r>
            <a:endParaRPr lang="en-US" sz="1300" dirty="0"/>
          </a:p>
        </p:txBody>
      </p:sp>
      <p:sp>
        <p:nvSpPr>
          <p:cNvPr id="20" name="Text 18"/>
          <p:cNvSpPr txBox="1"/>
          <p:nvPr/>
        </p:nvSpPr>
        <p:spPr>
          <a:xfrm>
            <a:off x="640080" y="3154680"/>
            <a:ext cx="2880360" cy="384048"/>
          </a:xfrm>
          <a:prstGeom prst="rect">
            <a:avLst/>
          </a:prstGeom>
          <a:noFill/>
          <a:ln/>
        </p:spPr>
        <p:txBody>
          <a:bodyPr wrap="square" lIns="0" tIns="0" rIns="0" bIns="0" rtlCol="0" anchor="ctr"/>
          <a:lstStyle/>
          <a:p>
            <a:pPr marL="0" indent="0" algn="ctr">
              <a:buNone/>
            </a:pPr>
            <a:r>
              <a:rPr lang="en-US" sz="1300" dirty="0">
                <a:solidFill>
                  <a:schemeClr val="tx2"/>
                </a:solidFill>
                <a:latin typeface="Calibri" pitchFamily="34" charset="0"/>
                <a:ea typeface="Calibri" pitchFamily="34" charset="-122"/>
                <a:cs typeface="Calibri" pitchFamily="34" charset="-120"/>
              </a:rPr>
              <a:t>SEP-CNN</a:t>
            </a:r>
            <a:endParaRPr lang="en-US" sz="1300" dirty="0"/>
          </a:p>
        </p:txBody>
      </p:sp>
      <p:sp>
        <p:nvSpPr>
          <p:cNvPr id="21" name="hl3"/>
          <p:cNvSpPr/>
          <p:nvPr/>
        </p:nvSpPr>
        <p:spPr>
          <a:xfrm>
            <a:off x="3886200" y="3182112"/>
            <a:ext cx="1371600" cy="329184"/>
          </a:xfrm>
          <a:prstGeom prst="roundRect">
            <a:avLst>
              <a:gd name="adj" fmla="val 22222"/>
            </a:avLst>
          </a:prstGeom>
          <a:solidFill>
            <a:schemeClr val="tx2"/>
          </a:solidFill>
          <a:ln w="12700">
            <a:solidFill>
              <a:schemeClr val="tx2"/>
            </a:solidFill>
            <a:prstDash val="solid"/>
          </a:ln>
        </p:spPr>
      </p:sp>
      <p:sp>
        <p:nvSpPr>
          <p:cNvPr id="22" name="Text 20"/>
          <p:cNvSpPr txBox="1"/>
          <p:nvPr/>
        </p:nvSpPr>
        <p:spPr>
          <a:xfrm>
            <a:off x="3886200" y="3182112"/>
            <a:ext cx="1371600" cy="329184"/>
          </a:xfrm>
          <a:prstGeom prst="rect">
            <a:avLst/>
          </a:prstGeom>
          <a:noFill/>
          <a:ln/>
        </p:spPr>
        <p:txBody>
          <a:bodyPr wrap="square" lIns="0" tIns="0" rIns="0" bIns="0" rtlCol="0" anchor="ctr"/>
          <a:lstStyle/>
          <a:p>
            <a:pPr marL="0" indent="0" algn="ctr">
              <a:buNone/>
            </a:pPr>
            <a:r>
              <a:rPr lang="en-US" sz="1100" b="1" dirty="0">
                <a:solidFill>
                  <a:schemeClr val="bg1"/>
                </a:solidFill>
                <a:latin typeface="Calibri" pitchFamily="34" charset="0"/>
                <a:ea typeface="Calibri" pitchFamily="34" charset="-122"/>
                <a:cs typeface="Calibri" pitchFamily="34" charset="-120"/>
              </a:rPr>
              <a:t>Network</a:t>
            </a:r>
            <a:endParaRPr lang="en-US" sz="1100" dirty="0"/>
          </a:p>
        </p:txBody>
      </p:sp>
      <p:sp>
        <p:nvSpPr>
          <p:cNvPr id="23" name="Text 21"/>
          <p:cNvSpPr txBox="1"/>
          <p:nvPr/>
        </p:nvSpPr>
        <p:spPr>
          <a:xfrm>
            <a:off x="5623560" y="3154680"/>
            <a:ext cx="2880360" cy="384048"/>
          </a:xfrm>
          <a:prstGeom prst="rect">
            <a:avLst/>
          </a:prstGeom>
          <a:noFill/>
          <a:ln/>
        </p:spPr>
        <p:txBody>
          <a:bodyPr wrap="square" lIns="0" tIns="0" rIns="0" bIns="0" rtlCol="0" anchor="ctr"/>
          <a:lstStyle/>
          <a:p>
            <a:pPr marL="0" indent="0" algn="ctr">
              <a:buNone/>
            </a:pPr>
            <a:r>
              <a:rPr lang="en-US" sz="1300" dirty="0">
                <a:solidFill>
                  <a:schemeClr val="tx2"/>
                </a:solidFill>
                <a:latin typeface="Calibri" pitchFamily="34" charset="0"/>
                <a:ea typeface="Calibri" pitchFamily="34" charset="-122"/>
                <a:cs typeface="Calibri" pitchFamily="34" charset="-120"/>
              </a:rPr>
              <a:t>ResNet</a:t>
            </a:r>
            <a:endParaRPr lang="en-US" sz="1300" dirty="0"/>
          </a:p>
        </p:txBody>
      </p:sp>
      <p:sp>
        <p:nvSpPr>
          <p:cNvPr id="24" name="Text 22"/>
          <p:cNvSpPr txBox="1"/>
          <p:nvPr/>
        </p:nvSpPr>
        <p:spPr>
          <a:xfrm>
            <a:off x="640080" y="3611880"/>
            <a:ext cx="2880360" cy="384048"/>
          </a:xfrm>
          <a:prstGeom prst="rect">
            <a:avLst/>
          </a:prstGeom>
          <a:noFill/>
          <a:ln/>
        </p:spPr>
        <p:txBody>
          <a:bodyPr wrap="square" lIns="0" tIns="0" rIns="0" bIns="0" rtlCol="0" anchor="ctr"/>
          <a:lstStyle/>
          <a:p>
            <a:pPr marL="0" indent="0" algn="ctr">
              <a:buNone/>
            </a:pPr>
            <a:r>
              <a:rPr lang="en-US" sz="1300" dirty="0">
                <a:solidFill>
                  <a:schemeClr val="tx2"/>
                </a:solidFill>
                <a:latin typeface="Calibri" pitchFamily="34" charset="0"/>
                <a:ea typeface="Calibri" pitchFamily="34" charset="-122"/>
                <a:cs typeface="Calibri" pitchFamily="34" charset="-120"/>
              </a:rPr>
              <a:t>Progressive EA</a:t>
            </a:r>
            <a:endParaRPr lang="en-US" sz="1300" dirty="0"/>
          </a:p>
        </p:txBody>
      </p:sp>
      <p:sp>
        <p:nvSpPr>
          <p:cNvPr id="25" name="hl4"/>
          <p:cNvSpPr/>
          <p:nvPr/>
        </p:nvSpPr>
        <p:spPr>
          <a:xfrm>
            <a:off x="3886200" y="3639312"/>
            <a:ext cx="1371600" cy="329184"/>
          </a:xfrm>
          <a:prstGeom prst="roundRect">
            <a:avLst>
              <a:gd name="adj" fmla="val 22222"/>
            </a:avLst>
          </a:prstGeom>
          <a:solidFill>
            <a:schemeClr val="tx2"/>
          </a:solidFill>
          <a:ln w="12700">
            <a:solidFill>
              <a:schemeClr val="tx2"/>
            </a:solidFill>
            <a:prstDash val="solid"/>
          </a:ln>
        </p:spPr>
      </p:sp>
      <p:sp>
        <p:nvSpPr>
          <p:cNvPr id="26" name="Text 24"/>
          <p:cNvSpPr txBox="1"/>
          <p:nvPr/>
        </p:nvSpPr>
        <p:spPr>
          <a:xfrm>
            <a:off x="3886200" y="3639312"/>
            <a:ext cx="1371600" cy="329184"/>
          </a:xfrm>
          <a:prstGeom prst="rect">
            <a:avLst/>
          </a:prstGeom>
          <a:noFill/>
          <a:ln/>
        </p:spPr>
        <p:txBody>
          <a:bodyPr wrap="square" lIns="0" tIns="0" rIns="0" bIns="0" rtlCol="0" anchor="ctr"/>
          <a:lstStyle/>
          <a:p>
            <a:pPr marL="0" indent="0" algn="ctr">
              <a:buNone/>
            </a:pPr>
            <a:r>
              <a:rPr lang="en-US" sz="1100" b="1" dirty="0">
                <a:solidFill>
                  <a:schemeClr val="bg1"/>
                </a:solidFill>
                <a:latin typeface="Calibri" pitchFamily="34" charset="0"/>
                <a:ea typeface="Calibri" pitchFamily="34" charset="-122"/>
                <a:cs typeface="Calibri" pitchFamily="34" charset="-120"/>
              </a:rPr>
              <a:t>Search</a:t>
            </a:r>
            <a:endParaRPr lang="en-US" sz="1100" dirty="0"/>
          </a:p>
        </p:txBody>
      </p:sp>
      <p:sp>
        <p:nvSpPr>
          <p:cNvPr id="27" name="Text 25"/>
          <p:cNvSpPr txBox="1"/>
          <p:nvPr/>
        </p:nvSpPr>
        <p:spPr>
          <a:xfrm>
            <a:off x="5623560" y="3611880"/>
            <a:ext cx="2880360" cy="384048"/>
          </a:xfrm>
          <a:prstGeom prst="rect">
            <a:avLst/>
          </a:prstGeom>
          <a:noFill/>
          <a:ln/>
        </p:spPr>
        <p:txBody>
          <a:bodyPr wrap="square" lIns="0" tIns="0" rIns="0" bIns="0" rtlCol="0" anchor="ctr"/>
          <a:lstStyle/>
          <a:p>
            <a:pPr marL="0" indent="0" algn="ctr">
              <a:buNone/>
            </a:pPr>
            <a:r>
              <a:rPr lang="en-US" sz="1300" dirty="0">
                <a:solidFill>
                  <a:schemeClr val="tx2"/>
                </a:solidFill>
                <a:latin typeface="Calibri" pitchFamily="34" charset="0"/>
                <a:ea typeface="Calibri" pitchFamily="34" charset="-122"/>
                <a:cs typeface="Calibri" pitchFamily="34" charset="-120"/>
              </a:rPr>
              <a:t>Standard EA</a:t>
            </a:r>
            <a:endParaRPr lang="en-US" sz="1300" dirty="0"/>
          </a:p>
        </p:txBody>
      </p:sp>
      <p:sp>
        <p:nvSpPr>
          <p:cNvPr id="28" name="Text 26"/>
          <p:cNvSpPr txBox="1"/>
          <p:nvPr/>
        </p:nvSpPr>
        <p:spPr>
          <a:xfrm>
            <a:off x="640080" y="4069080"/>
            <a:ext cx="2880360" cy="384048"/>
          </a:xfrm>
          <a:prstGeom prst="rect">
            <a:avLst/>
          </a:prstGeom>
          <a:noFill/>
          <a:ln/>
        </p:spPr>
        <p:txBody>
          <a:bodyPr wrap="square" lIns="0" tIns="0" rIns="0" bIns="0" rtlCol="0" anchor="ctr"/>
          <a:lstStyle/>
          <a:p>
            <a:pPr marL="0" indent="0" algn="ctr">
              <a:buNone/>
            </a:pPr>
            <a:r>
              <a:rPr lang="en-US" sz="1300" dirty="0">
                <a:solidFill>
                  <a:schemeClr val="tx2"/>
                </a:solidFill>
                <a:latin typeface="Calibri" pitchFamily="34" charset="0"/>
                <a:ea typeface="Calibri" pitchFamily="34" charset="-122"/>
                <a:cs typeface="Calibri" pitchFamily="34" charset="-120"/>
              </a:rPr>
              <a:t>≈3 s · 98.7%</a:t>
            </a:r>
            <a:endParaRPr lang="en-US" sz="1300" dirty="0"/>
          </a:p>
        </p:txBody>
      </p:sp>
      <p:sp>
        <p:nvSpPr>
          <p:cNvPr id="29" name="hl5"/>
          <p:cNvSpPr/>
          <p:nvPr/>
        </p:nvSpPr>
        <p:spPr>
          <a:xfrm>
            <a:off x="3886200" y="4096512"/>
            <a:ext cx="1371600" cy="329184"/>
          </a:xfrm>
          <a:prstGeom prst="roundRect">
            <a:avLst>
              <a:gd name="adj" fmla="val 22222"/>
            </a:avLst>
          </a:prstGeom>
          <a:solidFill>
            <a:schemeClr val="tx2"/>
          </a:solidFill>
          <a:ln w="12700">
            <a:solidFill>
              <a:schemeClr val="tx2"/>
            </a:solidFill>
            <a:prstDash val="solid"/>
          </a:ln>
        </p:spPr>
      </p:sp>
      <p:sp>
        <p:nvSpPr>
          <p:cNvPr id="30" name="Text 28"/>
          <p:cNvSpPr txBox="1"/>
          <p:nvPr/>
        </p:nvSpPr>
        <p:spPr>
          <a:xfrm>
            <a:off x="3886200" y="4096512"/>
            <a:ext cx="1371600" cy="329184"/>
          </a:xfrm>
          <a:prstGeom prst="rect">
            <a:avLst/>
          </a:prstGeom>
          <a:noFill/>
          <a:ln/>
        </p:spPr>
        <p:txBody>
          <a:bodyPr wrap="square" lIns="0" tIns="0" rIns="0" bIns="0" rtlCol="0" anchor="ctr"/>
          <a:lstStyle/>
          <a:p>
            <a:pPr marL="0" indent="0" algn="ctr">
              <a:buNone/>
            </a:pPr>
            <a:r>
              <a:rPr lang="en-US" sz="1100" b="1" dirty="0">
                <a:solidFill>
                  <a:schemeClr val="bg1"/>
                </a:solidFill>
                <a:latin typeface="Calibri" pitchFamily="34" charset="0"/>
                <a:ea typeface="Calibri" pitchFamily="34" charset="-122"/>
                <a:cs typeface="Calibri" pitchFamily="34" charset="-120"/>
              </a:rPr>
              <a:t>Headline</a:t>
            </a:r>
            <a:endParaRPr lang="en-US" sz="1100" dirty="0"/>
          </a:p>
        </p:txBody>
      </p:sp>
      <p:sp>
        <p:nvSpPr>
          <p:cNvPr id="31" name="Text 29"/>
          <p:cNvSpPr txBox="1"/>
          <p:nvPr/>
        </p:nvSpPr>
        <p:spPr>
          <a:xfrm>
            <a:off x="5623560" y="4069080"/>
            <a:ext cx="2880360" cy="384048"/>
          </a:xfrm>
          <a:prstGeom prst="rect">
            <a:avLst/>
          </a:prstGeom>
          <a:noFill/>
          <a:ln/>
        </p:spPr>
        <p:txBody>
          <a:bodyPr wrap="square" lIns="0" tIns="0" rIns="0" bIns="0" rtlCol="0" anchor="ctr"/>
          <a:lstStyle/>
          <a:p>
            <a:pPr marL="0" indent="0" algn="ctr">
              <a:buNone/>
            </a:pPr>
            <a:r>
              <a:rPr lang="en-US" sz="1300" dirty="0">
                <a:solidFill>
                  <a:schemeClr val="tx2"/>
                </a:solidFill>
                <a:latin typeface="Calibri" pitchFamily="34" charset="0"/>
                <a:ea typeface="Calibri" pitchFamily="34" charset="-122"/>
                <a:cs typeface="Calibri" pitchFamily="34" charset="-120"/>
              </a:rPr>
              <a:t>≈1 mm inverse error</a:t>
            </a:r>
            <a:endParaRPr lang="en-US" sz="1300" dirty="0"/>
          </a:p>
        </p:txBody>
      </p:sp>
      <p:sp>
        <p:nvSpPr>
          <p:cNvPr id="32" name="Text 30"/>
          <p:cNvSpPr txBox="1"/>
          <p:nvPr/>
        </p:nvSpPr>
        <p:spPr>
          <a:xfrm>
            <a:off x="457200" y="4818888"/>
            <a:ext cx="7498080" cy="201168"/>
          </a:xfrm>
          <a:prstGeom prst="rect">
            <a:avLst/>
          </a:prstGeom>
          <a:noFill/>
          <a:ln/>
        </p:spPr>
        <p:txBody>
          <a:bodyPr wrap="square" lIns="0" tIns="0" rIns="0" bIns="0" rtlCol="0" anchor="t"/>
          <a:lstStyle/>
          <a:p>
            <a:pPr marL="0" indent="0">
              <a:buNone/>
            </a:pPr>
            <a:r>
              <a:rPr lang="en-US" sz="800" dirty="0">
                <a:solidFill>
                  <a:schemeClr val="accent4"/>
                </a:solidFill>
                <a:latin typeface="Calibri" pitchFamily="34" charset="0"/>
                <a:ea typeface="Calibri" pitchFamily="34" charset="-122"/>
                <a:cs typeface="Calibri" pitchFamily="34" charset="-120"/>
              </a:rPr>
              <a:t>Compiled from Wang et al. 2025 [1] and Jin et al. 2024 [2]. Both pair a learned forward model with evolutionary search; metrics are not directly comparable.</a:t>
            </a:r>
            <a:endParaRPr lang="en-US" sz="800" dirty="0"/>
          </a:p>
        </p:txBody>
      </p:sp>
      <p:sp>
        <p:nvSpPr>
          <p:cNvPr id="33"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82"/>
                </a:solidFill>
                <a:latin typeface="Calibri"/>
                <a:ea typeface="Calibri"/>
                <a:cs typeface="Calibri"/>
              </a:defRPr>
            </a:lvl1pPr>
          </a:lstStyle>
          <a:p>
            <a:pPr algn="r"/>
            <a:r>
              <a:rPr lang="en-US" b="0"/>
              <a:t>12</a:t>
            </a: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0"/>
          <p:cNvSpPr>
            <a:spLocks noGrp="1"/>
          </p:cNvSpPr>
          <p:nvPr>
            <p:ph type="body" idx="120" hasCustomPrompt="1"/>
          </p:nvPr>
        </p:nvSpPr>
        <p:spPr>
          <a:xfrm>
            <a:off x="548640" y="1097280"/>
            <a:ext cx="2743200" cy="914400"/>
          </a:xfrm>
          <a:prstGeom prst="rect">
            <a:avLst/>
          </a:prstGeom>
          <a:noFill/>
          <a:ln/>
        </p:spPr>
        <p:txBody>
          <a:bodyPr wrap="square" lIns="0" tIns="0" rIns="0" bIns="0" rtlCol="0" anchor="b"/>
          <a:lstStyle/>
          <a:p>
            <a:pPr marL="0" indent="0" algn="l">
              <a:buNone/>
            </a:pPr>
            <a:r>
              <a:rPr lang="en-US" sz="5400" b="1" dirty="0">
                <a:solidFill>
                  <a:schemeClr val="accent3"/>
                </a:solidFill>
                <a:latin typeface="Georgia" pitchFamily="34" charset="0"/>
                <a:ea typeface="Georgia" pitchFamily="34" charset="-122"/>
                <a:cs typeface="Georgia" pitchFamily="34" charset="-120"/>
              </a:rPr>
              <a:t>02</a:t>
            </a:r>
            <a:endParaRPr lang="en-US" sz="5400" dirty="0"/>
          </a:p>
        </p:txBody>
      </p:sp>
      <p:sp>
        <p:nvSpPr>
          <p:cNvPr id="3" name="Text 20"/>
          <p:cNvSpPr>
            <a:spLocks noGrp="1"/>
          </p:cNvSpPr>
          <p:nvPr>
            <p:ph type="title" idx="121" hasCustomPrompt="1"/>
          </p:nvPr>
        </p:nvSpPr>
        <p:spPr>
          <a:xfrm>
            <a:off x="548640" y="2103120"/>
            <a:ext cx="4297680" cy="1188720"/>
          </a:xfrm>
          <a:prstGeom prst="rect">
            <a:avLst/>
          </a:prstGeom>
          <a:noFill/>
          <a:ln/>
        </p:spPr>
        <p:txBody>
          <a:bodyPr wrap="square" lIns="0" tIns="0" rIns="0" bIns="0" rtlCol="0" anchor="t"/>
          <a:lstStyle/>
          <a:p>
            <a:pPr marL="0" indent="0" algn="l">
              <a:buNone/>
            </a:pPr>
            <a:r>
              <a:rPr lang="en-US" sz="3000" b="1" dirty="0">
                <a:solidFill>
                  <a:schemeClr val="bg1"/>
                </a:solidFill>
                <a:latin typeface="Georgia" pitchFamily="34" charset="0"/>
                <a:ea typeface="Georgia" pitchFamily="34" charset="-122"/>
                <a:cs typeface="Georgia" pitchFamily="34" charset="-120"/>
              </a:rPr>
              <a:t>What our repo does</a:t>
            </a:r>
            <a:endParaRPr lang="en-US" sz="3000" dirty="0"/>
          </a:p>
        </p:txBody>
      </p:sp>
      <p:sp>
        <p:nvSpPr>
          <p:cNvPr id="4" name="Text 20"/>
          <p:cNvSpPr>
            <a:spLocks noGrp="1"/>
          </p:cNvSpPr>
          <p:nvPr>
            <p:ph type="body" idx="122" hasCustomPrompt="1"/>
          </p:nvPr>
        </p:nvSpPr>
        <p:spPr>
          <a:xfrm>
            <a:off x="548640" y="3383280"/>
            <a:ext cx="4297680" cy="731520"/>
          </a:xfrm>
          <a:prstGeom prst="rect">
            <a:avLst/>
          </a:prstGeom>
          <a:noFill/>
          <a:ln/>
        </p:spPr>
        <p:txBody>
          <a:bodyPr wrap="square" lIns="0" tIns="0" rIns="0" bIns="0" rtlCol="0" anchor="t"/>
          <a:lstStyle/>
          <a:p>
            <a:pPr marL="0" indent="0" algn="l">
              <a:buNone/>
            </a:pPr>
            <a:r>
              <a:rPr lang="en-US" sz="1500" dirty="0">
                <a:solidFill>
                  <a:schemeClr val="accent5"/>
                </a:solidFill>
                <a:latin typeface="Calibri" pitchFamily="34" charset="0"/>
                <a:ea typeface="Calibri" pitchFamily="34" charset="-122"/>
                <a:cs typeface="Calibri" pitchFamily="34" charset="-120"/>
              </a:rPr>
              <a:t>A fork of Wang’s code with a ResNet experiment</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457200" y="256032"/>
            <a:ext cx="7315200" cy="228600"/>
          </a:xfrm>
          <a:prstGeom prst="rect">
            <a:avLst/>
          </a:prstGeom>
          <a:noFill/>
          <a:ln/>
        </p:spPr>
        <p:txBody>
          <a:bodyPr wrap="square" lIns="0" tIns="0" rIns="0" bIns="0" rtlCol="0" anchor="ctr"/>
          <a:lstStyle/>
          <a:p>
            <a:pPr marL="0" indent="0" algn="l">
              <a:buNone/>
            </a:pPr>
            <a:r>
              <a:rPr lang="en-US" sz="1000" b="1" kern="0" spc="200" dirty="0">
                <a:solidFill>
                  <a:schemeClr val="accent1"/>
                </a:solidFill>
                <a:latin typeface="Calibri" pitchFamily="34" charset="0"/>
                <a:ea typeface="Calibri" pitchFamily="34" charset="-122"/>
                <a:cs typeface="Calibri" pitchFamily="34" charset="-120"/>
              </a:rPr>
              <a:t>OUR FORK</a:t>
            </a:r>
            <a:endParaRPr lang="en-US" sz="1000" dirty="0"/>
          </a:p>
        </p:txBody>
      </p:sp>
      <p:sp>
        <p:nvSpPr>
          <p:cNvPr id="3" name="Text 2"/>
          <p:cNvSpPr>
            <a:spLocks noGrp="1"/>
          </p:cNvSpPr>
          <p:nvPr>
            <p:ph type="title" idx="103" hasCustomPrompt="1"/>
          </p:nvPr>
        </p:nvSpPr>
        <p:spPr>
          <a:xfrm>
            <a:off x="457200" y="502920"/>
            <a:ext cx="8229600" cy="548640"/>
          </a:xfrm>
          <a:prstGeom prst="rect">
            <a:avLst/>
          </a:prstGeom>
          <a:noFill/>
          <a:ln/>
        </p:spPr>
        <p:txBody>
          <a:bodyPr wrap="square" lIns="0" tIns="0" rIns="0" bIns="0" rtlCol="0" anchor="ctr"/>
          <a:lstStyle/>
          <a:p>
            <a:pPr marL="0" indent="0" algn="l">
              <a:buNone/>
            </a:pPr>
            <a:r>
              <a:rPr lang="en-US" sz="2400" b="1" dirty="0">
                <a:solidFill>
                  <a:schemeClr val="tx2"/>
                </a:solidFill>
                <a:latin typeface="Georgia" pitchFamily="34" charset="0"/>
                <a:ea typeface="Georgia" pitchFamily="34" charset="-122"/>
                <a:cs typeface="Georgia" pitchFamily="34" charset="-120"/>
              </a:rPr>
              <a:t>Replacing the model: not plug-and-play</a:t>
            </a:r>
            <a:endParaRPr lang="en-US" sz="2400" dirty="0"/>
          </a:p>
        </p:txBody>
      </p:sp>
      <p:sp>
        <p:nvSpPr>
          <p:cNvPr id="4" name="pp0"/>
          <p:cNvSpPr/>
          <p:nvPr/>
        </p:nvSpPr>
        <p:spPr>
          <a:xfrm>
            <a:off x="457200" y="1234440"/>
            <a:ext cx="1463040" cy="868680"/>
          </a:xfrm>
          <a:prstGeom prst="roundRect">
            <a:avLst>
              <a:gd name="adj" fmla="val 8421"/>
            </a:avLst>
          </a:prstGeom>
          <a:solidFill>
            <a:schemeClr val="bg2"/>
          </a:solidFill>
          <a:ln w="12700">
            <a:solidFill>
              <a:schemeClr val="bg2"/>
            </a:solidFill>
            <a:prstDash val="solid"/>
          </a:ln>
        </p:spPr>
      </p:sp>
      <p:sp>
        <p:nvSpPr>
          <p:cNvPr id="5" name="Text 3"/>
          <p:cNvSpPr txBox="1"/>
          <p:nvPr/>
        </p:nvSpPr>
        <p:spPr>
          <a:xfrm>
            <a:off x="512064" y="1234440"/>
            <a:ext cx="1353312" cy="868680"/>
          </a:xfrm>
          <a:prstGeom prst="rect">
            <a:avLst/>
          </a:prstGeom>
          <a:noFill/>
          <a:ln/>
        </p:spPr>
        <p:txBody>
          <a:bodyPr wrap="square" lIns="0" tIns="0" rIns="0" bIns="0" rtlCol="0" anchor="ctr"/>
          <a:lstStyle/>
          <a:p>
            <a:pPr marL="0" indent="0" algn="ctr">
              <a:buNone/>
            </a:pPr>
            <a:r>
              <a:rPr lang="en-US" sz="1200" b="1" dirty="0">
                <a:solidFill>
                  <a:schemeClr val="tx2"/>
                </a:solidFill>
                <a:latin typeface="Calibri" pitchFamily="34" charset="0"/>
                <a:ea typeface="Calibri" pitchFamily="34" charset="-122"/>
                <a:cs typeface="Calibri" pitchFamily="34" charset="-120"/>
              </a:rPr>
              <a:t>Layout</a:t>
            </a:r>
            <a:endParaRPr lang="en-US" sz="1200" dirty="0"/>
          </a:p>
          <a:p>
            <a:pPr marL="0" indent="0" algn="ctr">
              <a:buNone/>
            </a:pPr>
            <a:r>
              <a:rPr lang="en-US" sz="1000" dirty="0">
                <a:solidFill>
                  <a:schemeClr val="tx2"/>
                </a:solidFill>
                <a:latin typeface="Consolas" pitchFamily="34" charset="0"/>
                <a:ea typeface="Consolas" pitchFamily="34" charset="-122"/>
                <a:cs typeface="Consolas" pitchFamily="34" charset="-120"/>
              </a:rPr>
              <a:t>(batch, 2, 10)</a:t>
            </a:r>
            <a:endParaRPr lang="en-US" sz="1200" dirty="0"/>
          </a:p>
        </p:txBody>
      </p:sp>
      <p:sp>
        <p:nvSpPr>
          <p:cNvPr id="6" name="ppa0"/>
          <p:cNvSpPr/>
          <p:nvPr/>
        </p:nvSpPr>
        <p:spPr>
          <a:xfrm>
            <a:off x="1938528" y="1668780"/>
            <a:ext cx="192024" cy="0"/>
          </a:xfrm>
          <a:prstGeom prst="line">
            <a:avLst/>
          </a:prstGeom>
          <a:noFill/>
          <a:ln w="22225">
            <a:solidFill>
              <a:schemeClr val="accent4"/>
            </a:solidFill>
            <a:prstDash val="solid"/>
            <a:tailEnd type="triangle"/>
          </a:ln>
        </p:spPr>
      </p:sp>
      <p:sp>
        <p:nvSpPr>
          <p:cNvPr id="7" name="pp1"/>
          <p:cNvSpPr/>
          <p:nvPr/>
        </p:nvSpPr>
        <p:spPr>
          <a:xfrm>
            <a:off x="2148840" y="1234440"/>
            <a:ext cx="1463040" cy="868680"/>
          </a:xfrm>
          <a:prstGeom prst="roundRect">
            <a:avLst>
              <a:gd name="adj" fmla="val 8421"/>
            </a:avLst>
          </a:prstGeom>
          <a:solidFill>
            <a:schemeClr val="accent1"/>
          </a:solidFill>
          <a:ln w="12700">
            <a:solidFill>
              <a:schemeClr val="accent1"/>
            </a:solidFill>
            <a:prstDash val="solid"/>
          </a:ln>
        </p:spPr>
      </p:sp>
      <p:sp>
        <p:nvSpPr>
          <p:cNvPr id="8" name="Text 6"/>
          <p:cNvSpPr txBox="1"/>
          <p:nvPr/>
        </p:nvSpPr>
        <p:spPr>
          <a:xfrm>
            <a:off x="2203704" y="1234440"/>
            <a:ext cx="1353312" cy="868680"/>
          </a:xfrm>
          <a:prstGeom prst="rect">
            <a:avLst/>
          </a:prstGeom>
          <a:noFill/>
          <a:ln/>
        </p:spPr>
        <p:txBody>
          <a:bodyPr wrap="square" lIns="0" tIns="0" rIns="0" bIns="0" rtlCol="0" anchor="ctr"/>
          <a:lstStyle/>
          <a:p>
            <a:pPr marL="0" indent="0" algn="ctr">
              <a:buNone/>
            </a:pPr>
            <a:r>
              <a:rPr lang="en-US" sz="1200" b="1" dirty="0">
                <a:solidFill>
                  <a:schemeClr val="bg1"/>
                </a:solidFill>
                <a:latin typeface="Calibri" pitchFamily="34" charset="0"/>
                <a:ea typeface="Calibri" pitchFamily="34" charset="-122"/>
                <a:cs typeface="Calibri" pitchFamily="34" charset="-120"/>
              </a:rPr>
              <a:t>SEP-CNN  or  2D ResNet</a:t>
            </a:r>
            <a:endParaRPr lang="en-US" sz="1200" dirty="0"/>
          </a:p>
        </p:txBody>
      </p:sp>
      <p:sp>
        <p:nvSpPr>
          <p:cNvPr id="9" name="ppa1"/>
          <p:cNvSpPr/>
          <p:nvPr/>
        </p:nvSpPr>
        <p:spPr>
          <a:xfrm>
            <a:off x="3630168" y="1668780"/>
            <a:ext cx="192024" cy="0"/>
          </a:xfrm>
          <a:prstGeom prst="line">
            <a:avLst/>
          </a:prstGeom>
          <a:noFill/>
          <a:ln w="22225">
            <a:solidFill>
              <a:schemeClr val="accent4"/>
            </a:solidFill>
            <a:prstDash val="solid"/>
            <a:tailEnd type="triangle"/>
          </a:ln>
        </p:spPr>
      </p:sp>
      <p:sp>
        <p:nvSpPr>
          <p:cNvPr id="10" name="pp2"/>
          <p:cNvSpPr/>
          <p:nvPr/>
        </p:nvSpPr>
        <p:spPr>
          <a:xfrm>
            <a:off x="3840480" y="1234440"/>
            <a:ext cx="1463040" cy="868680"/>
          </a:xfrm>
          <a:prstGeom prst="roundRect">
            <a:avLst>
              <a:gd name="adj" fmla="val 8421"/>
            </a:avLst>
          </a:prstGeom>
          <a:solidFill>
            <a:schemeClr val="bg2"/>
          </a:solidFill>
          <a:ln w="12700">
            <a:solidFill>
              <a:schemeClr val="bg2"/>
            </a:solidFill>
            <a:prstDash val="solid"/>
          </a:ln>
        </p:spPr>
      </p:sp>
      <p:sp>
        <p:nvSpPr>
          <p:cNvPr id="11" name="Text 9"/>
          <p:cNvSpPr txBox="1"/>
          <p:nvPr/>
        </p:nvSpPr>
        <p:spPr>
          <a:xfrm>
            <a:off x="3895344" y="1234440"/>
            <a:ext cx="1353312" cy="868680"/>
          </a:xfrm>
          <a:prstGeom prst="rect">
            <a:avLst/>
          </a:prstGeom>
          <a:noFill/>
          <a:ln/>
        </p:spPr>
        <p:txBody>
          <a:bodyPr wrap="square" lIns="0" tIns="0" rIns="0" bIns="0" rtlCol="0" anchor="ctr"/>
          <a:lstStyle/>
          <a:p>
            <a:pPr marL="0" indent="0" algn="ctr">
              <a:buNone/>
            </a:pPr>
            <a:r>
              <a:rPr lang="en-US" sz="1200" b="1" dirty="0">
                <a:solidFill>
                  <a:schemeClr val="tx2"/>
                </a:solidFill>
                <a:latin typeface="Calibri" pitchFamily="34" charset="0"/>
                <a:ea typeface="Calibri" pitchFamily="34" charset="-122"/>
                <a:cs typeface="Calibri" pitchFamily="34" charset="-120"/>
              </a:rPr>
              <a:t>Predicted curve</a:t>
            </a:r>
            <a:endParaRPr lang="en-US" sz="1200" dirty="0"/>
          </a:p>
          <a:p>
            <a:pPr marL="0" indent="0" algn="ctr">
              <a:buNone/>
            </a:pPr>
            <a:r>
              <a:rPr lang="en-US" sz="1000" dirty="0">
                <a:solidFill>
                  <a:schemeClr val="tx2"/>
                </a:solidFill>
                <a:latin typeface="Consolas" pitchFamily="34" charset="0"/>
                <a:ea typeface="Consolas" pitchFamily="34" charset="-122"/>
                <a:cs typeface="Consolas" pitchFamily="34" charset="-120"/>
              </a:rPr>
              <a:t>(batch, 2, 200)</a:t>
            </a:r>
            <a:endParaRPr lang="en-US" sz="1200" dirty="0"/>
          </a:p>
        </p:txBody>
      </p:sp>
      <p:sp>
        <p:nvSpPr>
          <p:cNvPr id="12" name="ppa2"/>
          <p:cNvSpPr/>
          <p:nvPr/>
        </p:nvSpPr>
        <p:spPr>
          <a:xfrm>
            <a:off x="5321808" y="1668780"/>
            <a:ext cx="192024" cy="0"/>
          </a:xfrm>
          <a:prstGeom prst="line">
            <a:avLst/>
          </a:prstGeom>
          <a:noFill/>
          <a:ln w="22225">
            <a:solidFill>
              <a:schemeClr val="accent4"/>
            </a:solidFill>
            <a:prstDash val="solid"/>
            <a:tailEnd type="triangle"/>
          </a:ln>
        </p:spPr>
      </p:sp>
      <p:sp>
        <p:nvSpPr>
          <p:cNvPr id="13" name="pp3"/>
          <p:cNvSpPr/>
          <p:nvPr/>
        </p:nvSpPr>
        <p:spPr>
          <a:xfrm>
            <a:off x="5532120" y="1234440"/>
            <a:ext cx="1463040" cy="868680"/>
          </a:xfrm>
          <a:prstGeom prst="roundRect">
            <a:avLst>
              <a:gd name="adj" fmla="val 8421"/>
            </a:avLst>
          </a:prstGeom>
          <a:solidFill>
            <a:schemeClr val="bg2"/>
          </a:solidFill>
          <a:ln w="12700">
            <a:solidFill>
              <a:schemeClr val="bg2"/>
            </a:solidFill>
            <a:prstDash val="solid"/>
          </a:ln>
        </p:spPr>
      </p:sp>
      <p:sp>
        <p:nvSpPr>
          <p:cNvPr id="14" name="Text 12"/>
          <p:cNvSpPr txBox="1"/>
          <p:nvPr/>
        </p:nvSpPr>
        <p:spPr>
          <a:xfrm>
            <a:off x="5586984" y="1234440"/>
            <a:ext cx="1353312" cy="868680"/>
          </a:xfrm>
          <a:prstGeom prst="rect">
            <a:avLst/>
          </a:prstGeom>
          <a:noFill/>
          <a:ln/>
        </p:spPr>
        <p:txBody>
          <a:bodyPr wrap="square" lIns="0" tIns="0" rIns="0" bIns="0" rtlCol="0" anchor="ctr"/>
          <a:lstStyle/>
          <a:p>
            <a:pPr marL="0" indent="0" algn="ctr">
              <a:buNone/>
            </a:pPr>
            <a:r>
              <a:rPr lang="en-US" sz="1200" b="1" dirty="0">
                <a:solidFill>
                  <a:schemeClr val="tx2"/>
                </a:solidFill>
                <a:latin typeface="Calibri" pitchFamily="34" charset="0"/>
                <a:ea typeface="Calibri" pitchFamily="34" charset="-122"/>
                <a:cs typeface="Calibri" pitchFamily="34" charset="-120"/>
              </a:rPr>
              <a:t>Score vs target</a:t>
            </a:r>
            <a:endParaRPr lang="en-US" sz="1200" dirty="0"/>
          </a:p>
          <a:p>
            <a:pPr marL="0" indent="0" algn="ctr">
              <a:buNone/>
            </a:pPr>
            <a:r>
              <a:rPr lang="en-US" sz="1000" dirty="0">
                <a:solidFill>
                  <a:schemeClr val="tx2"/>
                </a:solidFill>
                <a:latin typeface="Consolas" pitchFamily="34" charset="0"/>
                <a:ea typeface="Consolas" pitchFamily="34" charset="-122"/>
                <a:cs typeface="Consolas" pitchFamily="34" charset="-120"/>
              </a:rPr>
              <a:t>target_test.csv</a:t>
            </a:r>
            <a:endParaRPr lang="en-US" sz="1200" dirty="0"/>
          </a:p>
        </p:txBody>
      </p:sp>
      <p:sp>
        <p:nvSpPr>
          <p:cNvPr id="15" name="ppa3"/>
          <p:cNvSpPr/>
          <p:nvPr/>
        </p:nvSpPr>
        <p:spPr>
          <a:xfrm>
            <a:off x="7013448" y="1668780"/>
            <a:ext cx="192024" cy="0"/>
          </a:xfrm>
          <a:prstGeom prst="line">
            <a:avLst/>
          </a:prstGeom>
          <a:noFill/>
          <a:ln w="22225">
            <a:solidFill>
              <a:schemeClr val="accent4"/>
            </a:solidFill>
            <a:prstDash val="solid"/>
            <a:tailEnd type="triangle"/>
          </a:ln>
        </p:spPr>
      </p:sp>
      <p:sp>
        <p:nvSpPr>
          <p:cNvPr id="16" name="pp4"/>
          <p:cNvSpPr/>
          <p:nvPr/>
        </p:nvSpPr>
        <p:spPr>
          <a:xfrm>
            <a:off x="7223760" y="1234440"/>
            <a:ext cx="1463040" cy="868680"/>
          </a:xfrm>
          <a:prstGeom prst="roundRect">
            <a:avLst>
              <a:gd name="adj" fmla="val 8421"/>
            </a:avLst>
          </a:prstGeom>
          <a:solidFill>
            <a:schemeClr val="bg2"/>
          </a:solidFill>
          <a:ln w="12700">
            <a:solidFill>
              <a:schemeClr val="bg2"/>
            </a:solidFill>
            <a:prstDash val="solid"/>
          </a:ln>
        </p:spPr>
      </p:sp>
      <p:sp>
        <p:nvSpPr>
          <p:cNvPr id="17" name="Text 15"/>
          <p:cNvSpPr txBox="1"/>
          <p:nvPr/>
        </p:nvSpPr>
        <p:spPr>
          <a:xfrm>
            <a:off x="7278624" y="1234440"/>
            <a:ext cx="1353312" cy="868680"/>
          </a:xfrm>
          <a:prstGeom prst="rect">
            <a:avLst/>
          </a:prstGeom>
          <a:noFill/>
          <a:ln/>
        </p:spPr>
        <p:txBody>
          <a:bodyPr wrap="square" lIns="0" tIns="0" rIns="0" bIns="0" rtlCol="0" anchor="ctr"/>
          <a:lstStyle/>
          <a:p>
            <a:pPr marL="0" indent="0" algn="ctr">
              <a:buNone/>
            </a:pPr>
            <a:r>
              <a:rPr lang="en-US" sz="1200" b="1" dirty="0">
                <a:solidFill>
                  <a:schemeClr val="tx2"/>
                </a:solidFill>
                <a:latin typeface="Calibri" pitchFamily="34" charset="0"/>
                <a:ea typeface="Calibri" pitchFamily="34" charset="-122"/>
                <a:cs typeface="Calibri" pitchFamily="34" charset="-120"/>
              </a:rPr>
              <a:t>PEA</a:t>
            </a:r>
            <a:endParaRPr lang="en-US" sz="1200" dirty="0"/>
          </a:p>
          <a:p>
            <a:pPr marL="0" indent="0" algn="ctr">
              <a:buNone/>
            </a:pPr>
            <a:r>
              <a:rPr lang="en-US" sz="1000" dirty="0">
                <a:solidFill>
                  <a:schemeClr val="tx2"/>
                </a:solidFill>
                <a:latin typeface="Consolas" pitchFamily="34" charset="0"/>
                <a:ea typeface="Consolas" pitchFamily="34" charset="-122"/>
                <a:cs typeface="Consolas" pitchFamily="34" charset="-120"/>
              </a:rPr>
              <a:t>search</a:t>
            </a:r>
            <a:endParaRPr lang="en-US" sz="1200" dirty="0"/>
          </a:p>
        </p:txBody>
      </p:sp>
      <p:sp>
        <p:nvSpPr>
          <p:cNvPr id="18" name="Text 16"/>
          <p:cNvSpPr txBox="1"/>
          <p:nvPr/>
        </p:nvSpPr>
        <p:spPr>
          <a:xfrm>
            <a:off x="457200" y="2331720"/>
            <a:ext cx="8229600" cy="320040"/>
          </a:xfrm>
          <a:prstGeom prst="rect">
            <a:avLst/>
          </a:prstGeom>
          <a:noFill/>
          <a:ln/>
        </p:spPr>
        <p:txBody>
          <a:bodyPr wrap="square" lIns="0" tIns="0" rIns="0" bIns="0" rtlCol="0" anchor="t"/>
          <a:lstStyle/>
          <a:p>
            <a:pPr marL="0" indent="0">
              <a:buNone/>
            </a:pPr>
            <a:r>
              <a:rPr lang="en-US" sz="1400" b="1" dirty="0">
                <a:solidFill>
                  <a:schemeClr val="tx2"/>
                </a:solidFill>
                <a:latin typeface="Calibri" pitchFamily="34" charset="0"/>
                <a:ea typeface="Calibri" pitchFamily="34" charset="-122"/>
                <a:cs typeface="Calibri" pitchFamily="34" charset="-120"/>
              </a:rPr>
              <a:t>Same input/output shapes. Still needed:</a:t>
            </a:r>
            <a:endParaRPr lang="en-US" sz="1400" dirty="0"/>
          </a:p>
        </p:txBody>
      </p:sp>
      <p:sp>
        <p:nvSpPr>
          <p:cNvPr id="19" name="nd0"/>
          <p:cNvSpPr/>
          <p:nvPr/>
        </p:nvSpPr>
        <p:spPr>
          <a:xfrm>
            <a:off x="457200" y="2743200"/>
            <a:ext cx="1938528" cy="1325880"/>
          </a:xfrm>
          <a:prstGeom prst="roundRect">
            <a:avLst>
              <a:gd name="adj" fmla="val 5517"/>
            </a:avLst>
          </a:prstGeom>
          <a:solidFill>
            <a:schemeClr val="bg2"/>
          </a:solidFill>
          <a:ln w="12700">
            <a:solidFill>
              <a:schemeClr val="bg2"/>
            </a:solidFill>
            <a:prstDash val="solid"/>
          </a:ln>
        </p:spPr>
      </p:sp>
      <p:sp>
        <p:nvSpPr>
          <p:cNvPr id="20" name="ndc0-c"/>
          <p:cNvSpPr/>
          <p:nvPr/>
        </p:nvSpPr>
        <p:spPr>
          <a:xfrm>
            <a:off x="594360" y="2880360"/>
            <a:ext cx="457200" cy="457200"/>
          </a:xfrm>
          <a:prstGeom prst="ellipse">
            <a:avLst/>
          </a:prstGeom>
          <a:solidFill>
            <a:schemeClr val="accent2"/>
          </a:solidFill>
          <a:ln w="12700">
            <a:solidFill>
              <a:schemeClr val="accent2"/>
            </a:solidFill>
            <a:prstDash val="solid"/>
          </a:ln>
        </p:spPr>
      </p:sp>
      <p:pic>
        <p:nvPicPr>
          <p:cNvPr id="21" name="ndc0-i" descr="preencoded.png"/>
          <p:cNvPicPr>
            <a:picLocks noChangeAspect="1"/>
          </p:cNvPicPr>
          <p:nvPr/>
        </p:nvPicPr>
        <p:blipFill>
          <a:blip r:embed="rId3"/>
          <a:stretch>
            <a:fillRect/>
          </a:stretch>
        </p:blipFill>
        <p:spPr>
          <a:xfrm>
            <a:off x="713232" y="2999232"/>
            <a:ext cx="219456" cy="219456"/>
          </a:xfrm>
          <a:prstGeom prst="rect">
            <a:avLst/>
          </a:prstGeom>
        </p:spPr>
      </p:pic>
      <p:sp>
        <p:nvSpPr>
          <p:cNvPr id="22" name="Text 19"/>
          <p:cNvSpPr txBox="1"/>
          <p:nvPr/>
        </p:nvSpPr>
        <p:spPr>
          <a:xfrm>
            <a:off x="594360" y="3401568"/>
            <a:ext cx="1691640" cy="274320"/>
          </a:xfrm>
          <a:prstGeom prst="rect">
            <a:avLst/>
          </a:prstGeom>
          <a:noFill/>
          <a:ln/>
        </p:spPr>
        <p:txBody>
          <a:bodyPr wrap="square" lIns="0" tIns="0" rIns="0" bIns="0" rtlCol="0" anchor="t"/>
          <a:lstStyle/>
          <a:p>
            <a:pPr marL="0" indent="0">
              <a:buNone/>
            </a:pPr>
            <a:r>
              <a:rPr lang="en-US" sz="1250" b="1" dirty="0">
                <a:solidFill>
                  <a:schemeClr val="tx2"/>
                </a:solidFill>
                <a:latin typeface="Calibri" pitchFamily="34" charset="0"/>
                <a:ea typeface="Calibri" pitchFamily="34" charset="-122"/>
                <a:cs typeface="Calibri" pitchFamily="34" charset="-120"/>
              </a:rPr>
              <a:t>Matching preprocessing</a:t>
            </a:r>
            <a:endParaRPr lang="en-US" sz="1250" dirty="0"/>
          </a:p>
        </p:txBody>
      </p:sp>
      <p:sp>
        <p:nvSpPr>
          <p:cNvPr id="23" name="Text 20"/>
          <p:cNvSpPr txBox="1"/>
          <p:nvPr/>
        </p:nvSpPr>
        <p:spPr>
          <a:xfrm>
            <a:off x="594360" y="3675888"/>
            <a:ext cx="1691640" cy="320040"/>
          </a:xfrm>
          <a:prstGeom prst="rect">
            <a:avLst/>
          </a:prstGeom>
          <a:noFill/>
          <a:ln/>
        </p:spPr>
        <p:txBody>
          <a:bodyPr wrap="square" lIns="0" tIns="0" rIns="0" bIns="0" rtlCol="0" anchor="t"/>
          <a:lstStyle/>
          <a:p>
            <a:pPr marL="0" indent="0">
              <a:buNone/>
            </a:pPr>
            <a:r>
              <a:rPr lang="en-US" sz="1000" dirty="0">
                <a:solidFill>
                  <a:schemeClr val="accent4"/>
                </a:solidFill>
                <a:latin typeface="Calibri" pitchFamily="34" charset="0"/>
                <a:ea typeface="Calibri" pitchFamily="34" charset="-122"/>
                <a:cs typeface="Calibri" pitchFamily="34" charset="-120"/>
              </a:rPr>
              <a:t>/1000 scaling, curve unification</a:t>
            </a:r>
            <a:endParaRPr lang="en-US" sz="1000" dirty="0"/>
          </a:p>
        </p:txBody>
      </p:sp>
      <p:sp>
        <p:nvSpPr>
          <p:cNvPr id="24" name="nd1"/>
          <p:cNvSpPr/>
          <p:nvPr/>
        </p:nvSpPr>
        <p:spPr>
          <a:xfrm>
            <a:off x="2532888" y="2743200"/>
            <a:ext cx="1938528" cy="1325880"/>
          </a:xfrm>
          <a:prstGeom prst="roundRect">
            <a:avLst>
              <a:gd name="adj" fmla="val 5517"/>
            </a:avLst>
          </a:prstGeom>
          <a:solidFill>
            <a:schemeClr val="bg2"/>
          </a:solidFill>
          <a:ln w="12700">
            <a:solidFill>
              <a:schemeClr val="bg2"/>
            </a:solidFill>
            <a:prstDash val="solid"/>
          </a:ln>
        </p:spPr>
      </p:sp>
      <p:sp>
        <p:nvSpPr>
          <p:cNvPr id="25" name="ndc1-c"/>
          <p:cNvSpPr/>
          <p:nvPr/>
        </p:nvSpPr>
        <p:spPr>
          <a:xfrm>
            <a:off x="2670048" y="2880360"/>
            <a:ext cx="457200" cy="457200"/>
          </a:xfrm>
          <a:prstGeom prst="ellipse">
            <a:avLst/>
          </a:prstGeom>
          <a:solidFill>
            <a:schemeClr val="accent2"/>
          </a:solidFill>
          <a:ln w="12700">
            <a:solidFill>
              <a:schemeClr val="accent2"/>
            </a:solidFill>
            <a:prstDash val="solid"/>
          </a:ln>
        </p:spPr>
      </p:sp>
      <p:pic>
        <p:nvPicPr>
          <p:cNvPr id="26" name="ndc1-i" descr="preencoded.png"/>
          <p:cNvPicPr>
            <a:picLocks noChangeAspect="1"/>
          </p:cNvPicPr>
          <p:nvPr/>
        </p:nvPicPr>
        <p:blipFill>
          <a:blip r:embed="rId4"/>
          <a:stretch>
            <a:fillRect/>
          </a:stretch>
        </p:blipFill>
        <p:spPr>
          <a:xfrm>
            <a:off x="2788920" y="2999232"/>
            <a:ext cx="219456" cy="219456"/>
          </a:xfrm>
          <a:prstGeom prst="rect">
            <a:avLst/>
          </a:prstGeom>
        </p:spPr>
      </p:pic>
      <p:sp>
        <p:nvSpPr>
          <p:cNvPr id="27" name="Text 23"/>
          <p:cNvSpPr txBox="1"/>
          <p:nvPr/>
        </p:nvSpPr>
        <p:spPr>
          <a:xfrm>
            <a:off x="2670048" y="3401568"/>
            <a:ext cx="1691640" cy="274320"/>
          </a:xfrm>
          <a:prstGeom prst="rect">
            <a:avLst/>
          </a:prstGeom>
          <a:noFill/>
          <a:ln/>
        </p:spPr>
        <p:txBody>
          <a:bodyPr wrap="square" lIns="0" tIns="0" rIns="0" bIns="0" rtlCol="0" anchor="t"/>
          <a:lstStyle/>
          <a:p>
            <a:pPr marL="0" indent="0">
              <a:buNone/>
            </a:pPr>
            <a:r>
              <a:rPr lang="en-US" sz="1250" b="1" dirty="0">
                <a:solidFill>
                  <a:schemeClr val="tx2"/>
                </a:solidFill>
                <a:latin typeface="Calibri" pitchFamily="34" charset="0"/>
                <a:ea typeface="Calibri" pitchFamily="34" charset="-122"/>
                <a:cs typeface="Calibri" pitchFamily="34" charset="-120"/>
              </a:rPr>
              <a:t>Same output format</a:t>
            </a:r>
            <a:endParaRPr lang="en-US" sz="1250" dirty="0"/>
          </a:p>
        </p:txBody>
      </p:sp>
      <p:sp>
        <p:nvSpPr>
          <p:cNvPr id="28" name="Text 24"/>
          <p:cNvSpPr txBox="1"/>
          <p:nvPr/>
        </p:nvSpPr>
        <p:spPr>
          <a:xfrm>
            <a:off x="2670048" y="3675888"/>
            <a:ext cx="1691640" cy="320040"/>
          </a:xfrm>
          <a:prstGeom prst="rect">
            <a:avLst/>
          </a:prstGeom>
          <a:noFill/>
          <a:ln/>
        </p:spPr>
        <p:txBody>
          <a:bodyPr wrap="square" lIns="0" tIns="0" rIns="0" bIns="0" rtlCol="0" anchor="t"/>
          <a:lstStyle/>
          <a:p>
            <a:pPr marL="0" indent="0">
              <a:buNone/>
            </a:pPr>
            <a:r>
              <a:rPr lang="en-US" sz="1000" dirty="0">
                <a:solidFill>
                  <a:schemeClr val="accent4"/>
                </a:solidFill>
                <a:latin typeface="Calibri" pitchFamily="34" charset="0"/>
                <a:ea typeface="Calibri" pitchFamily="34" charset="-122"/>
                <a:cs typeface="Calibri" pitchFamily="34" charset="-120"/>
              </a:rPr>
              <a:t>2 × 200 predicted curve</a:t>
            </a:r>
            <a:endParaRPr lang="en-US" sz="1000" dirty="0"/>
          </a:p>
        </p:txBody>
      </p:sp>
      <p:sp>
        <p:nvSpPr>
          <p:cNvPr id="29" name="nd2"/>
          <p:cNvSpPr/>
          <p:nvPr/>
        </p:nvSpPr>
        <p:spPr>
          <a:xfrm>
            <a:off x="4608576" y="2743200"/>
            <a:ext cx="1938528" cy="1325880"/>
          </a:xfrm>
          <a:prstGeom prst="roundRect">
            <a:avLst>
              <a:gd name="adj" fmla="val 5517"/>
            </a:avLst>
          </a:prstGeom>
          <a:solidFill>
            <a:schemeClr val="bg2"/>
          </a:solidFill>
          <a:ln w="12700">
            <a:solidFill>
              <a:schemeClr val="bg2"/>
            </a:solidFill>
            <a:prstDash val="solid"/>
          </a:ln>
        </p:spPr>
      </p:sp>
      <p:sp>
        <p:nvSpPr>
          <p:cNvPr id="30" name="ndc2-c"/>
          <p:cNvSpPr/>
          <p:nvPr/>
        </p:nvSpPr>
        <p:spPr>
          <a:xfrm>
            <a:off x="4745736" y="2880360"/>
            <a:ext cx="457200" cy="457200"/>
          </a:xfrm>
          <a:prstGeom prst="ellipse">
            <a:avLst/>
          </a:prstGeom>
          <a:solidFill>
            <a:schemeClr val="accent2"/>
          </a:solidFill>
          <a:ln w="12700">
            <a:solidFill>
              <a:schemeClr val="accent2"/>
            </a:solidFill>
            <a:prstDash val="solid"/>
          </a:ln>
        </p:spPr>
      </p:sp>
      <p:pic>
        <p:nvPicPr>
          <p:cNvPr id="31" name="ndc2-i" descr="preencoded.png"/>
          <p:cNvPicPr>
            <a:picLocks noChangeAspect="1"/>
          </p:cNvPicPr>
          <p:nvPr/>
        </p:nvPicPr>
        <p:blipFill>
          <a:blip r:embed="rId5"/>
          <a:stretch>
            <a:fillRect/>
          </a:stretch>
        </p:blipFill>
        <p:spPr>
          <a:xfrm>
            <a:off x="4864608" y="2999232"/>
            <a:ext cx="219456" cy="219456"/>
          </a:xfrm>
          <a:prstGeom prst="rect">
            <a:avLst/>
          </a:prstGeom>
        </p:spPr>
      </p:pic>
      <p:sp>
        <p:nvSpPr>
          <p:cNvPr id="32" name="Text 27"/>
          <p:cNvSpPr txBox="1"/>
          <p:nvPr/>
        </p:nvSpPr>
        <p:spPr>
          <a:xfrm>
            <a:off x="4745736" y="3401568"/>
            <a:ext cx="1691640" cy="274320"/>
          </a:xfrm>
          <a:prstGeom prst="rect">
            <a:avLst/>
          </a:prstGeom>
          <a:noFill/>
          <a:ln/>
        </p:spPr>
        <p:txBody>
          <a:bodyPr wrap="square" lIns="0" tIns="0" rIns="0" bIns="0" rtlCol="0" anchor="t"/>
          <a:lstStyle/>
          <a:p>
            <a:pPr marL="0" indent="0">
              <a:buNone/>
            </a:pPr>
            <a:r>
              <a:rPr lang="en-US" sz="1250" b="1" dirty="0">
                <a:solidFill>
                  <a:schemeClr val="tx2"/>
                </a:solidFill>
                <a:latin typeface="Calibri" pitchFamily="34" charset="0"/>
                <a:ea typeface="Calibri" pitchFamily="34" charset="-122"/>
                <a:cs typeface="Calibri" pitchFamily="34" charset="-120"/>
              </a:rPr>
              <a:t>New trained weights</a:t>
            </a:r>
            <a:endParaRPr lang="en-US" sz="1250" dirty="0"/>
          </a:p>
        </p:txBody>
      </p:sp>
      <p:sp>
        <p:nvSpPr>
          <p:cNvPr id="33" name="Text 28"/>
          <p:cNvSpPr txBox="1"/>
          <p:nvPr/>
        </p:nvSpPr>
        <p:spPr>
          <a:xfrm>
            <a:off x="4745736" y="3675888"/>
            <a:ext cx="1691640" cy="320040"/>
          </a:xfrm>
          <a:prstGeom prst="rect">
            <a:avLst/>
          </a:prstGeom>
          <a:noFill/>
          <a:ln/>
        </p:spPr>
        <p:txBody>
          <a:bodyPr wrap="square" lIns="0" tIns="0" rIns="0" bIns="0" rtlCol="0" anchor="t"/>
          <a:lstStyle/>
          <a:p>
            <a:pPr marL="0" indent="0">
              <a:buNone/>
            </a:pPr>
            <a:r>
              <a:rPr lang="en-US" sz="1000" dirty="0">
                <a:solidFill>
                  <a:schemeClr val="accent4"/>
                </a:solidFill>
                <a:latin typeface="Calibri" pitchFamily="34" charset="0"/>
                <a:ea typeface="Calibri" pitchFamily="34" charset="-122"/>
                <a:cs typeface="Calibri" pitchFamily="34" charset="-120"/>
              </a:rPr>
              <a:t>retrained checkpoint</a:t>
            </a:r>
            <a:endParaRPr lang="en-US" sz="1000" dirty="0"/>
          </a:p>
        </p:txBody>
      </p:sp>
      <p:sp>
        <p:nvSpPr>
          <p:cNvPr id="34" name="nd3"/>
          <p:cNvSpPr/>
          <p:nvPr/>
        </p:nvSpPr>
        <p:spPr>
          <a:xfrm>
            <a:off x="6684264" y="2743200"/>
            <a:ext cx="1938528" cy="1325880"/>
          </a:xfrm>
          <a:prstGeom prst="roundRect">
            <a:avLst>
              <a:gd name="adj" fmla="val 5517"/>
            </a:avLst>
          </a:prstGeom>
          <a:solidFill>
            <a:schemeClr val="bg2"/>
          </a:solidFill>
          <a:ln w="12700">
            <a:solidFill>
              <a:schemeClr val="bg2"/>
            </a:solidFill>
            <a:prstDash val="solid"/>
          </a:ln>
        </p:spPr>
      </p:sp>
      <p:sp>
        <p:nvSpPr>
          <p:cNvPr id="35" name="ndc3-c"/>
          <p:cNvSpPr/>
          <p:nvPr/>
        </p:nvSpPr>
        <p:spPr>
          <a:xfrm>
            <a:off x="6821424" y="2880360"/>
            <a:ext cx="457200" cy="457200"/>
          </a:xfrm>
          <a:prstGeom prst="ellipse">
            <a:avLst/>
          </a:prstGeom>
          <a:solidFill>
            <a:schemeClr val="accent2"/>
          </a:solidFill>
          <a:ln w="12700">
            <a:solidFill>
              <a:schemeClr val="accent2"/>
            </a:solidFill>
            <a:prstDash val="solid"/>
          </a:ln>
        </p:spPr>
      </p:sp>
      <p:pic>
        <p:nvPicPr>
          <p:cNvPr id="36" name="ndc3-i" descr="preencoded.png"/>
          <p:cNvPicPr>
            <a:picLocks noChangeAspect="1"/>
          </p:cNvPicPr>
          <p:nvPr/>
        </p:nvPicPr>
        <p:blipFill>
          <a:blip r:embed="rId6"/>
          <a:stretch>
            <a:fillRect/>
          </a:stretch>
        </p:blipFill>
        <p:spPr>
          <a:xfrm>
            <a:off x="6940296" y="2999232"/>
            <a:ext cx="219456" cy="219456"/>
          </a:xfrm>
          <a:prstGeom prst="rect">
            <a:avLst/>
          </a:prstGeom>
        </p:spPr>
      </p:pic>
      <p:sp>
        <p:nvSpPr>
          <p:cNvPr id="37" name="Text 31"/>
          <p:cNvSpPr txBox="1"/>
          <p:nvPr/>
        </p:nvSpPr>
        <p:spPr>
          <a:xfrm>
            <a:off x="6821424" y="3401568"/>
            <a:ext cx="1691640" cy="274320"/>
          </a:xfrm>
          <a:prstGeom prst="rect">
            <a:avLst/>
          </a:prstGeom>
          <a:noFill/>
          <a:ln/>
        </p:spPr>
        <p:txBody>
          <a:bodyPr wrap="square" lIns="0" tIns="0" rIns="0" bIns="0" rtlCol="0" anchor="t"/>
          <a:lstStyle/>
          <a:p>
            <a:pPr marL="0" indent="0">
              <a:buNone/>
            </a:pPr>
            <a:r>
              <a:rPr lang="en-US" sz="1250" b="1" dirty="0">
                <a:solidFill>
                  <a:schemeClr val="tx2"/>
                </a:solidFill>
                <a:latin typeface="Calibri" pitchFamily="34" charset="0"/>
                <a:ea typeface="Calibri" pitchFamily="34" charset="-122"/>
                <a:cs typeface="Calibri" pitchFamily="34" charset="-120"/>
              </a:rPr>
              <a:t>PEA integration</a:t>
            </a:r>
            <a:endParaRPr lang="en-US" sz="1250" dirty="0"/>
          </a:p>
        </p:txBody>
      </p:sp>
      <p:sp>
        <p:nvSpPr>
          <p:cNvPr id="38" name="Text 32"/>
          <p:cNvSpPr txBox="1"/>
          <p:nvPr/>
        </p:nvSpPr>
        <p:spPr>
          <a:xfrm>
            <a:off x="6821424" y="3675888"/>
            <a:ext cx="1691640" cy="320040"/>
          </a:xfrm>
          <a:prstGeom prst="rect">
            <a:avLst/>
          </a:prstGeom>
          <a:noFill/>
          <a:ln/>
        </p:spPr>
        <p:txBody>
          <a:bodyPr wrap="square" lIns="0" tIns="0" rIns="0" bIns="0" rtlCol="0" anchor="t"/>
          <a:lstStyle/>
          <a:p>
            <a:pPr marL="0" indent="0">
              <a:buNone/>
            </a:pPr>
            <a:r>
              <a:rPr lang="en-US" sz="1000" dirty="0">
                <a:solidFill>
                  <a:schemeClr val="accent4"/>
                </a:solidFill>
                <a:latin typeface="Consolas" pitchFamily="34" charset="0"/>
                <a:ea typeface="Consolas" pitchFamily="34" charset="-122"/>
                <a:cs typeface="Consolas" pitchFamily="34" charset="-120"/>
              </a:rPr>
              <a:t>PEA_fair_resnet.py</a:t>
            </a:r>
            <a:endParaRPr lang="en-US" sz="1000" dirty="0"/>
          </a:p>
        </p:txBody>
      </p:sp>
      <p:sp>
        <p:nvSpPr>
          <p:cNvPr id="39" name="Text 33"/>
          <p:cNvSpPr txBox="1"/>
          <p:nvPr/>
        </p:nvSpPr>
        <p:spPr>
          <a:xfrm>
            <a:off x="457200" y="4206240"/>
            <a:ext cx="8229600" cy="411480"/>
          </a:xfrm>
          <a:prstGeom prst="rect">
            <a:avLst/>
          </a:prstGeom>
          <a:noFill/>
          <a:ln/>
        </p:spPr>
        <p:txBody>
          <a:bodyPr wrap="square" lIns="0" tIns="0" rIns="0" bIns="0" rtlCol="0" anchor="ctr"/>
          <a:lstStyle/>
          <a:p>
            <a:pPr marL="0" indent="0">
              <a:buNone/>
            </a:pPr>
            <a:r>
              <a:rPr lang="en-US" sz="1150" i="1" dirty="0">
                <a:solidFill>
                  <a:schemeClr val="accent4"/>
                </a:solidFill>
                <a:latin typeface="Calibri" pitchFamily="34" charset="0"/>
                <a:ea typeface="Calibri" pitchFamily="34" charset="-122"/>
                <a:cs typeface="Calibri" pitchFamily="34" charset="-120"/>
              </a:rPr>
              <a:t>Both trained on the same 6,000 samples (10,000 steps, same batch size, learning rate, preprocessing, MSE loss) and evaluated on a separate held-out test set of 2,000.</a:t>
            </a:r>
            <a:endParaRPr lang="en-US" sz="1150" dirty="0"/>
          </a:p>
        </p:txBody>
      </p:sp>
      <p:sp>
        <p:nvSpPr>
          <p:cNvPr id="40" name="Text 34"/>
          <p:cNvSpPr txBox="1"/>
          <p:nvPr/>
        </p:nvSpPr>
        <p:spPr>
          <a:xfrm>
            <a:off x="457200" y="4818888"/>
            <a:ext cx="7498080" cy="201168"/>
          </a:xfrm>
          <a:prstGeom prst="rect">
            <a:avLst/>
          </a:prstGeom>
          <a:noFill/>
          <a:ln/>
        </p:spPr>
        <p:txBody>
          <a:bodyPr wrap="square" lIns="0" tIns="0" rIns="0" bIns="0" rtlCol="0" anchor="t"/>
          <a:lstStyle/>
          <a:p>
            <a:pPr marL="0" indent="0">
              <a:buNone/>
            </a:pPr>
            <a:r>
              <a:rPr lang="en-US" sz="800" dirty="0">
                <a:solidFill>
                  <a:schemeClr val="accent4"/>
                </a:solidFill>
                <a:latin typeface="Calibri" pitchFamily="34" charset="0"/>
                <a:ea typeface="Calibri" pitchFamily="34" charset="-122"/>
                <a:cs typeface="Calibri" pitchFamily="34" charset="-120"/>
              </a:rPr>
              <a:t>Repository: train_*_fair.py, PEA_fair_sepcnn.py, PEA_fair_resnet.py, Documentation.md [4].</a:t>
            </a:r>
            <a:endParaRPr lang="en-US" sz="800" dirty="0"/>
          </a:p>
        </p:txBody>
      </p:sp>
      <p:sp>
        <p:nvSpPr>
          <p:cNvPr id="41"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82"/>
                </a:solidFill>
                <a:latin typeface="Calibri"/>
                <a:ea typeface="Calibri"/>
                <a:cs typeface="Calibri"/>
              </a:defRPr>
            </a:lvl1pPr>
          </a:lstStyle>
          <a:p>
            <a:pPr algn="r"/>
            <a:r>
              <a:rPr lang="en-US" b="0"/>
              <a:t>14</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457200" y="256032"/>
            <a:ext cx="7315200" cy="228600"/>
          </a:xfrm>
          <a:prstGeom prst="rect">
            <a:avLst/>
          </a:prstGeom>
          <a:noFill/>
          <a:ln/>
        </p:spPr>
        <p:txBody>
          <a:bodyPr wrap="square" lIns="0" tIns="0" rIns="0" bIns="0" rtlCol="0" anchor="ctr"/>
          <a:lstStyle/>
          <a:p>
            <a:pPr marL="0" indent="0" algn="l">
              <a:buNone/>
            </a:pPr>
            <a:r>
              <a:rPr lang="en-US" sz="1000" b="1" kern="0" spc="200" dirty="0">
                <a:solidFill>
                  <a:schemeClr val="accent1"/>
                </a:solidFill>
                <a:latin typeface="Calibri" pitchFamily="34" charset="0"/>
                <a:ea typeface="Calibri" pitchFamily="34" charset="-122"/>
                <a:cs typeface="Calibri" pitchFamily="34" charset="-120"/>
              </a:rPr>
              <a:t>OUR FORK</a:t>
            </a:r>
            <a:endParaRPr lang="en-US" sz="1000" dirty="0"/>
          </a:p>
        </p:txBody>
      </p:sp>
      <p:sp>
        <p:nvSpPr>
          <p:cNvPr id="3" name="Text 2"/>
          <p:cNvSpPr>
            <a:spLocks noGrp="1"/>
          </p:cNvSpPr>
          <p:nvPr>
            <p:ph type="title" idx="103" hasCustomPrompt="1"/>
          </p:nvPr>
        </p:nvSpPr>
        <p:spPr>
          <a:xfrm>
            <a:off x="457200" y="502920"/>
            <a:ext cx="8229600" cy="548640"/>
          </a:xfrm>
          <a:prstGeom prst="rect">
            <a:avLst/>
          </a:prstGeom>
          <a:noFill/>
          <a:ln/>
        </p:spPr>
        <p:txBody>
          <a:bodyPr wrap="square" lIns="0" tIns="0" rIns="0" bIns="0" rtlCol="0" anchor="ctr"/>
          <a:lstStyle/>
          <a:p>
            <a:pPr marL="0" indent="0" algn="l">
              <a:buNone/>
            </a:pPr>
            <a:r>
              <a:rPr lang="en-US" sz="2400" b="1" dirty="0">
                <a:solidFill>
                  <a:schemeClr val="tx2"/>
                </a:solidFill>
                <a:latin typeface="Georgia" pitchFamily="34" charset="0"/>
                <a:ea typeface="Georgia" pitchFamily="34" charset="-122"/>
                <a:cs typeface="Georgia" pitchFamily="34" charset="-120"/>
              </a:rPr>
              <a:t>Three tests, three different answers</a:t>
            </a:r>
            <a:endParaRPr lang="en-US" sz="2400" dirty="0"/>
          </a:p>
        </p:txBody>
      </p:sp>
      <p:sp>
        <p:nvSpPr>
          <p:cNvPr id="4" name="f1"/>
          <p:cNvSpPr/>
          <p:nvPr/>
        </p:nvSpPr>
        <p:spPr>
          <a:xfrm>
            <a:off x="457200" y="1188720"/>
            <a:ext cx="2560320" cy="2743200"/>
          </a:xfrm>
          <a:prstGeom prst="roundRect">
            <a:avLst>
              <a:gd name="adj" fmla="val 2857"/>
            </a:avLst>
          </a:prstGeom>
          <a:solidFill>
            <a:schemeClr val="bg2"/>
          </a:solidFill>
          <a:ln w="12700">
            <a:solidFill>
              <a:schemeClr val="bg2"/>
            </a:solidFill>
            <a:prstDash val="solid"/>
          </a:ln>
        </p:spPr>
      </p:sp>
      <p:sp>
        <p:nvSpPr>
          <p:cNvPr id="5" name="Text 3"/>
          <p:cNvSpPr txBox="1"/>
          <p:nvPr/>
        </p:nvSpPr>
        <p:spPr>
          <a:xfrm>
            <a:off x="594360" y="1261872"/>
            <a:ext cx="2286000" cy="274320"/>
          </a:xfrm>
          <a:prstGeom prst="rect">
            <a:avLst/>
          </a:prstGeom>
          <a:noFill/>
          <a:ln/>
        </p:spPr>
        <p:txBody>
          <a:bodyPr wrap="square" lIns="0" tIns="0" rIns="0" bIns="0" rtlCol="0" anchor="t"/>
          <a:lstStyle/>
          <a:p>
            <a:pPr marL="0" indent="0">
              <a:buNone/>
            </a:pPr>
            <a:r>
              <a:rPr lang="en-US" sz="1200" b="1" dirty="0">
                <a:solidFill>
                  <a:schemeClr val="tx2"/>
                </a:solidFill>
                <a:latin typeface="Calibri" pitchFamily="34" charset="0"/>
                <a:ea typeface="Calibri" pitchFamily="34" charset="-122"/>
                <a:cs typeface="Calibri" pitchFamily="34" charset="-120"/>
              </a:rPr>
              <a:t>Held-out test MSE</a:t>
            </a:r>
            <a:endParaRPr lang="en-US" sz="1200" dirty="0"/>
          </a:p>
        </p:txBody>
      </p:sp>
      <p:graphicFrame>
        <p:nvGraphicFramePr>
          <p:cNvPr id="6" name="Chart 0"/>
          <p:cNvGraphicFramePr/>
          <p:nvPr/>
        </p:nvGraphicFramePr>
        <p:xfrm>
          <a:off x="502920" y="1508760"/>
          <a:ext cx="2468880" cy="16002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txBox="1"/>
          <p:nvPr/>
        </p:nvSpPr>
        <p:spPr>
          <a:xfrm>
            <a:off x="594360" y="3154680"/>
            <a:ext cx="2286000" cy="365760"/>
          </a:xfrm>
          <a:prstGeom prst="rect">
            <a:avLst/>
          </a:prstGeom>
          <a:noFill/>
          <a:ln/>
        </p:spPr>
        <p:txBody>
          <a:bodyPr wrap="square" lIns="0" tIns="0" rIns="0" bIns="0" rtlCol="0" anchor="t"/>
          <a:lstStyle/>
          <a:p>
            <a:pPr marL="0" indent="0">
              <a:buNone/>
            </a:pPr>
            <a:r>
              <a:rPr lang="en-US" sz="1500" b="1" dirty="0">
                <a:solidFill>
                  <a:schemeClr val="accent1"/>
                </a:solidFill>
                <a:latin typeface="Georgia" pitchFamily="34" charset="0"/>
                <a:ea typeface="Georgia" pitchFamily="34" charset="-122"/>
                <a:cs typeface="Georgia" pitchFamily="34" charset="-120"/>
              </a:rPr>
              <a:t>≈41× lower (ResNet)</a:t>
            </a:r>
            <a:endParaRPr lang="en-US" sz="1500" dirty="0"/>
          </a:p>
        </p:txBody>
      </p:sp>
      <p:sp>
        <p:nvSpPr>
          <p:cNvPr id="8" name="Text 5"/>
          <p:cNvSpPr txBox="1"/>
          <p:nvPr/>
        </p:nvSpPr>
        <p:spPr>
          <a:xfrm>
            <a:off x="594360" y="3520440"/>
            <a:ext cx="2286000" cy="365760"/>
          </a:xfrm>
          <a:prstGeom prst="rect">
            <a:avLst/>
          </a:prstGeom>
          <a:noFill/>
          <a:ln/>
        </p:spPr>
        <p:txBody>
          <a:bodyPr wrap="square" lIns="0" tIns="0" rIns="0" bIns="0" rtlCol="0" anchor="t"/>
          <a:lstStyle/>
          <a:p>
            <a:pPr marL="0" indent="0">
              <a:buNone/>
            </a:pPr>
            <a:r>
              <a:rPr lang="en-US" sz="1000" dirty="0">
                <a:solidFill>
                  <a:schemeClr val="accent4"/>
                </a:solidFill>
                <a:latin typeface="Calibri" pitchFamily="34" charset="0"/>
                <a:ea typeface="Calibri" pitchFamily="34" charset="-122"/>
                <a:cs typeface="Calibri" pitchFamily="34" charset="-120"/>
              </a:rPr>
              <a:t>separate 2,000-sample test set · prediction only</a:t>
            </a:r>
            <a:endParaRPr lang="en-US" sz="1000" dirty="0"/>
          </a:p>
        </p:txBody>
      </p:sp>
      <p:sp>
        <p:nvSpPr>
          <p:cNvPr id="9" name="f2"/>
          <p:cNvSpPr/>
          <p:nvPr/>
        </p:nvSpPr>
        <p:spPr>
          <a:xfrm>
            <a:off x="3291840" y="1188720"/>
            <a:ext cx="2560320" cy="2743200"/>
          </a:xfrm>
          <a:prstGeom prst="roundRect">
            <a:avLst>
              <a:gd name="adj" fmla="val 2857"/>
            </a:avLst>
          </a:prstGeom>
          <a:solidFill>
            <a:schemeClr val="bg2"/>
          </a:solidFill>
          <a:ln w="12700">
            <a:solidFill>
              <a:schemeClr val="bg2"/>
            </a:solidFill>
            <a:prstDash val="solid"/>
          </a:ln>
        </p:spPr>
      </p:sp>
      <p:sp>
        <p:nvSpPr>
          <p:cNvPr id="10" name="Text 7"/>
          <p:cNvSpPr txBox="1"/>
          <p:nvPr/>
        </p:nvSpPr>
        <p:spPr>
          <a:xfrm>
            <a:off x="3429000" y="1261872"/>
            <a:ext cx="2286000" cy="274320"/>
          </a:xfrm>
          <a:prstGeom prst="rect">
            <a:avLst/>
          </a:prstGeom>
          <a:noFill/>
          <a:ln/>
        </p:spPr>
        <p:txBody>
          <a:bodyPr wrap="square" lIns="0" tIns="0" rIns="0" bIns="0" rtlCol="0" anchor="t"/>
          <a:lstStyle/>
          <a:p>
            <a:pPr marL="0" indent="0">
              <a:buNone/>
            </a:pPr>
            <a:r>
              <a:rPr lang="en-US" sz="1200" b="1" dirty="0">
                <a:solidFill>
                  <a:schemeClr val="tx2"/>
                </a:solidFill>
                <a:latin typeface="Calibri" pitchFamily="34" charset="0"/>
                <a:ea typeface="Calibri" pitchFamily="34" charset="-122"/>
                <a:cs typeface="Calibri" pitchFamily="34" charset="-120"/>
              </a:rPr>
              <a:t>Two selected designs</a:t>
            </a:r>
            <a:endParaRPr lang="en-US" sz="1200" dirty="0"/>
          </a:p>
        </p:txBody>
      </p:sp>
      <p:sp>
        <p:nvSpPr>
          <p:cNvPr id="11" name="f2c-c"/>
          <p:cNvSpPr/>
          <p:nvPr/>
        </p:nvSpPr>
        <p:spPr>
          <a:xfrm>
            <a:off x="4160520" y="1783080"/>
            <a:ext cx="822960" cy="822960"/>
          </a:xfrm>
          <a:prstGeom prst="ellipse">
            <a:avLst/>
          </a:prstGeom>
          <a:solidFill>
            <a:schemeClr val="accent4"/>
          </a:solidFill>
          <a:ln w="12700">
            <a:solidFill>
              <a:schemeClr val="accent4"/>
            </a:solidFill>
            <a:prstDash val="solid"/>
          </a:ln>
        </p:spPr>
      </p:sp>
      <p:pic>
        <p:nvPicPr>
          <p:cNvPr id="12" name="f2c-i" descr="preencoded.png"/>
          <p:cNvPicPr>
            <a:picLocks noChangeAspect="1"/>
          </p:cNvPicPr>
          <p:nvPr/>
        </p:nvPicPr>
        <p:blipFill>
          <a:blip r:embed="rId4"/>
          <a:stretch>
            <a:fillRect/>
          </a:stretch>
        </p:blipFill>
        <p:spPr>
          <a:xfrm>
            <a:off x="4374490" y="1997050"/>
            <a:ext cx="395021" cy="395021"/>
          </a:xfrm>
          <a:prstGeom prst="rect">
            <a:avLst/>
          </a:prstGeom>
        </p:spPr>
      </p:pic>
      <p:sp>
        <p:nvSpPr>
          <p:cNvPr id="13" name="Text 9"/>
          <p:cNvSpPr txBox="1"/>
          <p:nvPr/>
        </p:nvSpPr>
        <p:spPr>
          <a:xfrm>
            <a:off x="3429000" y="2788920"/>
            <a:ext cx="2286000" cy="411480"/>
          </a:xfrm>
          <a:prstGeom prst="rect">
            <a:avLst/>
          </a:prstGeom>
          <a:noFill/>
          <a:ln/>
        </p:spPr>
        <p:txBody>
          <a:bodyPr wrap="square" lIns="0" tIns="0" rIns="0" bIns="0" rtlCol="0" anchor="t"/>
          <a:lstStyle/>
          <a:p>
            <a:pPr marL="0" indent="0" algn="ctr">
              <a:buNone/>
            </a:pPr>
            <a:r>
              <a:rPr lang="en-US" sz="2400" b="1" dirty="0">
                <a:solidFill>
                  <a:schemeClr val="accent4"/>
                </a:solidFill>
                <a:latin typeface="Georgia" pitchFamily="34" charset="0"/>
                <a:ea typeface="Georgia" pitchFamily="34" charset="-122"/>
                <a:cs typeface="Georgia" pitchFamily="34" charset="-120"/>
              </a:rPr>
              <a:t>Mixed</a:t>
            </a:r>
            <a:endParaRPr lang="en-US" sz="2400" dirty="0"/>
          </a:p>
        </p:txBody>
      </p:sp>
      <p:sp>
        <p:nvSpPr>
          <p:cNvPr id="14" name="Text 10"/>
          <p:cNvSpPr txBox="1"/>
          <p:nvPr/>
        </p:nvSpPr>
        <p:spPr>
          <a:xfrm>
            <a:off x="3429000" y="3246120"/>
            <a:ext cx="2286000" cy="548640"/>
          </a:xfrm>
          <a:prstGeom prst="rect">
            <a:avLst/>
          </a:prstGeom>
          <a:noFill/>
          <a:ln/>
        </p:spPr>
        <p:txBody>
          <a:bodyPr wrap="square" lIns="0" tIns="0" rIns="0" bIns="0" rtlCol="0" anchor="t"/>
          <a:lstStyle/>
          <a:p>
            <a:pPr marL="0" indent="0" algn="ctr">
              <a:buNone/>
            </a:pPr>
            <a:r>
              <a:rPr lang="en-US" sz="1100" dirty="0">
                <a:solidFill>
                  <a:schemeClr val="accent4"/>
                </a:solidFill>
                <a:latin typeface="Calibri" pitchFamily="34" charset="0"/>
                <a:ea typeface="Calibri" pitchFamily="34" charset="-122"/>
                <a:cs typeface="Calibri" pitchFamily="34" charset="-120"/>
              </a:rPr>
              <a:t>neither model lower on both designs</a:t>
            </a:r>
            <a:endParaRPr lang="en-US" sz="1100" dirty="0"/>
          </a:p>
        </p:txBody>
      </p:sp>
      <p:sp>
        <p:nvSpPr>
          <p:cNvPr id="15" name="f3"/>
          <p:cNvSpPr/>
          <p:nvPr/>
        </p:nvSpPr>
        <p:spPr>
          <a:xfrm>
            <a:off x="6126480" y="1188720"/>
            <a:ext cx="2560320" cy="2743200"/>
          </a:xfrm>
          <a:prstGeom prst="roundRect">
            <a:avLst>
              <a:gd name="adj" fmla="val 2857"/>
            </a:avLst>
          </a:prstGeom>
          <a:solidFill>
            <a:schemeClr val="bg2"/>
          </a:solidFill>
          <a:ln w="12700">
            <a:solidFill>
              <a:schemeClr val="bg2"/>
            </a:solidFill>
            <a:prstDash val="solid"/>
          </a:ln>
        </p:spPr>
      </p:sp>
      <p:sp>
        <p:nvSpPr>
          <p:cNvPr id="16" name="Text 12"/>
          <p:cNvSpPr txBox="1"/>
          <p:nvPr/>
        </p:nvSpPr>
        <p:spPr>
          <a:xfrm>
            <a:off x="6263640" y="1261872"/>
            <a:ext cx="2286000" cy="274320"/>
          </a:xfrm>
          <a:prstGeom prst="rect">
            <a:avLst/>
          </a:prstGeom>
          <a:noFill/>
          <a:ln/>
        </p:spPr>
        <p:txBody>
          <a:bodyPr wrap="square" lIns="0" tIns="0" rIns="0" bIns="0" rtlCol="0" anchor="t"/>
          <a:lstStyle/>
          <a:p>
            <a:pPr marL="0" indent="0">
              <a:buNone/>
            </a:pPr>
            <a:r>
              <a:rPr lang="en-US" sz="1200" b="1" dirty="0">
                <a:solidFill>
                  <a:schemeClr val="tx2"/>
                </a:solidFill>
                <a:latin typeface="Calibri" pitchFamily="34" charset="0"/>
                <a:ea typeface="Calibri" pitchFamily="34" charset="-122"/>
                <a:cs typeface="Calibri" pitchFamily="34" charset="-120"/>
              </a:rPr>
              <a:t>Shared gen-5 set: 1,024</a:t>
            </a:r>
            <a:endParaRPr lang="en-US" sz="1200" dirty="0"/>
          </a:p>
        </p:txBody>
      </p:sp>
      <p:graphicFrame>
        <p:nvGraphicFramePr>
          <p:cNvPr id="17" name="Chart 1"/>
          <p:cNvGraphicFramePr/>
          <p:nvPr/>
        </p:nvGraphicFramePr>
        <p:xfrm>
          <a:off x="6172200" y="1508760"/>
          <a:ext cx="2468880" cy="1600200"/>
        </p:xfrm>
        <a:graphic>
          <a:graphicData uri="http://schemas.openxmlformats.org/drawingml/2006/chart">
            <c:chart xmlns:c="http://schemas.openxmlformats.org/drawingml/2006/chart" xmlns:r="http://schemas.openxmlformats.org/officeDocument/2006/relationships" r:id="rId5"/>
          </a:graphicData>
        </a:graphic>
      </p:graphicFrame>
      <p:sp>
        <p:nvSpPr>
          <p:cNvPr id="18" name="Text 13"/>
          <p:cNvSpPr txBox="1"/>
          <p:nvPr/>
        </p:nvSpPr>
        <p:spPr>
          <a:xfrm>
            <a:off x="6263640" y="3154680"/>
            <a:ext cx="2286000" cy="365760"/>
          </a:xfrm>
          <a:prstGeom prst="rect">
            <a:avLst/>
          </a:prstGeom>
          <a:noFill/>
          <a:ln/>
        </p:spPr>
        <p:txBody>
          <a:bodyPr wrap="square" lIns="0" tIns="0" rIns="0" bIns="0" rtlCol="0" anchor="t"/>
          <a:lstStyle/>
          <a:p>
            <a:pPr marL="0" indent="0">
              <a:buNone/>
            </a:pPr>
            <a:r>
              <a:rPr lang="en-US" sz="1600" b="1" dirty="0">
                <a:solidFill>
                  <a:schemeClr val="accent2"/>
                </a:solidFill>
                <a:latin typeface="Georgia" pitchFamily="34" charset="0"/>
                <a:ea typeface="Georgia" pitchFamily="34" charset="-122"/>
                <a:cs typeface="Georgia" pitchFamily="34" charset="-120"/>
              </a:rPr>
              <a:t>1,016 / 1,024</a:t>
            </a:r>
            <a:endParaRPr lang="en-US" sz="1600" dirty="0"/>
          </a:p>
        </p:txBody>
      </p:sp>
      <p:sp>
        <p:nvSpPr>
          <p:cNvPr id="19" name="Text 14"/>
          <p:cNvSpPr txBox="1"/>
          <p:nvPr/>
        </p:nvSpPr>
        <p:spPr>
          <a:xfrm>
            <a:off x="6263640" y="3520440"/>
            <a:ext cx="2286000" cy="365760"/>
          </a:xfrm>
          <a:prstGeom prst="rect">
            <a:avLst/>
          </a:prstGeom>
          <a:noFill/>
          <a:ln/>
        </p:spPr>
        <p:txBody>
          <a:bodyPr wrap="square" lIns="0" tIns="0" rIns="0" bIns="0" rtlCol="0" anchor="t"/>
          <a:lstStyle/>
          <a:p>
            <a:pPr marL="0" indent="0">
              <a:buNone/>
            </a:pPr>
            <a:r>
              <a:rPr lang="en-US" sz="1000" dirty="0">
                <a:solidFill>
                  <a:schemeClr val="accent4"/>
                </a:solidFill>
                <a:latin typeface="Calibri" pitchFamily="34" charset="0"/>
                <a:ea typeface="Calibri" pitchFamily="34" charset="-122"/>
                <a:cs typeface="Calibri" pitchFamily="34" charset="-120"/>
              </a:rPr>
              <a:t>SEP-CNN lower target-curve prediction error · this set only</a:t>
            </a:r>
            <a:endParaRPr lang="en-US" sz="1000" dirty="0"/>
          </a:p>
        </p:txBody>
      </p:sp>
      <p:sp>
        <p:nvSpPr>
          <p:cNvPr id="20" name="f-warn"/>
          <p:cNvSpPr/>
          <p:nvPr/>
        </p:nvSpPr>
        <p:spPr>
          <a:xfrm>
            <a:off x="457200" y="4069080"/>
            <a:ext cx="8229600" cy="548640"/>
          </a:xfrm>
          <a:prstGeom prst="roundRect">
            <a:avLst>
              <a:gd name="adj" fmla="val 13333"/>
            </a:avLst>
          </a:prstGeom>
          <a:solidFill>
            <a:schemeClr val="tx2"/>
          </a:solidFill>
          <a:ln w="12700">
            <a:solidFill>
              <a:schemeClr val="tx2"/>
            </a:solidFill>
            <a:prstDash val="solid"/>
          </a:ln>
        </p:spPr>
      </p:sp>
      <p:sp>
        <p:nvSpPr>
          <p:cNvPr id="21" name="fw-c"/>
          <p:cNvSpPr/>
          <p:nvPr/>
        </p:nvSpPr>
        <p:spPr>
          <a:xfrm>
            <a:off x="594360" y="4133088"/>
            <a:ext cx="420624" cy="420624"/>
          </a:xfrm>
          <a:prstGeom prst="ellipse">
            <a:avLst/>
          </a:prstGeom>
          <a:solidFill>
            <a:schemeClr val="accent3"/>
          </a:solidFill>
          <a:ln w="12700">
            <a:solidFill>
              <a:schemeClr val="accent3"/>
            </a:solidFill>
            <a:prstDash val="solid"/>
          </a:ln>
        </p:spPr>
      </p:sp>
      <p:pic>
        <p:nvPicPr>
          <p:cNvPr id="22" name="fw-i" descr="preencoded.png"/>
          <p:cNvPicPr>
            <a:picLocks noChangeAspect="1"/>
          </p:cNvPicPr>
          <p:nvPr/>
        </p:nvPicPr>
        <p:blipFill>
          <a:blip r:embed="rId6"/>
          <a:stretch>
            <a:fillRect/>
          </a:stretch>
        </p:blipFill>
        <p:spPr>
          <a:xfrm>
            <a:off x="703722" y="4242450"/>
            <a:ext cx="201900" cy="201900"/>
          </a:xfrm>
          <a:prstGeom prst="rect">
            <a:avLst/>
          </a:prstGeom>
        </p:spPr>
      </p:pic>
      <p:sp>
        <p:nvSpPr>
          <p:cNvPr id="23" name="Text 17"/>
          <p:cNvSpPr txBox="1"/>
          <p:nvPr/>
        </p:nvSpPr>
        <p:spPr>
          <a:xfrm>
            <a:off x="1143000" y="4069080"/>
            <a:ext cx="7406640" cy="548640"/>
          </a:xfrm>
          <a:prstGeom prst="rect">
            <a:avLst/>
          </a:prstGeom>
          <a:noFill/>
          <a:ln/>
        </p:spPr>
        <p:txBody>
          <a:bodyPr wrap="square" lIns="0" tIns="0" rIns="0" bIns="0" rtlCol="0" anchor="ctr"/>
          <a:lstStyle/>
          <a:p>
            <a:pPr marL="0" indent="0">
              <a:buNone/>
            </a:pPr>
            <a:r>
              <a:rPr lang="en-US" sz="1250" dirty="0">
                <a:solidFill>
                  <a:schemeClr val="bg1"/>
                </a:solidFill>
                <a:latin typeface="Calibri" pitchFamily="34" charset="0"/>
                <a:ea typeface="Calibri" pitchFamily="34" charset="-122"/>
                <a:cs typeface="Calibri" pitchFamily="34" charset="-120"/>
              </a:rPr>
              <a:t>All errors are model predictions vs. a numeric target curve, not physical performance. These experiments do not establish a universal winner.</a:t>
            </a:r>
            <a:endParaRPr lang="en-US" sz="1250" dirty="0"/>
          </a:p>
        </p:txBody>
      </p:sp>
      <p:sp>
        <p:nvSpPr>
          <p:cNvPr id="24" name="Text 18"/>
          <p:cNvSpPr txBox="1"/>
          <p:nvPr/>
        </p:nvSpPr>
        <p:spPr>
          <a:xfrm>
            <a:off x="457200" y="4818888"/>
            <a:ext cx="7498080" cy="201168"/>
          </a:xfrm>
          <a:prstGeom prst="rect">
            <a:avLst/>
          </a:prstGeom>
          <a:noFill/>
          <a:ln/>
        </p:spPr>
        <p:txBody>
          <a:bodyPr wrap="square" lIns="0" tIns="0" rIns="0" bIns="0" rtlCol="0" anchor="t"/>
          <a:lstStyle/>
          <a:p>
            <a:pPr marL="0" indent="0">
              <a:buNone/>
            </a:pPr>
            <a:r>
              <a:rPr lang="en-US" sz="800" dirty="0">
                <a:solidFill>
                  <a:schemeClr val="accent4"/>
                </a:solidFill>
                <a:latin typeface="Calibri" pitchFamily="34" charset="0"/>
                <a:ea typeface="Calibri" pitchFamily="34" charset="-122"/>
                <a:cs typeface="Calibri" pitchFamily="34" charset="-120"/>
              </a:rPr>
              <a:t>Documentation.md (test MSE, 2-design check); cross_model_1024_results.csv [4].</a:t>
            </a:r>
            <a:endParaRPr lang="en-US" sz="8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82"/>
                </a:solidFill>
                <a:latin typeface="Calibri"/>
                <a:ea typeface="Calibri"/>
                <a:cs typeface="Calibri"/>
              </a:defRPr>
            </a:lvl1pPr>
          </a:lstStyle>
          <a:p>
            <a:pPr algn="r"/>
            <a:r>
              <a:rPr lang="en-US" b="0"/>
              <a:t>15</a:t>
            </a: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457200" y="256032"/>
            <a:ext cx="7315200" cy="228600"/>
          </a:xfrm>
          <a:prstGeom prst="rect">
            <a:avLst/>
          </a:prstGeom>
          <a:noFill/>
          <a:ln/>
        </p:spPr>
        <p:txBody>
          <a:bodyPr wrap="square" lIns="0" tIns="0" rIns="0" bIns="0" rtlCol="0" anchor="ctr"/>
          <a:lstStyle/>
          <a:p>
            <a:pPr marL="0" indent="0" algn="l">
              <a:buNone/>
            </a:pPr>
            <a:r>
              <a:rPr lang="en-US" sz="1000" b="1" kern="0" spc="200" dirty="0">
                <a:solidFill>
                  <a:schemeClr val="accent1"/>
                </a:solidFill>
                <a:latin typeface="Calibri" pitchFamily="34" charset="0"/>
                <a:ea typeface="Calibri" pitchFamily="34" charset="-122"/>
                <a:cs typeface="Calibri" pitchFamily="34" charset="-120"/>
              </a:rPr>
              <a:t>WHAT’S NEXT</a:t>
            </a:r>
            <a:endParaRPr lang="en-US" sz="1000" dirty="0"/>
          </a:p>
        </p:txBody>
      </p:sp>
      <p:sp>
        <p:nvSpPr>
          <p:cNvPr id="3" name="Text 2"/>
          <p:cNvSpPr>
            <a:spLocks noGrp="1"/>
          </p:cNvSpPr>
          <p:nvPr>
            <p:ph type="title" idx="103" hasCustomPrompt="1"/>
          </p:nvPr>
        </p:nvSpPr>
        <p:spPr>
          <a:xfrm>
            <a:off x="457200" y="502920"/>
            <a:ext cx="8229600" cy="548640"/>
          </a:xfrm>
          <a:prstGeom prst="rect">
            <a:avLst/>
          </a:prstGeom>
          <a:noFill/>
          <a:ln/>
        </p:spPr>
        <p:txBody>
          <a:bodyPr wrap="square" lIns="0" tIns="0" rIns="0" bIns="0" rtlCol="0" anchor="ctr"/>
          <a:lstStyle/>
          <a:p>
            <a:pPr marL="0" indent="0" algn="l">
              <a:buNone/>
            </a:pPr>
            <a:r>
              <a:rPr lang="en-US" sz="2400" b="1" dirty="0">
                <a:solidFill>
                  <a:schemeClr val="tx2"/>
                </a:solidFill>
                <a:latin typeface="Georgia" pitchFamily="34" charset="0"/>
                <a:ea typeface="Georgia" pitchFamily="34" charset="-122"/>
                <a:cs typeface="Georgia" pitchFamily="34" charset="-120"/>
              </a:rPr>
              <a:t>The 4D vision (proposed, not yet built)</a:t>
            </a:r>
            <a:endParaRPr lang="en-US" sz="2400" dirty="0"/>
          </a:p>
        </p:txBody>
      </p:sp>
      <p:sp>
        <p:nvSpPr>
          <p:cNvPr id="4" name="vs0"/>
          <p:cNvSpPr/>
          <p:nvPr/>
        </p:nvSpPr>
        <p:spPr>
          <a:xfrm>
            <a:off x="457200" y="1234440"/>
            <a:ext cx="1234440" cy="1234440"/>
          </a:xfrm>
          <a:prstGeom prst="roundRect">
            <a:avLst>
              <a:gd name="adj" fmla="val 5926"/>
            </a:avLst>
          </a:prstGeom>
          <a:solidFill>
            <a:schemeClr val="bg1"/>
          </a:solidFill>
          <a:ln w="15875">
            <a:solidFill>
              <a:schemeClr val="accent2"/>
            </a:solidFill>
            <a:prstDash val="dash"/>
          </a:ln>
        </p:spPr>
      </p:sp>
      <p:sp>
        <p:nvSpPr>
          <p:cNvPr id="5" name="vsc0-c"/>
          <p:cNvSpPr/>
          <p:nvPr/>
        </p:nvSpPr>
        <p:spPr>
          <a:xfrm>
            <a:off x="822960" y="1353312"/>
            <a:ext cx="502920" cy="502920"/>
          </a:xfrm>
          <a:prstGeom prst="ellipse">
            <a:avLst/>
          </a:prstGeom>
          <a:solidFill>
            <a:schemeClr val="accent2"/>
          </a:solidFill>
          <a:ln w="12700">
            <a:solidFill>
              <a:schemeClr val="accent2"/>
            </a:solidFill>
            <a:prstDash val="solid"/>
          </a:ln>
        </p:spPr>
      </p:sp>
      <p:pic>
        <p:nvPicPr>
          <p:cNvPr id="6" name="vsc0-i" descr="preencoded.png"/>
          <p:cNvPicPr>
            <a:picLocks noChangeAspect="1"/>
          </p:cNvPicPr>
          <p:nvPr/>
        </p:nvPicPr>
        <p:blipFill>
          <a:blip r:embed="rId3"/>
          <a:stretch>
            <a:fillRect/>
          </a:stretch>
        </p:blipFill>
        <p:spPr>
          <a:xfrm>
            <a:off x="953719" y="1484071"/>
            <a:ext cx="241402" cy="241402"/>
          </a:xfrm>
          <a:prstGeom prst="rect">
            <a:avLst/>
          </a:prstGeom>
        </p:spPr>
      </p:pic>
      <p:sp>
        <p:nvSpPr>
          <p:cNvPr id="7" name="Text 4"/>
          <p:cNvSpPr txBox="1"/>
          <p:nvPr/>
        </p:nvSpPr>
        <p:spPr>
          <a:xfrm>
            <a:off x="502920" y="1920240"/>
            <a:ext cx="1143000" cy="457200"/>
          </a:xfrm>
          <a:prstGeom prst="rect">
            <a:avLst/>
          </a:prstGeom>
          <a:noFill/>
          <a:ln/>
        </p:spPr>
        <p:txBody>
          <a:bodyPr wrap="square" lIns="0" tIns="0" rIns="0" bIns="0" rtlCol="0" anchor="ctr"/>
          <a:lstStyle/>
          <a:p>
            <a:pPr marL="0" indent="0" algn="ctr">
              <a:buNone/>
            </a:pPr>
            <a:r>
              <a:rPr lang="en-US" sz="1150" b="1" dirty="0">
                <a:solidFill>
                  <a:schemeClr val="tx2"/>
                </a:solidFill>
                <a:latin typeface="Calibri" pitchFamily="34" charset="0"/>
                <a:ea typeface="Calibri" pitchFamily="34" charset="-122"/>
                <a:cs typeface="Calibri" pitchFamily="34" charset="-120"/>
              </a:rPr>
              <a:t>Hand scan</a:t>
            </a:r>
            <a:endParaRPr lang="en-US" sz="1150" dirty="0"/>
          </a:p>
        </p:txBody>
      </p:sp>
      <p:sp>
        <p:nvSpPr>
          <p:cNvPr id="8" name="vsa0"/>
          <p:cNvSpPr/>
          <p:nvPr/>
        </p:nvSpPr>
        <p:spPr>
          <a:xfrm>
            <a:off x="1700784" y="1847088"/>
            <a:ext cx="146304" cy="0"/>
          </a:xfrm>
          <a:prstGeom prst="line">
            <a:avLst/>
          </a:prstGeom>
          <a:noFill/>
          <a:ln w="22225">
            <a:solidFill>
              <a:schemeClr val="accent4"/>
            </a:solidFill>
            <a:prstDash val="solid"/>
            <a:tailEnd type="triangle"/>
          </a:ln>
        </p:spPr>
      </p:sp>
      <p:sp>
        <p:nvSpPr>
          <p:cNvPr id="9" name="vs1"/>
          <p:cNvSpPr/>
          <p:nvPr/>
        </p:nvSpPr>
        <p:spPr>
          <a:xfrm>
            <a:off x="1856232" y="1234440"/>
            <a:ext cx="1234440" cy="1234440"/>
          </a:xfrm>
          <a:prstGeom prst="roundRect">
            <a:avLst>
              <a:gd name="adj" fmla="val 5926"/>
            </a:avLst>
          </a:prstGeom>
          <a:solidFill>
            <a:schemeClr val="bg1"/>
          </a:solidFill>
          <a:ln w="15875">
            <a:solidFill>
              <a:schemeClr val="accent2"/>
            </a:solidFill>
            <a:prstDash val="dash"/>
          </a:ln>
        </p:spPr>
      </p:sp>
      <p:sp>
        <p:nvSpPr>
          <p:cNvPr id="10" name="vsc1-c"/>
          <p:cNvSpPr/>
          <p:nvPr/>
        </p:nvSpPr>
        <p:spPr>
          <a:xfrm>
            <a:off x="2221992" y="1353312"/>
            <a:ext cx="502920" cy="502920"/>
          </a:xfrm>
          <a:prstGeom prst="ellipse">
            <a:avLst/>
          </a:prstGeom>
          <a:solidFill>
            <a:schemeClr val="accent2"/>
          </a:solidFill>
          <a:ln w="12700">
            <a:solidFill>
              <a:schemeClr val="accent2"/>
            </a:solidFill>
            <a:prstDash val="solid"/>
          </a:ln>
        </p:spPr>
      </p:sp>
      <p:pic>
        <p:nvPicPr>
          <p:cNvPr id="11" name="vsc1-i" descr="preencoded.png"/>
          <p:cNvPicPr>
            <a:picLocks noChangeAspect="1"/>
          </p:cNvPicPr>
          <p:nvPr/>
        </p:nvPicPr>
        <p:blipFill>
          <a:blip r:embed="rId4"/>
          <a:stretch>
            <a:fillRect/>
          </a:stretch>
        </p:blipFill>
        <p:spPr>
          <a:xfrm>
            <a:off x="2352751" y="1484071"/>
            <a:ext cx="241402" cy="241402"/>
          </a:xfrm>
          <a:prstGeom prst="rect">
            <a:avLst/>
          </a:prstGeom>
        </p:spPr>
      </p:pic>
      <p:sp>
        <p:nvSpPr>
          <p:cNvPr id="12" name="Text 8"/>
          <p:cNvSpPr txBox="1"/>
          <p:nvPr/>
        </p:nvSpPr>
        <p:spPr>
          <a:xfrm>
            <a:off x="1901952" y="1920240"/>
            <a:ext cx="1143000" cy="457200"/>
          </a:xfrm>
          <a:prstGeom prst="rect">
            <a:avLst/>
          </a:prstGeom>
          <a:noFill/>
          <a:ln/>
        </p:spPr>
        <p:txBody>
          <a:bodyPr wrap="square" lIns="0" tIns="0" rIns="0" bIns="0" rtlCol="0" anchor="ctr"/>
          <a:lstStyle/>
          <a:p>
            <a:pPr marL="0" indent="0" algn="ctr">
              <a:buNone/>
            </a:pPr>
            <a:r>
              <a:rPr lang="en-US" sz="1150" b="1" dirty="0">
                <a:solidFill>
                  <a:schemeClr val="tx2"/>
                </a:solidFill>
                <a:latin typeface="Calibri" pitchFamily="34" charset="0"/>
                <a:ea typeface="Calibri" pitchFamily="34" charset="-122"/>
                <a:cs typeface="Calibri" pitchFamily="34" charset="-120"/>
              </a:rPr>
              <a:t>Target shape</a:t>
            </a:r>
            <a:endParaRPr lang="en-US" sz="1150" dirty="0"/>
          </a:p>
        </p:txBody>
      </p:sp>
      <p:sp>
        <p:nvSpPr>
          <p:cNvPr id="13" name="vsa1"/>
          <p:cNvSpPr/>
          <p:nvPr/>
        </p:nvSpPr>
        <p:spPr>
          <a:xfrm>
            <a:off x="3099816" y="1847088"/>
            <a:ext cx="146304" cy="0"/>
          </a:xfrm>
          <a:prstGeom prst="line">
            <a:avLst/>
          </a:prstGeom>
          <a:noFill/>
          <a:ln w="22225">
            <a:solidFill>
              <a:schemeClr val="accent4"/>
            </a:solidFill>
            <a:prstDash val="solid"/>
            <a:tailEnd type="triangle"/>
          </a:ln>
        </p:spPr>
      </p:sp>
      <p:sp>
        <p:nvSpPr>
          <p:cNvPr id="14" name="vs2"/>
          <p:cNvSpPr/>
          <p:nvPr/>
        </p:nvSpPr>
        <p:spPr>
          <a:xfrm>
            <a:off x="3255264" y="1234440"/>
            <a:ext cx="1234440" cy="1234440"/>
          </a:xfrm>
          <a:prstGeom prst="roundRect">
            <a:avLst>
              <a:gd name="adj" fmla="val 5926"/>
            </a:avLst>
          </a:prstGeom>
          <a:solidFill>
            <a:schemeClr val="bg1"/>
          </a:solidFill>
          <a:ln w="15875">
            <a:solidFill>
              <a:schemeClr val="accent2"/>
            </a:solidFill>
            <a:prstDash val="dash"/>
          </a:ln>
        </p:spPr>
      </p:sp>
      <p:sp>
        <p:nvSpPr>
          <p:cNvPr id="15" name="vsc2-c"/>
          <p:cNvSpPr/>
          <p:nvPr/>
        </p:nvSpPr>
        <p:spPr>
          <a:xfrm>
            <a:off x="3621024" y="1353312"/>
            <a:ext cx="502920" cy="502920"/>
          </a:xfrm>
          <a:prstGeom prst="ellipse">
            <a:avLst/>
          </a:prstGeom>
          <a:solidFill>
            <a:schemeClr val="accent2"/>
          </a:solidFill>
          <a:ln w="12700">
            <a:solidFill>
              <a:schemeClr val="accent2"/>
            </a:solidFill>
            <a:prstDash val="solid"/>
          </a:ln>
        </p:spPr>
      </p:sp>
      <p:pic>
        <p:nvPicPr>
          <p:cNvPr id="16" name="vsc2-i" descr="preencoded.png"/>
          <p:cNvPicPr>
            <a:picLocks noChangeAspect="1"/>
          </p:cNvPicPr>
          <p:nvPr/>
        </p:nvPicPr>
        <p:blipFill>
          <a:blip r:embed="rId5"/>
          <a:stretch>
            <a:fillRect/>
          </a:stretch>
        </p:blipFill>
        <p:spPr>
          <a:xfrm>
            <a:off x="3751783" y="1484071"/>
            <a:ext cx="241402" cy="241402"/>
          </a:xfrm>
          <a:prstGeom prst="rect">
            <a:avLst/>
          </a:prstGeom>
        </p:spPr>
      </p:pic>
      <p:sp>
        <p:nvSpPr>
          <p:cNvPr id="17" name="Text 12"/>
          <p:cNvSpPr txBox="1"/>
          <p:nvPr/>
        </p:nvSpPr>
        <p:spPr>
          <a:xfrm>
            <a:off x="3300984" y="1920240"/>
            <a:ext cx="1143000" cy="457200"/>
          </a:xfrm>
          <a:prstGeom prst="rect">
            <a:avLst/>
          </a:prstGeom>
          <a:noFill/>
          <a:ln/>
        </p:spPr>
        <p:txBody>
          <a:bodyPr wrap="square" lIns="0" tIns="0" rIns="0" bIns="0" rtlCol="0" anchor="ctr"/>
          <a:lstStyle/>
          <a:p>
            <a:pPr marL="0" indent="0" algn="ctr">
              <a:buNone/>
            </a:pPr>
            <a:r>
              <a:rPr lang="en-US" sz="1150" b="1" dirty="0">
                <a:solidFill>
                  <a:schemeClr val="tx2"/>
                </a:solidFill>
                <a:latin typeface="Calibri" pitchFamily="34" charset="0"/>
                <a:ea typeface="Calibri" pitchFamily="34" charset="-122"/>
                <a:cs typeface="Calibri" pitchFamily="34" charset="-120"/>
              </a:rPr>
              <a:t>Voxel grid</a:t>
            </a:r>
            <a:endParaRPr lang="en-US" sz="1150" dirty="0"/>
          </a:p>
        </p:txBody>
      </p:sp>
      <p:sp>
        <p:nvSpPr>
          <p:cNvPr id="18" name="vsa2"/>
          <p:cNvSpPr/>
          <p:nvPr/>
        </p:nvSpPr>
        <p:spPr>
          <a:xfrm>
            <a:off x="4498848" y="1847088"/>
            <a:ext cx="146304" cy="0"/>
          </a:xfrm>
          <a:prstGeom prst="line">
            <a:avLst/>
          </a:prstGeom>
          <a:noFill/>
          <a:ln w="22225">
            <a:solidFill>
              <a:schemeClr val="accent4"/>
            </a:solidFill>
            <a:prstDash val="solid"/>
            <a:tailEnd type="triangle"/>
          </a:ln>
        </p:spPr>
      </p:sp>
      <p:sp>
        <p:nvSpPr>
          <p:cNvPr id="19" name="vs3"/>
          <p:cNvSpPr/>
          <p:nvPr/>
        </p:nvSpPr>
        <p:spPr>
          <a:xfrm>
            <a:off x="4654296" y="1234440"/>
            <a:ext cx="1234440" cy="1234440"/>
          </a:xfrm>
          <a:prstGeom prst="roundRect">
            <a:avLst>
              <a:gd name="adj" fmla="val 5926"/>
            </a:avLst>
          </a:prstGeom>
          <a:solidFill>
            <a:schemeClr val="bg1"/>
          </a:solidFill>
          <a:ln w="15875">
            <a:solidFill>
              <a:schemeClr val="accent2"/>
            </a:solidFill>
            <a:prstDash val="dash"/>
          </a:ln>
        </p:spPr>
      </p:sp>
      <p:sp>
        <p:nvSpPr>
          <p:cNvPr id="20" name="vsc3-c"/>
          <p:cNvSpPr/>
          <p:nvPr/>
        </p:nvSpPr>
        <p:spPr>
          <a:xfrm>
            <a:off x="5020056" y="1353312"/>
            <a:ext cx="502920" cy="502920"/>
          </a:xfrm>
          <a:prstGeom prst="ellipse">
            <a:avLst/>
          </a:prstGeom>
          <a:solidFill>
            <a:schemeClr val="accent2"/>
          </a:solidFill>
          <a:ln w="12700">
            <a:solidFill>
              <a:schemeClr val="accent2"/>
            </a:solidFill>
            <a:prstDash val="solid"/>
          </a:ln>
        </p:spPr>
      </p:sp>
      <p:pic>
        <p:nvPicPr>
          <p:cNvPr id="21" name="vsc3-i" descr="preencoded.png"/>
          <p:cNvPicPr>
            <a:picLocks noChangeAspect="1"/>
          </p:cNvPicPr>
          <p:nvPr/>
        </p:nvPicPr>
        <p:blipFill>
          <a:blip r:embed="rId6"/>
          <a:stretch>
            <a:fillRect/>
          </a:stretch>
        </p:blipFill>
        <p:spPr>
          <a:xfrm>
            <a:off x="5150815" y="1484071"/>
            <a:ext cx="241402" cy="241402"/>
          </a:xfrm>
          <a:prstGeom prst="rect">
            <a:avLst/>
          </a:prstGeom>
        </p:spPr>
      </p:pic>
      <p:sp>
        <p:nvSpPr>
          <p:cNvPr id="22" name="Text 16"/>
          <p:cNvSpPr txBox="1"/>
          <p:nvPr/>
        </p:nvSpPr>
        <p:spPr>
          <a:xfrm>
            <a:off x="4700016" y="1920240"/>
            <a:ext cx="1143000" cy="457200"/>
          </a:xfrm>
          <a:prstGeom prst="rect">
            <a:avLst/>
          </a:prstGeom>
          <a:noFill/>
          <a:ln/>
        </p:spPr>
        <p:txBody>
          <a:bodyPr wrap="square" lIns="0" tIns="0" rIns="0" bIns="0" rtlCol="0" anchor="ctr"/>
          <a:lstStyle/>
          <a:p>
            <a:pPr marL="0" indent="0" algn="ctr">
              <a:buNone/>
            </a:pPr>
            <a:r>
              <a:rPr lang="en-US" sz="1150" b="1" dirty="0">
                <a:solidFill>
                  <a:schemeClr val="tx2"/>
                </a:solidFill>
                <a:latin typeface="Calibri" pitchFamily="34" charset="0"/>
                <a:ea typeface="Calibri" pitchFamily="34" charset="-122"/>
                <a:cs typeface="Calibri" pitchFamily="34" charset="-120"/>
              </a:rPr>
              <a:t>Surrogate + PEA</a:t>
            </a:r>
            <a:endParaRPr lang="en-US" sz="1150" dirty="0"/>
          </a:p>
        </p:txBody>
      </p:sp>
      <p:sp>
        <p:nvSpPr>
          <p:cNvPr id="23" name="vsa3"/>
          <p:cNvSpPr/>
          <p:nvPr/>
        </p:nvSpPr>
        <p:spPr>
          <a:xfrm>
            <a:off x="5897880" y="1847088"/>
            <a:ext cx="146304" cy="0"/>
          </a:xfrm>
          <a:prstGeom prst="line">
            <a:avLst/>
          </a:prstGeom>
          <a:noFill/>
          <a:ln w="22225">
            <a:solidFill>
              <a:schemeClr val="accent4"/>
            </a:solidFill>
            <a:prstDash val="solid"/>
            <a:tailEnd type="triangle"/>
          </a:ln>
        </p:spPr>
      </p:sp>
      <p:sp>
        <p:nvSpPr>
          <p:cNvPr id="24" name="vs4"/>
          <p:cNvSpPr/>
          <p:nvPr/>
        </p:nvSpPr>
        <p:spPr>
          <a:xfrm>
            <a:off x="6053328" y="1234440"/>
            <a:ext cx="1234440" cy="1234440"/>
          </a:xfrm>
          <a:prstGeom prst="roundRect">
            <a:avLst>
              <a:gd name="adj" fmla="val 5926"/>
            </a:avLst>
          </a:prstGeom>
          <a:solidFill>
            <a:schemeClr val="bg1"/>
          </a:solidFill>
          <a:ln w="15875">
            <a:solidFill>
              <a:schemeClr val="accent2"/>
            </a:solidFill>
            <a:prstDash val="dash"/>
          </a:ln>
        </p:spPr>
      </p:sp>
      <p:sp>
        <p:nvSpPr>
          <p:cNvPr id="25" name="vsc4-c"/>
          <p:cNvSpPr/>
          <p:nvPr/>
        </p:nvSpPr>
        <p:spPr>
          <a:xfrm>
            <a:off x="6419088" y="1353312"/>
            <a:ext cx="502920" cy="502920"/>
          </a:xfrm>
          <a:prstGeom prst="ellipse">
            <a:avLst/>
          </a:prstGeom>
          <a:solidFill>
            <a:schemeClr val="accent2"/>
          </a:solidFill>
          <a:ln w="12700">
            <a:solidFill>
              <a:schemeClr val="accent2"/>
            </a:solidFill>
            <a:prstDash val="solid"/>
          </a:ln>
        </p:spPr>
      </p:sp>
      <p:pic>
        <p:nvPicPr>
          <p:cNvPr id="26" name="vsc4-i" descr="preencoded.png"/>
          <p:cNvPicPr>
            <a:picLocks noChangeAspect="1"/>
          </p:cNvPicPr>
          <p:nvPr/>
        </p:nvPicPr>
        <p:blipFill>
          <a:blip r:embed="rId7"/>
          <a:stretch>
            <a:fillRect/>
          </a:stretch>
        </p:blipFill>
        <p:spPr>
          <a:xfrm>
            <a:off x="6549847" y="1484071"/>
            <a:ext cx="241402" cy="241402"/>
          </a:xfrm>
          <a:prstGeom prst="rect">
            <a:avLst/>
          </a:prstGeom>
        </p:spPr>
      </p:pic>
      <p:sp>
        <p:nvSpPr>
          <p:cNvPr id="27" name="Text 20"/>
          <p:cNvSpPr txBox="1"/>
          <p:nvPr/>
        </p:nvSpPr>
        <p:spPr>
          <a:xfrm>
            <a:off x="6099048" y="1920240"/>
            <a:ext cx="1143000" cy="457200"/>
          </a:xfrm>
          <a:prstGeom prst="rect">
            <a:avLst/>
          </a:prstGeom>
          <a:noFill/>
          <a:ln/>
        </p:spPr>
        <p:txBody>
          <a:bodyPr wrap="square" lIns="0" tIns="0" rIns="0" bIns="0" rtlCol="0" anchor="ctr"/>
          <a:lstStyle/>
          <a:p>
            <a:pPr marL="0" indent="0" algn="ctr">
              <a:buNone/>
            </a:pPr>
            <a:r>
              <a:rPr lang="en-US" sz="1150" b="1" dirty="0">
                <a:solidFill>
                  <a:schemeClr val="tx2"/>
                </a:solidFill>
                <a:latin typeface="Calibri" pitchFamily="34" charset="0"/>
                <a:ea typeface="Calibri" pitchFamily="34" charset="-122"/>
                <a:cs typeface="Calibri" pitchFamily="34" charset="-120"/>
              </a:rPr>
              <a:t>FE check</a:t>
            </a:r>
            <a:endParaRPr lang="en-US" sz="1150" dirty="0"/>
          </a:p>
        </p:txBody>
      </p:sp>
      <p:sp>
        <p:nvSpPr>
          <p:cNvPr id="28" name="vsa4"/>
          <p:cNvSpPr/>
          <p:nvPr/>
        </p:nvSpPr>
        <p:spPr>
          <a:xfrm>
            <a:off x="7296912" y="1847088"/>
            <a:ext cx="146304" cy="0"/>
          </a:xfrm>
          <a:prstGeom prst="line">
            <a:avLst/>
          </a:prstGeom>
          <a:noFill/>
          <a:ln w="22225">
            <a:solidFill>
              <a:schemeClr val="accent4"/>
            </a:solidFill>
            <a:prstDash val="solid"/>
            <a:tailEnd type="triangle"/>
          </a:ln>
        </p:spPr>
      </p:sp>
      <p:sp>
        <p:nvSpPr>
          <p:cNvPr id="29" name="vs5"/>
          <p:cNvSpPr/>
          <p:nvPr/>
        </p:nvSpPr>
        <p:spPr>
          <a:xfrm>
            <a:off x="7452360" y="1234440"/>
            <a:ext cx="1234440" cy="1234440"/>
          </a:xfrm>
          <a:prstGeom prst="roundRect">
            <a:avLst>
              <a:gd name="adj" fmla="val 5926"/>
            </a:avLst>
          </a:prstGeom>
          <a:solidFill>
            <a:schemeClr val="bg1"/>
          </a:solidFill>
          <a:ln w="15875">
            <a:solidFill>
              <a:schemeClr val="accent2"/>
            </a:solidFill>
            <a:prstDash val="dash"/>
          </a:ln>
        </p:spPr>
      </p:sp>
      <p:sp>
        <p:nvSpPr>
          <p:cNvPr id="30" name="vsc5-c"/>
          <p:cNvSpPr/>
          <p:nvPr/>
        </p:nvSpPr>
        <p:spPr>
          <a:xfrm>
            <a:off x="7818120" y="1353312"/>
            <a:ext cx="502920" cy="502920"/>
          </a:xfrm>
          <a:prstGeom prst="ellipse">
            <a:avLst/>
          </a:prstGeom>
          <a:solidFill>
            <a:schemeClr val="accent2"/>
          </a:solidFill>
          <a:ln w="12700">
            <a:solidFill>
              <a:schemeClr val="accent2"/>
            </a:solidFill>
            <a:prstDash val="solid"/>
          </a:ln>
        </p:spPr>
      </p:sp>
      <p:pic>
        <p:nvPicPr>
          <p:cNvPr id="31" name="vsc5-i" descr="preencoded.png"/>
          <p:cNvPicPr>
            <a:picLocks noChangeAspect="1"/>
          </p:cNvPicPr>
          <p:nvPr/>
        </p:nvPicPr>
        <p:blipFill>
          <a:blip r:embed="rId8"/>
          <a:stretch>
            <a:fillRect/>
          </a:stretch>
        </p:blipFill>
        <p:spPr>
          <a:xfrm>
            <a:off x="7948879" y="1484071"/>
            <a:ext cx="241402" cy="241402"/>
          </a:xfrm>
          <a:prstGeom prst="rect">
            <a:avLst/>
          </a:prstGeom>
        </p:spPr>
      </p:pic>
      <p:sp>
        <p:nvSpPr>
          <p:cNvPr id="32" name="Text 24"/>
          <p:cNvSpPr txBox="1"/>
          <p:nvPr/>
        </p:nvSpPr>
        <p:spPr>
          <a:xfrm>
            <a:off x="7498080" y="1920240"/>
            <a:ext cx="1143000" cy="457200"/>
          </a:xfrm>
          <a:prstGeom prst="rect">
            <a:avLst/>
          </a:prstGeom>
          <a:noFill/>
          <a:ln/>
        </p:spPr>
        <p:txBody>
          <a:bodyPr wrap="square" lIns="0" tIns="0" rIns="0" bIns="0" rtlCol="0" anchor="ctr"/>
          <a:lstStyle/>
          <a:p>
            <a:pPr marL="0" indent="0" algn="ctr">
              <a:buNone/>
            </a:pPr>
            <a:r>
              <a:rPr lang="en-US" sz="1150" b="1" dirty="0">
                <a:solidFill>
                  <a:schemeClr val="tx2"/>
                </a:solidFill>
                <a:latin typeface="Calibri" pitchFamily="34" charset="0"/>
                <a:ea typeface="Calibri" pitchFamily="34" charset="-122"/>
                <a:cs typeface="Calibri" pitchFamily="34" charset="-120"/>
              </a:rPr>
              <a:t>4D print</a:t>
            </a:r>
            <a:endParaRPr lang="en-US" sz="1150" dirty="0"/>
          </a:p>
        </p:txBody>
      </p:sp>
      <p:sp>
        <p:nvSpPr>
          <p:cNvPr id="33" name="Text 25"/>
          <p:cNvSpPr txBox="1"/>
          <p:nvPr/>
        </p:nvSpPr>
        <p:spPr>
          <a:xfrm>
            <a:off x="457200" y="2606040"/>
            <a:ext cx="8229600" cy="457200"/>
          </a:xfrm>
          <a:prstGeom prst="rect">
            <a:avLst/>
          </a:prstGeom>
          <a:noFill/>
          <a:ln/>
        </p:spPr>
        <p:txBody>
          <a:bodyPr wrap="square" lIns="0" tIns="0" rIns="0" bIns="0" rtlCol="0" anchor="ctr"/>
          <a:lstStyle/>
          <a:p>
            <a:pPr marL="0" indent="0">
              <a:buNone/>
            </a:pPr>
            <a:r>
              <a:rPr lang="en-US" sz="1100" i="1">
                <a:solidFill>
                  <a:schemeClr val="accent4"/>
                </a:solidFill>
                <a:latin typeface="Calibri" pitchFamily="34" charset="0"/>
                <a:ea typeface="Calibri" pitchFamily="34" charset="-122"/>
                <a:cs typeface="Calibri" pitchFamily="34" charset="-120"/>
              </a:rPr>
              <a:t>Needs first: digitize the target curve, resample to 200 points, and match coordinates and scale. The FreiHAND geometry prototype is separate from this PEA pipeline.</a:t>
            </a:r>
            <a:endParaRPr lang="en-US" sz="1100" dirty="0"/>
          </a:p>
        </p:txBody>
      </p:sp>
      <p:sp>
        <p:nvSpPr>
          <p:cNvPr id="34" name="tk0"/>
          <p:cNvSpPr/>
          <p:nvPr/>
        </p:nvSpPr>
        <p:spPr>
          <a:xfrm>
            <a:off x="457200" y="3246120"/>
            <a:ext cx="2606040" cy="1371600"/>
          </a:xfrm>
          <a:prstGeom prst="roundRect">
            <a:avLst>
              <a:gd name="adj" fmla="val 5333"/>
            </a:avLst>
          </a:prstGeom>
          <a:solidFill>
            <a:schemeClr val="accent1"/>
          </a:solidFill>
          <a:ln w="12700">
            <a:solidFill>
              <a:schemeClr val="accent1"/>
            </a:solidFill>
            <a:prstDash val="solid"/>
          </a:ln>
        </p:spPr>
      </p:sp>
      <p:sp>
        <p:nvSpPr>
          <p:cNvPr id="35" name="Text 27"/>
          <p:cNvSpPr txBox="1"/>
          <p:nvPr/>
        </p:nvSpPr>
        <p:spPr>
          <a:xfrm>
            <a:off x="640080" y="3310128"/>
            <a:ext cx="548640" cy="548640"/>
          </a:xfrm>
          <a:prstGeom prst="rect">
            <a:avLst/>
          </a:prstGeom>
          <a:noFill/>
          <a:ln/>
        </p:spPr>
        <p:txBody>
          <a:bodyPr wrap="square" lIns="0" tIns="0" rIns="0" bIns="0" rtlCol="0" anchor="t"/>
          <a:lstStyle/>
          <a:p>
            <a:pPr marL="0" indent="0">
              <a:buNone/>
            </a:pPr>
            <a:r>
              <a:rPr lang="en-US" sz="2800" b="1" dirty="0">
                <a:solidFill>
                  <a:schemeClr val="bg1"/>
                </a:solidFill>
                <a:latin typeface="Georgia" pitchFamily="34" charset="0"/>
                <a:ea typeface="Georgia" pitchFamily="34" charset="-122"/>
                <a:cs typeface="Georgia" pitchFamily="34" charset="-120"/>
              </a:rPr>
              <a:t>1</a:t>
            </a:r>
            <a:endParaRPr lang="en-US" sz="2800" dirty="0"/>
          </a:p>
        </p:txBody>
      </p:sp>
      <p:sp>
        <p:nvSpPr>
          <p:cNvPr id="36" name="Text 28"/>
          <p:cNvSpPr txBox="1"/>
          <p:nvPr/>
        </p:nvSpPr>
        <p:spPr>
          <a:xfrm>
            <a:off x="640080" y="3840480"/>
            <a:ext cx="2240280" cy="685800"/>
          </a:xfrm>
          <a:prstGeom prst="rect">
            <a:avLst/>
          </a:prstGeom>
          <a:noFill/>
          <a:ln/>
        </p:spPr>
        <p:txBody>
          <a:bodyPr wrap="square" lIns="0" tIns="0" rIns="0" bIns="0" rtlCol="0" anchor="t"/>
          <a:lstStyle/>
          <a:p>
            <a:pPr marL="0" indent="0">
              <a:buNone/>
            </a:pPr>
            <a:r>
              <a:rPr lang="en-US" sz="1400" b="1" dirty="0">
                <a:solidFill>
                  <a:schemeClr val="bg1"/>
                </a:solidFill>
                <a:latin typeface="Calibri" pitchFamily="34" charset="0"/>
                <a:ea typeface="Calibri" pitchFamily="34" charset="-122"/>
                <a:cs typeface="Calibri" pitchFamily="34" charset="-120"/>
              </a:rPr>
              <a:t>Representation decides what you can design</a:t>
            </a:r>
            <a:endParaRPr lang="en-US" sz="1400" dirty="0"/>
          </a:p>
        </p:txBody>
      </p:sp>
      <p:sp>
        <p:nvSpPr>
          <p:cNvPr id="37" name="tk1"/>
          <p:cNvSpPr/>
          <p:nvPr/>
        </p:nvSpPr>
        <p:spPr>
          <a:xfrm>
            <a:off x="3246120" y="3246120"/>
            <a:ext cx="2606040" cy="1371600"/>
          </a:xfrm>
          <a:prstGeom prst="roundRect">
            <a:avLst>
              <a:gd name="adj" fmla="val 5333"/>
            </a:avLst>
          </a:prstGeom>
          <a:solidFill>
            <a:schemeClr val="accent2"/>
          </a:solidFill>
          <a:ln w="12700">
            <a:solidFill>
              <a:schemeClr val="accent2"/>
            </a:solidFill>
            <a:prstDash val="solid"/>
          </a:ln>
        </p:spPr>
      </p:sp>
      <p:sp>
        <p:nvSpPr>
          <p:cNvPr id="38" name="Text 30"/>
          <p:cNvSpPr txBox="1"/>
          <p:nvPr/>
        </p:nvSpPr>
        <p:spPr>
          <a:xfrm>
            <a:off x="3429000" y="3310128"/>
            <a:ext cx="548640" cy="548640"/>
          </a:xfrm>
          <a:prstGeom prst="rect">
            <a:avLst/>
          </a:prstGeom>
          <a:noFill/>
          <a:ln/>
        </p:spPr>
        <p:txBody>
          <a:bodyPr wrap="square" lIns="0" tIns="0" rIns="0" bIns="0" rtlCol="0" anchor="t"/>
          <a:lstStyle/>
          <a:p>
            <a:pPr marL="0" indent="0">
              <a:buNone/>
            </a:pPr>
            <a:r>
              <a:rPr lang="en-US" sz="2800" b="1" dirty="0">
                <a:solidFill>
                  <a:schemeClr val="bg1"/>
                </a:solidFill>
                <a:latin typeface="Georgia" pitchFamily="34" charset="0"/>
                <a:ea typeface="Georgia" pitchFamily="34" charset="-122"/>
                <a:cs typeface="Georgia" pitchFamily="34" charset="-120"/>
              </a:rPr>
              <a:t>2</a:t>
            </a:r>
            <a:endParaRPr lang="en-US" sz="2800" dirty="0"/>
          </a:p>
        </p:txBody>
      </p:sp>
      <p:sp>
        <p:nvSpPr>
          <p:cNvPr id="39" name="Text 31"/>
          <p:cNvSpPr txBox="1"/>
          <p:nvPr/>
        </p:nvSpPr>
        <p:spPr>
          <a:xfrm>
            <a:off x="3429000" y="3840480"/>
            <a:ext cx="2240280" cy="685800"/>
          </a:xfrm>
          <a:prstGeom prst="rect">
            <a:avLst/>
          </a:prstGeom>
          <a:noFill/>
          <a:ln/>
        </p:spPr>
        <p:txBody>
          <a:bodyPr wrap="square" lIns="0" tIns="0" rIns="0" bIns="0" rtlCol="0" anchor="t"/>
          <a:lstStyle/>
          <a:p>
            <a:pPr marL="0" indent="0">
              <a:buNone/>
            </a:pPr>
            <a:r>
              <a:rPr lang="en-US" sz="1400" b="1" dirty="0">
                <a:solidFill>
                  <a:schemeClr val="bg1"/>
                </a:solidFill>
                <a:latin typeface="Calibri" pitchFamily="34" charset="0"/>
                <a:ea typeface="Calibri" pitchFamily="34" charset="-122"/>
                <a:cs typeface="Calibri" pitchFamily="34" charset="-120"/>
              </a:rPr>
              <a:t>Test the surrogate inside the search loop</a:t>
            </a:r>
            <a:endParaRPr lang="en-US" sz="1400" dirty="0"/>
          </a:p>
        </p:txBody>
      </p:sp>
      <p:sp>
        <p:nvSpPr>
          <p:cNvPr id="40" name="tk2"/>
          <p:cNvSpPr/>
          <p:nvPr/>
        </p:nvSpPr>
        <p:spPr>
          <a:xfrm>
            <a:off x="6035040" y="3246120"/>
            <a:ext cx="2606040" cy="1371600"/>
          </a:xfrm>
          <a:prstGeom prst="roundRect">
            <a:avLst>
              <a:gd name="adj" fmla="val 5333"/>
            </a:avLst>
          </a:prstGeom>
          <a:solidFill>
            <a:schemeClr val="tx2"/>
          </a:solidFill>
          <a:ln w="12700">
            <a:solidFill>
              <a:schemeClr val="tx2"/>
            </a:solidFill>
            <a:prstDash val="solid"/>
          </a:ln>
        </p:spPr>
      </p:sp>
      <p:sp>
        <p:nvSpPr>
          <p:cNvPr id="41" name="Text 33"/>
          <p:cNvSpPr txBox="1"/>
          <p:nvPr/>
        </p:nvSpPr>
        <p:spPr>
          <a:xfrm>
            <a:off x="6217920" y="3310128"/>
            <a:ext cx="548640" cy="548640"/>
          </a:xfrm>
          <a:prstGeom prst="rect">
            <a:avLst/>
          </a:prstGeom>
          <a:noFill/>
          <a:ln/>
        </p:spPr>
        <p:txBody>
          <a:bodyPr wrap="square" lIns="0" tIns="0" rIns="0" bIns="0" rtlCol="0" anchor="t"/>
          <a:lstStyle/>
          <a:p>
            <a:pPr marL="0" indent="0">
              <a:buNone/>
            </a:pPr>
            <a:r>
              <a:rPr lang="en-US" sz="2800" b="1" dirty="0">
                <a:solidFill>
                  <a:schemeClr val="bg1"/>
                </a:solidFill>
                <a:latin typeface="Georgia" pitchFamily="34" charset="0"/>
                <a:ea typeface="Georgia" pitchFamily="34" charset="-122"/>
                <a:cs typeface="Georgia" pitchFamily="34" charset="-120"/>
              </a:rPr>
              <a:t>3</a:t>
            </a:r>
            <a:endParaRPr lang="en-US" sz="2800" dirty="0"/>
          </a:p>
        </p:txBody>
      </p:sp>
      <p:sp>
        <p:nvSpPr>
          <p:cNvPr id="42" name="Text 34"/>
          <p:cNvSpPr txBox="1"/>
          <p:nvPr/>
        </p:nvSpPr>
        <p:spPr>
          <a:xfrm>
            <a:off x="6217920" y="3840480"/>
            <a:ext cx="2240280" cy="685800"/>
          </a:xfrm>
          <a:prstGeom prst="rect">
            <a:avLst/>
          </a:prstGeom>
          <a:noFill/>
          <a:ln/>
        </p:spPr>
        <p:txBody>
          <a:bodyPr wrap="square" lIns="0" tIns="0" rIns="0" bIns="0" rtlCol="0" anchor="t"/>
          <a:lstStyle/>
          <a:p>
            <a:pPr marL="0" indent="0">
              <a:buNone/>
            </a:pPr>
            <a:r>
              <a:rPr lang="en-US" sz="1400" b="1" dirty="0">
                <a:solidFill>
                  <a:schemeClr val="bg1"/>
                </a:solidFill>
                <a:latin typeface="Calibri" pitchFamily="34" charset="0"/>
                <a:ea typeface="Calibri" pitchFamily="34" charset="-122"/>
                <a:cs typeface="Calibri" pitchFamily="34" charset="-120"/>
              </a:rPr>
              <a:t>Validate designs with FE and printing</a:t>
            </a:r>
            <a:endParaRPr lang="en-US" sz="1400" dirty="0"/>
          </a:p>
        </p:txBody>
      </p:sp>
      <p:sp>
        <p:nvSpPr>
          <p:cNvPr id="43" name="Text 35"/>
          <p:cNvSpPr txBox="1"/>
          <p:nvPr/>
        </p:nvSpPr>
        <p:spPr>
          <a:xfrm>
            <a:off x="457200" y="4818888"/>
            <a:ext cx="7498080" cy="201168"/>
          </a:xfrm>
          <a:prstGeom prst="rect">
            <a:avLst/>
          </a:prstGeom>
          <a:noFill/>
          <a:ln/>
        </p:spPr>
        <p:txBody>
          <a:bodyPr wrap="square" lIns="0" tIns="0" rIns="0" bIns="0" rtlCol="0" anchor="t"/>
          <a:lstStyle/>
          <a:p>
            <a:pPr marL="0" indent="0">
              <a:buNone/>
            </a:pPr>
            <a:r>
              <a:rPr lang="en-US" sz="800" dirty="0">
                <a:solidFill>
                  <a:schemeClr val="accent4"/>
                </a:solidFill>
                <a:latin typeface="Calibri" pitchFamily="34" charset="0"/>
                <a:ea typeface="Calibri" pitchFamily="34" charset="-122"/>
                <a:cs typeface="Calibri" pitchFamily="34" charset="-120"/>
              </a:rPr>
              <a:t>Proposed research direction. Demonstrated hand-shape actuation: Jin et al. 2024, Fig. 7 [2].</a:t>
            </a:r>
            <a:endParaRPr lang="en-US" sz="800" dirty="0"/>
          </a:p>
        </p:txBody>
      </p:sp>
      <p:sp>
        <p:nvSpPr>
          <p:cNvPr id="44"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82"/>
                </a:solidFill>
                <a:latin typeface="Calibri"/>
                <a:ea typeface="Calibri"/>
                <a:cs typeface="Calibri"/>
              </a:defRPr>
            </a:lvl1pPr>
          </a:lstStyle>
          <a:p>
            <a:pPr algn="r"/>
            <a:r>
              <a:rPr lang="en-US" b="0"/>
              <a:t>16</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417320"/>
            <a:ext cx="5120640" cy="1737360"/>
          </a:xfrm>
          <a:prstGeom prst="rect">
            <a:avLst/>
          </a:prstGeom>
          <a:noFill/>
          <a:ln/>
        </p:spPr>
        <p:txBody>
          <a:bodyPr wrap="square" lIns="0" tIns="0" rIns="0" bIns="0" rtlCol="0" anchor="b"/>
          <a:lstStyle/>
          <a:p>
            <a:pPr marL="0" indent="0" algn="l">
              <a:buNone/>
            </a:pPr>
            <a:r>
              <a:rPr lang="en-US" sz="3000" b="1" dirty="0">
                <a:solidFill>
                  <a:schemeClr val="bg1"/>
                </a:solidFill>
                <a:latin typeface="Georgia" pitchFamily="34" charset="0"/>
                <a:ea typeface="Georgia" pitchFamily="34" charset="-122"/>
                <a:cs typeface="Georgia" pitchFamily="34" charset="-120"/>
              </a:rPr>
              <a:t>Questions?</a:t>
            </a:r>
            <a:endParaRPr lang="en-US" sz="3000" dirty="0"/>
          </a:p>
        </p:txBody>
      </p:sp>
      <p:sp>
        <p:nvSpPr>
          <p:cNvPr id="3" name="qq-c"/>
          <p:cNvSpPr/>
          <p:nvPr/>
        </p:nvSpPr>
        <p:spPr>
          <a:xfrm>
            <a:off x="548640" y="640080"/>
            <a:ext cx="822960" cy="822960"/>
          </a:xfrm>
          <a:prstGeom prst="ellipse">
            <a:avLst/>
          </a:prstGeom>
          <a:solidFill>
            <a:schemeClr val="accent1"/>
          </a:solidFill>
          <a:ln w="12700">
            <a:solidFill>
              <a:schemeClr val="accent1"/>
            </a:solidFill>
            <a:prstDash val="solid"/>
          </a:ln>
        </p:spPr>
      </p:sp>
      <p:pic>
        <p:nvPicPr>
          <p:cNvPr id="4" name="qq-i" descr="preencoded.png"/>
          <p:cNvPicPr>
            <a:picLocks noChangeAspect="1"/>
          </p:cNvPicPr>
          <p:nvPr/>
        </p:nvPicPr>
        <p:blipFill>
          <a:blip r:embed="rId3"/>
          <a:stretch>
            <a:fillRect/>
          </a:stretch>
        </p:blipFill>
        <p:spPr>
          <a:xfrm>
            <a:off x="762610" y="854050"/>
            <a:ext cx="395021" cy="395021"/>
          </a:xfrm>
          <a:prstGeom prst="rect">
            <a:avLst/>
          </a:prstGeom>
        </p:spPr>
      </p:pic>
      <p:sp>
        <p:nvSpPr>
          <p:cNvPr id="5" name="Text 0"/>
          <p:cNvSpPr>
            <a:spLocks noGrp="1"/>
          </p:cNvSpPr>
          <p:nvPr>
            <p:ph type="body" idx="101" hasCustomPrompt="1"/>
          </p:nvPr>
        </p:nvSpPr>
        <p:spPr>
          <a:xfrm>
            <a:off x="548640" y="3291840"/>
            <a:ext cx="5120640" cy="822960"/>
          </a:xfrm>
          <a:prstGeom prst="rect">
            <a:avLst/>
          </a:prstGeom>
          <a:noFill/>
          <a:ln/>
        </p:spPr>
        <p:txBody>
          <a:bodyPr wrap="square" lIns="0" tIns="0" rIns="0" bIns="0" rtlCol="0" anchor="t"/>
          <a:lstStyle/>
          <a:p>
            <a:pPr marL="0" indent="0" algn="l">
              <a:buNone/>
            </a:pPr>
            <a:r>
              <a:rPr lang="en-US" sz="1500" dirty="0">
                <a:solidFill>
                  <a:schemeClr val="accent5"/>
                </a:solidFill>
                <a:latin typeface="Calibri" pitchFamily="34" charset="0"/>
                <a:ea typeface="Calibri" pitchFamily="34" charset="-122"/>
                <a:cs typeface="Calibri" pitchFamily="34" charset="-120"/>
              </a:rPr>
              <a:t>Which validation step should come first: an FE check, a printed measurement, or new target shapes?</a:t>
            </a:r>
            <a:endParaRPr lang="en-US" sz="1500" dirty="0"/>
          </a:p>
        </p:txBody>
      </p:sp>
      <p:sp>
        <p:nvSpPr>
          <p:cNvPr id="6" name="refs"/>
          <p:cNvSpPr/>
          <p:nvPr/>
        </p:nvSpPr>
        <p:spPr>
          <a:xfrm>
            <a:off x="5897880" y="548640"/>
            <a:ext cx="2834640" cy="4023360"/>
          </a:xfrm>
          <a:prstGeom prst="roundRect">
            <a:avLst>
              <a:gd name="adj" fmla="val 2581"/>
            </a:avLst>
          </a:prstGeom>
          <a:solidFill>
            <a:srgbClr val="22325A"/>
          </a:solidFill>
          <a:ln w="12700">
            <a:solidFill>
              <a:srgbClr val="22325A"/>
            </a:solidFill>
            <a:prstDash val="solid"/>
          </a:ln>
        </p:spPr>
      </p:sp>
      <p:sp>
        <p:nvSpPr>
          <p:cNvPr id="7" name="Text 4"/>
          <p:cNvSpPr txBox="1"/>
          <p:nvPr/>
        </p:nvSpPr>
        <p:spPr>
          <a:xfrm>
            <a:off x="6080760" y="685800"/>
            <a:ext cx="2468880" cy="320040"/>
          </a:xfrm>
          <a:prstGeom prst="rect">
            <a:avLst/>
          </a:prstGeom>
          <a:noFill/>
          <a:ln/>
        </p:spPr>
        <p:txBody>
          <a:bodyPr wrap="square" lIns="0" tIns="0" rIns="0" bIns="0" rtlCol="0" anchor="t"/>
          <a:lstStyle/>
          <a:p>
            <a:pPr marL="0" indent="0">
              <a:buNone/>
            </a:pPr>
            <a:r>
              <a:rPr lang="en-US" sz="1300" b="1" dirty="0">
                <a:solidFill>
                  <a:schemeClr val="accent3"/>
                </a:solidFill>
                <a:latin typeface="Georgia" pitchFamily="34" charset="0"/>
                <a:ea typeface="Georgia" pitchFamily="34" charset="-122"/>
                <a:cs typeface="Georgia" pitchFamily="34" charset="-120"/>
              </a:rPr>
              <a:t>References</a:t>
            </a:r>
            <a:endParaRPr lang="en-US" sz="1300" dirty="0"/>
          </a:p>
        </p:txBody>
      </p:sp>
      <p:sp>
        <p:nvSpPr>
          <p:cNvPr id="8" name="Text 5"/>
          <p:cNvSpPr txBox="1"/>
          <p:nvPr/>
        </p:nvSpPr>
        <p:spPr>
          <a:xfrm>
            <a:off x="6080760" y="1051560"/>
            <a:ext cx="2514600" cy="3429000"/>
          </a:xfrm>
          <a:prstGeom prst="rect">
            <a:avLst/>
          </a:prstGeom>
          <a:noFill/>
          <a:ln/>
        </p:spPr>
        <p:txBody>
          <a:bodyPr wrap="square" lIns="0" tIns="0" rIns="0" bIns="0" rtlCol="0" anchor="t"/>
          <a:lstStyle/>
          <a:p>
            <a:pPr marL="0" indent="0">
              <a:spcAft>
                <a:spcPts val="600"/>
              </a:spcAft>
              <a:buNone/>
            </a:pPr>
            <a:r>
              <a:rPr lang="en-US" sz="800">
                <a:solidFill>
                  <a:schemeClr val="accent6"/>
                </a:solidFill>
                <a:latin typeface="Calibri" pitchFamily="34" charset="0"/>
                <a:ea typeface="Calibri" pitchFamily="34" charset="-122"/>
                <a:cs typeface="Calibri" pitchFamily="34" charset="-120"/>
              </a:rPr>
              <a:t>[1] M. Wang et al., Adv. Sci. 12(12), 2407825, 2025. doi:10.1002/advs.202407825</a:t>
            </a:r>
          </a:p>
          <a:p>
            <a:pPr marL="0" indent="0">
              <a:spcAft>
                <a:spcPts val="600"/>
              </a:spcAft>
              <a:buNone/>
            </a:pPr>
            <a:r>
              <a:rPr lang="en-US" sz="800">
                <a:solidFill>
                  <a:schemeClr val="accent6"/>
                </a:solidFill>
                <a:latin typeface="Calibri" pitchFamily="34" charset="0"/>
                <a:ea typeface="Calibri" pitchFamily="34" charset="-122"/>
                <a:cs typeface="Calibri" pitchFamily="34" charset="-120"/>
              </a:rPr>
              <a:t>[2] L. Jin et al., Appl. Mater. Today 40, 102373, 2024. doi:10.1016/j.apmt.2024.102373</a:t>
            </a:r>
          </a:p>
          <a:p>
            <a:pPr marL="0" indent="0">
              <a:spcAft>
                <a:spcPts val="600"/>
              </a:spcAft>
              <a:buNone/>
            </a:pPr>
            <a:r>
              <a:rPr lang="en-US" sz="800">
                <a:solidFill>
                  <a:schemeClr val="accent6"/>
                </a:solidFill>
                <a:latin typeface="Calibri" pitchFamily="34" charset="0"/>
                <a:ea typeface="Calibri" pitchFamily="34" charset="-122"/>
                <a:cs typeface="Calibri" pitchFamily="34" charset="-120"/>
              </a:rPr>
              <a:t>[3] “4Doodle,” Proc. CHI ’23, ACM. doi:10.1145/3544548.3581321</a:t>
            </a:r>
          </a:p>
          <a:p>
            <a:pPr marL="0" indent="0">
              <a:spcAft>
                <a:spcPts val="600"/>
              </a:spcAft>
              <a:buNone/>
            </a:pPr>
            <a:r>
              <a:rPr lang="en-US" sz="800">
                <a:solidFill>
                  <a:schemeClr val="accent6"/>
                </a:solidFill>
                <a:latin typeface="Calibri" pitchFamily="34" charset="0"/>
                <a:ea typeface="Calibri" pitchFamily="34" charset="-122"/>
                <a:cs typeface="Calibri" pitchFamily="34" charset="-120"/>
              </a:rPr>
              <a:t>[4] github.com/proknapz/Fast-reverse-design-of-4D-printing (fork of github.com/MengtaoWANG/Fast-reverse-design-of-4D-printing)</a:t>
            </a:r>
          </a:p>
          <a:p>
            <a:pPr marL="0" indent="0">
              <a:spcAft>
                <a:spcPts val="600"/>
              </a:spcAft>
              <a:buNone/>
            </a:pPr>
            <a:r>
              <a:rPr lang="en-US" sz="800">
                <a:solidFill>
                  <a:schemeClr val="accent6"/>
                </a:solidFill>
                <a:latin typeface="Calibri" pitchFamily="34" charset="0"/>
                <a:ea typeface="Calibri" pitchFamily="34" charset="-122"/>
                <a:cs typeface="Calibri" pitchFamily="34" charset="-120"/>
              </a:rPr>
              <a:t>[5] FreiHAND v2 dataset and reference code: github.com/lmb-freiburg/freihand.</a:t>
            </a:r>
          </a:p>
          <a:p>
            <a:pPr marL="0" indent="0">
              <a:spcAft>
                <a:spcPts val="600"/>
              </a:spcAft>
              <a:buNone/>
            </a:pPr>
            <a:r>
              <a:rPr lang="en-US" sz="800">
                <a:solidFill>
                  <a:schemeClr val="accent6"/>
                </a:solidFill>
                <a:latin typeface="Calibri" pitchFamily="34" charset="0"/>
                <a:ea typeface="Calibri" pitchFamily="34" charset="-122"/>
                <a:cs typeface="Calibri" pitchFamily="34" charset="-120"/>
              </a:rPr>
              <a:t>[6] Loader, normalizer, encoder, and validation reports: this repository's FreiHAND/ folder.</a:t>
            </a:r>
            <a:endParaRPr lang="en-US" sz="800" dirty="0"/>
          </a:p>
        </p:txBody>
      </p:sp>
      <p:sp>
        <p:nvSpPr>
          <p:cNvPr id="9" name="Text 6"/>
          <p:cNvSpPr txBox="1"/>
          <p:nvPr/>
        </p:nvSpPr>
        <p:spPr>
          <a:xfrm>
            <a:off x="548640" y="4480560"/>
            <a:ext cx="5029200" cy="274320"/>
          </a:xfrm>
          <a:prstGeom prst="rect">
            <a:avLst/>
          </a:prstGeom>
          <a:noFill/>
          <a:ln/>
        </p:spPr>
        <p:txBody>
          <a:bodyPr wrap="square" lIns="0" tIns="0" rIns="0" bIns="0" rtlCol="0" anchor="t"/>
          <a:lstStyle/>
          <a:p>
            <a:pPr marL="0" indent="0">
              <a:buNone/>
            </a:pPr>
            <a:r>
              <a:rPr lang="en-US" sz="1100" dirty="0">
                <a:solidFill>
                  <a:schemeClr val="accent4"/>
                </a:solidFill>
                <a:latin typeface="Calibri" pitchFamily="34" charset="0"/>
                <a:ea typeface="Calibri" pitchFamily="34" charset="-122"/>
                <a:cs typeface="Calibri" pitchFamily="34" charset="-120"/>
              </a:rPr>
              <a:t>Pavan Kailas Patil  ·  Omar Khan  ·  UT Dallas</a:t>
            </a:r>
            <a:endParaRPr lang="en-US" sz="1100" dirty="0"/>
          </a:p>
        </p:txBody>
      </p:sp>
    </p:spTree>
  </p:cSld>
  <p:clrMapOvr>
    <a:masterClrMapping/>
  </p:clrMapOvr>
</p:sld>
</file>

<file path=ppt/theme/theme1.xml><?xml version="1.0" encoding="utf-8"?>
<a:theme xmlns:a="http://schemas.openxmlformats.org/drawingml/2006/main" name="Voxel Bold">
  <a:themeElements>
    <a:clrScheme name="Voxel Bold">
      <a:dk1>
        <a:srgbClr val="1B2333"/>
      </a:dk1>
      <a:lt1>
        <a:srgbClr val="FFFFFF"/>
      </a:lt1>
      <a:dk2>
        <a:srgbClr val="14213D"/>
      </a:dk2>
      <a:lt2>
        <a:srgbClr val="EEF2F6"/>
      </a:lt2>
      <a:accent1>
        <a:srgbClr val="0E9E8E"/>
      </a:accent1>
      <a:accent2>
        <a:srgbClr val="E4572E"/>
      </a:accent2>
      <a:accent3>
        <a:srgbClr val="F2B134"/>
      </a:accent3>
      <a:accent4>
        <a:srgbClr val="5B6B82"/>
      </a:accent4>
      <a:accent5>
        <a:srgbClr val="9FD8CF"/>
      </a:accent5>
      <a:accent6>
        <a:srgbClr val="C9D3DF"/>
      </a:accent6>
      <a:hlink>
        <a:srgbClr val="0E9E8E"/>
      </a:hlink>
      <a:folHlink>
        <a:srgbClr val="5B6B82"/>
      </a:folHlink>
    </a:clrScheme>
    <a:fontScheme name="Voxel Bold">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2808</Words>
  <Application>Microsoft Office PowerPoint</Application>
  <PresentationFormat>On-screen Show (16:9)</PresentationFormat>
  <Paragraphs>289</Paragraphs>
  <Slides>17</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Consolas</vt:lpstr>
      <vt:lpstr>Georgia</vt:lpstr>
      <vt:lpstr>Voxel Bold</vt:lpstr>
      <vt:lpstr>From Freehand 4D Printing to AI-Driven Fast Reverse Design</vt:lpstr>
      <vt:lpstr>PowerPoint Presentation</vt:lpstr>
      <vt:lpstr>PowerPoint Presentation</vt:lpstr>
      <vt:lpstr>Freehand 4D: a pen path programs the shape</vt:lpstr>
      <vt:lpstr>Fast reverse design</vt:lpstr>
      <vt:lpstr>Simulate once, then design in seconds</vt:lpstr>
      <vt:lpstr>Voxels are the design language</vt:lpstr>
      <vt:lpstr>Two engines: predict fast, search smart</vt:lpstr>
      <vt:lpstr>Wang et al. report: target hit by generation 3</vt:lpstr>
      <vt:lpstr>Any outline: pad it into a grid</vt:lpstr>
      <vt:lpstr>Result: curves matched, and a printed hand</vt:lpstr>
      <vt:lpstr>Related workflow, different models and goals</vt:lpstr>
      <vt:lpstr>What our repo does</vt:lpstr>
      <vt:lpstr>Replacing the model: not plug-and-play</vt:lpstr>
      <vt:lpstr>Three tests, three different answers</vt:lpstr>
      <vt:lpstr>The 4D vision (proposed, not yet built)</vt:lpstr>
      <vt:lpstr>Questions?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Freehand 4D Printing to AI-Driven Fast Reverse Design</dc:title>
  <dc:subject>PptxGenJS Presentation</dc:subject>
  <dc:creator>Pavan Kailas Patil; Omar Khan</dc:creator>
  <cp:lastModifiedBy>Khan, Omar Le</cp:lastModifiedBy>
  <cp:revision>4</cp:revision>
  <dcterms:created xsi:type="dcterms:W3CDTF">2026-10-11T17:16:05Z</dcterms:created>
  <dcterms:modified xsi:type="dcterms:W3CDTF">2026-10-11T17:52:27Z</dcterms:modified>
</cp:coreProperties>
</file>