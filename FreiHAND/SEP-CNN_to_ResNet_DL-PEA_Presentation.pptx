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bea2496-0281-460d-54fe-2de2df2056a2}">
          <p14:sldIdLst>
            <p14:sldId id="256"/>
            <p14:sldId id="257"/>
          </p14:sldIdLst>
        </p14:section>
        <p14:section name="Background" id="{49eee275-8806-336e-55f8-0a8852f0f8ff}">
          <p14:sldIdLst>
            <p14:sldId id="258"/>
            <p14:sldId id="259"/>
            <p14:sldId id="260"/>
            <p14:sldId id="261"/>
          </p14:sldIdLst>
        </p14:section>
        <p14:section name="Wang et al. 2025" id="{d52bb61c-9b85-6eb4-f30a-729470468e1b}">
          <p14:sldIdLst>
            <p14:sldId id="262"/>
            <p14:sldId id="263"/>
            <p14:sldId id="264"/>
            <p14:sldId id="265"/>
            <p14:sldId id="266"/>
            <p14:sldId id="267"/>
          </p14:sldIdLst>
        </p14:section>
        <p14:section name="Our study" id="{33c3b765-9423-3ab9-babb-55a6e836fe63}">
          <p14:sldIdLst>
            <p14:sldId id="268"/>
            <p14:sldId id="269"/>
            <p14:sldId id="270"/>
            <p14:sldId id="271"/>
            <p14:sldId id="272"/>
            <p14:sldId id="273"/>
            <p14:sldId id="274"/>
            <p14:sldId id="275"/>
            <p14:sldId id="276"/>
            <p14:sldId id="277"/>
            <p14:sldId id="278"/>
            <p14:sldId id="279"/>
          </p14:sldIdLst>
        </p14:section>
        <p14:section name="Next steps" id="{bdd4d348-7d28-f5f7-20b2-2c55e74a8245}">
          <p14:sldIdLst>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2"/>
                </a:solidFill>
                <a:latin typeface="+mn-lt"/>
              </a:defRPr>
            </a:pPr>
            <a:r>
              <a:rPr sz="1200" b="0" i="0" u="none" strike="noStrike">
                <a:solidFill>
                  <a:schemeClr val="tx2"/>
                </a:solidFill>
                <a:latin typeface="+mn-lt"/>
              </a:rPr>
              <a:t>Benchmark three-period shape (log scale, seconds)</a:t>
            </a:r>
          </a:p>
        </c:rich>
      </c:tx>
      <c:layout/>
      <c:overlay val="0"/>
    </c:title>
    <c:autoTitleDeleted val="0"/>
    <c:plotArea>
      <c:layout/>
      <c:barChart>
        <c:barDir val="col"/>
        <c:grouping val="clustered"/>
        <c:varyColors val="0"/>
        <c:ser>
          <c:idx val="0"/>
          <c:order val="0"/>
          <c:tx>
            <c:strRef>
              <c:f>Sheet1!$B$1</c:f>
              <c:strCache>
                <c:ptCount val="1"/>
                <c:pt idx="0">
                  <c:v>Design time (s)</c:v>
                </c:pt>
              </c:strCache>
            </c:strRef>
          </c:tx>
          <c:spPr>
            <a:solidFill>
              <a:srgbClr val="5B6B82"/>
            </a:solidFill>
            <a:effectLst/>
          </c:spPr>
          <c:invertIfNegative val="0"/>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dPt>
            <c:idx val="0"/>
            <c:invertIfNegative val="0"/>
            <c:bubble3D val="0"/>
            <c:spPr>
              <a:solidFill>
                <a:srgbClr val="5B6B82"/>
              </a:solidFill>
              <a:effectLst/>
            </c:spPr>
          </c:dPt>
          <c:dPt>
            <c:idx val="1"/>
            <c:invertIfNegative val="0"/>
            <c:bubble3D val="0"/>
            <c:spPr>
              <a:solidFill>
                <a:srgbClr val="0E9E8E"/>
              </a:solidFill>
              <a:effectLst/>
            </c:spPr>
          </c:dPt>
          <c:dPt>
            <c:idx val="2"/>
            <c:invertIfNegative val="0"/>
            <c:bubble3D val="0"/>
            <c:spPr>
              <a:solidFill>
                <a:srgbClr val="E4572E"/>
              </a:solidFill>
              <a:effectLst/>
            </c:spPr>
          </c:dPt>
          <c:cat>
            <c:multiLvlStrRef>
              <c:f>Sheet1!$A$2:$A$4</c:f>
              <c:multiLvlStrCache>
                <c:ptCount val="3"/>
                <c:lvl>
                  <c:pt idx="0">
                    <c:v>FE + EA (estimated)</c:v>
                  </c:pt>
                  <c:pt idx="1">
                    <c:v>ML-EA</c:v>
                  </c:pt>
                  <c:pt idx="2">
                    <c:v>ML-SSO</c:v>
                  </c:pt>
                </c:lvl>
              </c:multiLvlStrCache>
            </c:multiLvlStrRef>
          </c:cat>
          <c:val>
            <c:numRef>
              <c:f>Sheet1!$B$2:$B$4</c:f>
              <c:numCache>
                <c:formatCode>General</c:formatCode>
                <c:ptCount val="3"/>
                <c:pt idx="0">
                  <c:v>18921600</c:v>
                </c:pt>
                <c:pt idx="1">
                  <c:v>3240</c:v>
                </c:pt>
                <c:pt idx="2">
                  <c:v>1.97</c:v>
                </c:pt>
              </c:numCache>
            </c:numRef>
          </c:val>
        </c:ser>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logBase val="10"/>
          <c:orientation val="minMax"/>
          <c:max val="100000000"/>
          <c:min val="1"/>
        </c:scaling>
        <c:delete val="0"/>
        <c:axPos val="l"/>
        <c:majorGridlines>
          <c:spPr>
            <a:ln w="6350" cap="flat">
              <a:solidFill>
                <a:srgbClr val="C9D3DF"/>
              </a:solidFill>
              <a:prstDash val="solid"/>
              <a:round/>
            </a:ln>
          </c:spPr>
        </c:majorGridlines>
        <c:title>
          <c:tx>
            <c:rich>
              <a:bodyPr/>
              <a:lstStyle/>
              <a:p>
                <a:pPr>
                  <a:defRPr sz="1000" b="0" i="0" u="none" strike="noStrike">
                    <a:solidFill>
                      <a:schemeClr val="accent4"/>
                    </a:solidFill>
                    <a:latin typeface="+mn-lt"/>
                  </a:defRPr>
                </a:pPr>
                <a:r>
                  <a:rPr sz="1000" b="0" i="0" u="none" strike="noStrike">
                    <a:solidFill>
                      <a:schemeClr val="accent4"/>
                    </a:solidFill>
                    <a:latin typeface="+mn-lt"/>
                  </a:rPr>
                  <a:t>Design time (s)</a:t>
                </a:r>
              </a:p>
            </c:rich>
          </c:tx>
          <c:layout/>
          <c:overlay val="0"/>
        </c:title>
        <c:numFmt formatCode="0E+0" sourceLinked="0"/>
        <c:majorTickMark val="out"/>
        <c:minorTickMark val="none"/>
        <c:tickLblPos val="nextTo"/>
        <c:spPr>
          <a:ln w="12700" cap="flat">
            <a:noFill/>
            <a:prstDash val="solid"/>
            <a:round/>
          </a:ln>
        </c:spPr>
        <c:txPr>
          <a:bodyPr/>
          <a:lstStyle/>
          <a:p>
            <a:pPr>
              <a:defRPr sz="10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2"/>
                </a:solidFill>
                <a:latin typeface="+mn-lt"/>
              </a:defRPr>
            </a:pPr>
            <a:r>
              <a:rPr sz="1200" b="0" i="0" u="none" strike="noStrike">
                <a:solidFill>
                  <a:schemeClr val="tx2"/>
                </a:solidFill>
                <a:latin typeface="+mn-lt"/>
              </a:rPr>
              <a:t>Accuracy over 2,000 reverse designs (%)</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5B6B82"/>
            </a:solidFill>
            <a:effectLst/>
          </c:spPr>
          <c:invertIfNegative val="0"/>
          <c:dLbls>
            <c:numFmt formatCode="0.0#&quot;%&quot;"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5B6B82"/>
              </a:solidFill>
              <a:effectLst/>
            </c:spPr>
          </c:dPt>
          <c:dPt>
            <c:idx val="1"/>
            <c:invertIfNegative val="0"/>
            <c:bubble3D val="0"/>
            <c:spPr>
              <a:solidFill>
                <a:srgbClr val="E4572E"/>
              </a:solidFill>
              <a:effectLst/>
            </c:spPr>
          </c:dPt>
          <c:cat>
            <c:multiLvlStrRef>
              <c:f>Sheet1!$A$2:$A$3</c:f>
              <c:multiLvlStrCache>
                <c:ptCount val="2"/>
                <c:lvl>
                  <c:pt idx="0">
                    <c:v>DL-EA</c:v>
                  </c:pt>
                  <c:pt idx="1">
                    <c:v>DL-PEA</c:v>
                  </c:pt>
                </c:lvl>
              </c:multiLvlStrCache>
            </c:multiLvlStrRef>
          </c:cat>
          <c:val>
            <c:numRef>
              <c:f>Sheet1!$B$2:$B$3</c:f>
              <c:numCache>
                <c:formatCode>General</c:formatCode>
                <c:ptCount val="2"/>
                <c:pt idx="0">
                  <c:v>87.65</c:v>
                </c:pt>
                <c:pt idx="1">
                  <c:v>98.7</c:v>
                </c:pt>
              </c:numCache>
            </c:numRef>
          </c:val>
        </c:ser>
        <c:dLbls>
          <c:numFmt formatCode="0.0#&quot;%&quot;"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chemeClr val="accent4"/>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2"/>
                </a:solidFill>
                <a:latin typeface="+mn-lt"/>
              </a:defRPr>
            </a:pPr>
            <a:r>
              <a:rPr sz="1200" b="0" i="0" u="none" strike="noStrike">
                <a:solidFill>
                  <a:schemeClr val="tx2"/>
                </a:solidFill>
                <a:latin typeface="+mn-lt"/>
              </a:rPr>
              <a:t>Training MSE vs optimizer step (log scale)</a:t>
            </a:r>
          </a:p>
        </c:rich>
      </c:tx>
      <c:layout/>
      <c:overlay val="0"/>
    </c:title>
    <c:autoTitleDeleted val="0"/>
    <c:plotArea>
      <c:layout/>
      <c:lineChart>
        <c:varyColors val="0"/>
        <c:ser>
          <c:idx val="0"/>
          <c:order val="0"/>
          <c:tx>
            <c:strRef>
              <c:f>Sheet1!$B$1</c:f>
              <c:strCache>
                <c:ptCount val="1"/>
                <c:pt idx="0">
                  <c:v>SEP-CNN</c:v>
                </c:pt>
              </c:strCache>
            </c:strRef>
          </c:tx>
          <c:spPr>
            <a:solidFill>
              <a:srgbClr val="E4572E"/>
            </a:solidFill>
            <a:ln w="25400" cap="flat">
              <a:solidFill>
                <a:srgbClr val="E4572E"/>
              </a:solidFill>
              <a:prstDash val="solid"/>
              <a:round/>
            </a:ln>
            <a:effectLst/>
          </c:spPr>
          <c:invertIfNegative val="0"/>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marker>
            <c:symbol val="circle"/>
            <c:size val="4"/>
            <c:spPr>
              <a:solidFill>
                <a:srgbClr val="E4572E"/>
              </a:solidFill>
              <a:ln w="9525" cap="flat">
                <a:solidFill>
                  <a:srgbClr val="E4572E"/>
                </a:solidFill>
                <a:prstDash val="solid"/>
                <a:round/>
              </a:ln>
              <a:effectLst/>
            </c:spPr>
          </c:marker>
          <c:cat>
            <c:multiLvlStrRef>
              <c:f>Sheet1!$A$2:$A$21</c:f>
              <c:multiLvlStrCache>
                <c:ptCount val="20"/>
                <c:lvl>
                  <c:pt idx="0">
                    <c:v> </c:v>
                  </c:pt>
                  <c:pt idx="1">
                    <c:v> </c:v>
                  </c:pt>
                  <c:pt idx="2">
                    <c:v> </c:v>
                  </c:pt>
                  <c:pt idx="3">
                    <c:v> </c:v>
                  </c:pt>
                  <c:pt idx="4">
                    <c:v>2500</c:v>
                  </c:pt>
                  <c:pt idx="5">
                    <c:v> </c:v>
                  </c:pt>
                  <c:pt idx="6">
                    <c:v> </c:v>
                  </c:pt>
                  <c:pt idx="7">
                    <c:v> </c:v>
                  </c:pt>
                  <c:pt idx="8">
                    <c:v> </c:v>
                  </c:pt>
                  <c:pt idx="9">
                    <c:v>5000</c:v>
                  </c:pt>
                  <c:pt idx="10">
                    <c:v> </c:v>
                  </c:pt>
                  <c:pt idx="11">
                    <c:v> </c:v>
                  </c:pt>
                  <c:pt idx="12">
                    <c:v> </c:v>
                  </c:pt>
                  <c:pt idx="13">
                    <c:v> </c:v>
                  </c:pt>
                  <c:pt idx="14">
                    <c:v>7500</c:v>
                  </c:pt>
                  <c:pt idx="15">
                    <c:v> </c:v>
                  </c:pt>
                  <c:pt idx="16">
                    <c:v> </c:v>
                  </c:pt>
                  <c:pt idx="17">
                    <c:v> </c:v>
                  </c:pt>
                  <c:pt idx="18">
                    <c:v> </c:v>
                  </c:pt>
                  <c:pt idx="19">
                    <c:v>10000</c:v>
                  </c:pt>
                </c:lvl>
              </c:multiLvlStrCache>
            </c:multiLvlStrRef>
          </c:cat>
          <c:val>
            <c:numRef>
              <c:f>Sheet1!$B$2:$B$21</c:f>
              <c:numCache>
                <c:formatCode>General</c:formatCode>
                <c:ptCount val="20"/>
                <c:pt idx="0">
                  <c:v>0.0356908105</c:v>
                </c:pt>
                <c:pt idx="1">
                  <c:v>0.0154671734</c:v>
                </c:pt>
                <c:pt idx="2">
                  <c:v>0.0096459836</c:v>
                </c:pt>
                <c:pt idx="3">
                  <c:v>0.0073648198</c:v>
                </c:pt>
                <c:pt idx="4">
                  <c:v>0.0066229287</c:v>
                </c:pt>
                <c:pt idx="5">
                  <c:v>0.0088342782</c:v>
                </c:pt>
                <c:pt idx="6">
                  <c:v>0.0081163384</c:v>
                </c:pt>
                <c:pt idx="7">
                  <c:v>0.0053503937</c:v>
                </c:pt>
                <c:pt idx="8">
                  <c:v>0.0040719244</c:v>
                </c:pt>
                <c:pt idx="9">
                  <c:v>0.0037082441</c:v>
                </c:pt>
                <c:pt idx="10">
                  <c:v>0.0046881661</c:v>
                </c:pt>
                <c:pt idx="11">
                  <c:v>0.0025935494</c:v>
                </c:pt>
                <c:pt idx="12">
                  <c:v>0.003865927</c:v>
                </c:pt>
                <c:pt idx="13">
                  <c:v>0.003814175</c:v>
                </c:pt>
                <c:pt idx="14">
                  <c:v>0.0027263341</c:v>
                </c:pt>
                <c:pt idx="15">
                  <c:v>0.0037896161</c:v>
                </c:pt>
                <c:pt idx="16">
                  <c:v>0.0030758949</c:v>
                </c:pt>
                <c:pt idx="17">
                  <c:v>0.0027200393</c:v>
                </c:pt>
                <c:pt idx="18">
                  <c:v>0.0023717443</c:v>
                </c:pt>
                <c:pt idx="19">
                  <c:v>0.0018985497</c:v>
                </c:pt>
              </c:numCache>
            </c:numRef>
          </c:val>
          <c:smooth val="0"/>
        </c:ser>
        <c:ser>
          <c:idx val="1"/>
          <c:order val="1"/>
          <c:tx>
            <c:strRef>
              <c:f>Sheet1!$C$1</c:f>
              <c:strCache>
                <c:ptCount val="1"/>
                <c:pt idx="0">
                  <c:v>ResNet</c:v>
                </c:pt>
              </c:strCache>
            </c:strRef>
          </c:tx>
          <c:spPr>
            <a:solidFill>
              <a:srgbClr val="0E9E8E"/>
            </a:solidFill>
            <a:ln w="25400" cap="flat">
              <a:solidFill>
                <a:srgbClr val="0E9E8E"/>
              </a:solidFill>
              <a:prstDash val="solid"/>
              <a:round/>
            </a:ln>
            <a:effectLst/>
          </c:spPr>
          <c:invertIfNegative val="0"/>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marker>
            <c:symbol val="circle"/>
            <c:size val="4"/>
            <c:spPr>
              <a:solidFill>
                <a:srgbClr val="0E9E8E"/>
              </a:solidFill>
              <a:ln w="9525" cap="flat">
                <a:solidFill>
                  <a:srgbClr val="0E9E8E"/>
                </a:solidFill>
                <a:prstDash val="solid"/>
                <a:round/>
              </a:ln>
              <a:effectLst/>
            </c:spPr>
          </c:marker>
          <c:cat>
            <c:multiLvlStrRef>
              <c:f>Sheet1!$A$2:$A$21</c:f>
              <c:multiLvlStrCache>
                <c:ptCount val="20"/>
                <c:lvl>
                  <c:pt idx="0">
                    <c:v> </c:v>
                  </c:pt>
                  <c:pt idx="1">
                    <c:v> </c:v>
                  </c:pt>
                  <c:pt idx="2">
                    <c:v> </c:v>
                  </c:pt>
                  <c:pt idx="3">
                    <c:v> </c:v>
                  </c:pt>
                  <c:pt idx="4">
                    <c:v>2500</c:v>
                  </c:pt>
                  <c:pt idx="5">
                    <c:v> </c:v>
                  </c:pt>
                  <c:pt idx="6">
                    <c:v> </c:v>
                  </c:pt>
                  <c:pt idx="7">
                    <c:v> </c:v>
                  </c:pt>
                  <c:pt idx="8">
                    <c:v> </c:v>
                  </c:pt>
                  <c:pt idx="9">
                    <c:v>5000</c:v>
                  </c:pt>
                  <c:pt idx="10">
                    <c:v> </c:v>
                  </c:pt>
                  <c:pt idx="11">
                    <c:v> </c:v>
                  </c:pt>
                  <c:pt idx="12">
                    <c:v> </c:v>
                  </c:pt>
                  <c:pt idx="13">
                    <c:v> </c:v>
                  </c:pt>
                  <c:pt idx="14">
                    <c:v>7500</c:v>
                  </c:pt>
                  <c:pt idx="15">
                    <c:v> </c:v>
                  </c:pt>
                  <c:pt idx="16">
                    <c:v> </c:v>
                  </c:pt>
                  <c:pt idx="17">
                    <c:v> </c:v>
                  </c:pt>
                  <c:pt idx="18">
                    <c:v> </c:v>
                  </c:pt>
                  <c:pt idx="19">
                    <c:v>10000</c:v>
                  </c:pt>
                </c:lvl>
              </c:multiLvlStrCache>
            </c:multiLvlStrRef>
          </c:cat>
          <c:val>
            <c:numRef>
              <c:f>Sheet1!$C$2:$C$21</c:f>
              <c:numCache>
                <c:formatCode>General</c:formatCode>
                <c:ptCount val="20"/>
                <c:pt idx="0">
                  <c:v>0.0017630126</c:v>
                </c:pt>
                <c:pt idx="1">
                  <c:v>0.0005269658</c:v>
                </c:pt>
                <c:pt idx="2">
                  <c:v>0.0003347577</c:v>
                </c:pt>
                <c:pt idx="3">
                  <c:v>0.0002537674</c:v>
                </c:pt>
                <c:pt idx="4">
                  <c:v>0.0002091922</c:v>
                </c:pt>
                <c:pt idx="5">
                  <c:v>0.0002066007</c:v>
                </c:pt>
                <c:pt idx="6">
                  <c:v>0.0001975956</c:v>
                </c:pt>
                <c:pt idx="7">
                  <c:v>0.0001177276</c:v>
                </c:pt>
                <c:pt idx="8">
                  <c:v>0.0001357022</c:v>
                </c:pt>
                <c:pt idx="9">
                  <c:v>0.000076843</c:v>
                </c:pt>
                <c:pt idx="10">
                  <c:v>0.0001220573</c:v>
                </c:pt>
                <c:pt idx="11">
                  <c:v>0.0000727204</c:v>
                </c:pt>
                <c:pt idx="12">
                  <c:v>0.0000695278</c:v>
                </c:pt>
                <c:pt idx="13">
                  <c:v>0.0001108588</c:v>
                </c:pt>
                <c:pt idx="14">
                  <c:v>0.0000939558</c:v>
                </c:pt>
                <c:pt idx="15">
                  <c:v>0.0000837622</c:v>
                </c:pt>
                <c:pt idx="16">
                  <c:v>0.0000518038</c:v>
                </c:pt>
                <c:pt idx="17">
                  <c:v>0.0000556357</c:v>
                </c:pt>
                <c:pt idx="18">
                  <c:v>0.0000557272</c:v>
                </c:pt>
                <c:pt idx="19">
                  <c:v>0.0000664895</c:v>
                </c:pt>
              </c:numCache>
            </c:numRef>
          </c:val>
          <c:smooth val="0"/>
        </c:ser>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chemeClr val="accent4"/>
                    </a:solidFill>
                    <a:latin typeface="+mn-lt"/>
                  </a:defRPr>
                </a:pPr>
                <a:r>
                  <a:rPr sz="1000" b="0" i="0" u="none" strike="noStrike">
                    <a:solidFill>
                      <a:schemeClr val="accent4"/>
                    </a:solidFill>
                    <a:latin typeface="+mn-lt"/>
                  </a:rPr>
                  <a:t>Step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logBase val="10"/>
          <c:orientation val="minMax"/>
          <c:max val="0.1"/>
          <c:min val="0.00001"/>
        </c:scaling>
        <c:delete val="0"/>
        <c:axPos val="l"/>
        <c:majorGridlines>
          <c:spPr>
            <a:ln w="6350" cap="flat">
              <a:solidFill>
                <a:srgbClr val="C9D3DF"/>
              </a:solidFill>
              <a:prstDash val="solid"/>
              <a:round/>
            </a:ln>
          </c:spPr>
        </c:majorGridlines>
        <c:numFmt formatCode="0E+0" sourceLinked="0"/>
        <c:majorTickMark val="out"/>
        <c:minorTickMark val="none"/>
        <c:tickLblPos val="nextTo"/>
        <c:spPr>
          <a:ln w="12700" cap="flat">
            <a:noFill/>
            <a:prstDash val="solid"/>
            <a:round/>
          </a:ln>
        </c:spPr>
        <c:txPr>
          <a:bodyPr/>
          <a:lstStyle/>
          <a:p>
            <a:pPr>
              <a:defRPr sz="1000" b="0" i="0" u="none" strike="noStrike">
                <a:solidFill>
                  <a:schemeClr val="accent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chemeClr val="accent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2"/>
                </a:solidFill>
                <a:latin typeface="+mn-lt"/>
              </a:defRPr>
            </a:pPr>
            <a:r>
              <a:rPr sz="1200" b="0" i="0" u="none" strike="noStrike">
                <a:solidFill>
                  <a:schemeClr val="tx2"/>
                </a:solidFill>
                <a:latin typeface="+mn-lt"/>
              </a:rPr>
              <a:t>Held-out test MSE (2,000 samples)</a:t>
            </a:r>
          </a:p>
        </c:rich>
      </c:tx>
      <c:layout/>
      <c:overlay val="0"/>
    </c:title>
    <c:autoTitleDeleted val="0"/>
    <c:plotArea>
      <c:layout/>
      <c:barChart>
        <c:barDir val="col"/>
        <c:grouping val="clustered"/>
        <c:varyColors val="0"/>
        <c:ser>
          <c:idx val="0"/>
          <c:order val="0"/>
          <c:tx>
            <c:strRef>
              <c:f>Sheet1!$B$1</c:f>
              <c:strCache>
                <c:ptCount val="1"/>
                <c:pt idx="0">
                  <c:v>Test MSE</c:v>
                </c:pt>
              </c:strCache>
            </c:strRef>
          </c:tx>
          <c:spPr>
            <a:solidFill>
              <a:srgbClr val="E4572E"/>
            </a:solidFill>
            <a:effectLst/>
          </c:spPr>
          <c:invertIfNegative val="0"/>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0E9E8E"/>
              </a:solidFill>
              <a:effectLst/>
            </c:spPr>
          </c:dPt>
          <c:cat>
            <c:multiLvlStrRef>
              <c:f>Sheet1!$A$2:$A$3</c:f>
              <c:multiLvlStrCache>
                <c:ptCount val="2"/>
                <c:lvl>
                  <c:pt idx="0">
                    <c:v>SEP-CNN</c:v>
                  </c:pt>
                  <c:pt idx="1">
                    <c:v>ResNet</c:v>
                  </c:pt>
                </c:lvl>
              </c:multiLvlStrCache>
            </c:multiLvlStrRef>
          </c:cat>
          <c:val>
            <c:numRef>
              <c:f>Sheet1!$B$2:$B$3</c:f>
              <c:numCache>
                <c:formatCode>General</c:formatCode>
                <c:ptCount val="2"/>
                <c:pt idx="0">
                  <c:v>0.00228699</c:v>
                </c:pt>
                <c:pt idx="1">
                  <c:v>0.0000559052</c:v>
                </c:pt>
              </c:numCache>
            </c:numRef>
          </c:val>
        </c:ser>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logBase val="10"/>
          <c:orientation val="minMax"/>
          <c:max val="0.01"/>
          <c:min val="0.00001"/>
        </c:scaling>
        <c:delete val="0"/>
        <c:axPos val="l"/>
        <c:majorGridlines>
          <c:spPr>
            <a:ln w="6350" cap="flat">
              <a:solidFill>
                <a:srgbClr val="C9D3DF"/>
              </a:solidFill>
              <a:prstDash val="solid"/>
              <a:round/>
            </a:ln>
          </c:spPr>
        </c:majorGridlines>
        <c:numFmt formatCode="0E+0" sourceLinked="0"/>
        <c:majorTickMark val="out"/>
        <c:minorTickMark val="none"/>
        <c:tickLblPos val="nextTo"/>
        <c:spPr>
          <a:ln w="12700" cap="flat">
            <a:noFill/>
            <a:prstDash val="solid"/>
            <a:round/>
          </a:ln>
        </c:spPr>
        <c:txPr>
          <a:bodyPr/>
          <a:lstStyle/>
          <a:p>
            <a:pPr>
              <a:defRPr sz="10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2"/>
                </a:solidFill>
                <a:latin typeface="+mn-lt"/>
              </a:defRPr>
            </a:pPr>
            <a:r>
              <a:rPr sz="1200" b="0" i="0" u="none" strike="noStrike">
                <a:solidFill>
                  <a:schemeClr val="tx2"/>
                </a:solidFill>
                <a:latin typeface="+mn-lt"/>
              </a:rPr>
              <a:t>Mean MSE over the same 1,024 designs</a:t>
            </a:r>
          </a:p>
        </c:rich>
      </c:tx>
      <c:layout/>
      <c:overlay val="0"/>
    </c:title>
    <c:autoTitleDeleted val="0"/>
    <c:plotArea>
      <c:layout/>
      <c:barChart>
        <c:barDir val="bar"/>
        <c:grouping val="clustered"/>
        <c:varyColors val="0"/>
        <c:ser>
          <c:idx val="0"/>
          <c:order val="0"/>
          <c:tx>
            <c:strRef>
              <c:f>Sheet1!$B$1</c:f>
              <c:strCache>
                <c:ptCount val="1"/>
                <c:pt idx="0">
                  <c:v>Mean MSE</c:v>
                </c:pt>
              </c:strCache>
            </c:strRef>
          </c:tx>
          <c:spPr>
            <a:solidFill>
              <a:srgbClr val="E4572E"/>
            </a:solidFill>
            <a:effectLst/>
          </c:spPr>
          <c:invertIfNegative val="0"/>
          <c:dLbls>
            <c:numFmt formatCode="0.0000"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0E9E8E"/>
              </a:solidFill>
              <a:effectLst/>
            </c:spPr>
          </c:dPt>
          <c:cat>
            <c:multiLvlStrRef>
              <c:f>Sheet1!$A$2:$A$3</c:f>
              <c:multiLvlStrCache>
                <c:ptCount val="2"/>
                <c:lvl>
                  <c:pt idx="0">
                    <c:v>SEP-CNN</c:v>
                  </c:pt>
                  <c:pt idx="1">
                    <c:v>ResNet</c:v>
                  </c:pt>
                </c:lvl>
              </c:multiLvlStrCache>
            </c:multiLvlStrRef>
          </c:cat>
          <c:val>
            <c:numRef>
              <c:f>Sheet1!$B$2:$B$3</c:f>
              <c:numCache>
                <c:formatCode>General</c:formatCode>
                <c:ptCount val="2"/>
                <c:pt idx="0">
                  <c:v>0.0207693</c:v>
                </c:pt>
                <c:pt idx="1">
                  <c:v>0.0367186</c:v>
                </c:pt>
              </c:numCache>
            </c:numRef>
          </c:val>
        </c:ser>
        <c:dLbls>
          <c:numFmt formatCode="0.0000"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0.045"/>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2"/>
                </a:solidFill>
                <a:latin typeface="+mn-lt"/>
              </a:defRPr>
            </a:pPr>
            <a:r>
              <a:rPr sz="1200" b="0" i="0" u="none" strike="noStrike">
                <a:solidFill>
                  <a:schemeClr val="tx2"/>
                </a:solidFill>
                <a:latin typeface="+mn-lt"/>
              </a:rPr>
              <a:t>Mean PEA runtime, 10 runs each</a:t>
            </a:r>
          </a:p>
        </c:rich>
      </c:tx>
      <c:layout/>
      <c:overlay val="0"/>
    </c:title>
    <c:autoTitleDeleted val="0"/>
    <c:plotArea>
      <c:layout/>
      <c:barChart>
        <c:barDir val="col"/>
        <c:grouping val="clustered"/>
        <c:varyColors val="0"/>
        <c:ser>
          <c:idx val="0"/>
          <c:order val="0"/>
          <c:tx>
            <c:strRef>
              <c:f>Sheet1!$B$1</c:f>
              <c:strCache>
                <c:ptCount val="1"/>
                <c:pt idx="0">
                  <c:v>Runtime</c:v>
                </c:pt>
              </c:strCache>
            </c:strRef>
          </c:tx>
          <c:spPr>
            <a:solidFill>
              <a:srgbClr val="E4572E"/>
            </a:solidFill>
            <a:effectLst/>
          </c:spPr>
          <c:invertIfNegative val="0"/>
          <c:dLbls>
            <c:numFmt formatCode="0.0&quot; s&quot;"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0E9E8E"/>
              </a:solidFill>
              <a:effectLst/>
            </c:spPr>
          </c:dPt>
          <c:cat>
            <c:multiLvlStrRef>
              <c:f>Sheet1!$A$2:$A$3</c:f>
              <c:multiLvlStrCache>
                <c:ptCount val="2"/>
                <c:lvl>
                  <c:pt idx="0">
                    <c:v>SEP-CNN</c:v>
                  </c:pt>
                  <c:pt idx="1">
                    <c:v>ResNet</c:v>
                  </c:pt>
                </c:lvl>
              </c:multiLvlStrCache>
            </c:multiLvlStrRef>
          </c:cat>
          <c:val>
            <c:numRef>
              <c:f>Sheet1!$B$2:$B$3</c:f>
              <c:numCache>
                <c:formatCode>General</c:formatCode>
                <c:ptCount val="2"/>
                <c:pt idx="0">
                  <c:v>10.5435</c:v>
                </c:pt>
                <c:pt idx="1">
                  <c:v>19.8429</c:v>
                </c:pt>
              </c:numCache>
            </c:numRef>
          </c:val>
        </c:ser>
        <c:dLbls>
          <c:numFmt formatCode="0.0&quot; s&quot;"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C9D3DF"/>
              </a:solidFill>
              <a:prstDash val="solid"/>
              <a:round/>
            </a:ln>
          </c:spPr>
        </c:majorGridlines>
        <c:title>
          <c:tx>
            <c:rich>
              <a:bodyPr/>
              <a:lstStyle/>
              <a:p>
                <a:pPr>
                  <a:defRPr sz="1000" b="0" i="0" u="none" strike="noStrike">
                    <a:solidFill>
                      <a:schemeClr val="accent4"/>
                    </a:solidFill>
                    <a:latin typeface="+mn-lt"/>
                  </a:defRPr>
                </a:pPr>
                <a:r>
                  <a:rPr sz="1000" b="0" i="0" u="none" strike="noStrike">
                    <a:solidFill>
                      <a:schemeClr val="accent4"/>
                    </a:solidFill>
                    <a:latin typeface="+mn-lt"/>
                  </a:rPr>
                  <a:t>Mean PEA runtime (s)</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chemeClr val="accent4"/>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I'll present a controlled experiment: we took Wang et al.'s fast reverse-design framework for 4D printing and replaced only its neural-network forward model (SEP-CNN) with a ResNet, then asked whether that single change alters the design the optimizer finds. First I'll give the background, including the freehand-drawing idea, then a few slides on Wang et al., then our method, results, a candid validity check, and the road toward hand orthoses.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long-term goal is an AI pipeline that goes from a patient's hand to a 4D-printed orthosis. Each ingredient exists in the literature, but separately. This presentation focuses on the computational core: a learned forward model plus an evolutionary optimizer. Before scaling to orthoses we need to know how sensitive that core is to the choice of forward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'freehand' idea comes from H. Jerry Qi's group. In Sun et al. 2022 (Advanced Functional Materials) a person draws a line, computer vision turns it into target coordinates, an ML model plus evolutionary algorithm chooses which voxels of a straight beam are active or passive, and the printed beam transforms into the drawn profile when stimulated. Their 2024 JMPS follow-up (ML + sequential subdomain optimisation) does the same with hand-drawn targets in seconds. This is exactly the 'target in, material layout out' pattern we want — for an orthosis, the target comes from the patient's hand instead of a sketch.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need a neural network at all? Because inverse design calls the forward model thousands of times. For one benchmark shape in the Qi group's 2024 paper, a finite-element-plus-EA search was estimated to take about 219 days; swapping FE for an ML model brought it to 54 minutes; a smarter optimiser brought it to about 2 seconds. Note the log scale. Wang et al., which we build on, reports about 3 seconds per design for a different (hydrogel)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given a material layout, predict the shape. Inverse: given a target shape, find the layout. Inverse design has no direct formula, so an evolutionary algorithm proposes layouts and asks the forward model to score them. This is the crux of our study: the optimiser trusts the forward model, so any bias in the network can push the search toward a different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Wang et al. design voxelised hydrogel beams: 2 rows by 10 columns, each voxel one of two materials with different swelling. That is 2 to the 20, about a million layouts. FE simulations of random layouts train a deep network (SEP-CNN) that predicts the deformed beam as 200 coordinate points; a progressive evolutionary algorithm then searches for the layout matching a target. They report about 3 seconds per design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SEP-CNN slices the 10 voxel columns into parallel 1-D convolution branches and chains them with additions, so information flows along the beam like a sequence. The concatenated features are projected to 2 by 200 outputs, which are the x and y coordinates of 200 points on the deformed beam. Wang compared it with plain CNN and LSTM; LSTM was a bit more accurate, SEP-CNN trained more efficiently. And it's fast: 2,000 predictions in about 2.5 seconds versus about 35 hours of 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progressive evolutionary algorithm is Wang's second contribution. Rather than evolving all 20 genes together, it optimises the beam column by column, keeping good prefixes. In their example the optimal shape matches the target within three generations, and over 2,000 reverse-design tests DL-PEA reached 98.7% accuracy versus 87.65% for a conventional EA with the same network. Importantly for us: this progressive structure makes the final stage nearly deterministic, which matters when we interpret our repeatability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Jin et al. independently use the same predict-then-search recipe for hierarchical architectures of arbitrary shape, but with a ResNet forward model. ResNet's residual shortcuts make deeper convolutional networks trainable. They report forward loss below 10^-2 mm and inverse-design error around 1 mm. That raises our question: if we drop a ResNet into Wang's PEA, keeping everything else fixed, do we get the same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papers share the pattern: a learned forward model and an evolutionary optimiser. They differ in the network and the structure. Because the forward model is the only part that 'knows' the physics, it's natural to ask how much the final design depends on which network we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narrow on purpose: we change one thing, the forward model, and ask whether the optimiser's answer changes. We reproduced Wang's code, wrote a ResNet with the exact same input and output shapes, trained both under identical conditions, ran each inside the same PEA, and then compared at three levels: test error, error on a common set of candidate designs, and the final designs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PEA interface is: chromosome in, predicted shape out, fitness equals error against the target. We keep that loop identical and swap only the box in the middle. The ResNet takes the same 2 by 10 input, adds a channel dimension, applies a 2D convolution stem and three residual blocks, projects to 200 features and reduces back to 2 by 200 — exactly the output SEP-CNN produces. Because nothing else changes, differences in outcome come from the forward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was matched: same data split from Wang's FE dataset, same Adam learning rate, batch size, seed and exactly 10,000 updates for each model. Then three evaluations. One: conventional held-out test error. Two — the important one — we take the 1,024 candidate designs PEA produced at generation 5 and score them with both networks, so both see exactly the same inputs. Three: the full search with each network, repeated 10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training curves from our logs, log scale. ResNet drops below 10^-4 within about 4,000 steps; SEP-CNN is still around 2×10^-3 at step 10,000 and still falling. Right: held-out test MSE, 5.6×10^-5 for ResNet versus 2.3×10^-3 for SEP-CNN, about 41 times lower. On a normal ML benchmark we'd stop here and declare ResNet the winner. But the optimiser doesn't feed the network test-set designs — so we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twist. We took the same 1,024 candidate designs from PEA's final generation and scored them with both networks. SEP-CNN had lower error on 1,016 of them, and a lower mean, 0.021 versus 0.037. So the 41× test-set advantage does not transfer uniformly. The optimiser concentrates on a particular region of design space that may differ from the random training distribution. Methodologically this is the most important finding: evaluate a surrogate where the optimiser uses it, not only on a held-out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designs differ in 3 of 20 genes — 15%. Both runs report candidate index 961, but that index is a position in the final-stage enumeration, not a design: because the progressive EA had already fixed different prefixes, index 961 maps to different chromosomes for the two models. Each result was identical across 10 runs, which reflects the deterministic final stage of PEA under this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Plotting the final predicted shapes against the target: ResNet nearly overlays the target in both x and y, including the rise and fall of y. SEP-CNN stays close early but drifts after about index 120, and its absolute error grows toward the free end. In numbers: about 29× lower MSE, 5× lower mean absolute error, 3.6× lower maximum error. One caveat I'll return to: these are each network's own predictions against the target, not FE-verified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ResNet is deeper, so each PEA run takes about 19.8 seconds versus 10.5 for SEP-CNN — roughly 1.9 times longer. For a single design that's still seconds, so it is an accuracy-versus-compute trade-off rather than a decisive loss. Our absolute times are higher than Wang's 3.04 s; our runs were on CPU-only TensorFlow 2.10, which I'll flag on the validity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collects everything. The pattern to notice is that the 'winner' flips depending on what we measure: ResNet on held-out error and final search error, SEP-CNN on the shared candidate pool and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One: a better test score does not automatically mean a better optimiser partner. Two: the forward model is not a plug-and-play component — changing it changed the design and the error. Three: there is a model-by-design interaction, so forward models should be selected by evaluating the whole pipeline, not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candid about limitations. Most important: the final shape errors are surrogate-predicted, so the next check is to run both final designs through FE. Second, the training budget was fixed at 10,000 updates, and the SEP-CNN log shows its loss was still decreasing, so part of the gap may be convergence speed; a converged comparison would strengthen the claim. Third, one target and one PEA configuration; the 10/10 repeatability reflects the deterministic final stage. Also: clarify what 'candidate 961' means, plot the full convergence trajectory, and report hardware for runtime. Also beyond these, the 2×10 design space is far smaller than an orthosis, and there's no physical print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First, replace the compact chromosome with a spatial grid describing the orthosis, with separate channels for empty, passive and active material. Train the ResNet on that grid, adapt PEA to the bigger search, then introduce a scan-derived target from the patient's hand — the 'freehand sketch' of our application. Finally validate with FE and an actual 4D print. The lesson from today carries forward: judge forward models inside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in a controlled experiment, changing only the forward model changed what the evolutionary algorithm designed. ResNet gave much lower final shape error at about twice the compute, while the shared-candidate test shows neither network is uniformly better. This gives us a validated computational starting point for the orthosis work.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the repository. Our fork contains the fair-training scripts for both models, the instrumented PEA runs, the 1,024-candidate cross-model diagnostic and the analysis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5623560" y="685800"/>
            <a:ext cx="246888" cy="246888"/>
          </a:xfrm>
          <a:prstGeom prst="rect">
            <a:avLst/>
          </a:prstGeom>
          <a:solidFill>
            <a:srgbClr val="0E9E8E"/>
          </a:solidFill>
          <a:ln w="12700">
            <a:solidFill>
              <a:srgbClr val="0E9E8E"/>
            </a:solidFill>
            <a:prstDash val="solid"/>
          </a:ln>
        </p:spPr>
      </p:sp>
      <p:sp>
        <p:nvSpPr>
          <p:cNvPr id="3" name="Shape 1"/>
          <p:cNvSpPr/>
          <p:nvPr/>
        </p:nvSpPr>
        <p:spPr>
          <a:xfrm>
            <a:off x="5925312" y="685800"/>
            <a:ext cx="246888" cy="246888"/>
          </a:xfrm>
          <a:prstGeom prst="rect">
            <a:avLst/>
          </a:prstGeom>
          <a:solidFill>
            <a:srgbClr val="0E9E8E"/>
          </a:solidFill>
          <a:ln w="12700">
            <a:solidFill>
              <a:srgbClr val="0E9E8E"/>
            </a:solidFill>
            <a:prstDash val="solid"/>
          </a:ln>
        </p:spPr>
      </p:sp>
      <p:sp>
        <p:nvSpPr>
          <p:cNvPr id="4" name="Shape 2"/>
          <p:cNvSpPr/>
          <p:nvPr/>
        </p:nvSpPr>
        <p:spPr>
          <a:xfrm>
            <a:off x="6227064" y="685800"/>
            <a:ext cx="246888" cy="246888"/>
          </a:xfrm>
          <a:prstGeom prst="rect">
            <a:avLst/>
          </a:prstGeom>
          <a:solidFill>
            <a:srgbClr val="2A3A5C"/>
          </a:solidFill>
          <a:ln w="12700">
            <a:solidFill>
              <a:srgbClr val="2A3A5C"/>
            </a:solidFill>
            <a:prstDash val="solid"/>
          </a:ln>
        </p:spPr>
      </p:sp>
      <p:sp>
        <p:nvSpPr>
          <p:cNvPr id="5" name="Shape 3"/>
          <p:cNvSpPr/>
          <p:nvPr/>
        </p:nvSpPr>
        <p:spPr>
          <a:xfrm>
            <a:off x="6528816" y="685800"/>
            <a:ext cx="246888" cy="246888"/>
          </a:xfrm>
          <a:prstGeom prst="rect">
            <a:avLst/>
          </a:prstGeom>
          <a:solidFill>
            <a:srgbClr val="2A3A5C"/>
          </a:solidFill>
          <a:ln w="12700">
            <a:solidFill>
              <a:srgbClr val="2A3A5C"/>
            </a:solidFill>
            <a:prstDash val="solid"/>
          </a:ln>
        </p:spPr>
      </p:sp>
      <p:sp>
        <p:nvSpPr>
          <p:cNvPr id="6" name="Shape 4"/>
          <p:cNvSpPr/>
          <p:nvPr/>
        </p:nvSpPr>
        <p:spPr>
          <a:xfrm>
            <a:off x="6830568" y="685800"/>
            <a:ext cx="246888" cy="246888"/>
          </a:xfrm>
          <a:prstGeom prst="rect">
            <a:avLst/>
          </a:prstGeom>
          <a:solidFill>
            <a:srgbClr val="0E9E8E"/>
          </a:solidFill>
          <a:ln w="12700">
            <a:solidFill>
              <a:srgbClr val="0E9E8E"/>
            </a:solidFill>
            <a:prstDash val="solid"/>
          </a:ln>
        </p:spPr>
      </p:sp>
      <p:sp>
        <p:nvSpPr>
          <p:cNvPr id="7" name="Shape 5"/>
          <p:cNvSpPr/>
          <p:nvPr/>
        </p:nvSpPr>
        <p:spPr>
          <a:xfrm>
            <a:off x="7132320" y="685800"/>
            <a:ext cx="246888" cy="246888"/>
          </a:xfrm>
          <a:prstGeom prst="rect">
            <a:avLst/>
          </a:prstGeom>
          <a:solidFill>
            <a:srgbClr val="0E9E8E"/>
          </a:solidFill>
          <a:ln w="12700">
            <a:solidFill>
              <a:srgbClr val="0E9E8E"/>
            </a:solidFill>
            <a:prstDash val="solid"/>
          </a:ln>
        </p:spPr>
      </p:sp>
      <p:sp>
        <p:nvSpPr>
          <p:cNvPr id="8" name="Shape 6"/>
          <p:cNvSpPr/>
          <p:nvPr/>
        </p:nvSpPr>
        <p:spPr>
          <a:xfrm>
            <a:off x="7434072" y="685800"/>
            <a:ext cx="246888" cy="246888"/>
          </a:xfrm>
          <a:prstGeom prst="rect">
            <a:avLst/>
          </a:prstGeom>
          <a:solidFill>
            <a:srgbClr val="0E9E8E"/>
          </a:solidFill>
          <a:ln w="12700">
            <a:solidFill>
              <a:srgbClr val="0E9E8E"/>
            </a:solidFill>
            <a:prstDash val="solid"/>
          </a:ln>
        </p:spPr>
      </p:sp>
      <p:sp>
        <p:nvSpPr>
          <p:cNvPr id="9" name="Shape 7"/>
          <p:cNvSpPr/>
          <p:nvPr/>
        </p:nvSpPr>
        <p:spPr>
          <a:xfrm>
            <a:off x="7735824" y="685800"/>
            <a:ext cx="246888" cy="246888"/>
          </a:xfrm>
          <a:prstGeom prst="rect">
            <a:avLst/>
          </a:prstGeom>
          <a:solidFill>
            <a:srgbClr val="0E9E8E"/>
          </a:solidFill>
          <a:ln w="12700">
            <a:solidFill>
              <a:srgbClr val="0E9E8E"/>
            </a:solidFill>
            <a:prstDash val="solid"/>
          </a:ln>
        </p:spPr>
      </p:sp>
      <p:sp>
        <p:nvSpPr>
          <p:cNvPr id="10" name="Shape 8"/>
          <p:cNvSpPr/>
          <p:nvPr/>
        </p:nvSpPr>
        <p:spPr>
          <a:xfrm>
            <a:off x="8037576" y="685800"/>
            <a:ext cx="246888" cy="246888"/>
          </a:xfrm>
          <a:prstGeom prst="rect">
            <a:avLst/>
          </a:prstGeom>
          <a:solidFill>
            <a:srgbClr val="0E9E8E"/>
          </a:solidFill>
          <a:ln w="12700">
            <a:solidFill>
              <a:srgbClr val="0E9E8E"/>
            </a:solidFill>
            <a:prstDash val="solid"/>
          </a:ln>
        </p:spPr>
      </p:sp>
      <p:sp>
        <p:nvSpPr>
          <p:cNvPr id="11" name="Shape 9"/>
          <p:cNvSpPr/>
          <p:nvPr/>
        </p:nvSpPr>
        <p:spPr>
          <a:xfrm>
            <a:off x="8339328" y="685800"/>
            <a:ext cx="246888" cy="246888"/>
          </a:xfrm>
          <a:prstGeom prst="rect">
            <a:avLst/>
          </a:prstGeom>
          <a:solidFill>
            <a:srgbClr val="2A3A5C"/>
          </a:solidFill>
          <a:ln w="12700">
            <a:solidFill>
              <a:srgbClr val="2A3A5C"/>
            </a:solidFill>
            <a:prstDash val="solid"/>
          </a:ln>
        </p:spPr>
      </p:sp>
      <p:sp>
        <p:nvSpPr>
          <p:cNvPr id="12" name="Shape 10"/>
          <p:cNvSpPr/>
          <p:nvPr/>
        </p:nvSpPr>
        <p:spPr>
          <a:xfrm>
            <a:off x="5623560" y="987552"/>
            <a:ext cx="246888" cy="246888"/>
          </a:xfrm>
          <a:prstGeom prst="rect">
            <a:avLst/>
          </a:prstGeom>
          <a:solidFill>
            <a:srgbClr val="0E9E8E"/>
          </a:solidFill>
          <a:ln w="12700">
            <a:solidFill>
              <a:srgbClr val="0E9E8E"/>
            </a:solidFill>
            <a:prstDash val="solid"/>
          </a:ln>
        </p:spPr>
      </p:sp>
      <p:sp>
        <p:nvSpPr>
          <p:cNvPr id="13" name="Shape 11"/>
          <p:cNvSpPr/>
          <p:nvPr/>
        </p:nvSpPr>
        <p:spPr>
          <a:xfrm>
            <a:off x="5925312" y="987552"/>
            <a:ext cx="246888" cy="246888"/>
          </a:xfrm>
          <a:prstGeom prst="rect">
            <a:avLst/>
          </a:prstGeom>
          <a:solidFill>
            <a:srgbClr val="0E9E8E"/>
          </a:solidFill>
          <a:ln w="12700">
            <a:solidFill>
              <a:srgbClr val="0E9E8E"/>
            </a:solidFill>
            <a:prstDash val="solid"/>
          </a:ln>
        </p:spPr>
      </p:sp>
      <p:sp>
        <p:nvSpPr>
          <p:cNvPr id="14" name="Shape 12"/>
          <p:cNvSpPr/>
          <p:nvPr/>
        </p:nvSpPr>
        <p:spPr>
          <a:xfrm>
            <a:off x="6227064" y="987552"/>
            <a:ext cx="246888" cy="246888"/>
          </a:xfrm>
          <a:prstGeom prst="rect">
            <a:avLst/>
          </a:prstGeom>
          <a:solidFill>
            <a:srgbClr val="0E9E8E"/>
          </a:solidFill>
          <a:ln w="12700">
            <a:solidFill>
              <a:srgbClr val="0E9E8E"/>
            </a:solidFill>
            <a:prstDash val="solid"/>
          </a:ln>
        </p:spPr>
      </p:sp>
      <p:sp>
        <p:nvSpPr>
          <p:cNvPr id="15" name="Shape 13"/>
          <p:cNvSpPr/>
          <p:nvPr/>
        </p:nvSpPr>
        <p:spPr>
          <a:xfrm>
            <a:off x="6528816" y="987552"/>
            <a:ext cx="246888" cy="246888"/>
          </a:xfrm>
          <a:prstGeom prst="rect">
            <a:avLst/>
          </a:prstGeom>
          <a:solidFill>
            <a:srgbClr val="0E9E8E"/>
          </a:solidFill>
          <a:ln w="12700">
            <a:solidFill>
              <a:srgbClr val="0E9E8E"/>
            </a:solidFill>
            <a:prstDash val="solid"/>
          </a:ln>
        </p:spPr>
      </p:sp>
      <p:sp>
        <p:nvSpPr>
          <p:cNvPr id="16" name="Shape 14"/>
          <p:cNvSpPr/>
          <p:nvPr/>
        </p:nvSpPr>
        <p:spPr>
          <a:xfrm>
            <a:off x="6830568" y="987552"/>
            <a:ext cx="246888" cy="246888"/>
          </a:xfrm>
          <a:prstGeom prst="rect">
            <a:avLst/>
          </a:prstGeom>
          <a:solidFill>
            <a:srgbClr val="2A3A5C"/>
          </a:solidFill>
          <a:ln w="12700">
            <a:solidFill>
              <a:srgbClr val="2A3A5C"/>
            </a:solidFill>
            <a:prstDash val="solid"/>
          </a:ln>
        </p:spPr>
      </p:sp>
      <p:sp>
        <p:nvSpPr>
          <p:cNvPr id="17" name="Shape 15"/>
          <p:cNvSpPr/>
          <p:nvPr/>
        </p:nvSpPr>
        <p:spPr>
          <a:xfrm>
            <a:off x="7132320" y="987552"/>
            <a:ext cx="246888" cy="246888"/>
          </a:xfrm>
          <a:prstGeom prst="rect">
            <a:avLst/>
          </a:prstGeom>
          <a:solidFill>
            <a:srgbClr val="2A3A5C"/>
          </a:solidFill>
          <a:ln w="12700">
            <a:solidFill>
              <a:srgbClr val="2A3A5C"/>
            </a:solidFill>
            <a:prstDash val="solid"/>
          </a:ln>
        </p:spPr>
      </p:sp>
      <p:sp>
        <p:nvSpPr>
          <p:cNvPr id="18" name="Shape 16"/>
          <p:cNvSpPr/>
          <p:nvPr/>
        </p:nvSpPr>
        <p:spPr>
          <a:xfrm>
            <a:off x="7434072" y="987552"/>
            <a:ext cx="246888" cy="246888"/>
          </a:xfrm>
          <a:prstGeom prst="rect">
            <a:avLst/>
          </a:prstGeom>
          <a:solidFill>
            <a:srgbClr val="2A3A5C"/>
          </a:solidFill>
          <a:ln w="12700">
            <a:solidFill>
              <a:srgbClr val="2A3A5C"/>
            </a:solidFill>
            <a:prstDash val="solid"/>
          </a:ln>
        </p:spPr>
      </p:sp>
      <p:sp>
        <p:nvSpPr>
          <p:cNvPr id="19" name="Shape 17"/>
          <p:cNvSpPr/>
          <p:nvPr/>
        </p:nvSpPr>
        <p:spPr>
          <a:xfrm>
            <a:off x="7735824" y="987552"/>
            <a:ext cx="246888" cy="246888"/>
          </a:xfrm>
          <a:prstGeom prst="rect">
            <a:avLst/>
          </a:prstGeom>
          <a:solidFill>
            <a:srgbClr val="2A3A5C"/>
          </a:solidFill>
          <a:ln w="12700">
            <a:solidFill>
              <a:srgbClr val="2A3A5C"/>
            </a:solidFill>
            <a:prstDash val="solid"/>
          </a:ln>
        </p:spPr>
      </p:sp>
      <p:sp>
        <p:nvSpPr>
          <p:cNvPr id="20" name="Shape 18"/>
          <p:cNvSpPr/>
          <p:nvPr/>
        </p:nvSpPr>
        <p:spPr>
          <a:xfrm>
            <a:off x="8037576" y="987552"/>
            <a:ext cx="246888" cy="246888"/>
          </a:xfrm>
          <a:prstGeom prst="rect">
            <a:avLst/>
          </a:prstGeom>
          <a:solidFill>
            <a:srgbClr val="2A3A5C"/>
          </a:solidFill>
          <a:ln w="12700">
            <a:solidFill>
              <a:srgbClr val="2A3A5C"/>
            </a:solidFill>
            <a:prstDash val="solid"/>
          </a:ln>
        </p:spPr>
      </p:sp>
      <p:sp>
        <p:nvSpPr>
          <p:cNvPr id="21" name="Shape 19"/>
          <p:cNvSpPr/>
          <p:nvPr/>
        </p:nvSpPr>
        <p:spPr>
          <a:xfrm>
            <a:off x="8339328" y="987552"/>
            <a:ext cx="246888" cy="246888"/>
          </a:xfrm>
          <a:prstGeom prst="rect">
            <a:avLst/>
          </a:prstGeom>
          <a:solidFill>
            <a:srgbClr val="0E9E8E"/>
          </a:solidFill>
          <a:ln w="12700">
            <a:solidFill>
              <a:srgbClr val="0E9E8E"/>
            </a:solidFill>
            <a:prstDash val="solid"/>
          </a:ln>
        </p:spPr>
      </p:sp>
      <p:sp>
        <p:nvSpPr>
          <p:cNvPr id="22" name="Text 20"/>
          <p:cNvSpPr/>
          <p:nvPr>
            <p:ph idx="120" type="title" hasCustomPrompt="1"/>
          </p:nvPr>
        </p:nvSpPr>
        <p:spPr>
          <a:xfrm>
            <a:off x="457200" y="1600200"/>
            <a:ext cx="7680960" cy="16002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3" name="Text 20"/>
          <p:cNvSpPr/>
          <p:nvPr>
            <p:ph idx="121" type="body" hasCustomPrompt="1"/>
          </p:nvPr>
        </p:nvSpPr>
        <p:spPr>
          <a:xfrm>
            <a:off x="457200" y="3429000"/>
            <a:ext cx="7680960" cy="1005840"/>
          </a:xfrm>
          <a:prstGeom prst="rect">
            <a:avLst/>
          </a:prstGeom>
          <a:noFill/>
          <a:ln/>
        </p:spPr>
        <p:txBody>
          <a:bodyPr wrap="square" rtlCol="0"/>
          <a:lstStyle>
            <a:lvl1pPr algn="l" indent="0" marL="0">
              <a:buNone/>
              <a:defRPr lang="en-US" sz="1500" dirty="0">
                <a:solidFill>
                  <a:schemeClr val="accent5"/>
                </a:solidFill>
                <a:latin typeface="Calibri" pitchFamily="34" charset="0"/>
                <a:ea typeface="Calibri" pitchFamily="34" charset="-122"/>
                <a:cs typeface="Calibri" pitchFamily="34" charset="-120"/>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457200" y="4160520"/>
            <a:ext cx="146304" cy="146304"/>
          </a:xfrm>
          <a:prstGeom prst="rect">
            <a:avLst/>
          </a:prstGeom>
          <a:solidFill>
            <a:srgbClr val="0E9E8E"/>
          </a:solidFill>
          <a:ln w="12700">
            <a:solidFill>
              <a:srgbClr val="0E9E8E"/>
            </a:solidFill>
            <a:prstDash val="solid"/>
          </a:ln>
        </p:spPr>
      </p:sp>
      <p:sp>
        <p:nvSpPr>
          <p:cNvPr id="3" name="Shape 1"/>
          <p:cNvSpPr/>
          <p:nvPr/>
        </p:nvSpPr>
        <p:spPr>
          <a:xfrm>
            <a:off x="640080" y="4160520"/>
            <a:ext cx="146304" cy="146304"/>
          </a:xfrm>
          <a:prstGeom prst="rect">
            <a:avLst/>
          </a:prstGeom>
          <a:solidFill>
            <a:srgbClr val="0E9E8E"/>
          </a:solidFill>
          <a:ln w="12700">
            <a:solidFill>
              <a:srgbClr val="0E9E8E"/>
            </a:solidFill>
            <a:prstDash val="solid"/>
          </a:ln>
        </p:spPr>
      </p:sp>
      <p:sp>
        <p:nvSpPr>
          <p:cNvPr id="4" name="Shape 2"/>
          <p:cNvSpPr/>
          <p:nvPr/>
        </p:nvSpPr>
        <p:spPr>
          <a:xfrm>
            <a:off x="822960" y="4160520"/>
            <a:ext cx="146304" cy="146304"/>
          </a:xfrm>
          <a:prstGeom prst="rect">
            <a:avLst/>
          </a:prstGeom>
          <a:solidFill>
            <a:srgbClr val="2A3A5C"/>
          </a:solidFill>
          <a:ln w="12700">
            <a:solidFill>
              <a:srgbClr val="2A3A5C"/>
            </a:solidFill>
            <a:prstDash val="solid"/>
          </a:ln>
        </p:spPr>
      </p:sp>
      <p:sp>
        <p:nvSpPr>
          <p:cNvPr id="5" name="Shape 3"/>
          <p:cNvSpPr/>
          <p:nvPr/>
        </p:nvSpPr>
        <p:spPr>
          <a:xfrm>
            <a:off x="1005840" y="4160520"/>
            <a:ext cx="146304" cy="146304"/>
          </a:xfrm>
          <a:prstGeom prst="rect">
            <a:avLst/>
          </a:prstGeom>
          <a:solidFill>
            <a:srgbClr val="2A3A5C"/>
          </a:solidFill>
          <a:ln w="12700">
            <a:solidFill>
              <a:srgbClr val="2A3A5C"/>
            </a:solidFill>
            <a:prstDash val="solid"/>
          </a:ln>
        </p:spPr>
      </p:sp>
      <p:sp>
        <p:nvSpPr>
          <p:cNvPr id="6" name="Shape 4"/>
          <p:cNvSpPr/>
          <p:nvPr/>
        </p:nvSpPr>
        <p:spPr>
          <a:xfrm>
            <a:off x="1188720" y="4160520"/>
            <a:ext cx="146304" cy="146304"/>
          </a:xfrm>
          <a:prstGeom prst="rect">
            <a:avLst/>
          </a:prstGeom>
          <a:solidFill>
            <a:srgbClr val="0E9E8E"/>
          </a:solidFill>
          <a:ln w="12700">
            <a:solidFill>
              <a:srgbClr val="0E9E8E"/>
            </a:solidFill>
            <a:prstDash val="solid"/>
          </a:ln>
        </p:spPr>
      </p:sp>
      <p:sp>
        <p:nvSpPr>
          <p:cNvPr id="7" name="Shape 5"/>
          <p:cNvSpPr/>
          <p:nvPr/>
        </p:nvSpPr>
        <p:spPr>
          <a:xfrm>
            <a:off x="1371600" y="4160520"/>
            <a:ext cx="146304" cy="146304"/>
          </a:xfrm>
          <a:prstGeom prst="rect">
            <a:avLst/>
          </a:prstGeom>
          <a:solidFill>
            <a:srgbClr val="0E9E8E"/>
          </a:solidFill>
          <a:ln w="12700">
            <a:solidFill>
              <a:srgbClr val="0E9E8E"/>
            </a:solidFill>
            <a:prstDash val="solid"/>
          </a:ln>
        </p:spPr>
      </p:sp>
      <p:sp>
        <p:nvSpPr>
          <p:cNvPr id="8" name="Shape 6"/>
          <p:cNvSpPr/>
          <p:nvPr/>
        </p:nvSpPr>
        <p:spPr>
          <a:xfrm>
            <a:off x="1554480" y="4160520"/>
            <a:ext cx="146304" cy="146304"/>
          </a:xfrm>
          <a:prstGeom prst="rect">
            <a:avLst/>
          </a:prstGeom>
          <a:solidFill>
            <a:srgbClr val="0E9E8E"/>
          </a:solidFill>
          <a:ln w="12700">
            <a:solidFill>
              <a:srgbClr val="0E9E8E"/>
            </a:solidFill>
            <a:prstDash val="solid"/>
          </a:ln>
        </p:spPr>
      </p:sp>
      <p:sp>
        <p:nvSpPr>
          <p:cNvPr id="9" name="Shape 7"/>
          <p:cNvSpPr/>
          <p:nvPr/>
        </p:nvSpPr>
        <p:spPr>
          <a:xfrm>
            <a:off x="1737360" y="4160520"/>
            <a:ext cx="146304" cy="146304"/>
          </a:xfrm>
          <a:prstGeom prst="rect">
            <a:avLst/>
          </a:prstGeom>
          <a:solidFill>
            <a:srgbClr val="0E9E8E"/>
          </a:solidFill>
          <a:ln w="12700">
            <a:solidFill>
              <a:srgbClr val="0E9E8E"/>
            </a:solidFill>
            <a:prstDash val="solid"/>
          </a:ln>
        </p:spPr>
      </p:sp>
      <p:sp>
        <p:nvSpPr>
          <p:cNvPr id="10" name="Shape 8"/>
          <p:cNvSpPr/>
          <p:nvPr/>
        </p:nvSpPr>
        <p:spPr>
          <a:xfrm>
            <a:off x="1920240" y="4160520"/>
            <a:ext cx="146304" cy="146304"/>
          </a:xfrm>
          <a:prstGeom prst="rect">
            <a:avLst/>
          </a:prstGeom>
          <a:solidFill>
            <a:srgbClr val="0E9E8E"/>
          </a:solidFill>
          <a:ln w="12700">
            <a:solidFill>
              <a:srgbClr val="0E9E8E"/>
            </a:solidFill>
            <a:prstDash val="solid"/>
          </a:ln>
        </p:spPr>
      </p:sp>
      <p:sp>
        <p:nvSpPr>
          <p:cNvPr id="11" name="Shape 9"/>
          <p:cNvSpPr/>
          <p:nvPr/>
        </p:nvSpPr>
        <p:spPr>
          <a:xfrm>
            <a:off x="2103120" y="4160520"/>
            <a:ext cx="146304" cy="146304"/>
          </a:xfrm>
          <a:prstGeom prst="rect">
            <a:avLst/>
          </a:prstGeom>
          <a:solidFill>
            <a:srgbClr val="2A3A5C"/>
          </a:solidFill>
          <a:ln w="12700">
            <a:solidFill>
              <a:srgbClr val="2A3A5C"/>
            </a:solidFill>
            <a:prstDash val="solid"/>
          </a:ln>
        </p:spPr>
      </p:sp>
      <p:sp>
        <p:nvSpPr>
          <p:cNvPr id="12" name="Shape 10"/>
          <p:cNvSpPr/>
          <p:nvPr/>
        </p:nvSpPr>
        <p:spPr>
          <a:xfrm>
            <a:off x="457200" y="4343400"/>
            <a:ext cx="146304" cy="146304"/>
          </a:xfrm>
          <a:prstGeom prst="rect">
            <a:avLst/>
          </a:prstGeom>
          <a:solidFill>
            <a:srgbClr val="0E9E8E"/>
          </a:solidFill>
          <a:ln w="12700">
            <a:solidFill>
              <a:srgbClr val="0E9E8E"/>
            </a:solidFill>
            <a:prstDash val="solid"/>
          </a:ln>
        </p:spPr>
      </p:sp>
      <p:sp>
        <p:nvSpPr>
          <p:cNvPr id="13" name="Shape 11"/>
          <p:cNvSpPr/>
          <p:nvPr/>
        </p:nvSpPr>
        <p:spPr>
          <a:xfrm>
            <a:off x="640080" y="4343400"/>
            <a:ext cx="146304" cy="146304"/>
          </a:xfrm>
          <a:prstGeom prst="rect">
            <a:avLst/>
          </a:prstGeom>
          <a:solidFill>
            <a:srgbClr val="0E9E8E"/>
          </a:solidFill>
          <a:ln w="12700">
            <a:solidFill>
              <a:srgbClr val="0E9E8E"/>
            </a:solidFill>
            <a:prstDash val="solid"/>
          </a:ln>
        </p:spPr>
      </p:sp>
      <p:sp>
        <p:nvSpPr>
          <p:cNvPr id="14" name="Shape 12"/>
          <p:cNvSpPr/>
          <p:nvPr/>
        </p:nvSpPr>
        <p:spPr>
          <a:xfrm>
            <a:off x="822960" y="4343400"/>
            <a:ext cx="146304" cy="146304"/>
          </a:xfrm>
          <a:prstGeom prst="rect">
            <a:avLst/>
          </a:prstGeom>
          <a:solidFill>
            <a:srgbClr val="0E9E8E"/>
          </a:solidFill>
          <a:ln w="12700">
            <a:solidFill>
              <a:srgbClr val="0E9E8E"/>
            </a:solidFill>
            <a:prstDash val="solid"/>
          </a:ln>
        </p:spPr>
      </p:sp>
      <p:sp>
        <p:nvSpPr>
          <p:cNvPr id="15" name="Shape 13"/>
          <p:cNvSpPr/>
          <p:nvPr/>
        </p:nvSpPr>
        <p:spPr>
          <a:xfrm>
            <a:off x="1005840" y="4343400"/>
            <a:ext cx="146304" cy="146304"/>
          </a:xfrm>
          <a:prstGeom prst="rect">
            <a:avLst/>
          </a:prstGeom>
          <a:solidFill>
            <a:srgbClr val="0E9E8E"/>
          </a:solidFill>
          <a:ln w="12700">
            <a:solidFill>
              <a:srgbClr val="0E9E8E"/>
            </a:solidFill>
            <a:prstDash val="solid"/>
          </a:ln>
        </p:spPr>
      </p:sp>
      <p:sp>
        <p:nvSpPr>
          <p:cNvPr id="16" name="Shape 14"/>
          <p:cNvSpPr/>
          <p:nvPr/>
        </p:nvSpPr>
        <p:spPr>
          <a:xfrm>
            <a:off x="1188720" y="4343400"/>
            <a:ext cx="146304" cy="146304"/>
          </a:xfrm>
          <a:prstGeom prst="rect">
            <a:avLst/>
          </a:prstGeom>
          <a:solidFill>
            <a:srgbClr val="2A3A5C"/>
          </a:solidFill>
          <a:ln w="12700">
            <a:solidFill>
              <a:srgbClr val="2A3A5C"/>
            </a:solidFill>
            <a:prstDash val="solid"/>
          </a:ln>
        </p:spPr>
      </p:sp>
      <p:sp>
        <p:nvSpPr>
          <p:cNvPr id="17" name="Shape 15"/>
          <p:cNvSpPr/>
          <p:nvPr/>
        </p:nvSpPr>
        <p:spPr>
          <a:xfrm>
            <a:off x="1371600" y="4343400"/>
            <a:ext cx="146304" cy="146304"/>
          </a:xfrm>
          <a:prstGeom prst="rect">
            <a:avLst/>
          </a:prstGeom>
          <a:solidFill>
            <a:srgbClr val="2A3A5C"/>
          </a:solidFill>
          <a:ln w="12700">
            <a:solidFill>
              <a:srgbClr val="2A3A5C"/>
            </a:solidFill>
            <a:prstDash val="solid"/>
          </a:ln>
        </p:spPr>
      </p:sp>
      <p:sp>
        <p:nvSpPr>
          <p:cNvPr id="18" name="Shape 16"/>
          <p:cNvSpPr/>
          <p:nvPr/>
        </p:nvSpPr>
        <p:spPr>
          <a:xfrm>
            <a:off x="1554480" y="4343400"/>
            <a:ext cx="146304" cy="146304"/>
          </a:xfrm>
          <a:prstGeom prst="rect">
            <a:avLst/>
          </a:prstGeom>
          <a:solidFill>
            <a:srgbClr val="2A3A5C"/>
          </a:solidFill>
          <a:ln w="12700">
            <a:solidFill>
              <a:srgbClr val="2A3A5C"/>
            </a:solidFill>
            <a:prstDash val="solid"/>
          </a:ln>
        </p:spPr>
      </p:sp>
      <p:sp>
        <p:nvSpPr>
          <p:cNvPr id="19" name="Shape 17"/>
          <p:cNvSpPr/>
          <p:nvPr/>
        </p:nvSpPr>
        <p:spPr>
          <a:xfrm>
            <a:off x="1737360" y="4343400"/>
            <a:ext cx="146304" cy="146304"/>
          </a:xfrm>
          <a:prstGeom prst="rect">
            <a:avLst/>
          </a:prstGeom>
          <a:solidFill>
            <a:srgbClr val="2A3A5C"/>
          </a:solidFill>
          <a:ln w="12700">
            <a:solidFill>
              <a:srgbClr val="2A3A5C"/>
            </a:solidFill>
            <a:prstDash val="solid"/>
          </a:ln>
        </p:spPr>
      </p:sp>
      <p:sp>
        <p:nvSpPr>
          <p:cNvPr id="20" name="Shape 18"/>
          <p:cNvSpPr/>
          <p:nvPr/>
        </p:nvSpPr>
        <p:spPr>
          <a:xfrm>
            <a:off x="1920240" y="4343400"/>
            <a:ext cx="146304" cy="146304"/>
          </a:xfrm>
          <a:prstGeom prst="rect">
            <a:avLst/>
          </a:prstGeom>
          <a:solidFill>
            <a:srgbClr val="2A3A5C"/>
          </a:solidFill>
          <a:ln w="12700">
            <a:solidFill>
              <a:srgbClr val="2A3A5C"/>
            </a:solidFill>
            <a:prstDash val="solid"/>
          </a:ln>
        </p:spPr>
      </p:sp>
      <p:sp>
        <p:nvSpPr>
          <p:cNvPr id="21" name="Shape 19"/>
          <p:cNvSpPr/>
          <p:nvPr/>
        </p:nvSpPr>
        <p:spPr>
          <a:xfrm>
            <a:off x="2103120" y="4343400"/>
            <a:ext cx="146304" cy="146304"/>
          </a:xfrm>
          <a:prstGeom prst="rect">
            <a:avLst/>
          </a:prstGeom>
          <a:solidFill>
            <a:srgbClr val="0E9E8E"/>
          </a:solidFill>
          <a:ln w="12700">
            <a:solidFill>
              <a:srgbClr val="0E9E8E"/>
            </a:solidFill>
            <a:prstDash val="solid"/>
          </a:ln>
        </p:spPr>
      </p:sp>
      <p:sp>
        <p:nvSpPr>
          <p:cNvPr id="22" name="Text 20"/>
          <p:cNvSpPr/>
          <p:nvPr>
            <p:ph idx="120" type="body" hasCustomPrompt="1"/>
          </p:nvPr>
        </p:nvSpPr>
        <p:spPr>
          <a:xfrm>
            <a:off x="457200" y="1005840"/>
            <a:ext cx="2743200" cy="822960"/>
          </a:xfrm>
          <a:prstGeom prst="rect">
            <a:avLst/>
          </a:prstGeom>
          <a:noFill/>
          <a:ln/>
        </p:spPr>
        <p:txBody>
          <a:bodyPr wrap="square" rtlCol="0"/>
          <a:lstStyle>
            <a:lvl1pPr algn="l" indent="0" marL="0">
              <a:buNone/>
              <a:defRPr lang="en-US" sz="4800" b="1" dirty="0">
                <a:solidFill>
                  <a:schemeClr val="accent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23" name="Text 20"/>
          <p:cNvSpPr/>
          <p:nvPr>
            <p:ph idx="121" type="title" hasCustomPrompt="1"/>
          </p:nvPr>
        </p:nvSpPr>
        <p:spPr>
          <a:xfrm>
            <a:off x="457200" y="1874520"/>
            <a:ext cx="7863840" cy="10058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4" name="Text 20"/>
          <p:cNvSpPr/>
          <p:nvPr>
            <p:ph idx="122" type="body" hasCustomPrompt="1"/>
          </p:nvPr>
        </p:nvSpPr>
        <p:spPr>
          <a:xfrm>
            <a:off x="457200" y="2926080"/>
            <a:ext cx="7863840" cy="822960"/>
          </a:xfrm>
          <a:prstGeom prst="rect">
            <a:avLst/>
          </a:prstGeom>
          <a:noFill/>
          <a:ln/>
        </p:spPr>
        <p:txBody>
          <a:bodyPr wrap="square" rtlCol="0"/>
          <a:lstStyle>
            <a:lvl1pPr algn="l" indent="0" marL="0">
              <a:buNone/>
              <a:defRPr lang="en-US" sz="1600" dirty="0">
                <a:solidFill>
                  <a:schemeClr val="accent5"/>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7818120" y="457200"/>
            <a:ext cx="73152" cy="73152"/>
          </a:xfrm>
          <a:prstGeom prst="rect">
            <a:avLst/>
          </a:prstGeom>
          <a:solidFill>
            <a:srgbClr val="0E9E8E"/>
          </a:solidFill>
          <a:ln w="12700">
            <a:solidFill>
              <a:srgbClr val="0E9E8E"/>
            </a:solidFill>
            <a:prstDash val="solid"/>
          </a:ln>
        </p:spPr>
      </p:sp>
      <p:sp>
        <p:nvSpPr>
          <p:cNvPr id="3" name="Shape 1"/>
          <p:cNvSpPr/>
          <p:nvPr/>
        </p:nvSpPr>
        <p:spPr>
          <a:xfrm>
            <a:off x="7909560" y="457200"/>
            <a:ext cx="73152" cy="73152"/>
          </a:xfrm>
          <a:prstGeom prst="rect">
            <a:avLst/>
          </a:prstGeom>
          <a:solidFill>
            <a:srgbClr val="0E9E8E"/>
          </a:solidFill>
          <a:ln w="12700">
            <a:solidFill>
              <a:srgbClr val="0E9E8E"/>
            </a:solidFill>
            <a:prstDash val="solid"/>
          </a:ln>
        </p:spPr>
      </p:sp>
      <p:sp>
        <p:nvSpPr>
          <p:cNvPr id="4" name="Shape 2"/>
          <p:cNvSpPr/>
          <p:nvPr/>
        </p:nvSpPr>
        <p:spPr>
          <a:xfrm>
            <a:off x="8001000" y="457200"/>
            <a:ext cx="73152" cy="73152"/>
          </a:xfrm>
          <a:prstGeom prst="rect">
            <a:avLst/>
          </a:prstGeom>
          <a:solidFill>
            <a:srgbClr val="C9D3DF"/>
          </a:solidFill>
          <a:ln w="12700">
            <a:solidFill>
              <a:srgbClr val="C9D3DF"/>
            </a:solidFill>
            <a:prstDash val="solid"/>
          </a:ln>
        </p:spPr>
      </p:sp>
      <p:sp>
        <p:nvSpPr>
          <p:cNvPr id="5" name="Shape 3"/>
          <p:cNvSpPr/>
          <p:nvPr/>
        </p:nvSpPr>
        <p:spPr>
          <a:xfrm>
            <a:off x="8092440" y="457200"/>
            <a:ext cx="73152" cy="73152"/>
          </a:xfrm>
          <a:prstGeom prst="rect">
            <a:avLst/>
          </a:prstGeom>
          <a:solidFill>
            <a:srgbClr val="C9D3DF"/>
          </a:solidFill>
          <a:ln w="12700">
            <a:solidFill>
              <a:srgbClr val="C9D3DF"/>
            </a:solidFill>
            <a:prstDash val="solid"/>
          </a:ln>
        </p:spPr>
      </p:sp>
      <p:sp>
        <p:nvSpPr>
          <p:cNvPr id="6" name="Shape 4"/>
          <p:cNvSpPr/>
          <p:nvPr/>
        </p:nvSpPr>
        <p:spPr>
          <a:xfrm>
            <a:off x="8183880" y="457200"/>
            <a:ext cx="73152" cy="73152"/>
          </a:xfrm>
          <a:prstGeom prst="rect">
            <a:avLst/>
          </a:prstGeom>
          <a:solidFill>
            <a:srgbClr val="0E9E8E"/>
          </a:solidFill>
          <a:ln w="12700">
            <a:solidFill>
              <a:srgbClr val="0E9E8E"/>
            </a:solidFill>
            <a:prstDash val="solid"/>
          </a:ln>
        </p:spPr>
      </p:sp>
      <p:sp>
        <p:nvSpPr>
          <p:cNvPr id="7" name="Shape 5"/>
          <p:cNvSpPr/>
          <p:nvPr/>
        </p:nvSpPr>
        <p:spPr>
          <a:xfrm>
            <a:off x="8275320" y="457200"/>
            <a:ext cx="73152" cy="73152"/>
          </a:xfrm>
          <a:prstGeom prst="rect">
            <a:avLst/>
          </a:prstGeom>
          <a:solidFill>
            <a:srgbClr val="0E9E8E"/>
          </a:solidFill>
          <a:ln w="12700">
            <a:solidFill>
              <a:srgbClr val="0E9E8E"/>
            </a:solidFill>
            <a:prstDash val="solid"/>
          </a:ln>
        </p:spPr>
      </p:sp>
      <p:sp>
        <p:nvSpPr>
          <p:cNvPr id="8" name="Shape 6"/>
          <p:cNvSpPr/>
          <p:nvPr/>
        </p:nvSpPr>
        <p:spPr>
          <a:xfrm>
            <a:off x="8366760" y="457200"/>
            <a:ext cx="73152" cy="73152"/>
          </a:xfrm>
          <a:prstGeom prst="rect">
            <a:avLst/>
          </a:prstGeom>
          <a:solidFill>
            <a:srgbClr val="0E9E8E"/>
          </a:solidFill>
          <a:ln w="12700">
            <a:solidFill>
              <a:srgbClr val="0E9E8E"/>
            </a:solidFill>
            <a:prstDash val="solid"/>
          </a:ln>
        </p:spPr>
      </p:sp>
      <p:sp>
        <p:nvSpPr>
          <p:cNvPr id="9" name="Shape 7"/>
          <p:cNvSpPr/>
          <p:nvPr/>
        </p:nvSpPr>
        <p:spPr>
          <a:xfrm>
            <a:off x="8458200" y="457200"/>
            <a:ext cx="73152" cy="73152"/>
          </a:xfrm>
          <a:prstGeom prst="rect">
            <a:avLst/>
          </a:prstGeom>
          <a:solidFill>
            <a:srgbClr val="0E9E8E"/>
          </a:solidFill>
          <a:ln w="12700">
            <a:solidFill>
              <a:srgbClr val="0E9E8E"/>
            </a:solidFill>
            <a:prstDash val="solid"/>
          </a:ln>
        </p:spPr>
      </p:sp>
      <p:sp>
        <p:nvSpPr>
          <p:cNvPr id="10" name="Shape 8"/>
          <p:cNvSpPr/>
          <p:nvPr/>
        </p:nvSpPr>
        <p:spPr>
          <a:xfrm>
            <a:off x="8549640" y="457200"/>
            <a:ext cx="73152" cy="73152"/>
          </a:xfrm>
          <a:prstGeom prst="rect">
            <a:avLst/>
          </a:prstGeom>
          <a:solidFill>
            <a:srgbClr val="0E9E8E"/>
          </a:solidFill>
          <a:ln w="12700">
            <a:solidFill>
              <a:srgbClr val="0E9E8E"/>
            </a:solidFill>
            <a:prstDash val="solid"/>
          </a:ln>
        </p:spPr>
      </p:sp>
      <p:sp>
        <p:nvSpPr>
          <p:cNvPr id="11" name="Shape 9"/>
          <p:cNvSpPr/>
          <p:nvPr/>
        </p:nvSpPr>
        <p:spPr>
          <a:xfrm>
            <a:off x="8641080" y="457200"/>
            <a:ext cx="73152" cy="73152"/>
          </a:xfrm>
          <a:prstGeom prst="rect">
            <a:avLst/>
          </a:prstGeom>
          <a:solidFill>
            <a:srgbClr val="C9D3DF"/>
          </a:solidFill>
          <a:ln w="12700">
            <a:solidFill>
              <a:srgbClr val="C9D3DF"/>
            </a:solidFill>
            <a:prstDash val="solid"/>
          </a:ln>
        </p:spPr>
      </p:sp>
      <p:sp>
        <p:nvSpPr>
          <p:cNvPr id="12" name="Shape 10"/>
          <p:cNvSpPr/>
          <p:nvPr/>
        </p:nvSpPr>
        <p:spPr>
          <a:xfrm>
            <a:off x="7818120" y="548640"/>
            <a:ext cx="73152" cy="73152"/>
          </a:xfrm>
          <a:prstGeom prst="rect">
            <a:avLst/>
          </a:prstGeom>
          <a:solidFill>
            <a:srgbClr val="0E9E8E"/>
          </a:solidFill>
          <a:ln w="12700">
            <a:solidFill>
              <a:srgbClr val="0E9E8E"/>
            </a:solidFill>
            <a:prstDash val="solid"/>
          </a:ln>
        </p:spPr>
      </p:sp>
      <p:sp>
        <p:nvSpPr>
          <p:cNvPr id="13" name="Shape 11"/>
          <p:cNvSpPr/>
          <p:nvPr/>
        </p:nvSpPr>
        <p:spPr>
          <a:xfrm>
            <a:off x="7909560" y="548640"/>
            <a:ext cx="73152" cy="73152"/>
          </a:xfrm>
          <a:prstGeom prst="rect">
            <a:avLst/>
          </a:prstGeom>
          <a:solidFill>
            <a:srgbClr val="0E9E8E"/>
          </a:solidFill>
          <a:ln w="12700">
            <a:solidFill>
              <a:srgbClr val="0E9E8E"/>
            </a:solidFill>
            <a:prstDash val="solid"/>
          </a:ln>
        </p:spPr>
      </p:sp>
      <p:sp>
        <p:nvSpPr>
          <p:cNvPr id="14" name="Shape 12"/>
          <p:cNvSpPr/>
          <p:nvPr/>
        </p:nvSpPr>
        <p:spPr>
          <a:xfrm>
            <a:off x="8001000" y="548640"/>
            <a:ext cx="73152" cy="73152"/>
          </a:xfrm>
          <a:prstGeom prst="rect">
            <a:avLst/>
          </a:prstGeom>
          <a:solidFill>
            <a:srgbClr val="0E9E8E"/>
          </a:solidFill>
          <a:ln w="12700">
            <a:solidFill>
              <a:srgbClr val="0E9E8E"/>
            </a:solidFill>
            <a:prstDash val="solid"/>
          </a:ln>
        </p:spPr>
      </p:sp>
      <p:sp>
        <p:nvSpPr>
          <p:cNvPr id="15" name="Shape 13"/>
          <p:cNvSpPr/>
          <p:nvPr/>
        </p:nvSpPr>
        <p:spPr>
          <a:xfrm>
            <a:off x="8092440" y="548640"/>
            <a:ext cx="73152" cy="73152"/>
          </a:xfrm>
          <a:prstGeom prst="rect">
            <a:avLst/>
          </a:prstGeom>
          <a:solidFill>
            <a:srgbClr val="0E9E8E"/>
          </a:solidFill>
          <a:ln w="12700">
            <a:solidFill>
              <a:srgbClr val="0E9E8E"/>
            </a:solidFill>
            <a:prstDash val="solid"/>
          </a:ln>
        </p:spPr>
      </p:sp>
      <p:sp>
        <p:nvSpPr>
          <p:cNvPr id="16" name="Shape 14"/>
          <p:cNvSpPr/>
          <p:nvPr/>
        </p:nvSpPr>
        <p:spPr>
          <a:xfrm>
            <a:off x="8183880" y="548640"/>
            <a:ext cx="73152" cy="73152"/>
          </a:xfrm>
          <a:prstGeom prst="rect">
            <a:avLst/>
          </a:prstGeom>
          <a:solidFill>
            <a:srgbClr val="C9D3DF"/>
          </a:solidFill>
          <a:ln w="12700">
            <a:solidFill>
              <a:srgbClr val="C9D3DF"/>
            </a:solidFill>
            <a:prstDash val="solid"/>
          </a:ln>
        </p:spPr>
      </p:sp>
      <p:sp>
        <p:nvSpPr>
          <p:cNvPr id="17" name="Shape 15"/>
          <p:cNvSpPr/>
          <p:nvPr/>
        </p:nvSpPr>
        <p:spPr>
          <a:xfrm>
            <a:off x="8275320" y="548640"/>
            <a:ext cx="73152" cy="73152"/>
          </a:xfrm>
          <a:prstGeom prst="rect">
            <a:avLst/>
          </a:prstGeom>
          <a:solidFill>
            <a:srgbClr val="C9D3DF"/>
          </a:solidFill>
          <a:ln w="12700">
            <a:solidFill>
              <a:srgbClr val="C9D3DF"/>
            </a:solidFill>
            <a:prstDash val="solid"/>
          </a:ln>
        </p:spPr>
      </p:sp>
      <p:sp>
        <p:nvSpPr>
          <p:cNvPr id="18" name="Shape 16"/>
          <p:cNvSpPr/>
          <p:nvPr/>
        </p:nvSpPr>
        <p:spPr>
          <a:xfrm>
            <a:off x="8366760" y="548640"/>
            <a:ext cx="73152" cy="73152"/>
          </a:xfrm>
          <a:prstGeom prst="rect">
            <a:avLst/>
          </a:prstGeom>
          <a:solidFill>
            <a:srgbClr val="C9D3DF"/>
          </a:solidFill>
          <a:ln w="12700">
            <a:solidFill>
              <a:srgbClr val="C9D3DF"/>
            </a:solidFill>
            <a:prstDash val="solid"/>
          </a:ln>
        </p:spPr>
      </p:sp>
      <p:sp>
        <p:nvSpPr>
          <p:cNvPr id="19" name="Shape 17"/>
          <p:cNvSpPr/>
          <p:nvPr/>
        </p:nvSpPr>
        <p:spPr>
          <a:xfrm>
            <a:off x="8458200" y="548640"/>
            <a:ext cx="73152" cy="73152"/>
          </a:xfrm>
          <a:prstGeom prst="rect">
            <a:avLst/>
          </a:prstGeom>
          <a:solidFill>
            <a:srgbClr val="C9D3DF"/>
          </a:solidFill>
          <a:ln w="12700">
            <a:solidFill>
              <a:srgbClr val="C9D3DF"/>
            </a:solidFill>
            <a:prstDash val="solid"/>
          </a:ln>
        </p:spPr>
      </p:sp>
      <p:sp>
        <p:nvSpPr>
          <p:cNvPr id="20" name="Shape 18"/>
          <p:cNvSpPr/>
          <p:nvPr/>
        </p:nvSpPr>
        <p:spPr>
          <a:xfrm>
            <a:off x="8549640" y="548640"/>
            <a:ext cx="73152" cy="73152"/>
          </a:xfrm>
          <a:prstGeom prst="rect">
            <a:avLst/>
          </a:prstGeom>
          <a:solidFill>
            <a:srgbClr val="C9D3DF"/>
          </a:solidFill>
          <a:ln w="12700">
            <a:solidFill>
              <a:srgbClr val="C9D3DF"/>
            </a:solidFill>
            <a:prstDash val="solid"/>
          </a:ln>
        </p:spPr>
      </p:sp>
      <p:sp>
        <p:nvSpPr>
          <p:cNvPr id="21" name="Shape 19"/>
          <p:cNvSpPr/>
          <p:nvPr/>
        </p:nvSpPr>
        <p:spPr>
          <a:xfrm>
            <a:off x="8641080" y="548640"/>
            <a:ext cx="73152" cy="73152"/>
          </a:xfrm>
          <a:prstGeom prst="rect">
            <a:avLst/>
          </a:prstGeom>
          <a:solidFill>
            <a:srgbClr val="0E9E8E"/>
          </a:solidFill>
          <a:ln w="12700">
            <a:solidFill>
              <a:srgbClr val="0E9E8E"/>
            </a:solidFill>
            <a:prstDash val="solid"/>
          </a:ln>
        </p:spPr>
      </p:sp>
      <p:sp>
        <p:nvSpPr>
          <p:cNvPr id="22" name="Text 20"/>
          <p:cNvSpPr/>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chemeClr val="accent4"/>
                </a:solidFill>
                <a:latin typeface="Calibri" pitchFamily="34" charset="0"/>
                <a:ea typeface="Calibri" pitchFamily="34" charset="-122"/>
                <a:cs typeface="Calibri" pitchFamily="34" charset="-120"/>
              </a:rPr>
              <a:t>O. Khan  ·  SEP-CNN → ResNet in DL-PEA</a:t>
            </a:r>
            <a:endParaRPr lang="en-US" sz="900" dirty="0"/>
          </a:p>
        </p:txBody>
      </p:sp>
      <p:sp>
        <p:nvSpPr>
          <p:cNvPr id="23" name="Text 21"/>
          <p:cNvSpPr/>
          <p:nvPr>
            <p:ph idx="121" type="title" hasCustomPrompt="1"/>
          </p:nvPr>
        </p:nvSpPr>
        <p:spPr>
          <a:xfrm>
            <a:off x="457200" y="274320"/>
            <a:ext cx="7132320" cy="731520"/>
          </a:xfrm>
          <a:prstGeom prst="rect">
            <a:avLst/>
          </a:prstGeom>
          <a:noFill/>
          <a:ln/>
        </p:spPr>
        <p:txBody>
          <a:bodyPr wrap="square" rtlCol="0"/>
          <a:lstStyle>
            <a:lvl1pPr algn="l" indent="0" marL="0">
              <a:buNone/>
              <a:defRPr lang="en-US" sz="2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8-1.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4.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github.com/proknapz/Fast-reverse-design-of-4D-printing" TargetMode="External"/><Relationship Id="rId1"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0"/>
          <p:cNvSpPr/>
          <p:nvPr>
            <p:ph idx="120" type="title" hasCustomPrompt="1"/>
          </p:nvPr>
        </p:nvSpPr>
        <p:spPr>
          <a:xfrm>
            <a:off x="457200" y="1600200"/>
            <a:ext cx="7680960" cy="1600200"/>
          </a:xfrm>
          <a:prstGeom prst="rect">
            <a:avLst/>
          </a:prstGeom>
          <a:noFill/>
          <a:ln/>
        </p:spPr>
        <p:txBody>
          <a:bodyPr wrap="square" lIns="0" tIns="0" rIns="0" bIns="0" rtlCol="0" anchor="b"/>
          <a:lstStyle/>
          <a:p>
            <a:pPr algn="l" indent="0" marL="0">
              <a:buNone/>
            </a:pPr>
            <a:r>
              <a:rPr lang="en-US" sz="2800" b="1" dirty="0">
                <a:solidFill>
                  <a:schemeClr val="bg1"/>
                </a:solidFill>
                <a:latin typeface="Cambria" pitchFamily="34" charset="0"/>
                <a:ea typeface="Cambria" pitchFamily="34" charset="-122"/>
                <a:cs typeface="Cambria" pitchFamily="34" charset="-120"/>
              </a:rPr>
              <a:t>Swapping the Forward Model: SEP-CNN to ResNet in a Deep-Learning Progressive Evolutionary Algorithm for 4D-Printed Shape Inverse Design</a:t>
            </a:r>
            <a:endParaRPr lang="en-US" sz="2800" dirty="0"/>
          </a:p>
        </p:txBody>
      </p:sp>
      <p:sp>
        <p:nvSpPr>
          <p:cNvPr id="3" name="Text 20"/>
          <p:cNvSpPr/>
          <p:nvPr>
            <p:ph idx="121" type="body" hasCustomPrompt="1"/>
          </p:nvPr>
        </p:nvSpPr>
        <p:spPr>
          <a:xfrm>
            <a:off x="457200" y="3429000"/>
            <a:ext cx="7680960" cy="1005840"/>
          </a:xfrm>
          <a:prstGeom prst="rect">
            <a:avLst/>
          </a:prstGeom>
          <a:noFill/>
          <a:ln/>
        </p:spPr>
        <p:txBody>
          <a:bodyPr wrap="square" lIns="0" tIns="0" rIns="0" bIns="0" rtlCol="0" anchor="t"/>
          <a:lstStyle/>
          <a:p>
            <a:pPr algn="l" indent="0" marL="0">
              <a:buNone/>
            </a:pPr>
            <a:r>
              <a:rPr lang="en-US" sz="1500" dirty="0">
                <a:solidFill>
                  <a:schemeClr val="accent5"/>
                </a:solidFill>
                <a:latin typeface="Calibri" pitchFamily="34" charset="0"/>
                <a:ea typeface="Calibri" pitchFamily="34" charset="-122"/>
                <a:cs typeface="Calibri" pitchFamily="34" charset="-120"/>
              </a:rPr>
              <a:t>A computational step toward patient-specific 4D-printed hand orthoses</a:t>
            </a:r>
            <a:endParaRPr lang="en-US" sz="1500" dirty="0"/>
          </a:p>
          <a:p>
            <a:pPr algn="l" indent="0" marL="0">
              <a:buNone/>
            </a:pPr>
            <a:r>
              <a:rPr lang="en-US" sz="1500" b="1" dirty="0">
                <a:solidFill>
                  <a:schemeClr val="bg1"/>
                </a:solidFill>
                <a:latin typeface="Calibri" pitchFamily="34" charset="0"/>
                <a:ea typeface="Calibri" pitchFamily="34" charset="-122"/>
                <a:cs typeface="Calibri" pitchFamily="34" charset="-120"/>
              </a:rPr>
              <a:t>Omar Khan  ·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The question behind the project</a:t>
            </a:r>
            <a:endParaRPr lang="en-US" sz="2400" dirty="0"/>
          </a:p>
        </p:txBody>
      </p:sp>
      <p:sp>
        <p:nvSpPr>
          <p:cNvPr id="3" name="question-card"/>
          <p:cNvSpPr/>
          <p:nvPr/>
        </p:nvSpPr>
        <p:spPr>
          <a:xfrm>
            <a:off x="457200" y="1188720"/>
            <a:ext cx="3749040" cy="3291840"/>
          </a:xfrm>
          <a:prstGeom prst="roundRect">
            <a:avLst>
              <a:gd name="adj" fmla="val 2222"/>
            </a:avLst>
          </a:prstGeom>
          <a:solidFill>
            <a:schemeClr val="tx2"/>
          </a:solidFill>
          <a:ln w="12700">
            <a:solidFill>
              <a:schemeClr val="tx2"/>
            </a:solidFill>
            <a:prstDash val="solid"/>
          </a:ln>
        </p:spPr>
      </p:sp>
      <p:sp>
        <p:nvSpPr>
          <p:cNvPr id="4" name="q-hand-circle"/>
          <p:cNvSpPr/>
          <p:nvPr/>
        </p:nvSpPr>
        <p:spPr>
          <a:xfrm>
            <a:off x="731520" y="1463040"/>
            <a:ext cx="548640" cy="548640"/>
          </a:xfrm>
          <a:prstGeom prst="ellipse">
            <a:avLst/>
          </a:prstGeom>
          <a:solidFill>
            <a:schemeClr val="accent1"/>
          </a:solidFill>
          <a:ln w="12700">
            <a:solidFill>
              <a:schemeClr val="accent1"/>
            </a:solidFill>
            <a:prstDash val="solid"/>
          </a:ln>
        </p:spPr>
      </p:sp>
      <p:pic>
        <p:nvPicPr>
          <p:cNvPr id="5" name="q-hand-icon" descr="preencoded.png">    </p:cNvPr>
          <p:cNvPicPr>
            <a:picLocks noChangeAspect="1"/>
          </p:cNvPicPr>
          <p:nvPr/>
        </p:nvPicPr>
        <p:blipFill>
          <a:blip r:embed="rId1"/>
          <a:stretch>
            <a:fillRect/>
          </a:stretch>
        </p:blipFill>
        <p:spPr>
          <a:xfrm>
            <a:off x="863194" y="1594714"/>
            <a:ext cx="285293" cy="285293"/>
          </a:xfrm>
          <a:prstGeom prst="rect">
            <a:avLst/>
          </a:prstGeom>
        </p:spPr>
      </p:pic>
      <p:sp>
        <p:nvSpPr>
          <p:cNvPr id="6" name="Text 3"/>
          <p:cNvSpPr txBox="1"/>
          <p:nvPr/>
        </p:nvSpPr>
        <p:spPr>
          <a:xfrm>
            <a:off x="731520" y="2194560"/>
            <a:ext cx="3200400" cy="2103120"/>
          </a:xfrm>
          <a:prstGeom prst="rect">
            <a:avLst/>
          </a:prstGeom>
          <a:noFill/>
          <a:ln/>
        </p:spPr>
        <p:txBody>
          <a:bodyPr wrap="square" lIns="0" tIns="0" rIns="0" bIns="0" rtlCol="0" anchor="t"/>
          <a:lstStyle/>
          <a:p>
            <a:pPr indent="0" marL="0">
              <a:buNone/>
            </a:pPr>
            <a:r>
              <a:rPr lang="en-US" sz="1600" i="1" dirty="0">
                <a:solidFill>
                  <a:schemeClr val="bg1"/>
                </a:solidFill>
                <a:latin typeface="Cambria" pitchFamily="34" charset="0"/>
                <a:ea typeface="Cambria" pitchFamily="34" charset="-122"/>
                <a:cs typeface="Cambria" pitchFamily="34" charset="-120"/>
              </a:rPr>
              <a:t>Can AI/ML learn the link between patient-specific hand geometry, 4D-printable material layouts and the resulting shape change — and use it to design a personalised hand orthosis automatically?</a:t>
            </a:r>
            <a:endParaRPr lang="en-US" sz="1600" dirty="0"/>
          </a:p>
        </p:txBody>
      </p:sp>
      <p:sp>
        <p:nvSpPr>
          <p:cNvPr id="7" name="Text 4"/>
          <p:cNvSpPr txBox="1"/>
          <p:nvPr/>
        </p:nvSpPr>
        <p:spPr>
          <a:xfrm>
            <a:off x="4572000" y="1188720"/>
            <a:ext cx="4114800" cy="320040"/>
          </a:xfrm>
          <a:prstGeom prst="rect">
            <a:avLst/>
          </a:prstGeom>
          <a:noFill/>
          <a:ln/>
        </p:spPr>
        <p:txBody>
          <a:bodyPr wrap="square" lIns="0" tIns="0" rIns="0" bIns="0" rtlCol="0" anchor="t"/>
          <a:lstStyle/>
          <a:p>
            <a:pPr indent="0" marL="0">
              <a:buNone/>
            </a:pPr>
            <a:r>
              <a:rPr lang="en-US" sz="1500" b="1" dirty="0">
                <a:solidFill>
                  <a:schemeClr val="tx2"/>
                </a:solidFill>
              </a:rPr>
              <a:t>Already shown — but only separately</a:t>
            </a:r>
            <a:endParaRPr lang="en-US" sz="1500" dirty="0"/>
          </a:p>
        </p:txBody>
      </p:sp>
      <p:sp>
        <p:nvSpPr>
          <p:cNvPr id="8" name="piece0-num"/>
          <p:cNvSpPr/>
          <p:nvPr/>
        </p:nvSpPr>
        <p:spPr>
          <a:xfrm>
            <a:off x="4572000" y="1673352"/>
            <a:ext cx="329184" cy="329184"/>
          </a:xfrm>
          <a:prstGeom prst="ellipse">
            <a:avLst/>
          </a:prstGeom>
          <a:solidFill>
            <a:schemeClr val="accent1"/>
          </a:solidFill>
          <a:ln w="12700">
            <a:solidFill>
              <a:schemeClr val="accent1"/>
            </a:solidFill>
            <a:prstDash val="solid"/>
          </a:ln>
        </p:spPr>
      </p:sp>
      <p:sp>
        <p:nvSpPr>
          <p:cNvPr id="9" name="piece0-numtxt"/>
          <p:cNvSpPr txBox="1"/>
          <p:nvPr/>
        </p:nvSpPr>
        <p:spPr>
          <a:xfrm>
            <a:off x="4572000" y="167335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7"/>
          <p:cNvSpPr txBox="1"/>
          <p:nvPr/>
        </p:nvSpPr>
        <p:spPr>
          <a:xfrm>
            <a:off x="5029200" y="1645920"/>
            <a:ext cx="3657600" cy="411480"/>
          </a:xfrm>
          <a:prstGeom prst="rect">
            <a:avLst/>
          </a:prstGeom>
          <a:noFill/>
          <a:ln/>
        </p:spPr>
        <p:txBody>
          <a:bodyPr wrap="square" lIns="0" tIns="0" rIns="0" bIns="0" rtlCol="0" anchor="ctr"/>
          <a:lstStyle/>
          <a:p>
            <a:pPr indent="0" marL="0">
              <a:buNone/>
            </a:pPr>
            <a:r>
              <a:rPr lang="en-US" sz="1300" b="1" dirty="0">
                <a:solidFill>
                  <a:schemeClr val="tx2"/>
                </a:solidFill>
              </a:rPr>
              <a:t>Hand geometry </a:t>
            </a:r>
            <a:pPr indent="0" marL="0">
              <a:buNone/>
            </a:pPr>
            <a:r>
              <a:rPr lang="en-US" sz="1300" dirty="0">
                <a:solidFill>
                  <a:schemeClr val="tx1"/>
                </a:solidFill>
              </a:rPr>
              <a:t>→ customised orthoses</a:t>
            </a:r>
            <a:endParaRPr lang="en-US" sz="1300" dirty="0"/>
          </a:p>
        </p:txBody>
      </p:sp>
      <p:sp>
        <p:nvSpPr>
          <p:cNvPr id="11" name="piece1-num"/>
          <p:cNvSpPr/>
          <p:nvPr/>
        </p:nvSpPr>
        <p:spPr>
          <a:xfrm>
            <a:off x="4572000" y="2221992"/>
            <a:ext cx="329184" cy="329184"/>
          </a:xfrm>
          <a:prstGeom prst="ellipse">
            <a:avLst/>
          </a:prstGeom>
          <a:solidFill>
            <a:schemeClr val="accent1"/>
          </a:solidFill>
          <a:ln w="12700">
            <a:solidFill>
              <a:schemeClr val="accent1"/>
            </a:solidFill>
            <a:prstDash val="solid"/>
          </a:ln>
        </p:spPr>
      </p:sp>
      <p:sp>
        <p:nvSpPr>
          <p:cNvPr id="12" name="piece1-numtxt"/>
          <p:cNvSpPr txBox="1"/>
          <p:nvPr/>
        </p:nvSpPr>
        <p:spPr>
          <a:xfrm>
            <a:off x="4572000" y="222199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029200" y="2194560"/>
            <a:ext cx="3657600" cy="411480"/>
          </a:xfrm>
          <a:prstGeom prst="rect">
            <a:avLst/>
          </a:prstGeom>
          <a:noFill/>
          <a:ln/>
        </p:spPr>
        <p:txBody>
          <a:bodyPr wrap="square" lIns="0" tIns="0" rIns="0" bIns="0" rtlCol="0" anchor="ctr"/>
          <a:lstStyle/>
          <a:p>
            <a:pPr indent="0" marL="0">
              <a:buNone/>
            </a:pPr>
            <a:r>
              <a:rPr lang="en-US" sz="1300" b="1" dirty="0">
                <a:solidFill>
                  <a:schemeClr val="tx2"/>
                </a:solidFill>
              </a:rPr>
              <a:t>4D printing </a:t>
            </a:r>
            <a:pPr indent="0" marL="0">
              <a:buNone/>
            </a:pPr>
            <a:r>
              <a:rPr lang="en-US" sz="1300" dirty="0">
                <a:solidFill>
                  <a:schemeClr val="tx1"/>
                </a:solidFill>
              </a:rPr>
              <a:t>→ shape-changing orthoses / exoskeletons</a:t>
            </a:r>
            <a:endParaRPr lang="en-US" sz="1300" dirty="0"/>
          </a:p>
        </p:txBody>
      </p:sp>
      <p:sp>
        <p:nvSpPr>
          <p:cNvPr id="14" name="piece2-num"/>
          <p:cNvSpPr/>
          <p:nvPr/>
        </p:nvSpPr>
        <p:spPr>
          <a:xfrm>
            <a:off x="4572000" y="2770632"/>
            <a:ext cx="329184" cy="329184"/>
          </a:xfrm>
          <a:prstGeom prst="ellipse">
            <a:avLst/>
          </a:prstGeom>
          <a:solidFill>
            <a:schemeClr val="accent1"/>
          </a:solidFill>
          <a:ln w="12700">
            <a:solidFill>
              <a:schemeClr val="accent1"/>
            </a:solidFill>
            <a:prstDash val="solid"/>
          </a:ln>
        </p:spPr>
      </p:sp>
      <p:sp>
        <p:nvSpPr>
          <p:cNvPr id="15" name="piece2-numtxt"/>
          <p:cNvSpPr txBox="1"/>
          <p:nvPr/>
        </p:nvSpPr>
        <p:spPr>
          <a:xfrm>
            <a:off x="4572000" y="27706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5029200" y="2743200"/>
            <a:ext cx="3657600" cy="411480"/>
          </a:xfrm>
          <a:prstGeom prst="rect">
            <a:avLst/>
          </a:prstGeom>
          <a:noFill/>
          <a:ln/>
        </p:spPr>
        <p:txBody>
          <a:bodyPr wrap="square" lIns="0" tIns="0" rIns="0" bIns="0" rtlCol="0" anchor="ctr"/>
          <a:lstStyle/>
          <a:p>
            <a:pPr indent="0" marL="0">
              <a:buNone/>
            </a:pPr>
            <a:r>
              <a:rPr lang="en-US" sz="1300" b="1" dirty="0">
                <a:solidFill>
                  <a:schemeClr val="tx2"/>
                </a:solidFill>
              </a:rPr>
              <a:t>Deep learning (e.g. ResNet) </a:t>
            </a:r>
            <a:pPr indent="0" marL="0">
              <a:buNone/>
            </a:pPr>
            <a:r>
              <a:rPr lang="en-US" sz="1300" dirty="0">
                <a:solidFill>
                  <a:schemeClr val="tx1"/>
                </a:solidFill>
              </a:rPr>
              <a:t>→ predicts 4D deformation</a:t>
            </a:r>
            <a:endParaRPr lang="en-US" sz="1300" dirty="0"/>
          </a:p>
        </p:txBody>
      </p:sp>
      <p:sp>
        <p:nvSpPr>
          <p:cNvPr id="17" name="piece3-num"/>
          <p:cNvSpPr/>
          <p:nvPr/>
        </p:nvSpPr>
        <p:spPr>
          <a:xfrm>
            <a:off x="4572000" y="3319272"/>
            <a:ext cx="329184" cy="329184"/>
          </a:xfrm>
          <a:prstGeom prst="ellipse">
            <a:avLst/>
          </a:prstGeom>
          <a:solidFill>
            <a:schemeClr val="accent1"/>
          </a:solidFill>
          <a:ln w="12700">
            <a:solidFill>
              <a:schemeClr val="accent1"/>
            </a:solidFill>
            <a:prstDash val="solid"/>
          </a:ln>
        </p:spPr>
      </p:sp>
      <p:sp>
        <p:nvSpPr>
          <p:cNvPr id="18" name="piece3-numtxt"/>
          <p:cNvSpPr txBox="1"/>
          <p:nvPr/>
        </p:nvSpPr>
        <p:spPr>
          <a:xfrm>
            <a:off x="4572000" y="331927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5029200" y="3291840"/>
            <a:ext cx="3657600" cy="411480"/>
          </a:xfrm>
          <a:prstGeom prst="rect">
            <a:avLst/>
          </a:prstGeom>
          <a:noFill/>
          <a:ln/>
        </p:spPr>
        <p:txBody>
          <a:bodyPr wrap="square" lIns="0" tIns="0" rIns="0" bIns="0" rtlCol="0" anchor="ctr"/>
          <a:lstStyle/>
          <a:p>
            <a:pPr indent="0" marL="0">
              <a:buNone/>
            </a:pPr>
            <a:r>
              <a:rPr lang="en-US" sz="1300" b="1" dirty="0">
                <a:solidFill>
                  <a:schemeClr val="tx2"/>
                </a:solidFill>
              </a:rPr>
              <a:t>ML + optimisation </a:t>
            </a:r>
            <a:pPr indent="0" marL="0">
              <a:buNone/>
            </a:pPr>
            <a:r>
              <a:rPr lang="en-US" sz="1300" dirty="0">
                <a:solidFill>
                  <a:schemeClr val="tx1"/>
                </a:solidFill>
              </a:rPr>
              <a:t>→ inverse design of 4D structures</a:t>
            </a:r>
            <a:endParaRPr lang="en-US" sz="1300" dirty="0"/>
          </a:p>
        </p:txBody>
      </p:sp>
      <p:sp>
        <p:nvSpPr>
          <p:cNvPr id="20" name="piece4-num"/>
          <p:cNvSpPr/>
          <p:nvPr/>
        </p:nvSpPr>
        <p:spPr>
          <a:xfrm>
            <a:off x="4572000" y="3867912"/>
            <a:ext cx="329184" cy="329184"/>
          </a:xfrm>
          <a:prstGeom prst="ellipse">
            <a:avLst/>
          </a:prstGeom>
          <a:solidFill>
            <a:schemeClr val="accent1"/>
          </a:solidFill>
          <a:ln w="12700">
            <a:solidFill>
              <a:schemeClr val="accent1"/>
            </a:solidFill>
            <a:prstDash val="solid"/>
          </a:ln>
        </p:spPr>
      </p:sp>
      <p:sp>
        <p:nvSpPr>
          <p:cNvPr id="21" name="piece4-numtxt"/>
          <p:cNvSpPr txBox="1"/>
          <p:nvPr/>
        </p:nvSpPr>
        <p:spPr>
          <a:xfrm>
            <a:off x="4572000" y="386791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19"/>
          <p:cNvSpPr txBox="1"/>
          <p:nvPr/>
        </p:nvSpPr>
        <p:spPr>
          <a:xfrm>
            <a:off x="5029200" y="3840480"/>
            <a:ext cx="3657600" cy="411480"/>
          </a:xfrm>
          <a:prstGeom prst="rect">
            <a:avLst/>
          </a:prstGeom>
          <a:noFill/>
          <a:ln/>
        </p:spPr>
        <p:txBody>
          <a:bodyPr wrap="square" lIns="0" tIns="0" rIns="0" bIns="0" rtlCol="0" anchor="ctr"/>
          <a:lstStyle/>
          <a:p>
            <a:pPr indent="0" marL="0">
              <a:buNone/>
            </a:pPr>
            <a:r>
              <a:rPr lang="en-US" sz="1300" b="1" dirty="0">
                <a:solidFill>
                  <a:schemeClr val="tx2"/>
                </a:solidFill>
              </a:rPr>
              <a:t>Computer vision </a:t>
            </a:r>
            <a:pPr indent="0" marL="0">
              <a:buNone/>
            </a:pPr>
            <a:r>
              <a:rPr lang="en-US" sz="1300" dirty="0">
                <a:solidFill>
                  <a:schemeClr val="tx1"/>
                </a:solidFill>
              </a:rPr>
              <a:t>→ extracts target shapes (freehand lines)</a:t>
            </a:r>
            <a:endParaRPr lang="en-US" sz="1300" dirty="0"/>
          </a:p>
        </p:txBody>
      </p:sp>
      <p:sp>
        <p:nvSpPr>
          <p:cNvPr id="23" name="Text 20"/>
          <p:cNvSpPr txBox="1"/>
          <p:nvPr/>
        </p:nvSpPr>
        <p:spPr>
          <a:xfrm>
            <a:off x="4572000" y="4434840"/>
            <a:ext cx="4114800" cy="274320"/>
          </a:xfrm>
          <a:prstGeom prst="rect">
            <a:avLst/>
          </a:prstGeom>
          <a:noFill/>
          <a:ln/>
        </p:spPr>
        <p:txBody>
          <a:bodyPr wrap="square" lIns="0" tIns="0" rIns="0" bIns="0" rtlCol="0" anchor="t"/>
          <a:lstStyle/>
          <a:p>
            <a:pPr indent="0" marL="0">
              <a:buNone/>
            </a:pPr>
            <a:r>
              <a:rPr lang="en-US" sz="1200" i="1" dirty="0">
                <a:solidFill>
                  <a:schemeClr val="accent1"/>
                </a:solidFill>
              </a:rPr>
              <a:t>This study stress-tests the ML + optimisation core.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0" type="body" hasCustomPrompt="1"/>
          </p:nvPr>
        </p:nvSpPr>
        <p:spPr>
          <a:xfrm>
            <a:off x="457200" y="1005840"/>
            <a:ext cx="2743200" cy="822960"/>
          </a:xfrm>
          <a:prstGeom prst="rect">
            <a:avLst/>
          </a:prstGeom>
          <a:noFill/>
          <a:ln/>
        </p:spPr>
        <p:txBody>
          <a:bodyPr wrap="square" lIns="0" tIns="0" rIns="0" bIns="0" rtlCol="0" anchor="b"/>
          <a:lstStyle/>
          <a:p>
            <a:pPr algn="l" indent="0" marL="0">
              <a:buNone/>
            </a:pPr>
            <a:r>
              <a:rPr lang="en-US" sz="4800" b="1" dirty="0">
                <a:solidFill>
                  <a:schemeClr val="accent1"/>
                </a:solidFill>
                <a:latin typeface="Cambria" pitchFamily="34" charset="0"/>
                <a:ea typeface="Cambria" pitchFamily="34" charset="-122"/>
                <a:cs typeface="Cambria" pitchFamily="34" charset="-120"/>
              </a:rPr>
              <a:t>01</a:t>
            </a:r>
            <a:endParaRPr lang="en-US" sz="4800" dirty="0"/>
          </a:p>
        </p:txBody>
      </p:sp>
      <p:sp>
        <p:nvSpPr>
          <p:cNvPr id="3" name="Text 20"/>
          <p:cNvSpPr/>
          <p:nvPr>
            <p:ph idx="121" type="title" hasCustomPrompt="1"/>
          </p:nvPr>
        </p:nvSpPr>
        <p:spPr>
          <a:xfrm>
            <a:off x="457200" y="1874520"/>
            <a:ext cx="7863840" cy="100584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Background: from a freehand sketch to a 4D-printed shape</a:t>
            </a:r>
            <a:endParaRPr lang="en-US" sz="3200" dirty="0"/>
          </a:p>
        </p:txBody>
      </p:sp>
      <p:sp>
        <p:nvSpPr>
          <p:cNvPr id="4" name="Text 20"/>
          <p:cNvSpPr/>
          <p:nvPr>
            <p:ph idx="122" type="body" hasCustomPrompt="1"/>
          </p:nvPr>
        </p:nvSpPr>
        <p:spPr>
          <a:xfrm>
            <a:off x="457200" y="2926080"/>
            <a:ext cx="7863840" cy="822960"/>
          </a:xfrm>
          <a:prstGeom prst="rect">
            <a:avLst/>
          </a:prstGeom>
          <a:noFill/>
          <a:ln/>
        </p:spPr>
        <p:txBody>
          <a:bodyPr wrap="square" lIns="0" tIns="0" rIns="0" bIns="0" rtlCol="0" anchor="t"/>
          <a:lstStyle/>
          <a:p>
            <a:pPr algn="l" indent="0" marL="0">
              <a:buNone/>
            </a:pPr>
            <a:r>
              <a:rPr lang="en-US" sz="1600" dirty="0">
                <a:solidFill>
                  <a:schemeClr val="accent5"/>
                </a:solidFill>
                <a:latin typeface="Calibri" pitchFamily="34" charset="0"/>
                <a:ea typeface="Calibri" pitchFamily="34" charset="-122"/>
                <a:cs typeface="Calibri" pitchFamily="34" charset="-120"/>
              </a:rPr>
              <a:t>Why inverse design needs a fast learned forward model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From freehand to 4D: draw the target, the algorithm finds the material</a:t>
            </a:r>
            <a:endParaRPr lang="en-US" sz="2400" dirty="0"/>
          </a:p>
        </p:txBody>
      </p:sp>
      <p:sp>
        <p:nvSpPr>
          <p:cNvPr id="3" name="step-card0"/>
          <p:cNvSpPr/>
          <p:nvPr/>
        </p:nvSpPr>
        <p:spPr>
          <a:xfrm>
            <a:off x="457200" y="1234440"/>
            <a:ext cx="1874520" cy="2148840"/>
          </a:xfrm>
          <a:prstGeom prst="roundRect">
            <a:avLst>
              <a:gd name="adj" fmla="val 3902"/>
            </a:avLst>
          </a:prstGeom>
          <a:solidFill>
            <a:schemeClr val="bg2"/>
          </a:solidFill>
          <a:ln w="12700">
            <a:solidFill>
              <a:schemeClr val="bg2"/>
            </a:solidFill>
            <a:prstDash val="solid"/>
          </a:ln>
        </p:spPr>
      </p:sp>
      <p:sp>
        <p:nvSpPr>
          <p:cNvPr id="4" name="step0-circle"/>
          <p:cNvSpPr/>
          <p:nvPr/>
        </p:nvSpPr>
        <p:spPr>
          <a:xfrm>
            <a:off x="1115568" y="1417320"/>
            <a:ext cx="548640" cy="548640"/>
          </a:xfrm>
          <a:prstGeom prst="ellipse">
            <a:avLst/>
          </a:prstGeom>
          <a:solidFill>
            <a:schemeClr val="accent1"/>
          </a:solidFill>
          <a:ln w="12700">
            <a:solidFill>
              <a:schemeClr val="accent1"/>
            </a:solidFill>
            <a:prstDash val="solid"/>
          </a:ln>
        </p:spPr>
      </p:sp>
      <p:pic>
        <p:nvPicPr>
          <p:cNvPr id="5" name="step0-icon" descr="preencoded.png">    </p:cNvPr>
          <p:cNvPicPr>
            <a:picLocks noChangeAspect="1"/>
          </p:cNvPicPr>
          <p:nvPr/>
        </p:nvPicPr>
        <p:blipFill>
          <a:blip r:embed="rId1"/>
          <a:stretch>
            <a:fillRect/>
          </a:stretch>
        </p:blipFill>
        <p:spPr>
          <a:xfrm>
            <a:off x="1247242" y="1548994"/>
            <a:ext cx="285293" cy="285293"/>
          </a:xfrm>
          <a:prstGeom prst="rect">
            <a:avLst/>
          </a:prstGeom>
        </p:spPr>
      </p:pic>
      <p:sp>
        <p:nvSpPr>
          <p:cNvPr id="6" name="Text 3"/>
          <p:cNvSpPr txBox="1"/>
          <p:nvPr/>
        </p:nvSpPr>
        <p:spPr>
          <a:xfrm>
            <a:off x="594360" y="2103120"/>
            <a:ext cx="1600200" cy="320040"/>
          </a:xfrm>
          <a:prstGeom prst="rect">
            <a:avLst/>
          </a:prstGeom>
          <a:noFill/>
          <a:ln/>
        </p:spPr>
        <p:txBody>
          <a:bodyPr wrap="square" lIns="0" tIns="0" rIns="0" bIns="0" rtlCol="0" anchor="t"/>
          <a:lstStyle/>
          <a:p>
            <a:pPr algn="ctr" indent="0" marL="0">
              <a:buNone/>
            </a:pPr>
            <a:r>
              <a:rPr lang="en-US" sz="1500" b="1" dirty="0">
                <a:solidFill>
                  <a:schemeClr val="tx2"/>
                </a:solidFill>
              </a:rPr>
              <a:t>Draw</a:t>
            </a:r>
            <a:endParaRPr lang="en-US" sz="1500" dirty="0"/>
          </a:p>
        </p:txBody>
      </p:sp>
      <p:sp>
        <p:nvSpPr>
          <p:cNvPr id="7" name="Text 4"/>
          <p:cNvSpPr txBox="1"/>
          <p:nvPr/>
        </p:nvSpPr>
        <p:spPr>
          <a:xfrm>
            <a:off x="594360" y="2468880"/>
            <a:ext cx="1600200" cy="868680"/>
          </a:xfrm>
          <a:prstGeom prst="rect">
            <a:avLst/>
          </a:prstGeom>
          <a:noFill/>
          <a:ln/>
        </p:spPr>
        <p:txBody>
          <a:bodyPr wrap="square" lIns="0" tIns="0" rIns="0" bIns="0" rtlCol="0" anchor="t"/>
          <a:lstStyle/>
          <a:p>
            <a:pPr algn="ctr" indent="0" marL="0">
              <a:buNone/>
            </a:pPr>
            <a:r>
              <a:rPr lang="en-US" sz="1200" dirty="0">
                <a:solidFill>
                  <a:schemeClr val="tx1"/>
                </a:solidFill>
              </a:rPr>
              <a:t>User sketches the desired final curve by hand</a:t>
            </a:r>
            <a:endParaRPr lang="en-US" sz="1200" dirty="0"/>
          </a:p>
        </p:txBody>
      </p:sp>
      <p:sp>
        <p:nvSpPr>
          <p:cNvPr id="8" name="arrow0"/>
          <p:cNvSpPr/>
          <p:nvPr/>
        </p:nvSpPr>
        <p:spPr>
          <a:xfrm>
            <a:off x="2350008" y="1691640"/>
            <a:ext cx="192024" cy="0"/>
          </a:xfrm>
          <a:prstGeom prst="line">
            <a:avLst/>
          </a:prstGeom>
          <a:noFill/>
          <a:ln w="19050">
            <a:solidFill>
              <a:schemeClr val="accent4"/>
            </a:solidFill>
            <a:prstDash val="solid"/>
            <a:tailEnd type="triangle"/>
          </a:ln>
        </p:spPr>
      </p:sp>
      <p:sp>
        <p:nvSpPr>
          <p:cNvPr id="9" name="step-card1"/>
          <p:cNvSpPr/>
          <p:nvPr/>
        </p:nvSpPr>
        <p:spPr>
          <a:xfrm>
            <a:off x="2560320" y="1234440"/>
            <a:ext cx="1874520" cy="2148840"/>
          </a:xfrm>
          <a:prstGeom prst="roundRect">
            <a:avLst>
              <a:gd name="adj" fmla="val 3902"/>
            </a:avLst>
          </a:prstGeom>
          <a:solidFill>
            <a:schemeClr val="bg2"/>
          </a:solidFill>
          <a:ln w="12700">
            <a:solidFill>
              <a:schemeClr val="bg2"/>
            </a:solidFill>
            <a:prstDash val="solid"/>
          </a:ln>
        </p:spPr>
      </p:sp>
      <p:sp>
        <p:nvSpPr>
          <p:cNvPr id="10" name="step1-circle"/>
          <p:cNvSpPr/>
          <p:nvPr/>
        </p:nvSpPr>
        <p:spPr>
          <a:xfrm>
            <a:off x="3218688" y="1417320"/>
            <a:ext cx="548640" cy="548640"/>
          </a:xfrm>
          <a:prstGeom prst="ellipse">
            <a:avLst/>
          </a:prstGeom>
          <a:solidFill>
            <a:schemeClr val="accent1"/>
          </a:solidFill>
          <a:ln w="12700">
            <a:solidFill>
              <a:schemeClr val="accent1"/>
            </a:solidFill>
            <a:prstDash val="solid"/>
          </a:ln>
        </p:spPr>
      </p:sp>
      <p:pic>
        <p:nvPicPr>
          <p:cNvPr id="11" name="step1-icon" descr="preencoded.png">    </p:cNvPr>
          <p:cNvPicPr>
            <a:picLocks noChangeAspect="1"/>
          </p:cNvPicPr>
          <p:nvPr/>
        </p:nvPicPr>
        <p:blipFill>
          <a:blip r:embed="rId2"/>
          <a:stretch>
            <a:fillRect/>
          </a:stretch>
        </p:blipFill>
        <p:spPr>
          <a:xfrm>
            <a:off x="3350362" y="1548994"/>
            <a:ext cx="285293" cy="285293"/>
          </a:xfrm>
          <a:prstGeom prst="rect">
            <a:avLst/>
          </a:prstGeom>
        </p:spPr>
      </p:pic>
      <p:sp>
        <p:nvSpPr>
          <p:cNvPr id="12" name="Text 8"/>
          <p:cNvSpPr txBox="1"/>
          <p:nvPr/>
        </p:nvSpPr>
        <p:spPr>
          <a:xfrm>
            <a:off x="2697480" y="2103120"/>
            <a:ext cx="1600200" cy="320040"/>
          </a:xfrm>
          <a:prstGeom prst="rect">
            <a:avLst/>
          </a:prstGeom>
          <a:noFill/>
          <a:ln/>
        </p:spPr>
        <p:txBody>
          <a:bodyPr wrap="square" lIns="0" tIns="0" rIns="0" bIns="0" rtlCol="0" anchor="t"/>
          <a:lstStyle/>
          <a:p>
            <a:pPr algn="ctr" indent="0" marL="0">
              <a:buNone/>
            </a:pPr>
            <a:r>
              <a:rPr lang="en-US" sz="1500" b="1" dirty="0">
                <a:solidFill>
                  <a:schemeClr val="tx2"/>
                </a:solidFill>
              </a:rPr>
              <a:t>See</a:t>
            </a:r>
            <a:endParaRPr lang="en-US" sz="1500" dirty="0"/>
          </a:p>
        </p:txBody>
      </p:sp>
      <p:sp>
        <p:nvSpPr>
          <p:cNvPr id="13" name="Text 9"/>
          <p:cNvSpPr txBox="1"/>
          <p:nvPr/>
        </p:nvSpPr>
        <p:spPr>
          <a:xfrm>
            <a:off x="2697480" y="2468880"/>
            <a:ext cx="1600200" cy="868680"/>
          </a:xfrm>
          <a:prstGeom prst="rect">
            <a:avLst/>
          </a:prstGeom>
          <a:noFill/>
          <a:ln/>
        </p:spPr>
        <p:txBody>
          <a:bodyPr wrap="square" lIns="0" tIns="0" rIns="0" bIns="0" rtlCol="0" anchor="t"/>
          <a:lstStyle/>
          <a:p>
            <a:pPr algn="ctr" indent="0" marL="0">
              <a:buNone/>
            </a:pPr>
            <a:r>
              <a:rPr lang="en-US" sz="1200" dirty="0">
                <a:solidFill>
                  <a:schemeClr val="tx1"/>
                </a:solidFill>
              </a:rPr>
              <a:t>Computer vision extracts the line as target coordinates</a:t>
            </a:r>
            <a:endParaRPr lang="en-US" sz="1200" dirty="0"/>
          </a:p>
        </p:txBody>
      </p:sp>
      <p:sp>
        <p:nvSpPr>
          <p:cNvPr id="14" name="arrow1"/>
          <p:cNvSpPr/>
          <p:nvPr/>
        </p:nvSpPr>
        <p:spPr>
          <a:xfrm>
            <a:off x="4453128" y="1691640"/>
            <a:ext cx="192024" cy="0"/>
          </a:xfrm>
          <a:prstGeom prst="line">
            <a:avLst/>
          </a:prstGeom>
          <a:noFill/>
          <a:ln w="19050">
            <a:solidFill>
              <a:schemeClr val="accent4"/>
            </a:solidFill>
            <a:prstDash val="solid"/>
            <a:tailEnd type="triangle"/>
          </a:ln>
        </p:spPr>
      </p:sp>
      <p:sp>
        <p:nvSpPr>
          <p:cNvPr id="15" name="step-card2"/>
          <p:cNvSpPr/>
          <p:nvPr/>
        </p:nvSpPr>
        <p:spPr>
          <a:xfrm>
            <a:off x="4663440" y="1234440"/>
            <a:ext cx="1874520" cy="2148840"/>
          </a:xfrm>
          <a:prstGeom prst="roundRect">
            <a:avLst>
              <a:gd name="adj" fmla="val 3902"/>
            </a:avLst>
          </a:prstGeom>
          <a:solidFill>
            <a:schemeClr val="bg2"/>
          </a:solidFill>
          <a:ln w="12700">
            <a:solidFill>
              <a:schemeClr val="bg2"/>
            </a:solidFill>
            <a:prstDash val="solid"/>
          </a:ln>
        </p:spPr>
      </p:sp>
      <p:sp>
        <p:nvSpPr>
          <p:cNvPr id="16" name="step2-circle"/>
          <p:cNvSpPr/>
          <p:nvPr/>
        </p:nvSpPr>
        <p:spPr>
          <a:xfrm>
            <a:off x="5321808" y="1417320"/>
            <a:ext cx="548640" cy="548640"/>
          </a:xfrm>
          <a:prstGeom prst="ellipse">
            <a:avLst/>
          </a:prstGeom>
          <a:solidFill>
            <a:schemeClr val="accent1"/>
          </a:solidFill>
          <a:ln w="12700">
            <a:solidFill>
              <a:schemeClr val="accent1"/>
            </a:solidFill>
            <a:prstDash val="solid"/>
          </a:ln>
        </p:spPr>
      </p:sp>
      <p:pic>
        <p:nvPicPr>
          <p:cNvPr id="17" name="step2-icon" descr="preencoded.png">    </p:cNvPr>
          <p:cNvPicPr>
            <a:picLocks noChangeAspect="1"/>
          </p:cNvPicPr>
          <p:nvPr/>
        </p:nvPicPr>
        <p:blipFill>
          <a:blip r:embed="rId3"/>
          <a:stretch>
            <a:fillRect/>
          </a:stretch>
        </p:blipFill>
        <p:spPr>
          <a:xfrm>
            <a:off x="5453482" y="1548994"/>
            <a:ext cx="285293" cy="285293"/>
          </a:xfrm>
          <a:prstGeom prst="rect">
            <a:avLst/>
          </a:prstGeom>
        </p:spPr>
      </p:pic>
      <p:sp>
        <p:nvSpPr>
          <p:cNvPr id="18" name="Text 13"/>
          <p:cNvSpPr txBox="1"/>
          <p:nvPr/>
        </p:nvSpPr>
        <p:spPr>
          <a:xfrm>
            <a:off x="4800600" y="2103120"/>
            <a:ext cx="1600200" cy="320040"/>
          </a:xfrm>
          <a:prstGeom prst="rect">
            <a:avLst/>
          </a:prstGeom>
          <a:noFill/>
          <a:ln/>
        </p:spPr>
        <p:txBody>
          <a:bodyPr wrap="square" lIns="0" tIns="0" rIns="0" bIns="0" rtlCol="0" anchor="t"/>
          <a:lstStyle/>
          <a:p>
            <a:pPr algn="ctr" indent="0" marL="0">
              <a:buNone/>
            </a:pPr>
            <a:r>
              <a:rPr lang="en-US" sz="1500" b="1" dirty="0">
                <a:solidFill>
                  <a:schemeClr val="tx2"/>
                </a:solidFill>
              </a:rPr>
              <a:t>Design</a:t>
            </a:r>
            <a:endParaRPr lang="en-US" sz="1500" dirty="0"/>
          </a:p>
        </p:txBody>
      </p:sp>
      <p:sp>
        <p:nvSpPr>
          <p:cNvPr id="19" name="Text 14"/>
          <p:cNvSpPr txBox="1"/>
          <p:nvPr/>
        </p:nvSpPr>
        <p:spPr>
          <a:xfrm>
            <a:off x="4800600" y="2468880"/>
            <a:ext cx="1600200" cy="868680"/>
          </a:xfrm>
          <a:prstGeom prst="rect">
            <a:avLst/>
          </a:prstGeom>
          <a:noFill/>
          <a:ln/>
        </p:spPr>
        <p:txBody>
          <a:bodyPr wrap="square" lIns="0" tIns="0" rIns="0" bIns="0" rtlCol="0" anchor="t"/>
          <a:lstStyle/>
          <a:p>
            <a:pPr algn="ctr" indent="0" marL="0">
              <a:buNone/>
            </a:pPr>
            <a:r>
              <a:rPr lang="en-US" sz="1200" dirty="0">
                <a:solidFill>
                  <a:schemeClr val="tx1"/>
                </a:solidFill>
              </a:rPr>
              <a:t>ML model + evolutionary algorithm search the voxel layout</a:t>
            </a:r>
            <a:endParaRPr lang="en-US" sz="1200" dirty="0"/>
          </a:p>
        </p:txBody>
      </p:sp>
      <p:sp>
        <p:nvSpPr>
          <p:cNvPr id="20" name="arrow2"/>
          <p:cNvSpPr/>
          <p:nvPr/>
        </p:nvSpPr>
        <p:spPr>
          <a:xfrm>
            <a:off x="6556248" y="1691640"/>
            <a:ext cx="192024" cy="0"/>
          </a:xfrm>
          <a:prstGeom prst="line">
            <a:avLst/>
          </a:prstGeom>
          <a:noFill/>
          <a:ln w="19050">
            <a:solidFill>
              <a:schemeClr val="accent4"/>
            </a:solidFill>
            <a:prstDash val="solid"/>
            <a:tailEnd type="triangle"/>
          </a:ln>
        </p:spPr>
      </p:sp>
      <p:sp>
        <p:nvSpPr>
          <p:cNvPr id="21" name="step-card3"/>
          <p:cNvSpPr/>
          <p:nvPr/>
        </p:nvSpPr>
        <p:spPr>
          <a:xfrm>
            <a:off x="6766560" y="1234440"/>
            <a:ext cx="1874520" cy="2148840"/>
          </a:xfrm>
          <a:prstGeom prst="roundRect">
            <a:avLst>
              <a:gd name="adj" fmla="val 3902"/>
            </a:avLst>
          </a:prstGeom>
          <a:solidFill>
            <a:schemeClr val="bg2"/>
          </a:solidFill>
          <a:ln w="12700">
            <a:solidFill>
              <a:schemeClr val="bg2"/>
            </a:solidFill>
            <a:prstDash val="solid"/>
          </a:ln>
        </p:spPr>
      </p:sp>
      <p:sp>
        <p:nvSpPr>
          <p:cNvPr id="22" name="step3-circle"/>
          <p:cNvSpPr/>
          <p:nvPr/>
        </p:nvSpPr>
        <p:spPr>
          <a:xfrm>
            <a:off x="7424928" y="1417320"/>
            <a:ext cx="548640" cy="548640"/>
          </a:xfrm>
          <a:prstGeom prst="ellipse">
            <a:avLst/>
          </a:prstGeom>
          <a:solidFill>
            <a:schemeClr val="accent2"/>
          </a:solidFill>
          <a:ln w="12700">
            <a:solidFill>
              <a:schemeClr val="accent2"/>
            </a:solidFill>
            <a:prstDash val="solid"/>
          </a:ln>
        </p:spPr>
      </p:sp>
      <p:pic>
        <p:nvPicPr>
          <p:cNvPr id="23" name="step3-icon" descr="preencoded.png">    </p:cNvPr>
          <p:cNvPicPr>
            <a:picLocks noChangeAspect="1"/>
          </p:cNvPicPr>
          <p:nvPr/>
        </p:nvPicPr>
        <p:blipFill>
          <a:blip r:embed="rId4"/>
          <a:stretch>
            <a:fillRect/>
          </a:stretch>
        </p:blipFill>
        <p:spPr>
          <a:xfrm>
            <a:off x="7556602" y="1548994"/>
            <a:ext cx="285293" cy="285293"/>
          </a:xfrm>
          <a:prstGeom prst="rect">
            <a:avLst/>
          </a:prstGeom>
        </p:spPr>
      </p:pic>
      <p:sp>
        <p:nvSpPr>
          <p:cNvPr id="24" name="Text 18"/>
          <p:cNvSpPr txBox="1"/>
          <p:nvPr/>
        </p:nvSpPr>
        <p:spPr>
          <a:xfrm>
            <a:off x="6903720" y="2103120"/>
            <a:ext cx="1600200" cy="320040"/>
          </a:xfrm>
          <a:prstGeom prst="rect">
            <a:avLst/>
          </a:prstGeom>
          <a:noFill/>
          <a:ln/>
        </p:spPr>
        <p:txBody>
          <a:bodyPr wrap="square" lIns="0" tIns="0" rIns="0" bIns="0" rtlCol="0" anchor="t"/>
          <a:lstStyle/>
          <a:p>
            <a:pPr algn="ctr" indent="0" marL="0">
              <a:buNone/>
            </a:pPr>
            <a:r>
              <a:rPr lang="en-US" sz="1500" b="1" dirty="0">
                <a:solidFill>
                  <a:schemeClr val="tx2"/>
                </a:solidFill>
              </a:rPr>
              <a:t>Print &amp; trigger</a:t>
            </a:r>
            <a:endParaRPr lang="en-US" sz="1500" dirty="0"/>
          </a:p>
        </p:txBody>
      </p:sp>
      <p:sp>
        <p:nvSpPr>
          <p:cNvPr id="25" name="Text 19"/>
          <p:cNvSpPr txBox="1"/>
          <p:nvPr/>
        </p:nvSpPr>
        <p:spPr>
          <a:xfrm>
            <a:off x="6903720" y="2468880"/>
            <a:ext cx="1600200" cy="868680"/>
          </a:xfrm>
          <a:prstGeom prst="rect">
            <a:avLst/>
          </a:prstGeom>
          <a:noFill/>
          <a:ln/>
        </p:spPr>
        <p:txBody>
          <a:bodyPr wrap="square" lIns="0" tIns="0" rIns="0" bIns="0" rtlCol="0" anchor="t"/>
          <a:lstStyle/>
          <a:p>
            <a:pPr algn="ctr" indent="0" marL="0">
              <a:buNone/>
            </a:pPr>
            <a:r>
              <a:rPr lang="en-US" sz="1200" dirty="0">
                <a:solidFill>
                  <a:schemeClr val="tx1"/>
                </a:solidFill>
              </a:rPr>
              <a:t>Multi-material beam is printed straight, then morphs into the drawing</a:t>
            </a:r>
            <a:endParaRPr lang="en-US" sz="1200" dirty="0"/>
          </a:p>
        </p:txBody>
      </p:sp>
      <p:sp>
        <p:nvSpPr>
          <p:cNvPr id="26" name="freehand-link"/>
          <p:cNvSpPr/>
          <p:nvPr/>
        </p:nvSpPr>
        <p:spPr>
          <a:xfrm>
            <a:off x="457200" y="3611880"/>
            <a:ext cx="8229600" cy="960120"/>
          </a:xfrm>
          <a:prstGeom prst="roundRect">
            <a:avLst>
              <a:gd name="adj" fmla="val 7619"/>
            </a:avLst>
          </a:prstGeom>
          <a:solidFill>
            <a:schemeClr val="tx2"/>
          </a:solidFill>
          <a:ln w="12700">
            <a:solidFill>
              <a:schemeClr val="tx2"/>
            </a:solidFill>
            <a:prstDash val="solid"/>
          </a:ln>
        </p:spPr>
      </p:sp>
      <p:sp>
        <p:nvSpPr>
          <p:cNvPr id="27" name="Text 21"/>
          <p:cNvSpPr txBox="1"/>
          <p:nvPr/>
        </p:nvSpPr>
        <p:spPr>
          <a:xfrm>
            <a:off x="685800" y="3703320"/>
            <a:ext cx="7772400" cy="777240"/>
          </a:xfrm>
          <a:prstGeom prst="rect">
            <a:avLst/>
          </a:prstGeom>
          <a:noFill/>
          <a:ln/>
        </p:spPr>
        <p:txBody>
          <a:bodyPr wrap="square" lIns="0" tIns="0" rIns="0" bIns="0" rtlCol="0" anchor="ctr"/>
          <a:lstStyle/>
          <a:p>
            <a:pPr indent="0" marL="0">
              <a:buNone/>
            </a:pPr>
            <a:r>
              <a:rPr lang="en-US" sz="1400" b="1" dirty="0">
                <a:solidFill>
                  <a:schemeClr val="accent3"/>
                </a:solidFill>
              </a:rPr>
              <a:t>Why it matters here: </a:t>
            </a:r>
            <a:pPr indent="0" marL="0">
              <a:buNone/>
            </a:pPr>
            <a:r>
              <a:rPr lang="en-US" sz="1400" dirty="0">
                <a:solidFill>
                  <a:schemeClr val="bg1"/>
                </a:solidFill>
              </a:rPr>
              <a:t>in the orthosis vision, a patient's hand scan takes the place of the freehand sketch — the target comes from the person, the material layout comes from the algorithm.</a:t>
            </a:r>
            <a:endParaRPr lang="en-US" sz="1400" dirty="0"/>
          </a:p>
        </p:txBody>
      </p:sp>
      <p:sp>
        <p:nvSpPr>
          <p:cNvPr id="28" name="Text 22"/>
          <p:cNvSpPr txBox="1"/>
          <p:nvPr/>
        </p:nvSpPr>
        <p:spPr>
          <a:xfrm>
            <a:off x="3108960" y="4754880"/>
            <a:ext cx="5029200" cy="228600"/>
          </a:xfrm>
          <a:prstGeom prst="rect">
            <a:avLst/>
          </a:prstGeom>
          <a:noFill/>
          <a:ln/>
        </p:spPr>
        <p:txBody>
          <a:bodyPr wrap="square" lIns="0" tIns="0" rIns="0" bIns="0" rtlCol="0" anchor="t"/>
          <a:lstStyle/>
          <a:p>
            <a:pPr algn="r" indent="0" marL="0">
              <a:buNone/>
            </a:pPr>
            <a:r>
              <a:rPr lang="en-US" sz="800" dirty="0">
                <a:solidFill>
                  <a:schemeClr val="accent4"/>
                </a:solidFill>
              </a:rPr>
              <a:t>Sun et al., Adv. Funct. Mater. (2022); Sun et al., J. Mech. Phys. Solids (2024)</a:t>
            </a:r>
            <a:endParaRPr lang="en-US" sz="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Learned surrogates: from days to seconds</a:t>
            </a:r>
            <a:endParaRPr lang="en-US" sz="2400" dirty="0"/>
          </a:p>
        </p:txBody>
      </p:sp>
      <p:graphicFrame>
        <p:nvGraphicFramePr>
          <p:cNvPr id="3" name="Chart 0" descr=""/>
          <p:cNvGraphicFramePr/>
          <p:nvPr/>
        </p:nvGraphicFramePr>
        <p:xfrm>
          <a:off x="457200" y="1143000"/>
          <a:ext cx="493776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188720"/>
            <a:ext cx="2926080" cy="457200"/>
          </a:xfrm>
          <a:prstGeom prst="rect">
            <a:avLst/>
          </a:prstGeom>
          <a:noFill/>
          <a:ln/>
        </p:spPr>
        <p:txBody>
          <a:bodyPr wrap="square" lIns="0" tIns="0" rIns="0" bIns="0" rtlCol="0" anchor="t"/>
          <a:lstStyle/>
          <a:p>
            <a:pPr indent="0" marL="0">
              <a:buNone/>
            </a:pPr>
            <a:r>
              <a:rPr lang="en-US" sz="2600" b="1" dirty="0">
                <a:solidFill>
                  <a:schemeClr val="accent4"/>
                </a:solidFill>
                <a:latin typeface="Cambria" pitchFamily="34" charset="0"/>
                <a:ea typeface="Cambria" pitchFamily="34" charset="-122"/>
                <a:cs typeface="Cambria" pitchFamily="34" charset="-120"/>
              </a:rPr>
              <a:t>≈219 days</a:t>
            </a:r>
            <a:endParaRPr lang="en-US" sz="2600" dirty="0"/>
          </a:p>
        </p:txBody>
      </p:sp>
      <p:sp>
        <p:nvSpPr>
          <p:cNvPr id="5" name="Text 2"/>
          <p:cNvSpPr txBox="1"/>
          <p:nvPr/>
        </p:nvSpPr>
        <p:spPr>
          <a:xfrm>
            <a:off x="5760720" y="1645920"/>
            <a:ext cx="2926080" cy="365760"/>
          </a:xfrm>
          <a:prstGeom prst="rect">
            <a:avLst/>
          </a:prstGeom>
          <a:noFill/>
          <a:ln/>
        </p:spPr>
        <p:txBody>
          <a:bodyPr wrap="square" lIns="0" tIns="0" rIns="0" bIns="0" rtlCol="0" anchor="t"/>
          <a:lstStyle/>
          <a:p>
            <a:pPr indent="0" marL="0">
              <a:buNone/>
            </a:pPr>
            <a:r>
              <a:rPr lang="en-US" sz="1200" dirty="0">
                <a:solidFill>
                  <a:schemeClr val="tx1"/>
                </a:solidFill>
              </a:rPr>
              <a:t>FE simulation inside an EA loop (estimated)</a:t>
            </a:r>
            <a:endParaRPr lang="en-US" sz="1200" dirty="0"/>
          </a:p>
        </p:txBody>
      </p:sp>
      <p:sp>
        <p:nvSpPr>
          <p:cNvPr id="6" name="Text 3"/>
          <p:cNvSpPr txBox="1"/>
          <p:nvPr/>
        </p:nvSpPr>
        <p:spPr>
          <a:xfrm>
            <a:off x="5760720" y="2121408"/>
            <a:ext cx="292608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54 min</a:t>
            </a:r>
            <a:endParaRPr lang="en-US" sz="2600" dirty="0"/>
          </a:p>
        </p:txBody>
      </p:sp>
      <p:sp>
        <p:nvSpPr>
          <p:cNvPr id="7" name="Text 4"/>
          <p:cNvSpPr txBox="1"/>
          <p:nvPr/>
        </p:nvSpPr>
        <p:spPr>
          <a:xfrm>
            <a:off x="5760720" y="2578608"/>
            <a:ext cx="2926080" cy="365760"/>
          </a:xfrm>
          <a:prstGeom prst="rect">
            <a:avLst/>
          </a:prstGeom>
          <a:noFill/>
          <a:ln/>
        </p:spPr>
        <p:txBody>
          <a:bodyPr wrap="square" lIns="0" tIns="0" rIns="0" bIns="0" rtlCol="0" anchor="t"/>
          <a:lstStyle/>
          <a:p>
            <a:pPr indent="0" marL="0">
              <a:buNone/>
            </a:pPr>
            <a:r>
              <a:rPr lang="en-US" sz="1200" dirty="0">
                <a:solidFill>
                  <a:schemeClr val="tx1"/>
                </a:solidFill>
              </a:rPr>
              <a:t>ML forward model + EA</a:t>
            </a:r>
            <a:endParaRPr lang="en-US" sz="1200" dirty="0"/>
          </a:p>
        </p:txBody>
      </p:sp>
      <p:sp>
        <p:nvSpPr>
          <p:cNvPr id="8" name="Text 5"/>
          <p:cNvSpPr txBox="1"/>
          <p:nvPr/>
        </p:nvSpPr>
        <p:spPr>
          <a:xfrm>
            <a:off x="5760720" y="3054096"/>
            <a:ext cx="2926080" cy="45720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1.97 s</a:t>
            </a:r>
            <a:endParaRPr lang="en-US" sz="2600" dirty="0"/>
          </a:p>
        </p:txBody>
      </p:sp>
      <p:sp>
        <p:nvSpPr>
          <p:cNvPr id="9" name="Text 6"/>
          <p:cNvSpPr txBox="1"/>
          <p:nvPr/>
        </p:nvSpPr>
        <p:spPr>
          <a:xfrm>
            <a:off x="5760720" y="3511296"/>
            <a:ext cx="2926080" cy="365760"/>
          </a:xfrm>
          <a:prstGeom prst="rect">
            <a:avLst/>
          </a:prstGeom>
          <a:noFill/>
          <a:ln/>
        </p:spPr>
        <p:txBody>
          <a:bodyPr wrap="square" lIns="0" tIns="0" rIns="0" bIns="0" rtlCol="0" anchor="t"/>
          <a:lstStyle/>
          <a:p>
            <a:pPr indent="0" marL="0">
              <a:buNone/>
            </a:pPr>
            <a:r>
              <a:rPr lang="en-US" sz="1200" dirty="0">
                <a:solidFill>
                  <a:schemeClr val="tx1"/>
                </a:solidFill>
              </a:rPr>
              <a:t>ML + sequential subdomain optimisation</a:t>
            </a:r>
            <a:endParaRPr lang="en-US" sz="1200" dirty="0"/>
          </a:p>
        </p:txBody>
      </p:sp>
      <p:sp>
        <p:nvSpPr>
          <p:cNvPr id="10" name="Text 7"/>
          <p:cNvSpPr txBox="1"/>
          <p:nvPr/>
        </p:nvSpPr>
        <p:spPr>
          <a:xfrm>
            <a:off x="5760720" y="3840480"/>
            <a:ext cx="2926080" cy="777240"/>
          </a:xfrm>
          <a:prstGeom prst="rect">
            <a:avLst/>
          </a:prstGeom>
          <a:noFill/>
          <a:ln/>
        </p:spPr>
        <p:txBody>
          <a:bodyPr wrap="square" lIns="0" tIns="0" rIns="0" bIns="0" rtlCol="0" anchor="t"/>
          <a:lstStyle/>
          <a:p>
            <a:pPr indent="0" marL="0">
              <a:buNone/>
            </a:pPr>
            <a:r>
              <a:rPr lang="en-US" sz="1200" i="1" dirty="0">
                <a:solidFill>
                  <a:schemeClr val="tx2"/>
                </a:solidFill>
              </a:rPr>
              <a:t>Lesson: the FE forward simulation is the bottleneck — replace it with a trained network, then let the optimiser query it thousands of times.</a:t>
            </a:r>
            <a:endParaRPr lang="en-US" sz="1200" dirty="0"/>
          </a:p>
        </p:txBody>
      </p:sp>
      <p:sp>
        <p:nvSpPr>
          <p:cNvPr id="11" name="Text 8"/>
          <p:cNvSpPr txBox="1"/>
          <p:nvPr/>
        </p:nvSpPr>
        <p:spPr>
          <a:xfrm>
            <a:off x="3108960" y="4754880"/>
            <a:ext cx="5029200" cy="228600"/>
          </a:xfrm>
          <a:prstGeom prst="rect">
            <a:avLst/>
          </a:prstGeom>
          <a:noFill/>
          <a:ln/>
        </p:spPr>
        <p:txBody>
          <a:bodyPr wrap="square" lIns="0" tIns="0" rIns="0" bIns="0" rtlCol="0" anchor="t"/>
          <a:lstStyle/>
          <a:p>
            <a:pPr algn="r" indent="0" marL="0">
              <a:buNone/>
            </a:pPr>
            <a:r>
              <a:rPr lang="en-US" sz="800" dirty="0">
                <a:solidFill>
                  <a:schemeClr val="accent4"/>
                </a:solidFill>
              </a:rPr>
              <a:t>Data: Sun et al., J. Mech. Phys. Solids (2024)</a:t>
            </a:r>
            <a:endParaRPr lang="en-US" sz="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Two problems: forward and inverse</a:t>
            </a:r>
            <a:endParaRPr lang="en-US" sz="2400" dirty="0"/>
          </a:p>
        </p:txBody>
      </p:sp>
      <p:sp>
        <p:nvSpPr>
          <p:cNvPr id="3" name="Text 1"/>
          <p:cNvSpPr txBox="1"/>
          <p:nvPr/>
        </p:nvSpPr>
        <p:spPr>
          <a:xfrm>
            <a:off x="457200" y="1234440"/>
            <a:ext cx="1371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FORWARD</a:t>
            </a:r>
            <a:endParaRPr lang="en-US" sz="1200" dirty="0"/>
          </a:p>
        </p:txBody>
      </p:sp>
      <p:sp>
        <p:nvSpPr>
          <p:cNvPr id="4" name="fi-1.7-0"/>
          <p:cNvSpPr/>
          <p:nvPr/>
        </p:nvSpPr>
        <p:spPr>
          <a:xfrm>
            <a:off x="457200" y="1554480"/>
            <a:ext cx="2560320" cy="868680"/>
          </a:xfrm>
          <a:prstGeom prst="roundRect">
            <a:avLst>
              <a:gd name="adj" fmla="val 8421"/>
            </a:avLst>
          </a:prstGeom>
          <a:solidFill>
            <a:schemeClr val="bg2"/>
          </a:solidFill>
          <a:ln w="12700">
            <a:solidFill>
              <a:schemeClr val="bg2"/>
            </a:solidFill>
            <a:prstDash val="solid"/>
          </a:ln>
        </p:spPr>
      </p:sp>
      <p:sp>
        <p:nvSpPr>
          <p:cNvPr id="5" name="Text 3"/>
          <p:cNvSpPr txBox="1"/>
          <p:nvPr/>
        </p:nvSpPr>
        <p:spPr>
          <a:xfrm>
            <a:off x="594360" y="1554480"/>
            <a:ext cx="2286000" cy="868680"/>
          </a:xfrm>
          <a:prstGeom prst="rect">
            <a:avLst/>
          </a:prstGeom>
          <a:noFill/>
          <a:ln/>
        </p:spPr>
        <p:txBody>
          <a:bodyPr wrap="square" lIns="0" tIns="0" rIns="0" bIns="0" rtlCol="0" anchor="ctr"/>
          <a:lstStyle/>
          <a:p>
            <a:pPr algn="ctr" indent="0" marL="0">
              <a:buNone/>
            </a:pPr>
            <a:r>
              <a:rPr lang="en-US" sz="1400" dirty="0">
                <a:solidFill>
                  <a:schemeClr val="tx2"/>
                </a:solidFill>
              </a:rPr>
              <a:t>Material layout</a:t>
            </a:r>
            <a:endParaRPr lang="en-US" sz="1400" dirty="0"/>
          </a:p>
          <a:p>
            <a:pPr algn="ctr" indent="0" marL="0">
              <a:buNone/>
            </a:pPr>
            <a:r>
              <a:rPr lang="en-US" sz="1400" dirty="0">
                <a:solidFill>
                  <a:schemeClr val="tx2"/>
                </a:solidFill>
              </a:rPr>
              <a:t>(which voxel is which)</a:t>
            </a:r>
            <a:endParaRPr lang="en-US" sz="1400" dirty="0"/>
          </a:p>
        </p:txBody>
      </p:sp>
      <p:sp>
        <p:nvSpPr>
          <p:cNvPr id="6" name="fa-1.7-0"/>
          <p:cNvSpPr/>
          <p:nvPr/>
        </p:nvSpPr>
        <p:spPr>
          <a:xfrm>
            <a:off x="3044952" y="1988820"/>
            <a:ext cx="219456" cy="0"/>
          </a:xfrm>
          <a:prstGeom prst="line">
            <a:avLst/>
          </a:prstGeom>
          <a:noFill/>
          <a:ln w="25400">
            <a:solidFill>
              <a:schemeClr val="accent4"/>
            </a:solidFill>
            <a:prstDash val="solid"/>
            <a:tailEnd type="triangle"/>
          </a:ln>
        </p:spPr>
      </p:sp>
      <p:sp>
        <p:nvSpPr>
          <p:cNvPr id="7" name="fi-1.7-1"/>
          <p:cNvSpPr/>
          <p:nvPr/>
        </p:nvSpPr>
        <p:spPr>
          <a:xfrm>
            <a:off x="3291840" y="1554480"/>
            <a:ext cx="2560320" cy="868680"/>
          </a:xfrm>
          <a:prstGeom prst="roundRect">
            <a:avLst>
              <a:gd name="adj" fmla="val 8421"/>
            </a:avLst>
          </a:prstGeom>
          <a:solidFill>
            <a:schemeClr val="accent1"/>
          </a:solidFill>
          <a:ln w="12700">
            <a:solidFill>
              <a:schemeClr val="accent1"/>
            </a:solidFill>
            <a:prstDash val="solid"/>
          </a:ln>
        </p:spPr>
      </p:sp>
      <p:sp>
        <p:nvSpPr>
          <p:cNvPr id="8" name="Text 6"/>
          <p:cNvSpPr txBox="1"/>
          <p:nvPr/>
        </p:nvSpPr>
        <p:spPr>
          <a:xfrm>
            <a:off x="3429000" y="1554480"/>
            <a:ext cx="2286000" cy="868680"/>
          </a:xfrm>
          <a:prstGeom prst="rect">
            <a:avLst/>
          </a:prstGeom>
          <a:noFill/>
          <a:ln/>
        </p:spPr>
        <p:txBody>
          <a:bodyPr wrap="square" lIns="0" tIns="0" rIns="0" bIns="0" rtlCol="0" anchor="ctr"/>
          <a:lstStyle/>
          <a:p>
            <a:pPr algn="ctr" indent="0" marL="0">
              <a:buNone/>
            </a:pPr>
            <a:r>
              <a:rPr lang="en-US" sz="1400" b="1" dirty="0">
                <a:solidFill>
                  <a:schemeClr val="bg1"/>
                </a:solidFill>
              </a:rPr>
              <a:t>Forward model</a:t>
            </a:r>
            <a:endParaRPr lang="en-US" sz="1400" dirty="0"/>
          </a:p>
          <a:p>
            <a:pPr algn="ctr" indent="0" marL="0">
              <a:buNone/>
            </a:pPr>
            <a:r>
              <a:rPr lang="en-US" sz="1400" b="1" dirty="0">
                <a:solidFill>
                  <a:schemeClr val="bg1"/>
                </a:solidFill>
              </a:rPr>
              <a:t>FE simulation or neural net</a:t>
            </a:r>
            <a:endParaRPr lang="en-US" sz="1400" dirty="0"/>
          </a:p>
        </p:txBody>
      </p:sp>
      <p:sp>
        <p:nvSpPr>
          <p:cNvPr id="9" name="fa-1.7-1"/>
          <p:cNvSpPr/>
          <p:nvPr/>
        </p:nvSpPr>
        <p:spPr>
          <a:xfrm>
            <a:off x="5879592" y="1988820"/>
            <a:ext cx="219456" cy="0"/>
          </a:xfrm>
          <a:prstGeom prst="line">
            <a:avLst/>
          </a:prstGeom>
          <a:noFill/>
          <a:ln w="25400">
            <a:solidFill>
              <a:schemeClr val="accent4"/>
            </a:solidFill>
            <a:prstDash val="solid"/>
            <a:tailEnd type="triangle"/>
          </a:ln>
        </p:spPr>
      </p:sp>
      <p:sp>
        <p:nvSpPr>
          <p:cNvPr id="10" name="fi-1.7-2"/>
          <p:cNvSpPr/>
          <p:nvPr/>
        </p:nvSpPr>
        <p:spPr>
          <a:xfrm>
            <a:off x="6126480" y="1554480"/>
            <a:ext cx="2560320" cy="868680"/>
          </a:xfrm>
          <a:prstGeom prst="roundRect">
            <a:avLst>
              <a:gd name="adj" fmla="val 8421"/>
            </a:avLst>
          </a:prstGeom>
          <a:solidFill>
            <a:schemeClr val="bg2"/>
          </a:solidFill>
          <a:ln w="12700">
            <a:solidFill>
              <a:schemeClr val="bg2"/>
            </a:solidFill>
            <a:prstDash val="solid"/>
          </a:ln>
        </p:spPr>
      </p:sp>
      <p:sp>
        <p:nvSpPr>
          <p:cNvPr id="11" name="Text 9"/>
          <p:cNvSpPr txBox="1"/>
          <p:nvPr/>
        </p:nvSpPr>
        <p:spPr>
          <a:xfrm>
            <a:off x="6263640" y="1554480"/>
            <a:ext cx="2286000" cy="868680"/>
          </a:xfrm>
          <a:prstGeom prst="rect">
            <a:avLst/>
          </a:prstGeom>
          <a:noFill/>
          <a:ln/>
        </p:spPr>
        <p:txBody>
          <a:bodyPr wrap="square" lIns="0" tIns="0" rIns="0" bIns="0" rtlCol="0" anchor="ctr"/>
          <a:lstStyle/>
          <a:p>
            <a:pPr algn="ctr" indent="0" marL="0">
              <a:buNone/>
            </a:pPr>
            <a:r>
              <a:rPr lang="en-US" sz="1400" dirty="0">
                <a:solidFill>
                  <a:schemeClr val="tx2"/>
                </a:solidFill>
              </a:rPr>
              <a:t>Deformed shape</a:t>
            </a:r>
            <a:endParaRPr lang="en-US" sz="1400" dirty="0"/>
          </a:p>
          <a:p>
            <a:pPr algn="ctr" indent="0" marL="0">
              <a:buNone/>
            </a:pPr>
            <a:r>
              <a:rPr lang="en-US" sz="1400" dirty="0">
                <a:solidFill>
                  <a:schemeClr val="tx2"/>
                </a:solidFill>
              </a:rPr>
              <a:t>(200 x,y points)</a:t>
            </a:r>
            <a:endParaRPr lang="en-US" sz="1400" dirty="0"/>
          </a:p>
        </p:txBody>
      </p:sp>
      <p:sp>
        <p:nvSpPr>
          <p:cNvPr id="12" name="Text 10"/>
          <p:cNvSpPr txBox="1"/>
          <p:nvPr/>
        </p:nvSpPr>
        <p:spPr>
          <a:xfrm>
            <a:off x="457200" y="2697480"/>
            <a:ext cx="1371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INVERSE</a:t>
            </a:r>
            <a:endParaRPr lang="en-US" sz="1200" dirty="0"/>
          </a:p>
        </p:txBody>
      </p:sp>
      <p:sp>
        <p:nvSpPr>
          <p:cNvPr id="13" name="fi-3.3-0"/>
          <p:cNvSpPr/>
          <p:nvPr/>
        </p:nvSpPr>
        <p:spPr>
          <a:xfrm>
            <a:off x="457200" y="3017520"/>
            <a:ext cx="2560320" cy="868680"/>
          </a:xfrm>
          <a:prstGeom prst="roundRect">
            <a:avLst>
              <a:gd name="adj" fmla="val 8421"/>
            </a:avLst>
          </a:prstGeom>
          <a:solidFill>
            <a:schemeClr val="bg2"/>
          </a:solidFill>
          <a:ln w="12700">
            <a:solidFill>
              <a:schemeClr val="bg2"/>
            </a:solidFill>
            <a:prstDash val="solid"/>
          </a:ln>
        </p:spPr>
      </p:sp>
      <p:sp>
        <p:nvSpPr>
          <p:cNvPr id="14" name="Text 12"/>
          <p:cNvSpPr txBox="1"/>
          <p:nvPr/>
        </p:nvSpPr>
        <p:spPr>
          <a:xfrm>
            <a:off x="594360" y="3017520"/>
            <a:ext cx="2286000" cy="868680"/>
          </a:xfrm>
          <a:prstGeom prst="rect">
            <a:avLst/>
          </a:prstGeom>
          <a:noFill/>
          <a:ln/>
        </p:spPr>
        <p:txBody>
          <a:bodyPr wrap="square" lIns="0" tIns="0" rIns="0" bIns="0" rtlCol="0" anchor="ctr"/>
          <a:lstStyle/>
          <a:p>
            <a:pPr algn="ctr" indent="0" marL="0">
              <a:buNone/>
            </a:pPr>
            <a:r>
              <a:rPr lang="en-US" sz="1400" dirty="0">
                <a:solidFill>
                  <a:schemeClr val="tx2"/>
                </a:solidFill>
              </a:rPr>
              <a:t>Target shape</a:t>
            </a:r>
            <a:endParaRPr lang="en-US" sz="1400" dirty="0"/>
          </a:p>
          <a:p>
            <a:pPr algn="ctr" indent="0" marL="0">
              <a:buNone/>
            </a:pPr>
            <a:r>
              <a:rPr lang="en-US" sz="1400" dirty="0">
                <a:solidFill>
                  <a:schemeClr val="tx2"/>
                </a:solidFill>
              </a:rPr>
              <a:t>(sketch, scan, curve)</a:t>
            </a:r>
            <a:endParaRPr lang="en-US" sz="1400" dirty="0"/>
          </a:p>
        </p:txBody>
      </p:sp>
      <p:sp>
        <p:nvSpPr>
          <p:cNvPr id="15" name="fa-3.3-0"/>
          <p:cNvSpPr/>
          <p:nvPr/>
        </p:nvSpPr>
        <p:spPr>
          <a:xfrm>
            <a:off x="3044952" y="3451860"/>
            <a:ext cx="219456" cy="0"/>
          </a:xfrm>
          <a:prstGeom prst="line">
            <a:avLst/>
          </a:prstGeom>
          <a:noFill/>
          <a:ln w="25400">
            <a:solidFill>
              <a:schemeClr val="accent4"/>
            </a:solidFill>
            <a:prstDash val="solid"/>
            <a:tailEnd type="triangle"/>
          </a:ln>
        </p:spPr>
      </p:sp>
      <p:sp>
        <p:nvSpPr>
          <p:cNvPr id="16" name="fi-3.3-1"/>
          <p:cNvSpPr/>
          <p:nvPr/>
        </p:nvSpPr>
        <p:spPr>
          <a:xfrm>
            <a:off x="3291840" y="3017520"/>
            <a:ext cx="2560320" cy="868680"/>
          </a:xfrm>
          <a:prstGeom prst="roundRect">
            <a:avLst>
              <a:gd name="adj" fmla="val 8421"/>
            </a:avLst>
          </a:prstGeom>
          <a:solidFill>
            <a:schemeClr val="accent2"/>
          </a:solidFill>
          <a:ln w="12700">
            <a:solidFill>
              <a:schemeClr val="accent2"/>
            </a:solidFill>
            <a:prstDash val="solid"/>
          </a:ln>
        </p:spPr>
      </p:sp>
      <p:sp>
        <p:nvSpPr>
          <p:cNvPr id="17" name="Text 15"/>
          <p:cNvSpPr txBox="1"/>
          <p:nvPr/>
        </p:nvSpPr>
        <p:spPr>
          <a:xfrm>
            <a:off x="3429000" y="3017520"/>
            <a:ext cx="2286000" cy="868680"/>
          </a:xfrm>
          <a:prstGeom prst="rect">
            <a:avLst/>
          </a:prstGeom>
          <a:noFill/>
          <a:ln/>
        </p:spPr>
        <p:txBody>
          <a:bodyPr wrap="square" lIns="0" tIns="0" rIns="0" bIns="0" rtlCol="0" anchor="ctr"/>
          <a:lstStyle/>
          <a:p>
            <a:pPr algn="ctr" indent="0" marL="0">
              <a:buNone/>
            </a:pPr>
            <a:r>
              <a:rPr lang="en-US" sz="1400" b="1" dirty="0">
                <a:solidFill>
                  <a:schemeClr val="bg1"/>
                </a:solidFill>
              </a:rPr>
              <a:t>Optimiser (EA / PEA)</a:t>
            </a:r>
            <a:endParaRPr lang="en-US" sz="1400" dirty="0"/>
          </a:p>
          <a:p>
            <a:pPr algn="ctr" indent="0" marL="0">
              <a:buNone/>
            </a:pPr>
            <a:r>
              <a:rPr lang="en-US" sz="1400" b="1" dirty="0">
                <a:solidFill>
                  <a:schemeClr val="bg1"/>
                </a:solidFill>
              </a:rPr>
              <a:t>queries forward model</a:t>
            </a:r>
            <a:endParaRPr lang="en-US" sz="1400" dirty="0"/>
          </a:p>
        </p:txBody>
      </p:sp>
      <p:sp>
        <p:nvSpPr>
          <p:cNvPr id="18" name="fa-3.3-1"/>
          <p:cNvSpPr/>
          <p:nvPr/>
        </p:nvSpPr>
        <p:spPr>
          <a:xfrm>
            <a:off x="5879592" y="3451860"/>
            <a:ext cx="219456" cy="0"/>
          </a:xfrm>
          <a:prstGeom prst="line">
            <a:avLst/>
          </a:prstGeom>
          <a:noFill/>
          <a:ln w="25400">
            <a:solidFill>
              <a:schemeClr val="accent4"/>
            </a:solidFill>
            <a:prstDash val="solid"/>
            <a:tailEnd type="triangle"/>
          </a:ln>
        </p:spPr>
      </p:sp>
      <p:sp>
        <p:nvSpPr>
          <p:cNvPr id="19" name="fi-3.3-2"/>
          <p:cNvSpPr/>
          <p:nvPr/>
        </p:nvSpPr>
        <p:spPr>
          <a:xfrm>
            <a:off x="6126480" y="3017520"/>
            <a:ext cx="2560320" cy="868680"/>
          </a:xfrm>
          <a:prstGeom prst="roundRect">
            <a:avLst>
              <a:gd name="adj" fmla="val 8421"/>
            </a:avLst>
          </a:prstGeom>
          <a:solidFill>
            <a:schemeClr val="bg2"/>
          </a:solidFill>
          <a:ln w="12700">
            <a:solidFill>
              <a:schemeClr val="bg2"/>
            </a:solidFill>
            <a:prstDash val="solid"/>
          </a:ln>
        </p:spPr>
      </p:sp>
      <p:sp>
        <p:nvSpPr>
          <p:cNvPr id="20" name="Text 18"/>
          <p:cNvSpPr txBox="1"/>
          <p:nvPr/>
        </p:nvSpPr>
        <p:spPr>
          <a:xfrm>
            <a:off x="6263640" y="3017520"/>
            <a:ext cx="2286000" cy="868680"/>
          </a:xfrm>
          <a:prstGeom prst="rect">
            <a:avLst/>
          </a:prstGeom>
          <a:noFill/>
          <a:ln/>
        </p:spPr>
        <p:txBody>
          <a:bodyPr wrap="square" lIns="0" tIns="0" rIns="0" bIns="0" rtlCol="0" anchor="ctr"/>
          <a:lstStyle/>
          <a:p>
            <a:pPr algn="ctr" indent="0" marL="0">
              <a:buNone/>
            </a:pPr>
            <a:r>
              <a:rPr lang="en-US" sz="1400" dirty="0">
                <a:solidFill>
                  <a:schemeClr val="tx2"/>
                </a:solidFill>
              </a:rPr>
              <a:t>Best material layout</a:t>
            </a:r>
            <a:endParaRPr lang="en-US" sz="1400" dirty="0"/>
          </a:p>
          <a:p>
            <a:pPr algn="ctr" indent="0" marL="0">
              <a:buNone/>
            </a:pPr>
            <a:r>
              <a:rPr lang="en-US" sz="1400" dirty="0">
                <a:solidFill>
                  <a:schemeClr val="tx2"/>
                </a:solidFill>
              </a:rPr>
              <a:t>to print</a:t>
            </a:r>
            <a:endParaRPr lang="en-US" sz="1400" dirty="0"/>
          </a:p>
        </p:txBody>
      </p:sp>
      <p:sp>
        <p:nvSpPr>
          <p:cNvPr id="21" name="fi-key"/>
          <p:cNvSpPr/>
          <p:nvPr/>
        </p:nvSpPr>
        <p:spPr>
          <a:xfrm>
            <a:off x="457200" y="4114800"/>
            <a:ext cx="8229600" cy="502920"/>
          </a:xfrm>
          <a:prstGeom prst="roundRect">
            <a:avLst>
              <a:gd name="adj" fmla="val 14545"/>
            </a:avLst>
          </a:prstGeom>
          <a:solidFill>
            <a:schemeClr val="bg2"/>
          </a:solidFill>
          <a:ln w="12700">
            <a:solidFill>
              <a:schemeClr val="bg2"/>
            </a:solidFill>
            <a:prstDash val="solid"/>
          </a:ln>
        </p:spPr>
      </p:sp>
      <p:sp>
        <p:nvSpPr>
          <p:cNvPr id="22" name="Text 20"/>
          <p:cNvSpPr txBox="1"/>
          <p:nvPr/>
        </p:nvSpPr>
        <p:spPr>
          <a:xfrm>
            <a:off x="640080" y="4114800"/>
            <a:ext cx="7863840" cy="502920"/>
          </a:xfrm>
          <a:prstGeom prst="rect">
            <a:avLst/>
          </a:prstGeom>
          <a:noFill/>
          <a:ln/>
        </p:spPr>
        <p:txBody>
          <a:bodyPr wrap="square" lIns="0" tIns="0" rIns="0" bIns="0" rtlCol="0" anchor="ctr"/>
          <a:lstStyle/>
          <a:p>
            <a:pPr indent="0" marL="0">
              <a:buNone/>
            </a:pPr>
            <a:r>
              <a:rPr lang="en-US" sz="1400" b="1" dirty="0">
                <a:solidFill>
                  <a:schemeClr val="tx2"/>
                </a:solidFill>
              </a:rPr>
              <a:t>Key idea: </a:t>
            </a:r>
            <a:pPr indent="0" marL="0">
              <a:buNone/>
            </a:pPr>
            <a:r>
              <a:rPr lang="en-US" sz="1400" dirty="0">
                <a:solidFill>
                  <a:schemeClr val="tx1"/>
                </a:solidFill>
              </a:rPr>
              <a:t>the network predicts, the evolutionary algorithm searches — so the network's errors steer the search.</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0" type="body" hasCustomPrompt="1"/>
          </p:nvPr>
        </p:nvSpPr>
        <p:spPr>
          <a:xfrm>
            <a:off x="457200" y="1005840"/>
            <a:ext cx="2743200" cy="822960"/>
          </a:xfrm>
          <a:prstGeom prst="rect">
            <a:avLst/>
          </a:prstGeom>
          <a:noFill/>
          <a:ln/>
        </p:spPr>
        <p:txBody>
          <a:bodyPr wrap="square" lIns="0" tIns="0" rIns="0" bIns="0" rtlCol="0" anchor="b"/>
          <a:lstStyle/>
          <a:p>
            <a:pPr algn="l" indent="0" marL="0">
              <a:buNone/>
            </a:pPr>
            <a:r>
              <a:rPr lang="en-US" sz="4800" b="1" dirty="0">
                <a:solidFill>
                  <a:schemeClr val="accent1"/>
                </a:solidFill>
                <a:latin typeface="Cambria" pitchFamily="34" charset="0"/>
                <a:ea typeface="Cambria" pitchFamily="34" charset="-122"/>
                <a:cs typeface="Cambria" pitchFamily="34" charset="-120"/>
              </a:rPr>
              <a:t>02</a:t>
            </a:r>
            <a:endParaRPr lang="en-US" sz="4800" dirty="0"/>
          </a:p>
        </p:txBody>
      </p:sp>
      <p:sp>
        <p:nvSpPr>
          <p:cNvPr id="3" name="Text 20"/>
          <p:cNvSpPr/>
          <p:nvPr>
            <p:ph idx="121" type="title" hasCustomPrompt="1"/>
          </p:nvPr>
        </p:nvSpPr>
        <p:spPr>
          <a:xfrm>
            <a:off x="457200" y="1874520"/>
            <a:ext cx="7863840" cy="100584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Reference study: Wang et al. (2025) — Fast Reverse Design</a:t>
            </a:r>
            <a:endParaRPr lang="en-US" sz="3200" dirty="0"/>
          </a:p>
        </p:txBody>
      </p:sp>
      <p:sp>
        <p:nvSpPr>
          <p:cNvPr id="4" name="Text 20"/>
          <p:cNvSpPr/>
          <p:nvPr>
            <p:ph idx="122" type="body" hasCustomPrompt="1"/>
          </p:nvPr>
        </p:nvSpPr>
        <p:spPr>
          <a:xfrm>
            <a:off x="457200" y="2926080"/>
            <a:ext cx="7863840" cy="822960"/>
          </a:xfrm>
          <a:prstGeom prst="rect">
            <a:avLst/>
          </a:prstGeom>
          <a:noFill/>
          <a:ln/>
        </p:spPr>
        <p:txBody>
          <a:bodyPr wrap="square" lIns="0" tIns="0" rIns="0" bIns="0" rtlCol="0" anchor="t"/>
          <a:lstStyle/>
          <a:p>
            <a:pPr algn="l" indent="0" marL="0">
              <a:buNone/>
            </a:pPr>
            <a:r>
              <a:rPr lang="en-US" sz="1600" dirty="0">
                <a:solidFill>
                  <a:schemeClr val="accent5"/>
                </a:solidFill>
                <a:latin typeface="Calibri" pitchFamily="34" charset="0"/>
                <a:ea typeface="Calibri" pitchFamily="34" charset="-122"/>
                <a:cs typeface="Calibri" pitchFamily="34" charset="-120"/>
              </a:rPr>
              <a:t>Advanced Science 12(12), 2407825 · SEP-CNN + Progressive Evolutionary Algorithm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Wang et al.: the DL-PEA framework at a glance</a:t>
            </a:r>
            <a:endParaRPr lang="en-US" sz="2400" dirty="0"/>
          </a:p>
        </p:txBody>
      </p:sp>
      <p:pic>
        <p:nvPicPr>
          <p:cNvPr id="3" name="wang-framework" descr="img/wang_framework.png">    </p:cNvPr>
          <p:cNvPicPr>
            <a:picLocks noChangeAspect="1"/>
          </p:cNvPicPr>
          <p:nvPr/>
        </p:nvPicPr>
        <p:blipFill>
          <a:blip r:embed="rId1"/>
          <a:stretch>
            <a:fillRect/>
          </a:stretch>
        </p:blipFill>
        <p:spPr>
          <a:xfrm>
            <a:off x="457200" y="1143000"/>
            <a:ext cx="5029200" cy="2468880"/>
          </a:xfrm>
          <a:prstGeom prst="rect">
            <a:avLst/>
          </a:prstGeom>
        </p:spPr>
      </p:pic>
      <p:sp>
        <p:nvSpPr>
          <p:cNvPr id="4" name="Text 1"/>
          <p:cNvSpPr txBox="1"/>
          <p:nvPr/>
        </p:nvSpPr>
        <p:spPr>
          <a:xfrm>
            <a:off x="457200" y="3639312"/>
            <a:ext cx="5394960" cy="228600"/>
          </a:xfrm>
          <a:prstGeom prst="rect">
            <a:avLst/>
          </a:prstGeom>
          <a:noFill/>
          <a:ln/>
        </p:spPr>
        <p:txBody>
          <a:bodyPr wrap="square" lIns="0" tIns="0" rIns="0" bIns="0" rtlCol="0" anchor="t"/>
          <a:lstStyle/>
          <a:p>
            <a:pPr indent="0" marL="0">
              <a:buNone/>
            </a:pPr>
            <a:r>
              <a:rPr lang="en-US" sz="1000" i="1" dirty="0">
                <a:solidFill>
                  <a:schemeClr val="accent4"/>
                </a:solidFill>
              </a:rPr>
              <a:t>Wang et al. (2025), Fig. 1 — framework schematic</a:t>
            </a:r>
            <a:endParaRPr lang="en-US" sz="1000" dirty="0"/>
          </a:p>
        </p:txBody>
      </p:sp>
      <p:sp>
        <p:nvSpPr>
          <p:cNvPr id="5" name="Text 2"/>
          <p:cNvSpPr txBox="1"/>
          <p:nvPr/>
        </p:nvSpPr>
        <p:spPr>
          <a:xfrm>
            <a:off x="457200" y="3931920"/>
            <a:ext cx="5486400" cy="7315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Solvent-responsive hydrogel beam built from 2 × 10 voxels, each one of two swelling properties</a:t>
            </a:r>
            <a:endParaRPr lang="en-US" sz="1400" dirty="0"/>
          </a:p>
          <a:p>
            <a:pPr marL="177800" indent="-177800">
              <a:spcAft>
                <a:spcPts val="600"/>
              </a:spcAft>
              <a:buSzPct val="100000"/>
              <a:buChar char="•"/>
            </a:pPr>
            <a:r>
              <a:rPr lang="en-US" sz="1200" dirty="0">
                <a:solidFill>
                  <a:schemeClr val="tx1"/>
                </a:solidFill>
              </a:rPr>
              <a:t>Randomised FE simulations generate the training data</a:t>
            </a:r>
            <a:endParaRPr lang="en-US" sz="1400" dirty="0"/>
          </a:p>
        </p:txBody>
      </p:sp>
      <p:sp>
        <p:nvSpPr>
          <p:cNvPr id="6" name="wstat0"/>
          <p:cNvSpPr/>
          <p:nvPr/>
        </p:nvSpPr>
        <p:spPr>
          <a:xfrm>
            <a:off x="6172200" y="1188720"/>
            <a:ext cx="2514600" cy="960120"/>
          </a:xfrm>
          <a:prstGeom prst="roundRect">
            <a:avLst>
              <a:gd name="adj" fmla="val 7619"/>
            </a:avLst>
          </a:prstGeom>
          <a:solidFill>
            <a:schemeClr val="bg2"/>
          </a:solidFill>
          <a:ln w="12700">
            <a:solidFill>
              <a:schemeClr val="bg2"/>
            </a:solidFill>
            <a:prstDash val="solid"/>
          </a:ln>
        </p:spPr>
      </p:sp>
      <p:sp>
        <p:nvSpPr>
          <p:cNvPr id="7" name="Text 4"/>
          <p:cNvSpPr txBox="1"/>
          <p:nvPr/>
        </p:nvSpPr>
        <p:spPr>
          <a:xfrm>
            <a:off x="6355080" y="1280160"/>
            <a:ext cx="219456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2 × 10</a:t>
            </a:r>
            <a:endParaRPr lang="en-US" sz="2400" dirty="0"/>
          </a:p>
        </p:txBody>
      </p:sp>
      <p:sp>
        <p:nvSpPr>
          <p:cNvPr id="8" name="Text 5"/>
          <p:cNvSpPr txBox="1"/>
          <p:nvPr/>
        </p:nvSpPr>
        <p:spPr>
          <a:xfrm>
            <a:off x="6355080" y="1737360"/>
            <a:ext cx="2194560" cy="320040"/>
          </a:xfrm>
          <a:prstGeom prst="rect">
            <a:avLst/>
          </a:prstGeom>
          <a:noFill/>
          <a:ln/>
        </p:spPr>
        <p:txBody>
          <a:bodyPr wrap="square" lIns="0" tIns="0" rIns="0" bIns="0" rtlCol="0" anchor="t"/>
          <a:lstStyle/>
          <a:p>
            <a:pPr indent="0" marL="0">
              <a:buNone/>
            </a:pPr>
            <a:r>
              <a:rPr lang="en-US" sz="1200" dirty="0">
                <a:solidFill>
                  <a:schemeClr val="tx1"/>
                </a:solidFill>
              </a:rPr>
              <a:t>voxel design (binary codes)</a:t>
            </a:r>
            <a:endParaRPr lang="en-US" sz="1200" dirty="0"/>
          </a:p>
        </p:txBody>
      </p:sp>
      <p:sp>
        <p:nvSpPr>
          <p:cNvPr id="9" name="wstat1"/>
          <p:cNvSpPr/>
          <p:nvPr/>
        </p:nvSpPr>
        <p:spPr>
          <a:xfrm>
            <a:off x="6172200" y="2331720"/>
            <a:ext cx="2514600" cy="960120"/>
          </a:xfrm>
          <a:prstGeom prst="roundRect">
            <a:avLst>
              <a:gd name="adj" fmla="val 7619"/>
            </a:avLst>
          </a:prstGeom>
          <a:solidFill>
            <a:schemeClr val="bg2"/>
          </a:solidFill>
          <a:ln w="12700">
            <a:solidFill>
              <a:schemeClr val="bg2"/>
            </a:solidFill>
            <a:prstDash val="solid"/>
          </a:ln>
        </p:spPr>
      </p:sp>
      <p:sp>
        <p:nvSpPr>
          <p:cNvPr id="10" name="Text 7"/>
          <p:cNvSpPr txBox="1"/>
          <p:nvPr/>
        </p:nvSpPr>
        <p:spPr>
          <a:xfrm>
            <a:off x="6355080" y="2423160"/>
            <a:ext cx="219456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2²⁰ ≈ 1.05 M</a:t>
            </a:r>
            <a:endParaRPr lang="en-US" sz="2400" dirty="0"/>
          </a:p>
        </p:txBody>
      </p:sp>
      <p:sp>
        <p:nvSpPr>
          <p:cNvPr id="11" name="Text 8"/>
          <p:cNvSpPr txBox="1"/>
          <p:nvPr/>
        </p:nvSpPr>
        <p:spPr>
          <a:xfrm>
            <a:off x="6355080" y="2880360"/>
            <a:ext cx="2194560" cy="320040"/>
          </a:xfrm>
          <a:prstGeom prst="rect">
            <a:avLst/>
          </a:prstGeom>
          <a:noFill/>
          <a:ln/>
        </p:spPr>
        <p:txBody>
          <a:bodyPr wrap="square" lIns="0" tIns="0" rIns="0" bIns="0" rtlCol="0" anchor="t"/>
          <a:lstStyle/>
          <a:p>
            <a:pPr indent="0" marL="0">
              <a:buNone/>
            </a:pPr>
            <a:r>
              <a:rPr lang="en-US" sz="1200" dirty="0">
                <a:solidFill>
                  <a:schemeClr val="tx1"/>
                </a:solidFill>
              </a:rPr>
              <a:t>possible material layouts</a:t>
            </a:r>
            <a:endParaRPr lang="en-US" sz="1200" dirty="0"/>
          </a:p>
        </p:txBody>
      </p:sp>
      <p:sp>
        <p:nvSpPr>
          <p:cNvPr id="12" name="wstat2"/>
          <p:cNvSpPr/>
          <p:nvPr/>
        </p:nvSpPr>
        <p:spPr>
          <a:xfrm>
            <a:off x="6172200" y="3474720"/>
            <a:ext cx="2514600" cy="960120"/>
          </a:xfrm>
          <a:prstGeom prst="roundRect">
            <a:avLst>
              <a:gd name="adj" fmla="val 7619"/>
            </a:avLst>
          </a:prstGeom>
          <a:solidFill>
            <a:schemeClr val="bg2"/>
          </a:solidFill>
          <a:ln w="12700">
            <a:solidFill>
              <a:schemeClr val="bg2"/>
            </a:solidFill>
            <a:prstDash val="solid"/>
          </a:ln>
        </p:spPr>
      </p:sp>
      <p:sp>
        <p:nvSpPr>
          <p:cNvPr id="13" name="Text 10"/>
          <p:cNvSpPr txBox="1"/>
          <p:nvPr/>
        </p:nvSpPr>
        <p:spPr>
          <a:xfrm>
            <a:off x="6355080" y="3566160"/>
            <a:ext cx="219456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 3.04 s</a:t>
            </a:r>
            <a:endParaRPr lang="en-US" sz="2400" dirty="0"/>
          </a:p>
        </p:txBody>
      </p:sp>
      <p:sp>
        <p:nvSpPr>
          <p:cNvPr id="14" name="Text 11"/>
          <p:cNvSpPr txBox="1"/>
          <p:nvPr/>
        </p:nvSpPr>
        <p:spPr>
          <a:xfrm>
            <a:off x="6355080" y="4023360"/>
            <a:ext cx="2194560" cy="320040"/>
          </a:xfrm>
          <a:prstGeom prst="rect">
            <a:avLst/>
          </a:prstGeom>
          <a:noFill/>
          <a:ln/>
        </p:spPr>
        <p:txBody>
          <a:bodyPr wrap="square" lIns="0" tIns="0" rIns="0" bIns="0" rtlCol="0" anchor="t"/>
          <a:lstStyle/>
          <a:p>
            <a:pPr indent="0" marL="0">
              <a:buNone/>
            </a:pPr>
            <a:r>
              <a:rPr lang="en-US" sz="1200" dirty="0">
                <a:solidFill>
                  <a:schemeClr val="tx1"/>
                </a:solidFill>
              </a:rPr>
              <a:t>average reverse-design time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SEP-CNN: the forward model we replaced</a:t>
            </a:r>
            <a:endParaRPr lang="en-US" sz="2400" dirty="0"/>
          </a:p>
        </p:txBody>
      </p:sp>
      <p:pic>
        <p:nvPicPr>
          <p:cNvPr id="3" name="sepcnn-fig" descr="img/sepcnn.png">    </p:cNvPr>
          <p:cNvPicPr>
            <a:picLocks noChangeAspect="1"/>
          </p:cNvPicPr>
          <p:nvPr/>
        </p:nvPicPr>
        <p:blipFill>
          <a:blip r:embed="rId1"/>
          <a:stretch>
            <a:fillRect/>
          </a:stretch>
        </p:blipFill>
        <p:spPr>
          <a:xfrm>
            <a:off x="457200" y="1188720"/>
            <a:ext cx="5120640" cy="2130552"/>
          </a:xfrm>
          <a:prstGeom prst="rect">
            <a:avLst/>
          </a:prstGeom>
        </p:spPr>
      </p:pic>
      <p:sp>
        <p:nvSpPr>
          <p:cNvPr id="4" name="Text 1"/>
          <p:cNvSpPr txBox="1"/>
          <p:nvPr/>
        </p:nvSpPr>
        <p:spPr>
          <a:xfrm>
            <a:off x="457200" y="3364992"/>
            <a:ext cx="5120640" cy="228600"/>
          </a:xfrm>
          <a:prstGeom prst="rect">
            <a:avLst/>
          </a:prstGeom>
          <a:noFill/>
          <a:ln/>
        </p:spPr>
        <p:txBody>
          <a:bodyPr wrap="square" lIns="0" tIns="0" rIns="0" bIns="0" rtlCol="0" anchor="t"/>
          <a:lstStyle/>
          <a:p>
            <a:pPr indent="0" marL="0">
              <a:buNone/>
            </a:pPr>
            <a:r>
              <a:rPr lang="en-US" sz="1000" i="1" dirty="0">
                <a:solidFill>
                  <a:schemeClr val="accent4"/>
                </a:solidFill>
              </a:rPr>
              <a:t>Wang et al. (2025) — SEP-CNN architecture</a:t>
            </a:r>
            <a:endParaRPr lang="en-US" sz="1000" dirty="0"/>
          </a:p>
        </p:txBody>
      </p:sp>
      <p:sp>
        <p:nvSpPr>
          <p:cNvPr id="5" name="sep-speed"/>
          <p:cNvSpPr/>
          <p:nvPr/>
        </p:nvSpPr>
        <p:spPr>
          <a:xfrm>
            <a:off x="457200" y="3703320"/>
            <a:ext cx="5120640" cy="914400"/>
          </a:xfrm>
          <a:prstGeom prst="roundRect">
            <a:avLst>
              <a:gd name="adj" fmla="val 8000"/>
            </a:avLst>
          </a:prstGeom>
          <a:solidFill>
            <a:schemeClr val="tx2"/>
          </a:solidFill>
          <a:ln w="12700">
            <a:solidFill>
              <a:schemeClr val="tx2"/>
            </a:solidFill>
            <a:prstDash val="solid"/>
          </a:ln>
        </p:spPr>
      </p:sp>
      <p:sp>
        <p:nvSpPr>
          <p:cNvPr id="6" name="Text 3"/>
          <p:cNvSpPr txBox="1"/>
          <p:nvPr/>
        </p:nvSpPr>
        <p:spPr>
          <a:xfrm>
            <a:off x="685800" y="3703320"/>
            <a:ext cx="4663440" cy="91440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2,000 predictions: </a:t>
            </a:r>
            <a:pPr indent="0" marL="0">
              <a:buNone/>
            </a:pPr>
            <a:r>
              <a:rPr lang="en-US" sz="2200" b="1" dirty="0">
                <a:solidFill>
                  <a:schemeClr val="bg1"/>
                </a:solidFill>
                <a:latin typeface="Calibri" pitchFamily="34" charset="0"/>
                <a:ea typeface="Calibri" pitchFamily="34" charset="-122"/>
                <a:cs typeface="Calibri" pitchFamily="34" charset="-120"/>
              </a:rPr>
              <a:t>≈2.51 s</a:t>
            </a:r>
            <a:pPr indent="0" marL="0">
              <a:buNone/>
            </a:pPr>
            <a:r>
              <a:rPr lang="en-US" sz="1400" dirty="0">
                <a:solidFill>
                  <a:schemeClr val="accent5"/>
                </a:solidFill>
                <a:latin typeface="Calibri" pitchFamily="34" charset="0"/>
                <a:ea typeface="Calibri" pitchFamily="34" charset="-122"/>
                <a:cs typeface="Calibri" pitchFamily="34" charset="-120"/>
              </a:rPr>
              <a:t>  vs  </a:t>
            </a:r>
            <a:pPr indent="0" marL="0">
              <a:buNone/>
            </a:pPr>
            <a:r>
              <a:rPr lang="en-US" sz="2200" b="1" dirty="0">
                <a:solidFill>
                  <a:schemeClr val="accent3"/>
                </a:solidFill>
                <a:latin typeface="Calibri" pitchFamily="34" charset="0"/>
                <a:ea typeface="Calibri" pitchFamily="34" charset="-122"/>
                <a:cs typeface="Calibri" pitchFamily="34" charset="-120"/>
              </a:rPr>
              <a:t>≈34.67 h</a:t>
            </a:r>
            <a:pPr indent="0" marL="0">
              <a:buNone/>
            </a:pPr>
            <a:r>
              <a:rPr lang="en-US" sz="1400" dirty="0">
                <a:solidFill>
                  <a:schemeClr val="accent5"/>
                </a:solidFill>
                <a:latin typeface="Calibri" pitchFamily="34" charset="0"/>
                <a:ea typeface="Calibri" pitchFamily="34" charset="-122"/>
                <a:cs typeface="Calibri" pitchFamily="34" charset="-120"/>
              </a:rPr>
              <a:t> FE</a:t>
            </a:r>
            <a:endParaRPr lang="en-US" sz="1400" dirty="0"/>
          </a:p>
        </p:txBody>
      </p:sp>
      <p:sp>
        <p:nvSpPr>
          <p:cNvPr id="7" name="Text 4"/>
          <p:cNvSpPr txBox="1"/>
          <p:nvPr/>
        </p:nvSpPr>
        <p:spPr>
          <a:xfrm>
            <a:off x="5852160" y="1188720"/>
            <a:ext cx="2834640" cy="34747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Input: 2 × 10 property codes, sliced into 10 columns</a:t>
            </a:r>
            <a:endParaRPr lang="en-US" sz="1400" dirty="0"/>
          </a:p>
          <a:p>
            <a:pPr marL="177800" indent="-177800">
              <a:spcAft>
                <a:spcPts val="600"/>
              </a:spcAft>
              <a:buSzPct val="100000"/>
              <a:buChar char="•"/>
            </a:pPr>
            <a:r>
              <a:rPr lang="en-US" sz="1200" dirty="0">
                <a:solidFill>
                  <a:schemeClr val="tx1"/>
                </a:solidFill>
              </a:rPr>
              <a:t>Each column gets its own Conv1D branch; branches are chained by addition (the “sequence-enhanced” part)</a:t>
            </a:r>
            <a:endParaRPr lang="en-US" sz="1400" dirty="0"/>
          </a:p>
          <a:p>
            <a:pPr marL="177800" indent="-177800">
              <a:spcAft>
                <a:spcPts val="600"/>
              </a:spcAft>
              <a:buSzPct val="100000"/>
              <a:buChar char="•"/>
            </a:pPr>
            <a:r>
              <a:rPr lang="en-US" sz="1200" dirty="0">
                <a:solidFill>
                  <a:schemeClr val="tx1"/>
                </a:solidFill>
              </a:rPr>
              <a:t>Spliced to 2 × 320, then Conv1D → 2 × 200: the (x, y) coordinates of the deformed beam</a:t>
            </a:r>
            <a:endParaRPr lang="en-US" sz="1400" dirty="0"/>
          </a:p>
          <a:p>
            <a:pPr marL="177800" indent="-177800">
              <a:spcAft>
                <a:spcPts val="600"/>
              </a:spcAft>
              <a:buSzPct val="100000"/>
              <a:buChar char="•"/>
            </a:pPr>
            <a:r>
              <a:rPr lang="en-US" sz="1200" dirty="0">
                <a:solidFill>
                  <a:schemeClr val="tx1"/>
                </a:solidFill>
              </a:rPr>
              <a:t>Blends CNN parallelism with RNN-style sequence handling; Wang found LSTM slightly more accurate but SEP-CNN faster to train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Progressive EA: optimise column by column</a:t>
            </a:r>
            <a:endParaRPr lang="en-US" sz="2400" dirty="0"/>
          </a:p>
        </p:txBody>
      </p:sp>
      <p:sp>
        <p:nvSpPr>
          <p:cNvPr id="3" name="Text 1"/>
          <p:cNvSpPr txBox="1"/>
          <p:nvPr/>
        </p:nvSpPr>
        <p:spPr>
          <a:xfrm>
            <a:off x="457200" y="1188720"/>
            <a:ext cx="3566160" cy="11887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Scores each candidate by comparing the SEP-CNN prediction with the target</a:t>
            </a:r>
            <a:endParaRPr lang="en-US" sz="1400" dirty="0"/>
          </a:p>
          <a:p>
            <a:pPr marL="177800" indent="-177800">
              <a:spcAft>
                <a:spcPts val="600"/>
              </a:spcAft>
              <a:buSzPct val="100000"/>
              <a:buChar char="•"/>
            </a:pPr>
            <a:r>
              <a:rPr lang="en-US" sz="1200" dirty="0">
                <a:solidFill>
                  <a:schemeClr val="tx1"/>
                </a:solidFill>
              </a:rPr>
              <a:t>Fixes voxel columns progressively instead of evolving all 20 genes at once</a:t>
            </a:r>
            <a:endParaRPr lang="en-US" sz="1400" dirty="0"/>
          </a:p>
          <a:p>
            <a:pPr marL="177800" indent="-177800">
              <a:spcAft>
                <a:spcPts val="600"/>
              </a:spcAft>
              <a:buSzPct val="100000"/>
              <a:buChar char="•"/>
            </a:pPr>
            <a:r>
              <a:rPr lang="en-US" sz="1200" dirty="0">
                <a:solidFill>
                  <a:schemeClr val="tx1"/>
                </a:solidFill>
              </a:rPr>
              <a:t>Converges in a handful of generations</a:t>
            </a:r>
            <a:endParaRPr lang="en-US" sz="1400" dirty="0"/>
          </a:p>
        </p:txBody>
      </p:sp>
      <p:graphicFrame>
        <p:nvGraphicFramePr>
          <p:cNvPr id="4" name="Chart 0" descr=""/>
          <p:cNvGraphicFramePr/>
          <p:nvPr/>
        </p:nvGraphicFramePr>
        <p:xfrm>
          <a:off x="457200" y="2423160"/>
          <a:ext cx="3566160" cy="2240280"/>
        </p:xfrm>
        <a:graphic xmlns:a="http://schemas.openxmlformats.org/drawingml/2006/main">
          <a:graphicData uri="http://schemas.openxmlformats.org/drawingml/2006/chart">
            <c:chart xmlns:c="http://schemas.openxmlformats.org/drawingml/2006/chart" r:id="rId1"/>
          </a:graphicData>
        </a:graphic>
      </p:graphicFrame>
      <p:pic>
        <p:nvPicPr>
          <p:cNvPr id="5" name="wang-h" descr="img/wang_h.png">    </p:cNvPr>
          <p:cNvPicPr>
            <a:picLocks noChangeAspect="1"/>
          </p:cNvPicPr>
          <p:nvPr/>
        </p:nvPicPr>
        <p:blipFill>
          <a:blip r:embed="rId2"/>
          <a:stretch>
            <a:fillRect/>
          </a:stretch>
        </p:blipFill>
        <p:spPr>
          <a:xfrm>
            <a:off x="4343400" y="1188720"/>
            <a:ext cx="4343400" cy="1152144"/>
          </a:xfrm>
          <a:prstGeom prst="rect">
            <a:avLst/>
          </a:prstGeom>
        </p:spPr>
      </p:pic>
      <p:sp>
        <p:nvSpPr>
          <p:cNvPr id="6" name="Text 2"/>
          <p:cNvSpPr txBox="1"/>
          <p:nvPr/>
        </p:nvSpPr>
        <p:spPr>
          <a:xfrm>
            <a:off x="4343400" y="2377440"/>
            <a:ext cx="4343400" cy="228600"/>
          </a:xfrm>
          <a:prstGeom prst="rect">
            <a:avLst/>
          </a:prstGeom>
          <a:noFill/>
          <a:ln/>
        </p:spPr>
        <p:txBody>
          <a:bodyPr wrap="square" lIns="0" tIns="0" rIns="0" bIns="0" rtlCol="0" anchor="t"/>
          <a:lstStyle/>
          <a:p>
            <a:pPr indent="0" marL="0">
              <a:buNone/>
            </a:pPr>
            <a:r>
              <a:rPr lang="en-US" sz="1000" i="1" dirty="0">
                <a:solidFill>
                  <a:schemeClr val="accent4"/>
                </a:solidFill>
              </a:rPr>
              <a:t>Target (red) vs optimal shape (blue) — matched by generation 3</a:t>
            </a:r>
            <a:endParaRPr lang="en-US" sz="1000" dirty="0"/>
          </a:p>
        </p:txBody>
      </p:sp>
      <p:pic>
        <p:nvPicPr>
          <p:cNvPr id="7" name="wang-g" descr="img/wang_g.png">    </p:cNvPr>
          <p:cNvPicPr>
            <a:picLocks noChangeAspect="1"/>
          </p:cNvPicPr>
          <p:nvPr/>
        </p:nvPicPr>
        <p:blipFill>
          <a:blip r:embed="rId3"/>
          <a:stretch>
            <a:fillRect/>
          </a:stretch>
        </p:blipFill>
        <p:spPr>
          <a:xfrm>
            <a:off x="5074920" y="2697480"/>
            <a:ext cx="2377440" cy="1865376"/>
          </a:xfrm>
          <a:prstGeom prst="rect">
            <a:avLst/>
          </a:prstGeom>
        </p:spPr>
      </p:pic>
      <p:sp>
        <p:nvSpPr>
          <p:cNvPr id="8" name="Text 3"/>
          <p:cNvSpPr txBox="1"/>
          <p:nvPr/>
        </p:nvSpPr>
        <p:spPr>
          <a:xfrm>
            <a:off x="7498080" y="2834640"/>
            <a:ext cx="1188720" cy="1691640"/>
          </a:xfrm>
          <a:prstGeom prst="rect">
            <a:avLst/>
          </a:prstGeom>
          <a:noFill/>
          <a:ln/>
        </p:spPr>
        <p:txBody>
          <a:bodyPr wrap="square" lIns="0" tIns="0" rIns="0" bIns="0" rtlCol="0" anchor="t"/>
          <a:lstStyle/>
          <a:p>
            <a:pPr indent="0" marL="0">
              <a:buNone/>
            </a:pPr>
            <a:r>
              <a:rPr lang="en-US" sz="1000" i="1" dirty="0">
                <a:solidFill>
                  <a:schemeClr val="accent4"/>
                </a:solidFill>
              </a:rPr>
              <a:t>Average fitness: PEA (purple) drops within ~5 generations; plain EA needs ~100</a:t>
            </a:r>
            <a:endParaRPr lang="en-US" sz="1000" dirty="0"/>
          </a:p>
        </p:txBody>
      </p:sp>
      <p:sp>
        <p:nvSpPr>
          <p:cNvPr id="9" name="Text 4"/>
          <p:cNvSpPr txBox="1"/>
          <p:nvPr/>
        </p:nvSpPr>
        <p:spPr>
          <a:xfrm>
            <a:off x="3108960" y="4754880"/>
            <a:ext cx="5029200" cy="228600"/>
          </a:xfrm>
          <a:prstGeom prst="rect">
            <a:avLst/>
          </a:prstGeom>
          <a:noFill/>
          <a:ln/>
        </p:spPr>
        <p:txBody>
          <a:bodyPr wrap="square" lIns="0" tIns="0" rIns="0" bIns="0" rtlCol="0" anchor="t"/>
          <a:lstStyle/>
          <a:p>
            <a:pPr algn="r" indent="0" marL="0">
              <a:buNone/>
            </a:pPr>
            <a:r>
              <a:rPr lang="en-US" sz="800" dirty="0">
                <a:solidFill>
                  <a:schemeClr val="accent4"/>
                </a:solidFill>
              </a:rPr>
              <a:t>Panels from Wang et al. (2025), Fig. 5</a:t>
            </a:r>
            <a:endParaRPr lang="en-US" sz="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Jin et al. (2024): ResNet as the forward model</a:t>
            </a:r>
            <a:endParaRPr lang="en-US" sz="2400" dirty="0"/>
          </a:p>
        </p:txBody>
      </p:sp>
      <p:pic>
        <p:nvPicPr>
          <p:cNvPr id="3" name="jin-fig" descr="img/jin_ea.png">    </p:cNvPr>
          <p:cNvPicPr>
            <a:picLocks noChangeAspect="1"/>
          </p:cNvPicPr>
          <p:nvPr/>
        </p:nvPicPr>
        <p:blipFill>
          <a:blip r:embed="rId1"/>
          <a:stretch>
            <a:fillRect/>
          </a:stretch>
        </p:blipFill>
        <p:spPr>
          <a:xfrm>
            <a:off x="457200" y="1143000"/>
            <a:ext cx="3337560" cy="3538728"/>
          </a:xfrm>
          <a:prstGeom prst="rect">
            <a:avLst/>
          </a:prstGeom>
        </p:spPr>
      </p:pic>
      <p:sp>
        <p:nvSpPr>
          <p:cNvPr id="4" name="jin0-circle"/>
          <p:cNvSpPr/>
          <p:nvPr/>
        </p:nvSpPr>
        <p:spPr>
          <a:xfrm>
            <a:off x="4114800" y="1188720"/>
            <a:ext cx="457200" cy="457200"/>
          </a:xfrm>
          <a:prstGeom prst="ellipse">
            <a:avLst/>
          </a:prstGeom>
          <a:solidFill>
            <a:schemeClr val="accent1"/>
          </a:solidFill>
          <a:ln w="12700">
            <a:solidFill>
              <a:schemeClr val="accent1"/>
            </a:solidFill>
            <a:prstDash val="solid"/>
          </a:ln>
        </p:spPr>
      </p:sp>
      <p:pic>
        <p:nvPicPr>
          <p:cNvPr id="5" name="jin0-icon" descr="preencoded.png">    </p:cNvPr>
          <p:cNvPicPr>
            <a:picLocks noChangeAspect="1"/>
          </p:cNvPicPr>
          <p:nvPr/>
        </p:nvPicPr>
        <p:blipFill>
          <a:blip r:embed="rId2"/>
          <a:stretch>
            <a:fillRect/>
          </a:stretch>
        </p:blipFill>
        <p:spPr>
          <a:xfrm>
            <a:off x="4224528" y="1298448"/>
            <a:ext cx="237744" cy="237744"/>
          </a:xfrm>
          <a:prstGeom prst="rect">
            <a:avLst/>
          </a:prstGeom>
        </p:spPr>
      </p:pic>
      <p:sp>
        <p:nvSpPr>
          <p:cNvPr id="6" name="Text 2"/>
          <p:cNvSpPr txBox="1"/>
          <p:nvPr/>
        </p:nvSpPr>
        <p:spPr>
          <a:xfrm>
            <a:off x="4709160" y="1143000"/>
            <a:ext cx="3977640" cy="640080"/>
          </a:xfrm>
          <a:prstGeom prst="rect">
            <a:avLst/>
          </a:prstGeom>
          <a:noFill/>
          <a:ln/>
        </p:spPr>
        <p:txBody>
          <a:bodyPr wrap="square" lIns="0" tIns="0" rIns="0" bIns="0" rtlCol="0" anchor="t"/>
          <a:lstStyle/>
          <a:p>
            <a:pPr indent="0" marL="0">
              <a:buNone/>
            </a:pPr>
            <a:r>
              <a:rPr lang="en-US" sz="1400" b="1" dirty="0">
                <a:solidFill>
                  <a:schemeClr val="tx2"/>
                </a:solidFill>
              </a:rPr>
              <a:t>Input</a:t>
            </a:r>
            <a:endParaRPr lang="en-US" sz="1400" dirty="0"/>
          </a:p>
          <a:p>
            <a:pPr indent="0" marL="0">
              <a:buNone/>
            </a:pPr>
            <a:r>
              <a:rPr lang="en-US" sz="1200" dirty="0">
                <a:solidFill>
                  <a:schemeClr val="tx1"/>
                </a:solidFill>
              </a:rPr>
              <a:t>Material allocation per cell: active, passive or empty</a:t>
            </a:r>
            <a:endParaRPr lang="en-US" sz="1400" dirty="0"/>
          </a:p>
        </p:txBody>
      </p:sp>
      <p:sp>
        <p:nvSpPr>
          <p:cNvPr id="7" name="jin1-circle"/>
          <p:cNvSpPr/>
          <p:nvPr/>
        </p:nvSpPr>
        <p:spPr>
          <a:xfrm>
            <a:off x="4114800" y="1901952"/>
            <a:ext cx="457200" cy="457200"/>
          </a:xfrm>
          <a:prstGeom prst="ellipse">
            <a:avLst/>
          </a:prstGeom>
          <a:solidFill>
            <a:schemeClr val="accent1"/>
          </a:solidFill>
          <a:ln w="12700">
            <a:solidFill>
              <a:schemeClr val="accent1"/>
            </a:solidFill>
            <a:prstDash val="solid"/>
          </a:ln>
        </p:spPr>
      </p:sp>
      <p:pic>
        <p:nvPicPr>
          <p:cNvPr id="8" name="jin1-icon" descr="preencoded.png">    </p:cNvPr>
          <p:cNvPicPr>
            <a:picLocks noChangeAspect="1"/>
          </p:cNvPicPr>
          <p:nvPr/>
        </p:nvPicPr>
        <p:blipFill>
          <a:blip r:embed="rId3"/>
          <a:stretch>
            <a:fillRect/>
          </a:stretch>
        </p:blipFill>
        <p:spPr>
          <a:xfrm>
            <a:off x="4224528" y="2011680"/>
            <a:ext cx="237744" cy="237744"/>
          </a:xfrm>
          <a:prstGeom prst="rect">
            <a:avLst/>
          </a:prstGeom>
        </p:spPr>
      </p:pic>
      <p:sp>
        <p:nvSpPr>
          <p:cNvPr id="9" name="Text 4"/>
          <p:cNvSpPr txBox="1"/>
          <p:nvPr/>
        </p:nvSpPr>
        <p:spPr>
          <a:xfrm>
            <a:off x="4709160" y="1856232"/>
            <a:ext cx="3977640" cy="640080"/>
          </a:xfrm>
          <a:prstGeom prst="rect">
            <a:avLst/>
          </a:prstGeom>
          <a:noFill/>
          <a:ln/>
        </p:spPr>
        <p:txBody>
          <a:bodyPr wrap="square" lIns="0" tIns="0" rIns="0" bIns="0" rtlCol="0" anchor="t"/>
          <a:lstStyle/>
          <a:p>
            <a:pPr indent="0" marL="0">
              <a:buNone/>
            </a:pPr>
            <a:r>
              <a:rPr lang="en-US" sz="1400" b="1" dirty="0">
                <a:solidFill>
                  <a:schemeClr val="tx2"/>
                </a:solidFill>
              </a:rPr>
              <a:t>ResNet</a:t>
            </a:r>
            <a:endParaRPr lang="en-US" sz="1400" dirty="0"/>
          </a:p>
          <a:p>
            <a:pPr indent="0" marL="0">
              <a:buNone/>
            </a:pPr>
            <a:r>
              <a:rPr lang="en-US" sz="1200" dirty="0">
                <a:solidFill>
                  <a:schemeClr val="tx1"/>
                </a:solidFill>
              </a:rPr>
              <a:t>Shortcut connections let gradients flow through deeper nets (less vanishing gradient)</a:t>
            </a:r>
            <a:endParaRPr lang="en-US" sz="1400" dirty="0"/>
          </a:p>
        </p:txBody>
      </p:sp>
      <p:sp>
        <p:nvSpPr>
          <p:cNvPr id="10" name="jin2-circle"/>
          <p:cNvSpPr/>
          <p:nvPr/>
        </p:nvSpPr>
        <p:spPr>
          <a:xfrm>
            <a:off x="4114800" y="2615184"/>
            <a:ext cx="457200" cy="457200"/>
          </a:xfrm>
          <a:prstGeom prst="ellipse">
            <a:avLst/>
          </a:prstGeom>
          <a:solidFill>
            <a:schemeClr val="accent1"/>
          </a:solidFill>
          <a:ln w="12700">
            <a:solidFill>
              <a:schemeClr val="accent1"/>
            </a:solidFill>
            <a:prstDash val="solid"/>
          </a:ln>
        </p:spPr>
      </p:sp>
      <p:pic>
        <p:nvPicPr>
          <p:cNvPr id="11" name="jin2-icon" descr="preencoded.png">    </p:cNvPr>
          <p:cNvPicPr>
            <a:picLocks noChangeAspect="1"/>
          </p:cNvPicPr>
          <p:nvPr/>
        </p:nvPicPr>
        <p:blipFill>
          <a:blip r:embed="rId4"/>
          <a:stretch>
            <a:fillRect/>
          </a:stretch>
        </p:blipFill>
        <p:spPr>
          <a:xfrm>
            <a:off x="4224528" y="2724912"/>
            <a:ext cx="237744" cy="237744"/>
          </a:xfrm>
          <a:prstGeom prst="rect">
            <a:avLst/>
          </a:prstGeom>
        </p:spPr>
      </p:pic>
      <p:sp>
        <p:nvSpPr>
          <p:cNvPr id="12" name="Text 6"/>
          <p:cNvSpPr txBox="1"/>
          <p:nvPr/>
        </p:nvSpPr>
        <p:spPr>
          <a:xfrm>
            <a:off x="4709160" y="2569464"/>
            <a:ext cx="3977640" cy="640080"/>
          </a:xfrm>
          <a:prstGeom prst="rect">
            <a:avLst/>
          </a:prstGeom>
          <a:noFill/>
          <a:ln/>
        </p:spPr>
        <p:txBody>
          <a:bodyPr wrap="square" lIns="0" tIns="0" rIns="0" bIns="0" rtlCol="0" anchor="t"/>
          <a:lstStyle/>
          <a:p>
            <a:pPr indent="0" marL="0">
              <a:buNone/>
            </a:pPr>
            <a:r>
              <a:rPr lang="en-US" sz="1400" b="1" dirty="0">
                <a:solidFill>
                  <a:schemeClr val="tx2"/>
                </a:solidFill>
              </a:rPr>
              <a:t>EA search</a:t>
            </a:r>
            <a:endParaRPr lang="en-US" sz="1400" dirty="0"/>
          </a:p>
          <a:p>
            <a:pPr indent="0" marL="0">
              <a:buNone/>
            </a:pPr>
            <a:r>
              <a:rPr lang="en-US" sz="1200" dirty="0">
                <a:solidFill>
                  <a:schemeClr val="tx1"/>
                </a:solidFill>
              </a:rPr>
              <a:t>Selection, crossover and mutation over material maps</a:t>
            </a:r>
            <a:endParaRPr lang="en-US" sz="1400" dirty="0"/>
          </a:p>
        </p:txBody>
      </p:sp>
      <p:sp>
        <p:nvSpPr>
          <p:cNvPr id="13" name="jin3-circle"/>
          <p:cNvSpPr/>
          <p:nvPr/>
        </p:nvSpPr>
        <p:spPr>
          <a:xfrm>
            <a:off x="4114800" y="3328416"/>
            <a:ext cx="457200" cy="457200"/>
          </a:xfrm>
          <a:prstGeom prst="ellipse">
            <a:avLst/>
          </a:prstGeom>
          <a:solidFill>
            <a:schemeClr val="accent1"/>
          </a:solidFill>
          <a:ln w="12700">
            <a:solidFill>
              <a:schemeClr val="accent1"/>
            </a:solidFill>
            <a:prstDash val="solid"/>
          </a:ln>
        </p:spPr>
      </p:sp>
      <p:pic>
        <p:nvPicPr>
          <p:cNvPr id="14" name="jin3-icon" descr="preencoded.png">    </p:cNvPr>
          <p:cNvPicPr>
            <a:picLocks noChangeAspect="1"/>
          </p:cNvPicPr>
          <p:nvPr/>
        </p:nvPicPr>
        <p:blipFill>
          <a:blip r:embed="rId5"/>
          <a:stretch>
            <a:fillRect/>
          </a:stretch>
        </p:blipFill>
        <p:spPr>
          <a:xfrm>
            <a:off x="4224528" y="3438144"/>
            <a:ext cx="237744" cy="237744"/>
          </a:xfrm>
          <a:prstGeom prst="rect">
            <a:avLst/>
          </a:prstGeom>
        </p:spPr>
      </p:pic>
      <p:sp>
        <p:nvSpPr>
          <p:cNvPr id="15" name="Text 8"/>
          <p:cNvSpPr txBox="1"/>
          <p:nvPr/>
        </p:nvSpPr>
        <p:spPr>
          <a:xfrm>
            <a:off x="4709160" y="3282696"/>
            <a:ext cx="3977640" cy="640080"/>
          </a:xfrm>
          <a:prstGeom prst="rect">
            <a:avLst/>
          </a:prstGeom>
          <a:noFill/>
          <a:ln/>
        </p:spPr>
        <p:txBody>
          <a:bodyPr wrap="square" lIns="0" tIns="0" rIns="0" bIns="0" rtlCol="0" anchor="t"/>
          <a:lstStyle/>
          <a:p>
            <a:pPr indent="0" marL="0">
              <a:buNone/>
            </a:pPr>
            <a:r>
              <a:rPr lang="en-US" sz="1400" b="1" dirty="0">
                <a:solidFill>
                  <a:schemeClr val="tx2"/>
                </a:solidFill>
              </a:rPr>
              <a:t>Reported</a:t>
            </a:r>
            <a:endParaRPr lang="en-US" sz="1400" dirty="0"/>
          </a:p>
          <a:p>
            <a:pPr indent="0" marL="0">
              <a:buNone/>
            </a:pPr>
            <a:r>
              <a:rPr lang="en-US" sz="1200" dirty="0">
                <a:solidFill>
                  <a:schemeClr val="tx1"/>
                </a:solidFill>
              </a:rPr>
              <a:t>Forward loss &lt; 10⁻² mm; inverse error ≈ 1 mm</a:t>
            </a:r>
            <a:endParaRPr lang="en-US" sz="1400" dirty="0"/>
          </a:p>
        </p:txBody>
      </p:sp>
      <p:sp>
        <p:nvSpPr>
          <p:cNvPr id="16" name="jin-q"/>
          <p:cNvSpPr/>
          <p:nvPr/>
        </p:nvSpPr>
        <p:spPr>
          <a:xfrm>
            <a:off x="4114800" y="4069080"/>
            <a:ext cx="4572000" cy="594360"/>
          </a:xfrm>
          <a:prstGeom prst="roundRect">
            <a:avLst>
              <a:gd name="adj" fmla="val 12308"/>
            </a:avLst>
          </a:prstGeom>
          <a:solidFill>
            <a:schemeClr val="tx2"/>
          </a:solidFill>
          <a:ln w="12700">
            <a:solidFill>
              <a:schemeClr val="tx2"/>
            </a:solidFill>
            <a:prstDash val="solid"/>
          </a:ln>
        </p:spPr>
      </p:sp>
      <p:sp>
        <p:nvSpPr>
          <p:cNvPr id="17" name="Text 10"/>
          <p:cNvSpPr txBox="1"/>
          <p:nvPr/>
        </p:nvSpPr>
        <p:spPr>
          <a:xfrm>
            <a:off x="4297680" y="4069080"/>
            <a:ext cx="4206240" cy="594360"/>
          </a:xfrm>
          <a:prstGeom prst="rect">
            <a:avLst/>
          </a:prstGeom>
          <a:noFill/>
          <a:ln/>
        </p:spPr>
        <p:txBody>
          <a:bodyPr wrap="square" lIns="0" tIns="0" rIns="0" bIns="0" rtlCol="0" anchor="ctr"/>
          <a:lstStyle/>
          <a:p>
            <a:pPr indent="0" marL="0">
              <a:buNone/>
            </a:pPr>
            <a:r>
              <a:rPr lang="en-US" sz="1200" b="1" dirty="0">
                <a:solidFill>
                  <a:schemeClr val="bg1"/>
                </a:solidFill>
              </a:rPr>
              <a:t>Our question: can a ResNet slot into Wang's PEA in place of SEP-CNN — and does it change the answer?</a:t>
            </a:r>
            <a:endParaRPr lang="en-US" sz="1200" dirty="0"/>
          </a:p>
        </p:txBody>
      </p:sp>
      <p:sp>
        <p:nvSpPr>
          <p:cNvPr id="18" name="Text 11"/>
          <p:cNvSpPr txBox="1"/>
          <p:nvPr/>
        </p:nvSpPr>
        <p:spPr>
          <a:xfrm>
            <a:off x="457200" y="4754880"/>
            <a:ext cx="3337560" cy="228600"/>
          </a:xfrm>
          <a:prstGeom prst="rect">
            <a:avLst/>
          </a:prstGeom>
          <a:noFill/>
          <a:ln/>
        </p:spPr>
        <p:txBody>
          <a:bodyPr wrap="square" lIns="0" tIns="0" rIns="0" bIns="0" rtlCol="0" anchor="t"/>
          <a:lstStyle/>
          <a:p>
            <a:pPr algn="r" indent="0" marL="0">
              <a:buNone/>
            </a:pPr>
            <a:r>
              <a:rPr lang="en-US" sz="800" dirty="0">
                <a:solidFill>
                  <a:schemeClr val="accent4"/>
                </a:solidFill>
              </a:rPr>
              <a:t>Jin et al. (2024), Fig. 4</a:t>
            </a:r>
            <a:endParaRPr lang="en-US" sz="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Two reference pipelines, one shared pattern</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3108960"/>
                <a:gridCol w="3108960"/>
              </a:tblGrid>
              <a:tr h="38404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Jin et al. (2024)</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Wang et al. (2025)</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Forward model</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ResNet</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SEP-CNN</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Optimiser</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Evolutionary algorithm</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Progressive EA (column-wise)</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Structure</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Hierarchical, arbitrary shapes</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Voxelised hydrogel beam (2 × 10)</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Main goal</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Predict + design material allocation</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Accelerate reverse design</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Headline result</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Inverse error ≈ 1 mm</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 3.04 s per design; 98.7% accuracy</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bl>
          </a:graphicData>
        </a:graphic>
      </p:graphicFrame>
      <p:sp>
        <p:nvSpPr>
          <p:cNvPr id="4" name="pattern"/>
          <p:cNvSpPr/>
          <p:nvPr/>
        </p:nvSpPr>
        <p:spPr>
          <a:xfrm>
            <a:off x="457200" y="3840480"/>
            <a:ext cx="8229600" cy="731520"/>
          </a:xfrm>
          <a:prstGeom prst="roundRect">
            <a:avLst>
              <a:gd name="adj" fmla="val 10000"/>
            </a:avLst>
          </a:prstGeom>
          <a:solidFill>
            <a:schemeClr val="tx2"/>
          </a:solidFill>
          <a:ln w="12700">
            <a:solidFill>
              <a:schemeClr val="tx2"/>
            </a:solidFill>
            <a:prstDash val="solid"/>
          </a:ln>
        </p:spPr>
      </p:sp>
      <p:sp>
        <p:nvSpPr>
          <p:cNvPr id="5" name="Text 2"/>
          <p:cNvSpPr txBox="1"/>
          <p:nvPr/>
        </p:nvSpPr>
        <p:spPr>
          <a:xfrm>
            <a:off x="685800" y="3840480"/>
            <a:ext cx="7772400" cy="731520"/>
          </a:xfrm>
          <a:prstGeom prst="rect">
            <a:avLst/>
          </a:prstGeom>
          <a:noFill/>
          <a:ln/>
        </p:spPr>
        <p:txBody>
          <a:bodyPr wrap="square" lIns="0" tIns="0" rIns="0" bIns="0" rtlCol="0" anchor="ctr"/>
          <a:lstStyle/>
          <a:p>
            <a:pPr indent="0" marL="0">
              <a:buNone/>
            </a:pPr>
            <a:r>
              <a:rPr lang="en-US" sz="1500" b="1" dirty="0">
                <a:solidFill>
                  <a:schemeClr val="accent3"/>
                </a:solidFill>
              </a:rPr>
              <a:t>Common pattern:  </a:t>
            </a:r>
            <a:pPr indent="0" marL="0">
              <a:buNone/>
            </a:pPr>
            <a:r>
              <a:rPr lang="en-US" sz="1500" dirty="0">
                <a:solidFill>
                  <a:schemeClr val="bg1"/>
                </a:solidFill>
              </a:rPr>
              <a:t>design → learned deformation prediction → evolutionary search → target shape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0"/>
          <p:cNvSpPr/>
          <p:nvPr>
            <p:ph idx="120" type="body" hasCustomPrompt="1"/>
          </p:nvPr>
        </p:nvSpPr>
        <p:spPr>
          <a:xfrm>
            <a:off x="457200" y="1005840"/>
            <a:ext cx="2743200" cy="822960"/>
          </a:xfrm>
          <a:prstGeom prst="rect">
            <a:avLst/>
          </a:prstGeom>
          <a:noFill/>
          <a:ln/>
        </p:spPr>
        <p:txBody>
          <a:bodyPr wrap="square" lIns="0" tIns="0" rIns="0" bIns="0" rtlCol="0" anchor="b"/>
          <a:lstStyle/>
          <a:p>
            <a:pPr algn="l" indent="0" marL="0">
              <a:buNone/>
            </a:pPr>
            <a:r>
              <a:rPr lang="en-US" sz="4800" b="1" dirty="0">
                <a:solidFill>
                  <a:schemeClr val="accent1"/>
                </a:solidFill>
                <a:latin typeface="Cambria" pitchFamily="34" charset="0"/>
                <a:ea typeface="Cambria" pitchFamily="34" charset="-122"/>
                <a:cs typeface="Cambria" pitchFamily="34" charset="-120"/>
              </a:rPr>
              <a:t>03</a:t>
            </a:r>
            <a:endParaRPr lang="en-US" sz="4800" dirty="0"/>
          </a:p>
        </p:txBody>
      </p:sp>
      <p:sp>
        <p:nvSpPr>
          <p:cNvPr id="3" name="Text 20"/>
          <p:cNvSpPr/>
          <p:nvPr>
            <p:ph idx="121" type="title" hasCustomPrompt="1"/>
          </p:nvPr>
        </p:nvSpPr>
        <p:spPr>
          <a:xfrm>
            <a:off x="457200" y="1874520"/>
            <a:ext cx="7863840" cy="100584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Our study: controlled replacement of SEP-CNN with ResNet</a:t>
            </a:r>
            <a:endParaRPr lang="en-US" sz="3200" dirty="0"/>
          </a:p>
        </p:txBody>
      </p:sp>
      <p:sp>
        <p:nvSpPr>
          <p:cNvPr id="4" name="Text 20"/>
          <p:cNvSpPr/>
          <p:nvPr>
            <p:ph idx="122" type="body" hasCustomPrompt="1"/>
          </p:nvPr>
        </p:nvSpPr>
        <p:spPr>
          <a:xfrm>
            <a:off x="457200" y="2926080"/>
            <a:ext cx="7863840" cy="822960"/>
          </a:xfrm>
          <a:prstGeom prst="rect">
            <a:avLst/>
          </a:prstGeom>
          <a:noFill/>
          <a:ln/>
        </p:spPr>
        <p:txBody>
          <a:bodyPr wrap="square" lIns="0" tIns="0" rIns="0" bIns="0" rtlCol="0" anchor="t"/>
          <a:lstStyle/>
          <a:p>
            <a:pPr algn="l" indent="0" marL="0">
              <a:buNone/>
            </a:pPr>
            <a:r>
              <a:rPr lang="en-US" sz="1600" dirty="0">
                <a:solidFill>
                  <a:schemeClr val="accent5"/>
                </a:solidFill>
                <a:latin typeface="Calibri" pitchFamily="34" charset="0"/>
                <a:ea typeface="Calibri" pitchFamily="34" charset="-122"/>
                <a:cs typeface="Calibri" pitchFamily="34" charset="-120"/>
              </a:rPr>
              <a:t>Same data, same optimiser, same budget — only the forward model changes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Research question and objectives</a:t>
            </a:r>
            <a:endParaRPr lang="en-US" sz="2400" dirty="0"/>
          </a:p>
        </p:txBody>
      </p:sp>
      <p:sp>
        <p:nvSpPr>
          <p:cNvPr id="3" name="rq"/>
          <p:cNvSpPr/>
          <p:nvPr/>
        </p:nvSpPr>
        <p:spPr>
          <a:xfrm>
            <a:off x="457200" y="1188720"/>
            <a:ext cx="8229600" cy="822960"/>
          </a:xfrm>
          <a:prstGeom prst="roundRect">
            <a:avLst>
              <a:gd name="adj" fmla="val 8889"/>
            </a:avLst>
          </a:prstGeom>
          <a:solidFill>
            <a:schemeClr val="tx2"/>
          </a:solidFill>
          <a:ln w="12700">
            <a:solidFill>
              <a:schemeClr val="tx2"/>
            </a:solidFill>
            <a:prstDash val="solid"/>
          </a:ln>
        </p:spPr>
      </p:sp>
      <p:sp>
        <p:nvSpPr>
          <p:cNvPr id="4" name="Text 2"/>
          <p:cNvSpPr txBox="1"/>
          <p:nvPr/>
        </p:nvSpPr>
        <p:spPr>
          <a:xfrm>
            <a:off x="731520" y="1188720"/>
            <a:ext cx="7680960" cy="822960"/>
          </a:xfrm>
          <a:prstGeom prst="rect">
            <a:avLst/>
          </a:prstGeom>
          <a:noFill/>
          <a:ln/>
        </p:spPr>
        <p:txBody>
          <a:bodyPr wrap="square" lIns="0" tIns="0" rIns="0" bIns="0" rtlCol="0" anchor="ctr"/>
          <a:lstStyle/>
          <a:p>
            <a:pPr indent="0" marL="0">
              <a:buNone/>
            </a:pPr>
            <a:r>
              <a:rPr lang="en-US" sz="1800" i="1" dirty="0">
                <a:solidFill>
                  <a:schemeClr val="bg1"/>
                </a:solidFill>
                <a:latin typeface="Cambria" pitchFamily="34" charset="0"/>
                <a:ea typeface="Cambria" pitchFamily="34" charset="-122"/>
                <a:cs typeface="Cambria" pitchFamily="34" charset="-120"/>
              </a:rPr>
              <a:t>Does changing only the learned forward model materially change the solution that PEA finds?</a:t>
            </a:r>
            <a:endParaRPr lang="en-US" sz="1800" dirty="0"/>
          </a:p>
        </p:txBody>
      </p:sp>
      <p:sp>
        <p:nvSpPr>
          <p:cNvPr id="5" name="obj0"/>
          <p:cNvSpPr/>
          <p:nvPr/>
        </p:nvSpPr>
        <p:spPr>
          <a:xfrm>
            <a:off x="457200" y="2240280"/>
            <a:ext cx="2606040" cy="1051560"/>
          </a:xfrm>
          <a:prstGeom prst="roundRect">
            <a:avLst>
              <a:gd name="adj" fmla="val 6957"/>
            </a:avLst>
          </a:prstGeom>
          <a:solidFill>
            <a:schemeClr val="bg2"/>
          </a:solidFill>
          <a:ln w="12700">
            <a:solidFill>
              <a:schemeClr val="bg2"/>
            </a:solidFill>
            <a:prstDash val="solid"/>
          </a:ln>
        </p:spPr>
      </p:sp>
      <p:sp>
        <p:nvSpPr>
          <p:cNvPr id="6" name="obj0-circle"/>
          <p:cNvSpPr/>
          <p:nvPr/>
        </p:nvSpPr>
        <p:spPr>
          <a:xfrm>
            <a:off x="594360" y="2514600"/>
            <a:ext cx="502920" cy="502920"/>
          </a:xfrm>
          <a:prstGeom prst="ellipse">
            <a:avLst/>
          </a:prstGeom>
          <a:solidFill>
            <a:schemeClr val="accent1"/>
          </a:solidFill>
          <a:ln w="12700">
            <a:solidFill>
              <a:schemeClr val="accent1"/>
            </a:solidFill>
            <a:prstDash val="solid"/>
          </a:ln>
        </p:spPr>
      </p:sp>
      <p:pic>
        <p:nvPicPr>
          <p:cNvPr id="7" name="obj0-icon" descr="preencoded.png">    </p:cNvPr>
          <p:cNvPicPr>
            <a:picLocks noChangeAspect="1"/>
          </p:cNvPicPr>
          <p:nvPr/>
        </p:nvPicPr>
        <p:blipFill>
          <a:blip r:embed="rId1"/>
          <a:stretch>
            <a:fillRect/>
          </a:stretch>
        </p:blipFill>
        <p:spPr>
          <a:xfrm>
            <a:off x="715061" y="2635301"/>
            <a:ext cx="261518" cy="261518"/>
          </a:xfrm>
          <a:prstGeom prst="rect">
            <a:avLst/>
          </a:prstGeom>
        </p:spPr>
      </p:pic>
      <p:sp>
        <p:nvSpPr>
          <p:cNvPr id="8" name="Text 5"/>
          <p:cNvSpPr txBox="1"/>
          <p:nvPr/>
        </p:nvSpPr>
        <p:spPr>
          <a:xfrm>
            <a:off x="1207008" y="2350008"/>
            <a:ext cx="1764792" cy="868680"/>
          </a:xfrm>
          <a:prstGeom prst="rect">
            <a:avLst/>
          </a:prstGeom>
          <a:noFill/>
          <a:ln/>
        </p:spPr>
        <p:txBody>
          <a:bodyPr wrap="square" lIns="0" tIns="0" rIns="0" bIns="0" rtlCol="0" anchor="ctr"/>
          <a:lstStyle/>
          <a:p>
            <a:pPr indent="0" marL="0">
              <a:buNone/>
            </a:pPr>
            <a:r>
              <a:rPr lang="en-US" sz="1400" b="1" dirty="0">
                <a:solidFill>
                  <a:schemeClr val="tx2"/>
                </a:solidFill>
              </a:rPr>
              <a:t>Reproduce</a:t>
            </a:r>
            <a:endParaRPr lang="en-US" sz="1400" dirty="0"/>
          </a:p>
          <a:p>
            <a:pPr indent="0" marL="0">
              <a:buNone/>
            </a:pPr>
            <a:r>
              <a:rPr lang="en-US" sz="1200" dirty="0">
                <a:solidFill>
                  <a:schemeClr val="tx1"/>
                </a:solidFill>
              </a:rPr>
              <a:t>Wang's SEP-CNN + PEA as a controlled baseline</a:t>
            </a:r>
            <a:endParaRPr lang="en-US" sz="1400" dirty="0"/>
          </a:p>
        </p:txBody>
      </p:sp>
      <p:sp>
        <p:nvSpPr>
          <p:cNvPr id="9" name="obj1"/>
          <p:cNvSpPr/>
          <p:nvPr/>
        </p:nvSpPr>
        <p:spPr>
          <a:xfrm>
            <a:off x="3246120" y="2240280"/>
            <a:ext cx="2606040" cy="1051560"/>
          </a:xfrm>
          <a:prstGeom prst="roundRect">
            <a:avLst>
              <a:gd name="adj" fmla="val 6957"/>
            </a:avLst>
          </a:prstGeom>
          <a:solidFill>
            <a:schemeClr val="bg2"/>
          </a:solidFill>
          <a:ln w="12700">
            <a:solidFill>
              <a:schemeClr val="bg2"/>
            </a:solidFill>
            <a:prstDash val="solid"/>
          </a:ln>
        </p:spPr>
      </p:sp>
      <p:sp>
        <p:nvSpPr>
          <p:cNvPr id="10" name="obj1-circle"/>
          <p:cNvSpPr/>
          <p:nvPr/>
        </p:nvSpPr>
        <p:spPr>
          <a:xfrm>
            <a:off x="3383280" y="2514600"/>
            <a:ext cx="502920" cy="502920"/>
          </a:xfrm>
          <a:prstGeom prst="ellipse">
            <a:avLst/>
          </a:prstGeom>
          <a:solidFill>
            <a:schemeClr val="accent1"/>
          </a:solidFill>
          <a:ln w="12700">
            <a:solidFill>
              <a:schemeClr val="accent1"/>
            </a:solidFill>
            <a:prstDash val="solid"/>
          </a:ln>
        </p:spPr>
      </p:sp>
      <p:pic>
        <p:nvPicPr>
          <p:cNvPr id="11" name="obj1-icon" descr="preencoded.png">    </p:cNvPr>
          <p:cNvPicPr>
            <a:picLocks noChangeAspect="1"/>
          </p:cNvPicPr>
          <p:nvPr/>
        </p:nvPicPr>
        <p:blipFill>
          <a:blip r:embed="rId2"/>
          <a:stretch>
            <a:fillRect/>
          </a:stretch>
        </p:blipFill>
        <p:spPr>
          <a:xfrm>
            <a:off x="3503981" y="2635301"/>
            <a:ext cx="261518" cy="261518"/>
          </a:xfrm>
          <a:prstGeom prst="rect">
            <a:avLst/>
          </a:prstGeom>
        </p:spPr>
      </p:pic>
      <p:sp>
        <p:nvSpPr>
          <p:cNvPr id="12" name="Text 8"/>
          <p:cNvSpPr txBox="1"/>
          <p:nvPr/>
        </p:nvSpPr>
        <p:spPr>
          <a:xfrm>
            <a:off x="3995928" y="2350008"/>
            <a:ext cx="1764792" cy="868680"/>
          </a:xfrm>
          <a:prstGeom prst="rect">
            <a:avLst/>
          </a:prstGeom>
          <a:noFill/>
          <a:ln/>
        </p:spPr>
        <p:txBody>
          <a:bodyPr wrap="square" lIns="0" tIns="0" rIns="0" bIns="0" rtlCol="0" anchor="ctr"/>
          <a:lstStyle/>
          <a:p>
            <a:pPr indent="0" marL="0">
              <a:buNone/>
            </a:pPr>
            <a:r>
              <a:rPr lang="en-US" sz="1400" b="1" dirty="0">
                <a:solidFill>
                  <a:schemeClr val="tx2"/>
                </a:solidFill>
              </a:rPr>
              <a:t>Convert</a:t>
            </a:r>
            <a:endParaRPr lang="en-US" sz="1400" dirty="0"/>
          </a:p>
          <a:p>
            <a:pPr indent="0" marL="0">
              <a:buNone/>
            </a:pPr>
            <a:r>
              <a:rPr lang="en-US" sz="1200" dirty="0">
                <a:solidFill>
                  <a:schemeClr val="tx1"/>
                </a:solidFill>
              </a:rPr>
              <a:t>2D ResNet with the identical 2×10 → 2×200 interface</a:t>
            </a:r>
            <a:endParaRPr lang="en-US" sz="1400" dirty="0"/>
          </a:p>
        </p:txBody>
      </p:sp>
      <p:sp>
        <p:nvSpPr>
          <p:cNvPr id="13" name="obj2"/>
          <p:cNvSpPr/>
          <p:nvPr/>
        </p:nvSpPr>
        <p:spPr>
          <a:xfrm>
            <a:off x="6035040" y="2240280"/>
            <a:ext cx="2606040" cy="1051560"/>
          </a:xfrm>
          <a:prstGeom prst="roundRect">
            <a:avLst>
              <a:gd name="adj" fmla="val 6957"/>
            </a:avLst>
          </a:prstGeom>
          <a:solidFill>
            <a:schemeClr val="bg2"/>
          </a:solidFill>
          <a:ln w="12700">
            <a:solidFill>
              <a:schemeClr val="bg2"/>
            </a:solidFill>
            <a:prstDash val="solid"/>
          </a:ln>
        </p:spPr>
      </p:sp>
      <p:sp>
        <p:nvSpPr>
          <p:cNvPr id="14" name="obj2-circle"/>
          <p:cNvSpPr/>
          <p:nvPr/>
        </p:nvSpPr>
        <p:spPr>
          <a:xfrm>
            <a:off x="6172200" y="2514600"/>
            <a:ext cx="502920" cy="502920"/>
          </a:xfrm>
          <a:prstGeom prst="ellipse">
            <a:avLst/>
          </a:prstGeom>
          <a:solidFill>
            <a:schemeClr val="accent1"/>
          </a:solidFill>
          <a:ln w="12700">
            <a:solidFill>
              <a:schemeClr val="accent1"/>
            </a:solidFill>
            <a:prstDash val="solid"/>
          </a:ln>
        </p:spPr>
      </p:sp>
      <p:pic>
        <p:nvPicPr>
          <p:cNvPr id="15" name="obj2-icon" descr="preencoded.png">    </p:cNvPr>
          <p:cNvPicPr>
            <a:picLocks noChangeAspect="1"/>
          </p:cNvPicPr>
          <p:nvPr/>
        </p:nvPicPr>
        <p:blipFill>
          <a:blip r:embed="rId3"/>
          <a:stretch>
            <a:fillRect/>
          </a:stretch>
        </p:blipFill>
        <p:spPr>
          <a:xfrm>
            <a:off x="6292901" y="2635301"/>
            <a:ext cx="261518" cy="261518"/>
          </a:xfrm>
          <a:prstGeom prst="rect">
            <a:avLst/>
          </a:prstGeom>
        </p:spPr>
      </p:pic>
      <p:sp>
        <p:nvSpPr>
          <p:cNvPr id="16" name="Text 11"/>
          <p:cNvSpPr txBox="1"/>
          <p:nvPr/>
        </p:nvSpPr>
        <p:spPr>
          <a:xfrm>
            <a:off x="6784848" y="2350008"/>
            <a:ext cx="1764792" cy="868680"/>
          </a:xfrm>
          <a:prstGeom prst="rect">
            <a:avLst/>
          </a:prstGeom>
          <a:noFill/>
          <a:ln/>
        </p:spPr>
        <p:txBody>
          <a:bodyPr wrap="square" lIns="0" tIns="0" rIns="0" bIns="0" rtlCol="0" anchor="ctr"/>
          <a:lstStyle/>
          <a:p>
            <a:pPr indent="0" marL="0">
              <a:buNone/>
            </a:pPr>
            <a:r>
              <a:rPr lang="en-US" sz="1400" b="1" dirty="0">
                <a:solidFill>
                  <a:schemeClr val="tx2"/>
                </a:solidFill>
              </a:rPr>
              <a:t>Match training</a:t>
            </a:r>
            <a:endParaRPr lang="en-US" sz="1400" dirty="0"/>
          </a:p>
          <a:p>
            <a:pPr indent="0" marL="0">
              <a:buNone/>
            </a:pPr>
            <a:r>
              <a:rPr lang="en-US" sz="1200" dirty="0">
                <a:solidFill>
                  <a:schemeClr val="tx1"/>
                </a:solidFill>
              </a:rPr>
              <a:t>Same data, optimiser, seed and number of updates</a:t>
            </a:r>
            <a:endParaRPr lang="en-US" sz="1400" dirty="0"/>
          </a:p>
        </p:txBody>
      </p:sp>
      <p:sp>
        <p:nvSpPr>
          <p:cNvPr id="17" name="obj3"/>
          <p:cNvSpPr/>
          <p:nvPr/>
        </p:nvSpPr>
        <p:spPr>
          <a:xfrm>
            <a:off x="457200" y="3474720"/>
            <a:ext cx="2606040" cy="1051560"/>
          </a:xfrm>
          <a:prstGeom prst="roundRect">
            <a:avLst>
              <a:gd name="adj" fmla="val 6957"/>
            </a:avLst>
          </a:prstGeom>
          <a:solidFill>
            <a:schemeClr val="bg2"/>
          </a:solidFill>
          <a:ln w="12700">
            <a:solidFill>
              <a:schemeClr val="bg2"/>
            </a:solidFill>
            <a:prstDash val="solid"/>
          </a:ln>
        </p:spPr>
      </p:sp>
      <p:sp>
        <p:nvSpPr>
          <p:cNvPr id="18" name="obj3-circle"/>
          <p:cNvSpPr/>
          <p:nvPr/>
        </p:nvSpPr>
        <p:spPr>
          <a:xfrm>
            <a:off x="594360" y="3749040"/>
            <a:ext cx="502920" cy="502920"/>
          </a:xfrm>
          <a:prstGeom prst="ellipse">
            <a:avLst/>
          </a:prstGeom>
          <a:solidFill>
            <a:schemeClr val="accent1"/>
          </a:solidFill>
          <a:ln w="12700">
            <a:solidFill>
              <a:schemeClr val="accent1"/>
            </a:solidFill>
            <a:prstDash val="solid"/>
          </a:ln>
        </p:spPr>
      </p:sp>
      <p:pic>
        <p:nvPicPr>
          <p:cNvPr id="19" name="obj3-icon" descr="preencoded.png">    </p:cNvPr>
          <p:cNvPicPr>
            <a:picLocks noChangeAspect="1"/>
          </p:cNvPicPr>
          <p:nvPr/>
        </p:nvPicPr>
        <p:blipFill>
          <a:blip r:embed="rId4"/>
          <a:stretch>
            <a:fillRect/>
          </a:stretch>
        </p:blipFill>
        <p:spPr>
          <a:xfrm>
            <a:off x="715061" y="3869741"/>
            <a:ext cx="261518" cy="261518"/>
          </a:xfrm>
          <a:prstGeom prst="rect">
            <a:avLst/>
          </a:prstGeom>
        </p:spPr>
      </p:pic>
      <p:sp>
        <p:nvSpPr>
          <p:cNvPr id="20" name="Text 14"/>
          <p:cNvSpPr txBox="1"/>
          <p:nvPr/>
        </p:nvSpPr>
        <p:spPr>
          <a:xfrm>
            <a:off x="1207008" y="3584448"/>
            <a:ext cx="1764792" cy="868680"/>
          </a:xfrm>
          <a:prstGeom prst="rect">
            <a:avLst/>
          </a:prstGeom>
          <a:noFill/>
          <a:ln/>
        </p:spPr>
        <p:txBody>
          <a:bodyPr wrap="square" lIns="0" tIns="0" rIns="0" bIns="0" rtlCol="0" anchor="ctr"/>
          <a:lstStyle/>
          <a:p>
            <a:pPr indent="0" marL="0">
              <a:buNone/>
            </a:pPr>
            <a:r>
              <a:rPr lang="en-US" sz="1400" b="1" dirty="0">
                <a:solidFill>
                  <a:schemeClr val="tx2"/>
                </a:solidFill>
              </a:rPr>
              <a:t>Plug in</a:t>
            </a:r>
            <a:endParaRPr lang="en-US" sz="1400" dirty="0"/>
          </a:p>
          <a:p>
            <a:pPr indent="0" marL="0">
              <a:buNone/>
            </a:pPr>
            <a:r>
              <a:rPr lang="en-US" sz="1200" dirty="0">
                <a:solidFill>
                  <a:schemeClr val="tx1"/>
                </a:solidFill>
              </a:rPr>
              <a:t>Each model drives the identical PEA search</a:t>
            </a:r>
            <a:endParaRPr lang="en-US" sz="1400" dirty="0"/>
          </a:p>
        </p:txBody>
      </p:sp>
      <p:sp>
        <p:nvSpPr>
          <p:cNvPr id="21" name="obj4"/>
          <p:cNvSpPr/>
          <p:nvPr/>
        </p:nvSpPr>
        <p:spPr>
          <a:xfrm>
            <a:off x="3246120" y="3474720"/>
            <a:ext cx="2606040" cy="1051560"/>
          </a:xfrm>
          <a:prstGeom prst="roundRect">
            <a:avLst>
              <a:gd name="adj" fmla="val 6957"/>
            </a:avLst>
          </a:prstGeom>
          <a:solidFill>
            <a:schemeClr val="bg2"/>
          </a:solidFill>
          <a:ln w="12700">
            <a:solidFill>
              <a:schemeClr val="bg2"/>
            </a:solidFill>
            <a:prstDash val="solid"/>
          </a:ln>
        </p:spPr>
      </p:sp>
      <p:sp>
        <p:nvSpPr>
          <p:cNvPr id="22" name="obj4-circle"/>
          <p:cNvSpPr/>
          <p:nvPr/>
        </p:nvSpPr>
        <p:spPr>
          <a:xfrm>
            <a:off x="3383280" y="3749040"/>
            <a:ext cx="502920" cy="502920"/>
          </a:xfrm>
          <a:prstGeom prst="ellipse">
            <a:avLst/>
          </a:prstGeom>
          <a:solidFill>
            <a:schemeClr val="accent1"/>
          </a:solidFill>
          <a:ln w="12700">
            <a:solidFill>
              <a:schemeClr val="accent1"/>
            </a:solidFill>
            <a:prstDash val="solid"/>
          </a:ln>
        </p:spPr>
      </p:sp>
      <p:pic>
        <p:nvPicPr>
          <p:cNvPr id="23" name="obj4-icon" descr="preencoded.png">    </p:cNvPr>
          <p:cNvPicPr>
            <a:picLocks noChangeAspect="1"/>
          </p:cNvPicPr>
          <p:nvPr/>
        </p:nvPicPr>
        <p:blipFill>
          <a:blip r:embed="rId5"/>
          <a:stretch>
            <a:fillRect/>
          </a:stretch>
        </p:blipFill>
        <p:spPr>
          <a:xfrm>
            <a:off x="3503981" y="3869741"/>
            <a:ext cx="261518" cy="261518"/>
          </a:xfrm>
          <a:prstGeom prst="rect">
            <a:avLst/>
          </a:prstGeom>
        </p:spPr>
      </p:pic>
      <p:sp>
        <p:nvSpPr>
          <p:cNvPr id="24" name="Text 17"/>
          <p:cNvSpPr txBox="1"/>
          <p:nvPr/>
        </p:nvSpPr>
        <p:spPr>
          <a:xfrm>
            <a:off x="3995928" y="3584448"/>
            <a:ext cx="1764792" cy="868680"/>
          </a:xfrm>
          <a:prstGeom prst="rect">
            <a:avLst/>
          </a:prstGeom>
          <a:noFill/>
          <a:ln/>
        </p:spPr>
        <p:txBody>
          <a:bodyPr wrap="square" lIns="0" tIns="0" rIns="0" bIns="0" rtlCol="0" anchor="ctr"/>
          <a:lstStyle/>
          <a:p>
            <a:pPr indent="0" marL="0">
              <a:buNone/>
            </a:pPr>
            <a:r>
              <a:rPr lang="en-US" sz="1400" b="1" dirty="0">
                <a:solidFill>
                  <a:schemeClr val="tx2"/>
                </a:solidFill>
              </a:rPr>
              <a:t>Cross-check</a:t>
            </a:r>
            <a:endParaRPr lang="en-US" sz="1400" dirty="0"/>
          </a:p>
          <a:p>
            <a:pPr indent="0" marL="0">
              <a:buNone/>
            </a:pPr>
            <a:r>
              <a:rPr lang="en-US" sz="1200" dirty="0">
                <a:solidFill>
                  <a:schemeClr val="tx1"/>
                </a:solidFill>
              </a:rPr>
              <a:t>Score the same 1,024 PEA candidates with both models</a:t>
            </a:r>
            <a:endParaRPr lang="en-US" sz="1400" dirty="0"/>
          </a:p>
        </p:txBody>
      </p:sp>
      <p:sp>
        <p:nvSpPr>
          <p:cNvPr id="25" name="obj5"/>
          <p:cNvSpPr/>
          <p:nvPr/>
        </p:nvSpPr>
        <p:spPr>
          <a:xfrm>
            <a:off x="6035040" y="3474720"/>
            <a:ext cx="2606040" cy="1051560"/>
          </a:xfrm>
          <a:prstGeom prst="roundRect">
            <a:avLst>
              <a:gd name="adj" fmla="val 6957"/>
            </a:avLst>
          </a:prstGeom>
          <a:solidFill>
            <a:schemeClr val="bg2"/>
          </a:solidFill>
          <a:ln w="12700">
            <a:solidFill>
              <a:schemeClr val="bg2"/>
            </a:solidFill>
            <a:prstDash val="solid"/>
          </a:ln>
        </p:spPr>
      </p:sp>
      <p:sp>
        <p:nvSpPr>
          <p:cNvPr id="26" name="obj5-circle"/>
          <p:cNvSpPr/>
          <p:nvPr/>
        </p:nvSpPr>
        <p:spPr>
          <a:xfrm>
            <a:off x="6172200" y="3749040"/>
            <a:ext cx="502920" cy="502920"/>
          </a:xfrm>
          <a:prstGeom prst="ellipse">
            <a:avLst/>
          </a:prstGeom>
          <a:solidFill>
            <a:schemeClr val="accent1"/>
          </a:solidFill>
          <a:ln w="12700">
            <a:solidFill>
              <a:schemeClr val="accent1"/>
            </a:solidFill>
            <a:prstDash val="solid"/>
          </a:ln>
        </p:spPr>
      </p:sp>
      <p:pic>
        <p:nvPicPr>
          <p:cNvPr id="27" name="obj5-icon" descr="preencoded.png">    </p:cNvPr>
          <p:cNvPicPr>
            <a:picLocks noChangeAspect="1"/>
          </p:cNvPicPr>
          <p:nvPr/>
        </p:nvPicPr>
        <p:blipFill>
          <a:blip r:embed="rId6"/>
          <a:stretch>
            <a:fillRect/>
          </a:stretch>
        </p:blipFill>
        <p:spPr>
          <a:xfrm>
            <a:off x="6292901" y="3869741"/>
            <a:ext cx="261518" cy="261518"/>
          </a:xfrm>
          <a:prstGeom prst="rect">
            <a:avLst/>
          </a:prstGeom>
        </p:spPr>
      </p:pic>
      <p:sp>
        <p:nvSpPr>
          <p:cNvPr id="28" name="Text 20"/>
          <p:cNvSpPr txBox="1"/>
          <p:nvPr/>
        </p:nvSpPr>
        <p:spPr>
          <a:xfrm>
            <a:off x="6784848" y="3584448"/>
            <a:ext cx="1764792" cy="868680"/>
          </a:xfrm>
          <a:prstGeom prst="rect">
            <a:avLst/>
          </a:prstGeom>
          <a:noFill/>
          <a:ln/>
        </p:spPr>
        <p:txBody>
          <a:bodyPr wrap="square" lIns="0" tIns="0" rIns="0" bIns="0" rtlCol="0" anchor="ctr"/>
          <a:lstStyle/>
          <a:p>
            <a:pPr indent="0" marL="0">
              <a:buNone/>
            </a:pPr>
            <a:r>
              <a:rPr lang="en-US" sz="1400" b="1" dirty="0">
                <a:solidFill>
                  <a:schemeClr val="tx2"/>
                </a:solidFill>
              </a:rPr>
              <a:t>Compare</a:t>
            </a:r>
            <a:endParaRPr lang="en-US" sz="1400" dirty="0"/>
          </a:p>
          <a:p>
            <a:pPr indent="0" marL="0">
              <a:buNone/>
            </a:pPr>
            <a:r>
              <a:rPr lang="en-US" sz="1200" dirty="0">
                <a:solidFill>
                  <a:schemeClr val="tx1"/>
                </a:solidFill>
              </a:rPr>
              <a:t>Final designs, shape error, repeatability, runtime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Method: only the forward model changes</a:t>
            </a:r>
            <a:endParaRPr lang="en-US" sz="2400" dirty="0"/>
          </a:p>
        </p:txBody>
      </p:sp>
      <p:sp>
        <p:nvSpPr>
          <p:cNvPr id="3" name="pipe0"/>
          <p:cNvSpPr/>
          <p:nvPr/>
        </p:nvSpPr>
        <p:spPr>
          <a:xfrm>
            <a:off x="457200" y="1188720"/>
            <a:ext cx="1463040" cy="1152144"/>
          </a:xfrm>
          <a:prstGeom prst="roundRect">
            <a:avLst>
              <a:gd name="adj" fmla="val 4762"/>
            </a:avLst>
          </a:prstGeom>
          <a:solidFill>
            <a:schemeClr val="bg2"/>
          </a:solidFill>
          <a:ln w="12700">
            <a:solidFill>
              <a:schemeClr val="bg2"/>
            </a:solidFill>
            <a:prstDash val="solid"/>
          </a:ln>
        </p:spPr>
      </p:sp>
      <p:sp>
        <p:nvSpPr>
          <p:cNvPr id="4" name="Text 2"/>
          <p:cNvSpPr txBox="1"/>
          <p:nvPr/>
        </p:nvSpPr>
        <p:spPr>
          <a:xfrm>
            <a:off x="530352" y="1188720"/>
            <a:ext cx="1316736" cy="1152144"/>
          </a:xfrm>
          <a:prstGeom prst="rect">
            <a:avLst/>
          </a:prstGeom>
          <a:noFill/>
          <a:ln/>
        </p:spPr>
        <p:txBody>
          <a:bodyPr wrap="square" lIns="0" tIns="0" rIns="0" bIns="0" rtlCol="0" anchor="ctr"/>
          <a:lstStyle/>
          <a:p>
            <a:pPr algn="ctr" indent="0" marL="0">
              <a:buNone/>
            </a:pPr>
            <a:r>
              <a:rPr lang="en-US" sz="1200" b="1" dirty="0">
                <a:solidFill>
                  <a:schemeClr val="tx2"/>
                </a:solidFill>
              </a:rPr>
              <a:t>Candidate</a:t>
            </a:r>
            <a:endParaRPr lang="en-US" sz="1200" dirty="0"/>
          </a:p>
          <a:p>
            <a:pPr algn="ctr" indent="0" marL="0">
              <a:buNone/>
            </a:pPr>
            <a:r>
              <a:rPr lang="en-US" sz="1200" b="1" dirty="0">
                <a:solidFill>
                  <a:schemeClr val="tx2"/>
                </a:solidFill>
              </a:rPr>
              <a:t>chromosome 2 × 10</a:t>
            </a:r>
            <a:endParaRPr lang="en-US" sz="1200" dirty="0"/>
          </a:p>
        </p:txBody>
      </p:sp>
      <p:sp>
        <p:nvSpPr>
          <p:cNvPr id="5" name="pa0"/>
          <p:cNvSpPr/>
          <p:nvPr/>
        </p:nvSpPr>
        <p:spPr>
          <a:xfrm>
            <a:off x="1938528" y="1764792"/>
            <a:ext cx="192024" cy="0"/>
          </a:xfrm>
          <a:prstGeom prst="line">
            <a:avLst/>
          </a:prstGeom>
          <a:noFill/>
          <a:ln w="19050">
            <a:solidFill>
              <a:schemeClr val="accent4"/>
            </a:solidFill>
            <a:prstDash val="solid"/>
            <a:tailEnd type="triangle"/>
          </a:ln>
        </p:spPr>
      </p:sp>
      <p:sp>
        <p:nvSpPr>
          <p:cNvPr id="6" name="pipe-sep"/>
          <p:cNvSpPr/>
          <p:nvPr/>
        </p:nvSpPr>
        <p:spPr>
          <a:xfrm>
            <a:off x="2148840" y="1188720"/>
            <a:ext cx="1463040" cy="530352"/>
          </a:xfrm>
          <a:prstGeom prst="roundRect">
            <a:avLst>
              <a:gd name="adj" fmla="val 10345"/>
            </a:avLst>
          </a:prstGeom>
          <a:solidFill>
            <a:schemeClr val="accent2"/>
          </a:solidFill>
          <a:ln w="12700">
            <a:solidFill>
              <a:schemeClr val="accent2"/>
            </a:solidFill>
            <a:prstDash val="solid"/>
          </a:ln>
        </p:spPr>
      </p:sp>
      <p:sp>
        <p:nvSpPr>
          <p:cNvPr id="7" name="Text 5"/>
          <p:cNvSpPr txBox="1"/>
          <p:nvPr/>
        </p:nvSpPr>
        <p:spPr>
          <a:xfrm>
            <a:off x="2148840" y="1188720"/>
            <a:ext cx="1463040" cy="530352"/>
          </a:xfrm>
          <a:prstGeom prst="rect">
            <a:avLst/>
          </a:prstGeom>
          <a:noFill/>
          <a:ln/>
        </p:spPr>
        <p:txBody>
          <a:bodyPr wrap="square" lIns="0" tIns="0" rIns="0" bIns="0" rtlCol="0" anchor="ctr"/>
          <a:lstStyle/>
          <a:p>
            <a:pPr algn="ctr" indent="0" marL="0">
              <a:buNone/>
            </a:pPr>
            <a:r>
              <a:rPr lang="en-US" sz="1300" b="1" dirty="0">
                <a:solidFill>
                  <a:schemeClr val="bg1"/>
                </a:solidFill>
              </a:rPr>
              <a:t>SEP-CNN</a:t>
            </a:r>
            <a:endParaRPr lang="en-US" sz="1300" dirty="0"/>
          </a:p>
        </p:txBody>
      </p:sp>
      <p:sp>
        <p:nvSpPr>
          <p:cNvPr id="8" name="pipe-res"/>
          <p:cNvSpPr/>
          <p:nvPr/>
        </p:nvSpPr>
        <p:spPr>
          <a:xfrm>
            <a:off x="2148840" y="1810512"/>
            <a:ext cx="1463040" cy="530352"/>
          </a:xfrm>
          <a:prstGeom prst="roundRect">
            <a:avLst>
              <a:gd name="adj" fmla="val 10345"/>
            </a:avLst>
          </a:prstGeom>
          <a:solidFill>
            <a:schemeClr val="accent1"/>
          </a:solidFill>
          <a:ln w="12700">
            <a:solidFill>
              <a:schemeClr val="accent1"/>
            </a:solidFill>
            <a:prstDash val="solid"/>
          </a:ln>
        </p:spPr>
      </p:sp>
      <p:sp>
        <p:nvSpPr>
          <p:cNvPr id="9" name="Text 7"/>
          <p:cNvSpPr txBox="1"/>
          <p:nvPr/>
        </p:nvSpPr>
        <p:spPr>
          <a:xfrm>
            <a:off x="2148840" y="1810512"/>
            <a:ext cx="1463040" cy="530352"/>
          </a:xfrm>
          <a:prstGeom prst="rect">
            <a:avLst/>
          </a:prstGeom>
          <a:noFill/>
          <a:ln/>
        </p:spPr>
        <p:txBody>
          <a:bodyPr wrap="square" lIns="0" tIns="0" rIns="0" bIns="0" rtlCol="0" anchor="ctr"/>
          <a:lstStyle/>
          <a:p>
            <a:pPr algn="ctr" indent="0" marL="0">
              <a:buNone/>
            </a:pPr>
            <a:r>
              <a:rPr lang="en-US" sz="1300" b="1" dirty="0">
                <a:solidFill>
                  <a:schemeClr val="bg1"/>
                </a:solidFill>
              </a:rPr>
              <a:t>2D ResNet</a:t>
            </a:r>
            <a:endParaRPr lang="en-US" sz="1300" dirty="0"/>
          </a:p>
        </p:txBody>
      </p:sp>
      <p:sp>
        <p:nvSpPr>
          <p:cNvPr id="10" name="pa1"/>
          <p:cNvSpPr/>
          <p:nvPr/>
        </p:nvSpPr>
        <p:spPr>
          <a:xfrm>
            <a:off x="3630168" y="1764792"/>
            <a:ext cx="192024" cy="0"/>
          </a:xfrm>
          <a:prstGeom prst="line">
            <a:avLst/>
          </a:prstGeom>
          <a:noFill/>
          <a:ln w="19050">
            <a:solidFill>
              <a:schemeClr val="accent4"/>
            </a:solidFill>
            <a:prstDash val="solid"/>
            <a:tailEnd type="triangle"/>
          </a:ln>
        </p:spPr>
      </p:sp>
      <p:sp>
        <p:nvSpPr>
          <p:cNvPr id="11" name="pipe2"/>
          <p:cNvSpPr/>
          <p:nvPr/>
        </p:nvSpPr>
        <p:spPr>
          <a:xfrm>
            <a:off x="3840480" y="1188720"/>
            <a:ext cx="1463040" cy="1152144"/>
          </a:xfrm>
          <a:prstGeom prst="roundRect">
            <a:avLst>
              <a:gd name="adj" fmla="val 4762"/>
            </a:avLst>
          </a:prstGeom>
          <a:solidFill>
            <a:schemeClr val="bg2"/>
          </a:solidFill>
          <a:ln w="12700">
            <a:solidFill>
              <a:schemeClr val="bg2"/>
            </a:solidFill>
            <a:prstDash val="solid"/>
          </a:ln>
        </p:spPr>
      </p:sp>
      <p:sp>
        <p:nvSpPr>
          <p:cNvPr id="12" name="Text 10"/>
          <p:cNvSpPr txBox="1"/>
          <p:nvPr/>
        </p:nvSpPr>
        <p:spPr>
          <a:xfrm>
            <a:off x="3913632" y="1188720"/>
            <a:ext cx="1316736" cy="1152144"/>
          </a:xfrm>
          <a:prstGeom prst="rect">
            <a:avLst/>
          </a:prstGeom>
          <a:noFill/>
          <a:ln/>
        </p:spPr>
        <p:txBody>
          <a:bodyPr wrap="square" lIns="0" tIns="0" rIns="0" bIns="0" rtlCol="0" anchor="ctr"/>
          <a:lstStyle/>
          <a:p>
            <a:pPr algn="ctr" indent="0" marL="0">
              <a:buNone/>
            </a:pPr>
            <a:r>
              <a:rPr lang="en-US" sz="1200" b="1" dirty="0">
                <a:solidFill>
                  <a:schemeClr val="tx2"/>
                </a:solidFill>
              </a:rPr>
              <a:t>Predicted shape</a:t>
            </a:r>
            <a:endParaRPr lang="en-US" sz="1200" dirty="0"/>
          </a:p>
          <a:p>
            <a:pPr algn="ctr" indent="0" marL="0">
              <a:buNone/>
            </a:pPr>
            <a:r>
              <a:rPr lang="en-US" sz="1200" b="1" dirty="0">
                <a:solidFill>
                  <a:schemeClr val="tx2"/>
                </a:solidFill>
              </a:rPr>
              <a:t>2 × 200</a:t>
            </a:r>
            <a:endParaRPr lang="en-US" sz="1200" dirty="0"/>
          </a:p>
        </p:txBody>
      </p:sp>
      <p:sp>
        <p:nvSpPr>
          <p:cNvPr id="13" name="pa2"/>
          <p:cNvSpPr/>
          <p:nvPr/>
        </p:nvSpPr>
        <p:spPr>
          <a:xfrm>
            <a:off x="5321808" y="1764792"/>
            <a:ext cx="192024" cy="0"/>
          </a:xfrm>
          <a:prstGeom prst="line">
            <a:avLst/>
          </a:prstGeom>
          <a:noFill/>
          <a:ln w="19050">
            <a:solidFill>
              <a:schemeClr val="accent4"/>
            </a:solidFill>
            <a:prstDash val="solid"/>
            <a:tailEnd type="triangle"/>
          </a:ln>
        </p:spPr>
      </p:sp>
      <p:sp>
        <p:nvSpPr>
          <p:cNvPr id="14" name="pipe3"/>
          <p:cNvSpPr/>
          <p:nvPr/>
        </p:nvSpPr>
        <p:spPr>
          <a:xfrm>
            <a:off x="5532120" y="1188720"/>
            <a:ext cx="1463040" cy="1152144"/>
          </a:xfrm>
          <a:prstGeom prst="roundRect">
            <a:avLst>
              <a:gd name="adj" fmla="val 4762"/>
            </a:avLst>
          </a:prstGeom>
          <a:solidFill>
            <a:schemeClr val="bg2"/>
          </a:solidFill>
          <a:ln w="12700">
            <a:solidFill>
              <a:schemeClr val="bg2"/>
            </a:solidFill>
            <a:prstDash val="solid"/>
          </a:ln>
        </p:spPr>
      </p:sp>
      <p:sp>
        <p:nvSpPr>
          <p:cNvPr id="15" name="Text 13"/>
          <p:cNvSpPr txBox="1"/>
          <p:nvPr/>
        </p:nvSpPr>
        <p:spPr>
          <a:xfrm>
            <a:off x="5605272" y="1188720"/>
            <a:ext cx="1316736" cy="1152144"/>
          </a:xfrm>
          <a:prstGeom prst="rect">
            <a:avLst/>
          </a:prstGeom>
          <a:noFill/>
          <a:ln/>
        </p:spPr>
        <p:txBody>
          <a:bodyPr wrap="square" lIns="0" tIns="0" rIns="0" bIns="0" rtlCol="0" anchor="ctr"/>
          <a:lstStyle/>
          <a:p>
            <a:pPr algn="ctr" indent="0" marL="0">
              <a:buNone/>
            </a:pPr>
            <a:r>
              <a:rPr lang="en-US" sz="1200" b="1" dirty="0">
                <a:solidFill>
                  <a:schemeClr val="tx2"/>
                </a:solidFill>
              </a:rPr>
              <a:t>Fitness = error</a:t>
            </a:r>
            <a:endParaRPr lang="en-US" sz="1200" dirty="0"/>
          </a:p>
          <a:p>
            <a:pPr algn="ctr" indent="0" marL="0">
              <a:buNone/>
            </a:pPr>
            <a:r>
              <a:rPr lang="en-US" sz="1200" b="1" dirty="0">
                <a:solidFill>
                  <a:schemeClr val="tx2"/>
                </a:solidFill>
              </a:rPr>
              <a:t>vs target</a:t>
            </a:r>
            <a:endParaRPr lang="en-US" sz="1200" dirty="0"/>
          </a:p>
        </p:txBody>
      </p:sp>
      <p:sp>
        <p:nvSpPr>
          <p:cNvPr id="16" name="pa3"/>
          <p:cNvSpPr/>
          <p:nvPr/>
        </p:nvSpPr>
        <p:spPr>
          <a:xfrm>
            <a:off x="7013448" y="1764792"/>
            <a:ext cx="192024" cy="0"/>
          </a:xfrm>
          <a:prstGeom prst="line">
            <a:avLst/>
          </a:prstGeom>
          <a:noFill/>
          <a:ln w="19050">
            <a:solidFill>
              <a:schemeClr val="accent4"/>
            </a:solidFill>
            <a:prstDash val="solid"/>
            <a:tailEnd type="triangle"/>
          </a:ln>
        </p:spPr>
      </p:sp>
      <p:sp>
        <p:nvSpPr>
          <p:cNvPr id="17" name="pipe4"/>
          <p:cNvSpPr/>
          <p:nvPr/>
        </p:nvSpPr>
        <p:spPr>
          <a:xfrm>
            <a:off x="7223760" y="1188720"/>
            <a:ext cx="1463040" cy="1152144"/>
          </a:xfrm>
          <a:prstGeom prst="roundRect">
            <a:avLst>
              <a:gd name="adj" fmla="val 4762"/>
            </a:avLst>
          </a:prstGeom>
          <a:solidFill>
            <a:schemeClr val="bg2"/>
          </a:solidFill>
          <a:ln w="12700">
            <a:solidFill>
              <a:schemeClr val="bg2"/>
            </a:solidFill>
            <a:prstDash val="solid"/>
          </a:ln>
        </p:spPr>
      </p:sp>
      <p:sp>
        <p:nvSpPr>
          <p:cNvPr id="18" name="Text 16"/>
          <p:cNvSpPr txBox="1"/>
          <p:nvPr/>
        </p:nvSpPr>
        <p:spPr>
          <a:xfrm>
            <a:off x="7296912" y="1188720"/>
            <a:ext cx="1316736" cy="1152144"/>
          </a:xfrm>
          <a:prstGeom prst="rect">
            <a:avLst/>
          </a:prstGeom>
          <a:noFill/>
          <a:ln/>
        </p:spPr>
        <p:txBody>
          <a:bodyPr wrap="square" lIns="0" tIns="0" rIns="0" bIns="0" rtlCol="0" anchor="ctr"/>
          <a:lstStyle/>
          <a:p>
            <a:pPr algn="ctr" indent="0" marL="0">
              <a:buNone/>
            </a:pPr>
            <a:r>
              <a:rPr lang="en-US" sz="1200" b="1" dirty="0">
                <a:solidFill>
                  <a:schemeClr val="tx2"/>
                </a:solidFill>
              </a:rPr>
              <a:t>PEA selects</a:t>
            </a:r>
            <a:endParaRPr lang="en-US" sz="1200" dirty="0"/>
          </a:p>
          <a:p>
            <a:pPr algn="ctr" indent="0" marL="0">
              <a:buNone/>
            </a:pPr>
            <a:r>
              <a:rPr lang="en-US" sz="1200" b="1" dirty="0">
                <a:solidFill>
                  <a:schemeClr val="tx2"/>
                </a:solidFill>
              </a:rPr>
              <a:t>next candidates</a:t>
            </a:r>
            <a:endParaRPr lang="en-US" sz="1200" dirty="0"/>
          </a:p>
        </p:txBody>
      </p:sp>
      <p:sp>
        <p:nvSpPr>
          <p:cNvPr id="19" name="Text 17"/>
          <p:cNvSpPr txBox="1"/>
          <p:nvPr/>
        </p:nvSpPr>
        <p:spPr>
          <a:xfrm>
            <a:off x="457200" y="2606040"/>
            <a:ext cx="8229600" cy="320040"/>
          </a:xfrm>
          <a:prstGeom prst="rect">
            <a:avLst/>
          </a:prstGeom>
          <a:noFill/>
          <a:ln/>
        </p:spPr>
        <p:txBody>
          <a:bodyPr wrap="square" lIns="0" tIns="0" rIns="0" bIns="0" rtlCol="0" anchor="t"/>
          <a:lstStyle/>
          <a:p>
            <a:pPr indent="0" marL="0">
              <a:buNone/>
            </a:pPr>
            <a:r>
              <a:rPr lang="en-US" sz="1500" b="1" dirty="0">
                <a:solidFill>
                  <a:schemeClr val="tx2"/>
                </a:solidFill>
              </a:rPr>
              <a:t>ResNet conversion (same input/output contract)</a:t>
            </a:r>
            <a:endParaRPr lang="en-US" sz="1500" dirty="0"/>
          </a:p>
        </p:txBody>
      </p:sp>
      <p:sp>
        <p:nvSpPr>
          <p:cNvPr id="20" name="rn0"/>
          <p:cNvSpPr/>
          <p:nvPr/>
        </p:nvSpPr>
        <p:spPr>
          <a:xfrm>
            <a:off x="457200" y="3017520"/>
            <a:ext cx="1234440" cy="731520"/>
          </a:xfrm>
          <a:prstGeom prst="roundRect">
            <a:avLst>
              <a:gd name="adj" fmla="val 7500"/>
            </a:avLst>
          </a:prstGeom>
          <a:solidFill>
            <a:schemeClr val="bg2"/>
          </a:solidFill>
          <a:ln w="12700">
            <a:solidFill>
              <a:schemeClr val="bg2"/>
            </a:solidFill>
            <a:prstDash val="solid"/>
          </a:ln>
        </p:spPr>
      </p:sp>
      <p:sp>
        <p:nvSpPr>
          <p:cNvPr id="21" name="Text 19"/>
          <p:cNvSpPr txBox="1"/>
          <p:nvPr/>
        </p:nvSpPr>
        <p:spPr>
          <a:xfrm>
            <a:off x="502920" y="3017520"/>
            <a:ext cx="1143000" cy="731520"/>
          </a:xfrm>
          <a:prstGeom prst="rect">
            <a:avLst/>
          </a:prstGeom>
          <a:noFill/>
          <a:ln/>
        </p:spPr>
        <p:txBody>
          <a:bodyPr wrap="square" lIns="0" tIns="0" rIns="0" bIns="0" rtlCol="0" anchor="ctr"/>
          <a:lstStyle/>
          <a:p>
            <a:pPr algn="ctr" indent="0" marL="0">
              <a:buNone/>
            </a:pPr>
            <a:r>
              <a:rPr lang="en-US" sz="1100" dirty="0">
                <a:solidFill>
                  <a:schemeClr val="tx2"/>
                </a:solidFill>
              </a:rPr>
              <a:t>2 × 10 input</a:t>
            </a:r>
            <a:endParaRPr lang="en-US" sz="1100" dirty="0"/>
          </a:p>
        </p:txBody>
      </p:sp>
      <p:sp>
        <p:nvSpPr>
          <p:cNvPr id="22" name="rna0"/>
          <p:cNvSpPr/>
          <p:nvPr/>
        </p:nvSpPr>
        <p:spPr>
          <a:xfrm>
            <a:off x="1700784" y="3383280"/>
            <a:ext cx="146304" cy="0"/>
          </a:xfrm>
          <a:prstGeom prst="line">
            <a:avLst/>
          </a:prstGeom>
          <a:noFill/>
          <a:ln w="15875">
            <a:solidFill>
              <a:schemeClr val="accent4"/>
            </a:solidFill>
            <a:prstDash val="solid"/>
            <a:tailEnd type="triangle"/>
          </a:ln>
        </p:spPr>
      </p:sp>
      <p:sp>
        <p:nvSpPr>
          <p:cNvPr id="23" name="rn1"/>
          <p:cNvSpPr/>
          <p:nvPr/>
        </p:nvSpPr>
        <p:spPr>
          <a:xfrm>
            <a:off x="1856232" y="3017520"/>
            <a:ext cx="1234440" cy="731520"/>
          </a:xfrm>
          <a:prstGeom prst="roundRect">
            <a:avLst>
              <a:gd name="adj" fmla="val 7500"/>
            </a:avLst>
          </a:prstGeom>
          <a:solidFill>
            <a:schemeClr val="bg2"/>
          </a:solidFill>
          <a:ln w="12700">
            <a:solidFill>
              <a:schemeClr val="bg2"/>
            </a:solidFill>
            <a:prstDash val="solid"/>
          </a:ln>
        </p:spPr>
      </p:sp>
      <p:sp>
        <p:nvSpPr>
          <p:cNvPr id="24" name="Text 22"/>
          <p:cNvSpPr txBox="1"/>
          <p:nvPr/>
        </p:nvSpPr>
        <p:spPr>
          <a:xfrm>
            <a:off x="1901952" y="3017520"/>
            <a:ext cx="1143000" cy="731520"/>
          </a:xfrm>
          <a:prstGeom prst="rect">
            <a:avLst/>
          </a:prstGeom>
          <a:noFill/>
          <a:ln/>
        </p:spPr>
        <p:txBody>
          <a:bodyPr wrap="square" lIns="0" tIns="0" rIns="0" bIns="0" rtlCol="0" anchor="ctr"/>
          <a:lstStyle/>
          <a:p>
            <a:pPr algn="ctr" indent="0" marL="0">
              <a:buNone/>
            </a:pPr>
            <a:r>
              <a:rPr lang="en-US" sz="1100" dirty="0">
                <a:solidFill>
                  <a:schemeClr val="tx2"/>
                </a:solidFill>
              </a:rPr>
              <a:t>Add channel</a:t>
            </a:r>
            <a:endParaRPr lang="en-US" sz="1100" dirty="0"/>
          </a:p>
          <a:p>
            <a:pPr algn="ctr" indent="0" marL="0">
              <a:buNone/>
            </a:pPr>
            <a:r>
              <a:rPr lang="en-US" sz="1100" dirty="0">
                <a:solidFill>
                  <a:schemeClr val="tx2"/>
                </a:solidFill>
              </a:rPr>
              <a:t>2 × 10 × 1</a:t>
            </a:r>
            <a:endParaRPr lang="en-US" sz="1100" dirty="0"/>
          </a:p>
        </p:txBody>
      </p:sp>
      <p:sp>
        <p:nvSpPr>
          <p:cNvPr id="25" name="rna1"/>
          <p:cNvSpPr/>
          <p:nvPr/>
        </p:nvSpPr>
        <p:spPr>
          <a:xfrm>
            <a:off x="3099816" y="3383280"/>
            <a:ext cx="146304" cy="0"/>
          </a:xfrm>
          <a:prstGeom prst="line">
            <a:avLst/>
          </a:prstGeom>
          <a:noFill/>
          <a:ln w="15875">
            <a:solidFill>
              <a:schemeClr val="accent4"/>
            </a:solidFill>
            <a:prstDash val="solid"/>
            <a:tailEnd type="triangle"/>
          </a:ln>
        </p:spPr>
      </p:sp>
      <p:sp>
        <p:nvSpPr>
          <p:cNvPr id="26" name="rn2"/>
          <p:cNvSpPr/>
          <p:nvPr/>
        </p:nvSpPr>
        <p:spPr>
          <a:xfrm>
            <a:off x="3255264" y="3017520"/>
            <a:ext cx="1234440" cy="731520"/>
          </a:xfrm>
          <a:prstGeom prst="roundRect">
            <a:avLst>
              <a:gd name="adj" fmla="val 7500"/>
            </a:avLst>
          </a:prstGeom>
          <a:solidFill>
            <a:schemeClr val="bg2"/>
          </a:solidFill>
          <a:ln w="12700">
            <a:solidFill>
              <a:schemeClr val="bg2"/>
            </a:solidFill>
            <a:prstDash val="solid"/>
          </a:ln>
        </p:spPr>
      </p:sp>
      <p:sp>
        <p:nvSpPr>
          <p:cNvPr id="27" name="Text 25"/>
          <p:cNvSpPr txBox="1"/>
          <p:nvPr/>
        </p:nvSpPr>
        <p:spPr>
          <a:xfrm>
            <a:off x="3300984" y="3017520"/>
            <a:ext cx="1143000" cy="731520"/>
          </a:xfrm>
          <a:prstGeom prst="rect">
            <a:avLst/>
          </a:prstGeom>
          <a:noFill/>
          <a:ln/>
        </p:spPr>
        <p:txBody>
          <a:bodyPr wrap="square" lIns="0" tIns="0" rIns="0" bIns="0" rtlCol="0" anchor="ctr"/>
          <a:lstStyle/>
          <a:p>
            <a:pPr algn="ctr" indent="0" marL="0">
              <a:buNone/>
            </a:pPr>
            <a:r>
              <a:rPr lang="en-US" sz="1100" dirty="0">
                <a:solidFill>
                  <a:schemeClr val="tx2"/>
                </a:solidFill>
              </a:rPr>
              <a:t>Conv2D stem</a:t>
            </a:r>
            <a:endParaRPr lang="en-US" sz="1100" dirty="0"/>
          </a:p>
        </p:txBody>
      </p:sp>
      <p:sp>
        <p:nvSpPr>
          <p:cNvPr id="28" name="rna2"/>
          <p:cNvSpPr/>
          <p:nvPr/>
        </p:nvSpPr>
        <p:spPr>
          <a:xfrm>
            <a:off x="4498848" y="3383280"/>
            <a:ext cx="146304" cy="0"/>
          </a:xfrm>
          <a:prstGeom prst="line">
            <a:avLst/>
          </a:prstGeom>
          <a:noFill/>
          <a:ln w="15875">
            <a:solidFill>
              <a:schemeClr val="accent4"/>
            </a:solidFill>
            <a:prstDash val="solid"/>
            <a:tailEnd type="triangle"/>
          </a:ln>
        </p:spPr>
      </p:sp>
      <p:sp>
        <p:nvSpPr>
          <p:cNvPr id="29" name="rn3"/>
          <p:cNvSpPr/>
          <p:nvPr/>
        </p:nvSpPr>
        <p:spPr>
          <a:xfrm>
            <a:off x="4654296" y="3017520"/>
            <a:ext cx="1234440" cy="731520"/>
          </a:xfrm>
          <a:prstGeom prst="roundRect">
            <a:avLst>
              <a:gd name="adj" fmla="val 7500"/>
            </a:avLst>
          </a:prstGeom>
          <a:solidFill>
            <a:schemeClr val="accent1"/>
          </a:solidFill>
          <a:ln w="12700">
            <a:solidFill>
              <a:schemeClr val="accent1"/>
            </a:solidFill>
            <a:prstDash val="solid"/>
          </a:ln>
        </p:spPr>
      </p:sp>
      <p:sp>
        <p:nvSpPr>
          <p:cNvPr id="30" name="Text 28"/>
          <p:cNvSpPr txBox="1"/>
          <p:nvPr/>
        </p:nvSpPr>
        <p:spPr>
          <a:xfrm>
            <a:off x="4700016" y="3017520"/>
            <a:ext cx="1143000" cy="731520"/>
          </a:xfrm>
          <a:prstGeom prst="rect">
            <a:avLst/>
          </a:prstGeom>
          <a:noFill/>
          <a:ln/>
        </p:spPr>
        <p:txBody>
          <a:bodyPr wrap="square" lIns="0" tIns="0" rIns="0" bIns="0" rtlCol="0" anchor="ctr"/>
          <a:lstStyle/>
          <a:p>
            <a:pPr algn="ctr" indent="0" marL="0">
              <a:buNone/>
            </a:pPr>
            <a:r>
              <a:rPr lang="en-US" sz="1100" b="1" dirty="0">
                <a:solidFill>
                  <a:schemeClr val="bg1"/>
                </a:solidFill>
              </a:rPr>
              <a:t>3 residual blocks</a:t>
            </a:r>
            <a:endParaRPr lang="en-US" sz="1100" dirty="0"/>
          </a:p>
        </p:txBody>
      </p:sp>
      <p:sp>
        <p:nvSpPr>
          <p:cNvPr id="31" name="rna3"/>
          <p:cNvSpPr/>
          <p:nvPr/>
        </p:nvSpPr>
        <p:spPr>
          <a:xfrm>
            <a:off x="5897880" y="3383280"/>
            <a:ext cx="146304" cy="0"/>
          </a:xfrm>
          <a:prstGeom prst="line">
            <a:avLst/>
          </a:prstGeom>
          <a:noFill/>
          <a:ln w="15875">
            <a:solidFill>
              <a:schemeClr val="accent4"/>
            </a:solidFill>
            <a:prstDash val="solid"/>
            <a:tailEnd type="triangle"/>
          </a:ln>
        </p:spPr>
      </p:sp>
      <p:sp>
        <p:nvSpPr>
          <p:cNvPr id="32" name="rn4"/>
          <p:cNvSpPr/>
          <p:nvPr/>
        </p:nvSpPr>
        <p:spPr>
          <a:xfrm>
            <a:off x="6053328" y="3017520"/>
            <a:ext cx="1234440" cy="731520"/>
          </a:xfrm>
          <a:prstGeom prst="roundRect">
            <a:avLst>
              <a:gd name="adj" fmla="val 7500"/>
            </a:avLst>
          </a:prstGeom>
          <a:solidFill>
            <a:schemeClr val="bg2"/>
          </a:solidFill>
          <a:ln w="12700">
            <a:solidFill>
              <a:schemeClr val="bg2"/>
            </a:solidFill>
            <a:prstDash val="solid"/>
          </a:ln>
        </p:spPr>
      </p:sp>
      <p:sp>
        <p:nvSpPr>
          <p:cNvPr id="33" name="Text 31"/>
          <p:cNvSpPr txBox="1"/>
          <p:nvPr/>
        </p:nvSpPr>
        <p:spPr>
          <a:xfrm>
            <a:off x="6099048" y="3017520"/>
            <a:ext cx="1143000" cy="731520"/>
          </a:xfrm>
          <a:prstGeom prst="rect">
            <a:avLst/>
          </a:prstGeom>
          <a:noFill/>
          <a:ln/>
        </p:spPr>
        <p:txBody>
          <a:bodyPr wrap="square" lIns="0" tIns="0" rIns="0" bIns="0" rtlCol="0" anchor="ctr"/>
          <a:lstStyle/>
          <a:p>
            <a:pPr algn="ctr" indent="0" marL="0">
              <a:buNone/>
            </a:pPr>
            <a:r>
              <a:rPr lang="en-US" sz="1100" dirty="0">
                <a:solidFill>
                  <a:schemeClr val="tx2"/>
                </a:solidFill>
              </a:rPr>
              <a:t>Project to</a:t>
            </a:r>
            <a:endParaRPr lang="en-US" sz="1100" dirty="0"/>
          </a:p>
          <a:p>
            <a:pPr algn="ctr" indent="0" marL="0">
              <a:buNone/>
            </a:pPr>
            <a:r>
              <a:rPr lang="en-US" sz="1100" dirty="0">
                <a:solidFill>
                  <a:schemeClr val="tx2"/>
                </a:solidFill>
              </a:rPr>
              <a:t>200 features</a:t>
            </a:r>
            <a:endParaRPr lang="en-US" sz="1100" dirty="0"/>
          </a:p>
        </p:txBody>
      </p:sp>
      <p:sp>
        <p:nvSpPr>
          <p:cNvPr id="34" name="rna4"/>
          <p:cNvSpPr/>
          <p:nvPr/>
        </p:nvSpPr>
        <p:spPr>
          <a:xfrm>
            <a:off x="7296912" y="3383280"/>
            <a:ext cx="146304" cy="0"/>
          </a:xfrm>
          <a:prstGeom prst="line">
            <a:avLst/>
          </a:prstGeom>
          <a:noFill/>
          <a:ln w="15875">
            <a:solidFill>
              <a:schemeClr val="accent4"/>
            </a:solidFill>
            <a:prstDash val="solid"/>
            <a:tailEnd type="triangle"/>
          </a:ln>
        </p:spPr>
      </p:sp>
      <p:sp>
        <p:nvSpPr>
          <p:cNvPr id="35" name="rn5"/>
          <p:cNvSpPr/>
          <p:nvPr/>
        </p:nvSpPr>
        <p:spPr>
          <a:xfrm>
            <a:off x="7452360" y="3017520"/>
            <a:ext cx="1234440" cy="731520"/>
          </a:xfrm>
          <a:prstGeom prst="roundRect">
            <a:avLst>
              <a:gd name="adj" fmla="val 7500"/>
            </a:avLst>
          </a:prstGeom>
          <a:solidFill>
            <a:schemeClr val="bg2"/>
          </a:solidFill>
          <a:ln w="12700">
            <a:solidFill>
              <a:schemeClr val="bg2"/>
            </a:solidFill>
            <a:prstDash val="solid"/>
          </a:ln>
        </p:spPr>
      </p:sp>
      <p:sp>
        <p:nvSpPr>
          <p:cNvPr id="36" name="Text 34"/>
          <p:cNvSpPr txBox="1"/>
          <p:nvPr/>
        </p:nvSpPr>
        <p:spPr>
          <a:xfrm>
            <a:off x="7498080" y="3017520"/>
            <a:ext cx="1143000" cy="731520"/>
          </a:xfrm>
          <a:prstGeom prst="rect">
            <a:avLst/>
          </a:prstGeom>
          <a:noFill/>
          <a:ln/>
        </p:spPr>
        <p:txBody>
          <a:bodyPr wrap="square" lIns="0" tIns="0" rIns="0" bIns="0" rtlCol="0" anchor="ctr"/>
          <a:lstStyle/>
          <a:p>
            <a:pPr algn="ctr" indent="0" marL="0">
              <a:buNone/>
            </a:pPr>
            <a:r>
              <a:rPr lang="en-US" sz="1100" dirty="0">
                <a:solidFill>
                  <a:schemeClr val="tx2"/>
                </a:solidFill>
              </a:rPr>
              <a:t>Reduce →</a:t>
            </a:r>
            <a:endParaRPr lang="en-US" sz="1100" dirty="0"/>
          </a:p>
          <a:p>
            <a:pPr algn="ctr" indent="0" marL="0">
              <a:buNone/>
            </a:pPr>
            <a:r>
              <a:rPr lang="en-US" sz="1100" dirty="0">
                <a:solidFill>
                  <a:schemeClr val="tx2"/>
                </a:solidFill>
              </a:rPr>
              <a:t>2 × 200</a:t>
            </a:r>
            <a:endParaRPr lang="en-US" sz="1100" dirty="0"/>
          </a:p>
        </p:txBody>
      </p:sp>
      <p:sp>
        <p:nvSpPr>
          <p:cNvPr id="37" name="Text 35"/>
          <p:cNvSpPr txBox="1"/>
          <p:nvPr/>
        </p:nvSpPr>
        <p:spPr>
          <a:xfrm>
            <a:off x="457200" y="3977640"/>
            <a:ext cx="8229600" cy="640080"/>
          </a:xfrm>
          <a:prstGeom prst="rect">
            <a:avLst/>
          </a:prstGeom>
          <a:noFill/>
          <a:ln/>
        </p:spPr>
        <p:txBody>
          <a:bodyPr wrap="square" lIns="0" tIns="0" rIns="0" bIns="0" rtlCol="0" anchor="t"/>
          <a:lstStyle/>
          <a:p>
            <a:pPr indent="0" marL="0">
              <a:buNone/>
            </a:pPr>
            <a:r>
              <a:rPr lang="en-US" sz="1300" i="1" dirty="0">
                <a:solidFill>
                  <a:schemeClr val="tx1"/>
                </a:solidFill>
              </a:rPr>
              <a:t>Residual (skip) connections preserve information across blocks. The PEA, fitness definition, data split and target shape are untouched — so any change in the answer is attributable to the forward model.</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Protocol: matched training, three evaluations</a:t>
            </a:r>
            <a:endParaRPr lang="en-US" sz="2400" dirty="0"/>
          </a:p>
        </p:txBody>
      </p:sp>
      <p:sp>
        <p:nvSpPr>
          <p:cNvPr id="3" name="train-card"/>
          <p:cNvSpPr/>
          <p:nvPr/>
        </p:nvSpPr>
        <p:spPr>
          <a:xfrm>
            <a:off x="457200" y="1188720"/>
            <a:ext cx="3291840" cy="3429000"/>
          </a:xfrm>
          <a:prstGeom prst="roundRect">
            <a:avLst>
              <a:gd name="adj" fmla="val 2222"/>
            </a:avLst>
          </a:prstGeom>
          <a:solidFill>
            <a:schemeClr val="bg2"/>
          </a:solidFill>
          <a:ln w="12700">
            <a:solidFill>
              <a:schemeClr val="bg2"/>
            </a:solidFill>
            <a:prstDash val="solid"/>
          </a:ln>
        </p:spPr>
      </p:sp>
      <p:sp>
        <p:nvSpPr>
          <p:cNvPr id="4" name="Text 2"/>
          <p:cNvSpPr txBox="1"/>
          <p:nvPr/>
        </p:nvSpPr>
        <p:spPr>
          <a:xfrm>
            <a:off x="685800" y="1325880"/>
            <a:ext cx="2834640" cy="320040"/>
          </a:xfrm>
          <a:prstGeom prst="rect">
            <a:avLst/>
          </a:prstGeom>
          <a:noFill/>
          <a:ln/>
        </p:spPr>
        <p:txBody>
          <a:bodyPr wrap="square" lIns="0" tIns="0" rIns="0" bIns="0" rtlCol="0" anchor="t"/>
          <a:lstStyle/>
          <a:p>
            <a:pPr indent="0" marL="0">
              <a:buNone/>
            </a:pPr>
            <a:r>
              <a:rPr lang="en-US" sz="1500" b="1" dirty="0">
                <a:solidFill>
                  <a:schemeClr val="tx2"/>
                </a:solidFill>
              </a:rPr>
              <a:t>Matched training</a:t>
            </a:r>
            <a:endParaRPr lang="en-US" sz="1500" dirty="0"/>
          </a:p>
        </p:txBody>
      </p:sp>
      <p:sp>
        <p:nvSpPr>
          <p:cNvPr id="5" name="Text 3"/>
          <p:cNvSpPr txBox="1"/>
          <p:nvPr/>
        </p:nvSpPr>
        <p:spPr>
          <a:xfrm>
            <a:off x="685800" y="1737360"/>
            <a:ext cx="2926080" cy="411480"/>
          </a:xfrm>
          <a:prstGeom prst="rect">
            <a:avLst/>
          </a:prstGeom>
          <a:noFill/>
          <a:ln/>
        </p:spPr>
        <p:txBody>
          <a:bodyPr wrap="square" lIns="0" tIns="0" rIns="0" bIns="0" rtlCol="0" anchor="ctr"/>
          <a:lstStyle/>
          <a:p>
            <a:pPr indent="0" marL="0">
              <a:buNone/>
            </a:pPr>
            <a:r>
              <a:rPr lang="en-US" sz="1200" b="1" dirty="0">
                <a:solidFill>
                  <a:schemeClr val="accent1"/>
                </a:solidFill>
              </a:rPr>
              <a:t>Data   </a:t>
            </a:r>
            <a:pPr indent="0" marL="0">
              <a:buNone/>
            </a:pPr>
            <a:r>
              <a:rPr lang="en-US" sz="1200" dirty="0">
                <a:solidFill>
                  <a:schemeClr val="tx1"/>
                </a:solidFill>
              </a:rPr>
              <a:t>6,000 train / 2,000 test FE samples</a:t>
            </a:r>
            <a:endParaRPr lang="en-US" sz="1200" dirty="0"/>
          </a:p>
        </p:txBody>
      </p:sp>
      <p:sp>
        <p:nvSpPr>
          <p:cNvPr id="6" name="Text 4"/>
          <p:cNvSpPr txBox="1"/>
          <p:nvPr/>
        </p:nvSpPr>
        <p:spPr>
          <a:xfrm>
            <a:off x="685800" y="2194560"/>
            <a:ext cx="2926080" cy="411480"/>
          </a:xfrm>
          <a:prstGeom prst="rect">
            <a:avLst/>
          </a:prstGeom>
          <a:noFill/>
          <a:ln/>
        </p:spPr>
        <p:txBody>
          <a:bodyPr wrap="square" lIns="0" tIns="0" rIns="0" bIns="0" rtlCol="0" anchor="ctr"/>
          <a:lstStyle/>
          <a:p>
            <a:pPr indent="0" marL="0">
              <a:buNone/>
            </a:pPr>
            <a:r>
              <a:rPr lang="en-US" sz="1200" b="1" dirty="0">
                <a:solidFill>
                  <a:schemeClr val="accent1"/>
                </a:solidFill>
              </a:rPr>
              <a:t>Optimiser   </a:t>
            </a:r>
            <a:pPr indent="0" marL="0">
              <a:buNone/>
            </a:pPr>
            <a:r>
              <a:rPr lang="en-US" sz="1200" dirty="0">
                <a:solidFill>
                  <a:schemeClr val="tx1"/>
                </a:solidFill>
              </a:rPr>
              <a:t>Adam, learning rate 1×10⁻⁴</a:t>
            </a:r>
            <a:endParaRPr lang="en-US" sz="1200" dirty="0"/>
          </a:p>
        </p:txBody>
      </p:sp>
      <p:sp>
        <p:nvSpPr>
          <p:cNvPr id="7" name="Text 5"/>
          <p:cNvSpPr txBox="1"/>
          <p:nvPr/>
        </p:nvSpPr>
        <p:spPr>
          <a:xfrm>
            <a:off x="685800" y="2651760"/>
            <a:ext cx="2926080" cy="411480"/>
          </a:xfrm>
          <a:prstGeom prst="rect">
            <a:avLst/>
          </a:prstGeom>
          <a:noFill/>
          <a:ln/>
        </p:spPr>
        <p:txBody>
          <a:bodyPr wrap="square" lIns="0" tIns="0" rIns="0" bIns="0" rtlCol="0" anchor="ctr"/>
          <a:lstStyle/>
          <a:p>
            <a:pPr indent="0" marL="0">
              <a:buNone/>
            </a:pPr>
            <a:r>
              <a:rPr lang="en-US" sz="1200" b="1" dirty="0">
                <a:solidFill>
                  <a:schemeClr val="accent1"/>
                </a:solidFill>
              </a:rPr>
              <a:t>Batch   </a:t>
            </a:r>
            <a:pPr indent="0" marL="0">
              <a:buNone/>
            </a:pPr>
            <a:r>
              <a:rPr lang="en-US" sz="1200" dirty="0">
                <a:solidFill>
                  <a:schemeClr val="tx1"/>
                </a:solidFill>
              </a:rPr>
              <a:t>60</a:t>
            </a:r>
            <a:endParaRPr lang="en-US" sz="1200" dirty="0"/>
          </a:p>
        </p:txBody>
      </p:sp>
      <p:sp>
        <p:nvSpPr>
          <p:cNvPr id="8" name="Text 6"/>
          <p:cNvSpPr txBox="1"/>
          <p:nvPr/>
        </p:nvSpPr>
        <p:spPr>
          <a:xfrm>
            <a:off x="685800" y="3108960"/>
            <a:ext cx="2926080" cy="411480"/>
          </a:xfrm>
          <a:prstGeom prst="rect">
            <a:avLst/>
          </a:prstGeom>
          <a:noFill/>
          <a:ln/>
        </p:spPr>
        <p:txBody>
          <a:bodyPr wrap="square" lIns="0" tIns="0" rIns="0" bIns="0" rtlCol="0" anchor="ctr"/>
          <a:lstStyle/>
          <a:p>
            <a:pPr indent="0" marL="0">
              <a:buNone/>
            </a:pPr>
            <a:r>
              <a:rPr lang="en-US" sz="1200" b="1" dirty="0">
                <a:solidFill>
                  <a:schemeClr val="accent1"/>
                </a:solidFill>
              </a:rPr>
              <a:t>Budget   </a:t>
            </a:r>
            <a:pPr indent="0" marL="0">
              <a:buNone/>
            </a:pPr>
            <a:r>
              <a:rPr lang="en-US" sz="1200" dirty="0">
                <a:solidFill>
                  <a:schemeClr val="tx1"/>
                </a:solidFill>
              </a:rPr>
              <a:t>Exactly 10,000 updates</a:t>
            </a:r>
            <a:endParaRPr lang="en-US" sz="1200" dirty="0"/>
          </a:p>
        </p:txBody>
      </p:sp>
      <p:sp>
        <p:nvSpPr>
          <p:cNvPr id="9" name="Text 7"/>
          <p:cNvSpPr txBox="1"/>
          <p:nvPr/>
        </p:nvSpPr>
        <p:spPr>
          <a:xfrm>
            <a:off x="685800" y="3566160"/>
            <a:ext cx="2926080" cy="411480"/>
          </a:xfrm>
          <a:prstGeom prst="rect">
            <a:avLst/>
          </a:prstGeom>
          <a:noFill/>
          <a:ln/>
        </p:spPr>
        <p:txBody>
          <a:bodyPr wrap="square" lIns="0" tIns="0" rIns="0" bIns="0" rtlCol="0" anchor="ctr"/>
          <a:lstStyle/>
          <a:p>
            <a:pPr indent="0" marL="0">
              <a:buNone/>
            </a:pPr>
            <a:r>
              <a:rPr lang="en-US" sz="1200" b="1" dirty="0">
                <a:solidFill>
                  <a:schemeClr val="accent1"/>
                </a:solidFill>
              </a:rPr>
              <a:t>Seed   </a:t>
            </a:r>
            <a:pPr indent="0" marL="0">
              <a:buNone/>
            </a:pPr>
            <a:r>
              <a:rPr lang="en-US" sz="1200" dirty="0">
                <a:solidFill>
                  <a:schemeClr val="tx1"/>
                </a:solidFill>
              </a:rPr>
              <a:t>42 (fixed)</a:t>
            </a:r>
            <a:endParaRPr lang="en-US" sz="1200" dirty="0"/>
          </a:p>
        </p:txBody>
      </p:sp>
      <p:sp>
        <p:nvSpPr>
          <p:cNvPr id="10" name="Text 8"/>
          <p:cNvSpPr txBox="1"/>
          <p:nvPr/>
        </p:nvSpPr>
        <p:spPr>
          <a:xfrm>
            <a:off x="685800" y="4023360"/>
            <a:ext cx="2926080" cy="411480"/>
          </a:xfrm>
          <a:prstGeom prst="rect">
            <a:avLst/>
          </a:prstGeom>
          <a:noFill/>
          <a:ln/>
        </p:spPr>
        <p:txBody>
          <a:bodyPr wrap="square" lIns="0" tIns="0" rIns="0" bIns="0" rtlCol="0" anchor="ctr"/>
          <a:lstStyle/>
          <a:p>
            <a:pPr indent="0" marL="0">
              <a:buNone/>
            </a:pPr>
            <a:r>
              <a:rPr lang="en-US" sz="1200" b="1" dirty="0">
                <a:solidFill>
                  <a:schemeClr val="accent1"/>
                </a:solidFill>
              </a:rPr>
              <a:t>Pre-processing   </a:t>
            </a:r>
            <a:pPr indent="0" marL="0">
              <a:buNone/>
            </a:pPr>
            <a:r>
              <a:rPr lang="en-US" sz="1200" dirty="0">
                <a:solidFill>
                  <a:schemeClr val="tx1"/>
                </a:solidFill>
              </a:rPr>
              <a:t>Wang's scaling + curve unification</a:t>
            </a:r>
            <a:endParaRPr lang="en-US" sz="1200" dirty="0"/>
          </a:p>
        </p:txBody>
      </p:sp>
      <p:sp>
        <p:nvSpPr>
          <p:cNvPr id="11" name="ev0-num"/>
          <p:cNvSpPr/>
          <p:nvPr/>
        </p:nvSpPr>
        <p:spPr>
          <a:xfrm>
            <a:off x="4069080" y="1261872"/>
            <a:ext cx="411480" cy="411480"/>
          </a:xfrm>
          <a:prstGeom prst="ellipse">
            <a:avLst/>
          </a:prstGeom>
          <a:solidFill>
            <a:schemeClr val="accent1"/>
          </a:solidFill>
          <a:ln w="12700">
            <a:solidFill>
              <a:schemeClr val="accent1"/>
            </a:solidFill>
            <a:prstDash val="solid"/>
          </a:ln>
        </p:spPr>
      </p:sp>
      <p:sp>
        <p:nvSpPr>
          <p:cNvPr id="12" name="ev0-numtxt"/>
          <p:cNvSpPr txBox="1"/>
          <p:nvPr/>
        </p:nvSpPr>
        <p:spPr>
          <a:xfrm>
            <a:off x="4069080" y="126187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3" name="Text 11"/>
          <p:cNvSpPr txBox="1"/>
          <p:nvPr/>
        </p:nvSpPr>
        <p:spPr>
          <a:xfrm>
            <a:off x="4663440" y="1188720"/>
            <a:ext cx="4023360" cy="1005840"/>
          </a:xfrm>
          <a:prstGeom prst="rect">
            <a:avLst/>
          </a:prstGeom>
          <a:noFill/>
          <a:ln/>
        </p:spPr>
        <p:txBody>
          <a:bodyPr wrap="square" lIns="0" tIns="0" rIns="0" bIns="0" rtlCol="0" anchor="t"/>
          <a:lstStyle/>
          <a:p>
            <a:pPr indent="0" marL="0">
              <a:buNone/>
            </a:pPr>
            <a:r>
              <a:rPr lang="en-US" sz="1500" b="1" dirty="0">
                <a:solidFill>
                  <a:schemeClr val="tx2"/>
                </a:solidFill>
              </a:rPr>
              <a:t>Held-out test MSE</a:t>
            </a:r>
            <a:endParaRPr lang="en-US" sz="1400" dirty="0"/>
          </a:p>
          <a:p>
            <a:pPr indent="0" marL="0">
              <a:buNone/>
            </a:pPr>
            <a:r>
              <a:rPr lang="en-US" sz="1200" dirty="0">
                <a:solidFill>
                  <a:schemeClr val="tx1"/>
                </a:solidFill>
              </a:rPr>
              <a:t>How well does each network predict FE shapes it has never seen?</a:t>
            </a:r>
            <a:endParaRPr lang="en-US" sz="1400" dirty="0"/>
          </a:p>
        </p:txBody>
      </p:sp>
      <p:sp>
        <p:nvSpPr>
          <p:cNvPr id="14" name="ev1-num"/>
          <p:cNvSpPr/>
          <p:nvPr/>
        </p:nvSpPr>
        <p:spPr>
          <a:xfrm>
            <a:off x="4069080" y="2423160"/>
            <a:ext cx="411480" cy="411480"/>
          </a:xfrm>
          <a:prstGeom prst="ellipse">
            <a:avLst/>
          </a:prstGeom>
          <a:solidFill>
            <a:schemeClr val="accent3"/>
          </a:solidFill>
          <a:ln w="12700">
            <a:solidFill>
              <a:schemeClr val="accent3"/>
            </a:solidFill>
            <a:prstDash val="solid"/>
          </a:ln>
        </p:spPr>
      </p:sp>
      <p:sp>
        <p:nvSpPr>
          <p:cNvPr id="15" name="ev1-numtxt"/>
          <p:cNvSpPr txBox="1"/>
          <p:nvPr/>
        </p:nvSpPr>
        <p:spPr>
          <a:xfrm>
            <a:off x="4069080" y="24231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Text 14"/>
          <p:cNvSpPr txBox="1"/>
          <p:nvPr/>
        </p:nvSpPr>
        <p:spPr>
          <a:xfrm>
            <a:off x="4663440" y="2350008"/>
            <a:ext cx="4023360" cy="1005840"/>
          </a:xfrm>
          <a:prstGeom prst="rect">
            <a:avLst/>
          </a:prstGeom>
          <a:noFill/>
          <a:ln/>
        </p:spPr>
        <p:txBody>
          <a:bodyPr wrap="square" lIns="0" tIns="0" rIns="0" bIns="0" rtlCol="0" anchor="t"/>
          <a:lstStyle/>
          <a:p>
            <a:pPr indent="0" marL="0">
              <a:buNone/>
            </a:pPr>
            <a:r>
              <a:rPr lang="en-US" sz="1500" b="1" dirty="0">
                <a:solidFill>
                  <a:schemeClr val="tx2"/>
                </a:solidFill>
              </a:rPr>
              <a:t>Same 1,024 candidates</a:t>
            </a:r>
            <a:endParaRPr lang="en-US" sz="1400" dirty="0"/>
          </a:p>
          <a:p>
            <a:pPr indent="0" marL="0">
              <a:buNone/>
            </a:pPr>
            <a:r>
              <a:rPr lang="en-US" sz="1200" dirty="0">
                <a:solidFill>
                  <a:schemeClr val="tx1"/>
                </a:solidFill>
              </a:rPr>
              <a:t>Score PEA's generation-5 candidates with both networks — isolates the model from the search path</a:t>
            </a:r>
            <a:endParaRPr lang="en-US" sz="1400" dirty="0"/>
          </a:p>
        </p:txBody>
      </p:sp>
      <p:sp>
        <p:nvSpPr>
          <p:cNvPr id="17" name="ev2-num"/>
          <p:cNvSpPr/>
          <p:nvPr/>
        </p:nvSpPr>
        <p:spPr>
          <a:xfrm>
            <a:off x="4069080" y="3584448"/>
            <a:ext cx="411480" cy="411480"/>
          </a:xfrm>
          <a:prstGeom prst="ellipse">
            <a:avLst/>
          </a:prstGeom>
          <a:solidFill>
            <a:schemeClr val="accent1"/>
          </a:solidFill>
          <a:ln w="12700">
            <a:solidFill>
              <a:schemeClr val="accent1"/>
            </a:solidFill>
            <a:prstDash val="solid"/>
          </a:ln>
        </p:spPr>
      </p:sp>
      <p:sp>
        <p:nvSpPr>
          <p:cNvPr id="18" name="ev2-numtxt"/>
          <p:cNvSpPr txBox="1"/>
          <p:nvPr/>
        </p:nvSpPr>
        <p:spPr>
          <a:xfrm>
            <a:off x="4069080" y="35844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4663440" y="3511296"/>
            <a:ext cx="4023360" cy="1005840"/>
          </a:xfrm>
          <a:prstGeom prst="rect">
            <a:avLst/>
          </a:prstGeom>
          <a:noFill/>
          <a:ln/>
        </p:spPr>
        <p:txBody>
          <a:bodyPr wrap="square" lIns="0" tIns="0" rIns="0" bIns="0" rtlCol="0" anchor="t"/>
          <a:lstStyle/>
          <a:p>
            <a:pPr indent="0" marL="0">
              <a:buNone/>
            </a:pPr>
            <a:r>
              <a:rPr lang="en-US" sz="1500" b="1" dirty="0">
                <a:solidFill>
                  <a:schemeClr val="tx2"/>
                </a:solidFill>
              </a:rPr>
              <a:t>Full PEA runs</a:t>
            </a:r>
            <a:endParaRPr lang="en-US" sz="1400" dirty="0"/>
          </a:p>
          <a:p>
            <a:pPr indent="0" marL="0">
              <a:buNone/>
            </a:pPr>
            <a:r>
              <a:rPr lang="en-US" sz="1200" dirty="0">
                <a:solidFill>
                  <a:schemeClr val="tx1"/>
                </a:solidFill>
              </a:rPr>
              <a:t>Each network drives its own search: final design, shape error, 10 repeat runs, runtime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Result 1 — ResNet reaches ≈41× lower test MSE</a:t>
            </a:r>
            <a:endParaRPr lang="en-US" sz="2400" dirty="0"/>
          </a:p>
        </p:txBody>
      </p:sp>
      <p:graphicFrame>
        <p:nvGraphicFramePr>
          <p:cNvPr id="3" name="Chart 0" descr=""/>
          <p:cNvGraphicFramePr/>
          <p:nvPr/>
        </p:nvGraphicFramePr>
        <p:xfrm>
          <a:off x="457200" y="1143000"/>
          <a:ext cx="475488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5440680" y="1143000"/>
          <a:ext cx="3246120" cy="25146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40680" y="3794760"/>
            <a:ext cx="3246120" cy="868680"/>
          </a:xfrm>
          <a:prstGeom prst="rect">
            <a:avLst/>
          </a:prstGeom>
          <a:noFill/>
          <a:ln/>
        </p:spPr>
        <p:txBody>
          <a:bodyPr wrap="square" lIns="0" tIns="0" rIns="0" bIns="0" rtlCol="0" anchor="t"/>
          <a:lstStyle/>
          <a:p>
            <a:pPr indent="0" marL="0">
              <a:buNone/>
            </a:pPr>
            <a:r>
              <a:rPr lang="en-US" sz="1500" b="1" dirty="0">
                <a:solidFill>
                  <a:schemeClr val="tx2"/>
                </a:solidFill>
              </a:rPr>
              <a:t>5.59×10⁻⁵ vs 2.29×10⁻³</a:t>
            </a:r>
            <a:endParaRPr lang="en-US" sz="1500" dirty="0"/>
          </a:p>
          <a:p>
            <a:pPr indent="0" marL="0">
              <a:buNone/>
            </a:pPr>
            <a:r>
              <a:rPr lang="en-US" sz="1200" i="1" dirty="0">
                <a:solidFill>
                  <a:schemeClr val="tx1"/>
                </a:solidFill>
              </a:rPr>
              <a:t>Clear forward-model win — but does it carry over to the search?</a:t>
            </a:r>
            <a:endParaRPr lang="en-US" sz="1500" dirty="0"/>
          </a:p>
        </p:txBody>
      </p:sp>
      <p:sp>
        <p:nvSpPr>
          <p:cNvPr id="6" name="Text 2"/>
          <p:cNvSpPr txBox="1"/>
          <p:nvPr/>
        </p:nvSpPr>
        <p:spPr>
          <a:xfrm>
            <a:off x="3108960" y="4754880"/>
            <a:ext cx="5029200" cy="228600"/>
          </a:xfrm>
          <a:prstGeom prst="rect">
            <a:avLst/>
          </a:prstGeom>
          <a:noFill/>
          <a:ln/>
        </p:spPr>
        <p:txBody>
          <a:bodyPr wrap="square" lIns="0" tIns="0" rIns="0" bIns="0" rtlCol="0" anchor="t"/>
          <a:lstStyle/>
          <a:p>
            <a:pPr algn="r" indent="0" marL="0">
              <a:buNone/>
            </a:pPr>
            <a:r>
              <a:rPr lang="en-US" sz="800" dirty="0">
                <a:solidFill>
                  <a:schemeClr val="accent4"/>
                </a:solidFill>
              </a:rPr>
              <a:t>Training logs: repo Documentation.md</a:t>
            </a:r>
            <a:endParaRPr lang="en-US" sz="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Result 2 — but on PEA's own candidates, SEP-CNN wins</a:t>
            </a:r>
            <a:endParaRPr lang="en-US" sz="2400" dirty="0"/>
          </a:p>
        </p:txBody>
      </p:sp>
      <p:sp>
        <p:nvSpPr>
          <p:cNvPr id="3" name="big1016"/>
          <p:cNvSpPr/>
          <p:nvPr/>
        </p:nvSpPr>
        <p:spPr>
          <a:xfrm>
            <a:off x="457200" y="1188720"/>
            <a:ext cx="3657600" cy="2194560"/>
          </a:xfrm>
          <a:prstGeom prst="roundRect">
            <a:avLst>
              <a:gd name="adj" fmla="val 3333"/>
            </a:avLst>
          </a:prstGeom>
          <a:solidFill>
            <a:schemeClr val="tx2"/>
          </a:solidFill>
          <a:ln w="12700">
            <a:solidFill>
              <a:schemeClr val="tx2"/>
            </a:solidFill>
            <a:prstDash val="solid"/>
          </a:ln>
        </p:spPr>
      </p:sp>
      <p:sp>
        <p:nvSpPr>
          <p:cNvPr id="4" name="Text 2"/>
          <p:cNvSpPr txBox="1"/>
          <p:nvPr/>
        </p:nvSpPr>
        <p:spPr>
          <a:xfrm>
            <a:off x="640080" y="1325880"/>
            <a:ext cx="3291840" cy="91440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1,016 / 1,024</a:t>
            </a:r>
            <a:endParaRPr lang="en-US" sz="4400" dirty="0"/>
          </a:p>
        </p:txBody>
      </p:sp>
      <p:sp>
        <p:nvSpPr>
          <p:cNvPr id="5" name="Text 3"/>
          <p:cNvSpPr txBox="1"/>
          <p:nvPr/>
        </p:nvSpPr>
        <p:spPr>
          <a:xfrm>
            <a:off x="640080" y="2286000"/>
            <a:ext cx="3291840" cy="822960"/>
          </a:xfrm>
          <a:prstGeom prst="rect">
            <a:avLst/>
          </a:prstGeom>
          <a:noFill/>
          <a:ln/>
        </p:spPr>
        <p:txBody>
          <a:bodyPr wrap="square" lIns="0" tIns="0" rIns="0" bIns="0" rtlCol="0" anchor="t"/>
          <a:lstStyle/>
          <a:p>
            <a:pPr indent="0" marL="0">
              <a:buNone/>
            </a:pPr>
            <a:r>
              <a:rPr lang="en-US" sz="1400" dirty="0">
                <a:solidFill>
                  <a:schemeClr val="bg1"/>
                </a:solidFill>
              </a:rPr>
              <a:t>generation-5 candidates on which SEP-CNN gave the lower error</a:t>
            </a:r>
            <a:endParaRPr lang="en-US" sz="1400" dirty="0"/>
          </a:p>
        </p:txBody>
      </p:sp>
      <p:graphicFrame>
        <p:nvGraphicFramePr>
          <p:cNvPr id="6" name="Chart 0" descr=""/>
          <p:cNvGraphicFramePr/>
          <p:nvPr/>
        </p:nvGraphicFramePr>
        <p:xfrm>
          <a:off x="4434840" y="1143000"/>
          <a:ext cx="4251960" cy="2286000"/>
        </p:xfrm>
        <a:graphic xmlns:a="http://schemas.openxmlformats.org/drawingml/2006/main">
          <a:graphicData uri="http://schemas.openxmlformats.org/drawingml/2006/chart">
            <c:chart xmlns:c="http://schemas.openxmlformats.org/drawingml/2006/chart" r:id="rId1"/>
          </a:graphicData>
        </a:graphic>
      </p:graphicFrame>
      <p:sp>
        <p:nvSpPr>
          <p:cNvPr id="7" name="why1024"/>
          <p:cNvSpPr/>
          <p:nvPr/>
        </p:nvSpPr>
        <p:spPr>
          <a:xfrm>
            <a:off x="457200" y="3611880"/>
            <a:ext cx="8229600" cy="1005840"/>
          </a:xfrm>
          <a:prstGeom prst="roundRect">
            <a:avLst>
              <a:gd name="adj" fmla="val 7273"/>
            </a:avLst>
          </a:prstGeom>
          <a:solidFill>
            <a:schemeClr val="bg2"/>
          </a:solidFill>
          <a:ln w="12700">
            <a:solidFill>
              <a:schemeClr val="bg2"/>
            </a:solidFill>
            <a:prstDash val="solid"/>
          </a:ln>
        </p:spPr>
      </p:sp>
      <p:sp>
        <p:nvSpPr>
          <p:cNvPr id="8" name="why-circle"/>
          <p:cNvSpPr/>
          <p:nvPr/>
        </p:nvSpPr>
        <p:spPr>
          <a:xfrm>
            <a:off x="640080" y="3813048"/>
            <a:ext cx="594360" cy="594360"/>
          </a:xfrm>
          <a:prstGeom prst="ellipse">
            <a:avLst/>
          </a:prstGeom>
          <a:solidFill>
            <a:schemeClr val="accent3"/>
          </a:solidFill>
          <a:ln w="12700">
            <a:solidFill>
              <a:schemeClr val="accent3"/>
            </a:solidFill>
            <a:prstDash val="solid"/>
          </a:ln>
        </p:spPr>
      </p:sp>
      <p:pic>
        <p:nvPicPr>
          <p:cNvPr id="9" name="why-icon" descr="preencoded.png">    </p:cNvPr>
          <p:cNvPicPr>
            <a:picLocks noChangeAspect="1"/>
          </p:cNvPicPr>
          <p:nvPr/>
        </p:nvPicPr>
        <p:blipFill>
          <a:blip r:embed="rId2"/>
          <a:stretch>
            <a:fillRect/>
          </a:stretch>
        </p:blipFill>
        <p:spPr>
          <a:xfrm>
            <a:off x="782726" y="3955694"/>
            <a:ext cx="309067" cy="309067"/>
          </a:xfrm>
          <a:prstGeom prst="rect">
            <a:avLst/>
          </a:prstGeom>
        </p:spPr>
      </p:pic>
      <p:sp>
        <p:nvSpPr>
          <p:cNvPr id="10" name="Text 6"/>
          <p:cNvSpPr txBox="1"/>
          <p:nvPr/>
        </p:nvSpPr>
        <p:spPr>
          <a:xfrm>
            <a:off x="1417320" y="3611880"/>
            <a:ext cx="7132320" cy="1005840"/>
          </a:xfrm>
          <a:prstGeom prst="rect">
            <a:avLst/>
          </a:prstGeom>
          <a:noFill/>
          <a:ln/>
        </p:spPr>
        <p:txBody>
          <a:bodyPr wrap="square" lIns="0" tIns="0" rIns="0" bIns="0" rtlCol="0" anchor="ctr"/>
          <a:lstStyle/>
          <a:p>
            <a:pPr indent="0" marL="0">
              <a:buNone/>
            </a:pPr>
            <a:r>
              <a:rPr lang="en-US" sz="1400" b="1" dirty="0">
                <a:solidFill>
                  <a:schemeClr val="tx2"/>
                </a:solidFill>
              </a:rPr>
              <a:t>Why? </a:t>
            </a:r>
            <a:pPr indent="0" marL="0">
              <a:buNone/>
            </a:pPr>
            <a:r>
              <a:rPr lang="en-US" sz="1400" dirty="0">
                <a:solidFill>
                  <a:schemeClr val="tx1"/>
                </a:solidFill>
              </a:rPr>
              <a:t>The optimiser presents a different distribution of designs than the random test set. Lower held-out error does not guarantee lower error where the search actually operates.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Result 3 — the two searches return different designs</a:t>
            </a:r>
            <a:endParaRPr lang="en-US" sz="2400" dirty="0"/>
          </a:p>
        </p:txBody>
      </p:sp>
      <p:pic>
        <p:nvPicPr>
          <p:cNvPr id="3" name="fig-designs" descr="img/fig_designs.png">    </p:cNvPr>
          <p:cNvPicPr>
            <a:picLocks noChangeAspect="1"/>
          </p:cNvPicPr>
          <p:nvPr/>
        </p:nvPicPr>
        <p:blipFill>
          <a:blip r:embed="rId1"/>
          <a:stretch>
            <a:fillRect/>
          </a:stretch>
        </p:blipFill>
        <p:spPr>
          <a:xfrm>
            <a:off x="457200" y="1188720"/>
            <a:ext cx="5486400" cy="2423160"/>
          </a:xfrm>
          <a:prstGeom prst="rect">
            <a:avLst/>
          </a:prstGeom>
        </p:spPr>
      </p:pic>
      <p:sp>
        <p:nvSpPr>
          <p:cNvPr id="4" name="Text 1"/>
          <p:cNvSpPr txBox="1"/>
          <p:nvPr/>
        </p:nvSpPr>
        <p:spPr>
          <a:xfrm>
            <a:off x="457200" y="3657600"/>
            <a:ext cx="5486400" cy="274320"/>
          </a:xfrm>
          <a:prstGeom prst="rect">
            <a:avLst/>
          </a:prstGeom>
          <a:noFill/>
          <a:ln/>
        </p:spPr>
        <p:txBody>
          <a:bodyPr wrap="square" lIns="0" tIns="0" rIns="0" bIns="0" rtlCol="0" anchor="t"/>
          <a:lstStyle/>
          <a:p>
            <a:pPr indent="0" marL="0">
              <a:buNone/>
            </a:pPr>
            <a:r>
              <a:rPr lang="en-US" sz="1000" i="1" dirty="0">
                <a:solidFill>
                  <a:schemeClr val="accent4"/>
                </a:solidFill>
              </a:rPr>
              <a:t>Final chromosomes (yellow = 1, purple = 0). Rows = channels, columns = genes.</a:t>
            </a:r>
            <a:endParaRPr lang="en-US" sz="1000" dirty="0"/>
          </a:p>
        </p:txBody>
      </p:sp>
      <p:sp>
        <p:nvSpPr>
          <p:cNvPr id="5" name="Text 2"/>
          <p:cNvSpPr txBox="1"/>
          <p:nvPr/>
        </p:nvSpPr>
        <p:spPr>
          <a:xfrm>
            <a:off x="457200" y="3977640"/>
            <a:ext cx="914400" cy="640080"/>
          </a:xfrm>
          <a:prstGeom prst="rect">
            <a:avLst/>
          </a:prstGeom>
          <a:noFill/>
          <a:ln/>
        </p:spPr>
        <p:txBody>
          <a:bodyPr wrap="square" lIns="0" tIns="0" rIns="0" bIns="0" rtlCol="0" anchor="t"/>
          <a:lstStyle/>
          <a:p>
            <a:pPr indent="0" marL="0">
              <a:buNone/>
            </a:pPr>
            <a:r>
              <a:rPr lang="en-US" sz="1200" b="1" dirty="0">
                <a:solidFill>
                  <a:schemeClr val="accent2"/>
                </a:solidFill>
              </a:rPr>
              <a:t>SEP-CNN</a:t>
            </a:r>
            <a:endParaRPr lang="en-US" sz="1200" dirty="0"/>
          </a:p>
          <a:p>
            <a:pPr indent="0" marL="0">
              <a:buNone/>
            </a:pPr>
            <a:r>
              <a:rPr lang="en-US" sz="1200" b="1" dirty="0">
                <a:solidFill>
                  <a:schemeClr val="accent1"/>
                </a:solidFill>
              </a:rPr>
              <a:t>ResNet</a:t>
            </a:r>
            <a:endParaRPr lang="en-US" sz="1200" dirty="0"/>
          </a:p>
        </p:txBody>
      </p:sp>
      <p:sp>
        <p:nvSpPr>
          <p:cNvPr id="6" name="Text 3"/>
          <p:cNvSpPr txBox="1"/>
          <p:nvPr/>
        </p:nvSpPr>
        <p:spPr>
          <a:xfrm>
            <a:off x="1371600" y="3977640"/>
            <a:ext cx="4572000" cy="6400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[1,1,0,0,0,1,1,1,1,0] / [1,1,1,0,1,0,0,0,0,1]</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[1,1,0,0,1,1,1,1,1,0] / [1,1,1,1,0,0,0,0,0,1]</a:t>
            </a:r>
            <a:endParaRPr lang="en-US" sz="1200" dirty="0"/>
          </a:p>
        </p:txBody>
      </p:sp>
      <p:sp>
        <p:nvSpPr>
          <p:cNvPr id="7" name="d30"/>
          <p:cNvSpPr/>
          <p:nvPr/>
        </p:nvSpPr>
        <p:spPr>
          <a:xfrm>
            <a:off x="6263640" y="1188720"/>
            <a:ext cx="2423160" cy="1005840"/>
          </a:xfrm>
          <a:prstGeom prst="roundRect">
            <a:avLst>
              <a:gd name="adj" fmla="val 7273"/>
            </a:avLst>
          </a:prstGeom>
          <a:solidFill>
            <a:schemeClr val="bg2"/>
          </a:solidFill>
          <a:ln w="12700">
            <a:solidFill>
              <a:schemeClr val="bg2"/>
            </a:solidFill>
            <a:prstDash val="solid"/>
          </a:ln>
        </p:spPr>
      </p:sp>
      <p:sp>
        <p:nvSpPr>
          <p:cNvPr id="8" name="Text 5"/>
          <p:cNvSpPr txBox="1"/>
          <p:nvPr/>
        </p:nvSpPr>
        <p:spPr>
          <a:xfrm>
            <a:off x="6446520" y="1261872"/>
            <a:ext cx="2103120" cy="50292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3 / 20</a:t>
            </a:r>
            <a:endParaRPr lang="en-US" sz="2600" dirty="0"/>
          </a:p>
        </p:txBody>
      </p:sp>
      <p:sp>
        <p:nvSpPr>
          <p:cNvPr id="9" name="Text 6"/>
          <p:cNvSpPr txBox="1"/>
          <p:nvPr/>
        </p:nvSpPr>
        <p:spPr>
          <a:xfrm>
            <a:off x="6446520" y="1764792"/>
            <a:ext cx="2103120" cy="365760"/>
          </a:xfrm>
          <a:prstGeom prst="rect">
            <a:avLst/>
          </a:prstGeom>
          <a:noFill/>
          <a:ln/>
        </p:spPr>
        <p:txBody>
          <a:bodyPr wrap="square" lIns="0" tIns="0" rIns="0" bIns="0" rtlCol="0" anchor="t"/>
          <a:lstStyle/>
          <a:p>
            <a:pPr indent="0" marL="0">
              <a:buNone/>
            </a:pPr>
            <a:r>
              <a:rPr lang="en-US" sz="1200" dirty="0">
                <a:solidFill>
                  <a:schemeClr val="tx1"/>
                </a:solidFill>
              </a:rPr>
              <a:t>genes differ (15% Hamming distance)</a:t>
            </a:r>
            <a:endParaRPr lang="en-US" sz="1200" dirty="0"/>
          </a:p>
        </p:txBody>
      </p:sp>
      <p:sp>
        <p:nvSpPr>
          <p:cNvPr id="10" name="d31"/>
          <p:cNvSpPr/>
          <p:nvPr/>
        </p:nvSpPr>
        <p:spPr>
          <a:xfrm>
            <a:off x="6263640" y="2350008"/>
            <a:ext cx="2423160" cy="1005840"/>
          </a:xfrm>
          <a:prstGeom prst="roundRect">
            <a:avLst>
              <a:gd name="adj" fmla="val 7273"/>
            </a:avLst>
          </a:prstGeom>
          <a:solidFill>
            <a:schemeClr val="bg2"/>
          </a:solidFill>
          <a:ln w="12700">
            <a:solidFill>
              <a:schemeClr val="bg2"/>
            </a:solidFill>
            <a:prstDash val="solid"/>
          </a:ln>
        </p:spPr>
      </p:sp>
      <p:sp>
        <p:nvSpPr>
          <p:cNvPr id="11" name="Text 8"/>
          <p:cNvSpPr txBox="1"/>
          <p:nvPr/>
        </p:nvSpPr>
        <p:spPr>
          <a:xfrm>
            <a:off x="6446520" y="2423160"/>
            <a:ext cx="2103120" cy="502920"/>
          </a:xfrm>
          <a:prstGeom prst="rect">
            <a:avLst/>
          </a:prstGeom>
          <a:noFill/>
          <a:ln/>
        </p:spPr>
        <p:txBody>
          <a:bodyPr wrap="square" lIns="0" tIns="0" rIns="0" bIns="0" rtlCol="0" anchor="t"/>
          <a:lstStyle/>
          <a:p>
            <a:pPr indent="0" marL="0">
              <a:buNone/>
            </a:pPr>
            <a:r>
              <a:rPr lang="en-US" sz="2600" b="1" dirty="0">
                <a:solidFill>
                  <a:schemeClr val="accent4"/>
                </a:solidFill>
                <a:latin typeface="Cambria" pitchFamily="34" charset="0"/>
                <a:ea typeface="Cambria" pitchFamily="34" charset="-122"/>
                <a:cs typeface="Cambria" pitchFamily="34" charset="-120"/>
              </a:rPr>
              <a:t>#961</a:t>
            </a:r>
            <a:endParaRPr lang="en-US" sz="2600" dirty="0"/>
          </a:p>
        </p:txBody>
      </p:sp>
      <p:sp>
        <p:nvSpPr>
          <p:cNvPr id="12" name="Text 9"/>
          <p:cNvSpPr txBox="1"/>
          <p:nvPr/>
        </p:nvSpPr>
        <p:spPr>
          <a:xfrm>
            <a:off x="6446520" y="2926080"/>
            <a:ext cx="2103120" cy="365760"/>
          </a:xfrm>
          <a:prstGeom prst="rect">
            <a:avLst/>
          </a:prstGeom>
          <a:noFill/>
          <a:ln/>
        </p:spPr>
        <p:txBody>
          <a:bodyPr wrap="square" lIns="0" tIns="0" rIns="0" bIns="0" rtlCol="0" anchor="t"/>
          <a:lstStyle/>
          <a:p>
            <a:pPr indent="0" marL="0">
              <a:buNone/>
            </a:pPr>
            <a:r>
              <a:rPr lang="en-US" sz="1200" dirty="0">
                <a:solidFill>
                  <a:schemeClr val="tx1"/>
                </a:solidFill>
              </a:rPr>
              <a:t>candidate index chosen by both</a:t>
            </a:r>
            <a:endParaRPr lang="en-US" sz="1200" dirty="0"/>
          </a:p>
        </p:txBody>
      </p:sp>
      <p:sp>
        <p:nvSpPr>
          <p:cNvPr id="13" name="d32"/>
          <p:cNvSpPr/>
          <p:nvPr/>
        </p:nvSpPr>
        <p:spPr>
          <a:xfrm>
            <a:off x="6263640" y="3511296"/>
            <a:ext cx="2423160" cy="1005840"/>
          </a:xfrm>
          <a:prstGeom prst="roundRect">
            <a:avLst>
              <a:gd name="adj" fmla="val 7273"/>
            </a:avLst>
          </a:prstGeom>
          <a:solidFill>
            <a:schemeClr val="bg2"/>
          </a:solidFill>
          <a:ln w="12700">
            <a:solidFill>
              <a:schemeClr val="bg2"/>
            </a:solidFill>
            <a:prstDash val="solid"/>
          </a:ln>
        </p:spPr>
      </p:sp>
      <p:sp>
        <p:nvSpPr>
          <p:cNvPr id="14" name="Text 11"/>
          <p:cNvSpPr txBox="1"/>
          <p:nvPr/>
        </p:nvSpPr>
        <p:spPr>
          <a:xfrm>
            <a:off x="6446520" y="3584448"/>
            <a:ext cx="2103120" cy="5029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10 / 10</a:t>
            </a:r>
            <a:endParaRPr lang="en-US" sz="2600" dirty="0"/>
          </a:p>
        </p:txBody>
      </p:sp>
      <p:sp>
        <p:nvSpPr>
          <p:cNvPr id="15" name="Text 12"/>
          <p:cNvSpPr txBox="1"/>
          <p:nvPr/>
        </p:nvSpPr>
        <p:spPr>
          <a:xfrm>
            <a:off x="6446520" y="4087368"/>
            <a:ext cx="2103120" cy="365760"/>
          </a:xfrm>
          <a:prstGeom prst="rect">
            <a:avLst/>
          </a:prstGeom>
          <a:noFill/>
          <a:ln/>
        </p:spPr>
        <p:txBody>
          <a:bodyPr wrap="square" lIns="0" tIns="0" rIns="0" bIns="0" rtlCol="0" anchor="t"/>
          <a:lstStyle/>
          <a:p>
            <a:pPr indent="0" marL="0">
              <a:buNone/>
            </a:pPr>
            <a:r>
              <a:rPr lang="en-US" sz="1200" dirty="0">
                <a:solidFill>
                  <a:schemeClr val="tx1"/>
                </a:solidFill>
              </a:rPr>
              <a:t>runs reproduced each result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Result 4 — ResNet's design tracks the target closely</a:t>
            </a:r>
            <a:endParaRPr lang="en-US" sz="2400" dirty="0"/>
          </a:p>
        </p:txBody>
      </p:sp>
      <p:pic>
        <p:nvPicPr>
          <p:cNvPr id="3" name="fig-shapes" descr="img/fig_shapes.png">    </p:cNvPr>
          <p:cNvPicPr>
            <a:picLocks noChangeAspect="1"/>
          </p:cNvPicPr>
          <p:nvPr/>
        </p:nvPicPr>
        <p:blipFill>
          <a:blip r:embed="rId1"/>
          <a:stretch>
            <a:fillRect/>
          </a:stretch>
        </p:blipFill>
        <p:spPr>
          <a:xfrm>
            <a:off x="457200" y="1097280"/>
            <a:ext cx="2852928" cy="3566160"/>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0" y="1188720"/>
          <a:ext cx="5029200" cy="914400"/>
        </p:xfrm>
        <a:graphic>
          <a:graphicData uri="http://schemas.openxmlformats.org/drawingml/2006/table">
            <a:tbl>
              <a:tblPr/>
              <a:tblGrid>
                <a:gridCol w="1737360"/>
                <a:gridCol w="1143000"/>
                <a:gridCol w="1143000"/>
                <a:gridCol w="1005840"/>
              </a:tblGrid>
              <a:tr h="38404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Final PEA metric</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SEP-CNN</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ResNet</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Ratio</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MSE</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3.41×10⁻³</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1.16×10⁻⁴</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≈29×</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Mean abs. error</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0.0277</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0.0053</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Max abs. error</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0.1425</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0.0395</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3657600" y="2926080"/>
            <a:ext cx="5029200" cy="14630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x-trajectory: both close; ResNet nearly overlays the target</a:t>
            </a:r>
            <a:endParaRPr lang="en-US" sz="1400" dirty="0"/>
          </a:p>
          <a:p>
            <a:pPr marL="177800" indent="-177800">
              <a:spcAft>
                <a:spcPts val="600"/>
              </a:spcAft>
              <a:buSzPct val="100000"/>
              <a:buChar char="•"/>
            </a:pPr>
            <a:r>
              <a:rPr lang="en-US" sz="1300" dirty="0">
                <a:solidFill>
                  <a:schemeClr val="tx1"/>
                </a:solidFill>
              </a:rPr>
              <a:t>y-trajectory: ResNet reproduces the rise-and-fall; SEP-CNN drifts high after index ~120</a:t>
            </a:r>
            <a:endParaRPr lang="en-US" sz="1400" dirty="0"/>
          </a:p>
          <a:p>
            <a:pPr marL="177800" indent="-177800">
              <a:spcAft>
                <a:spcPts val="600"/>
              </a:spcAft>
              <a:buSzPct val="100000"/>
              <a:buChar char="•"/>
            </a:pPr>
            <a:r>
              <a:rPr lang="en-US" sz="1300" dirty="0">
                <a:solidFill>
                  <a:schemeClr val="tx1"/>
                </a:solidFill>
              </a:rPr>
              <a:t>SEP-CNN error grows toward the free end of the beam; ResNet's stays small</a:t>
            </a:r>
            <a:endParaRPr lang="en-US" sz="1400" dirty="0"/>
          </a:p>
        </p:txBody>
      </p:sp>
      <p:sp>
        <p:nvSpPr>
          <p:cNvPr id="6" name="Text 2"/>
          <p:cNvSpPr txBox="1"/>
          <p:nvPr/>
        </p:nvSpPr>
        <p:spPr>
          <a:xfrm>
            <a:off x="3657600" y="4434840"/>
            <a:ext cx="5029200" cy="228600"/>
          </a:xfrm>
          <a:prstGeom prst="rect">
            <a:avLst/>
          </a:prstGeom>
          <a:noFill/>
          <a:ln/>
        </p:spPr>
        <p:txBody>
          <a:bodyPr wrap="square" lIns="0" tIns="0" rIns="0" bIns="0" rtlCol="0" anchor="t"/>
          <a:lstStyle/>
          <a:p>
            <a:pPr indent="0" marL="0">
              <a:buNone/>
            </a:pPr>
            <a:r>
              <a:rPr lang="en-US" sz="1000" i="1" dirty="0">
                <a:solidFill>
                  <a:schemeClr val="accent4"/>
                </a:solidFill>
              </a:rPr>
              <a:t>Errors = each model's predicted shape vs target (surrogate-predicted)</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Result 5 — better accuracy costs ≈1.9× runtime</a:t>
            </a:r>
            <a:endParaRPr lang="en-US" sz="2400" dirty="0"/>
          </a:p>
        </p:txBody>
      </p:sp>
      <p:graphicFrame>
        <p:nvGraphicFramePr>
          <p:cNvPr id="3" name="Chart 0" descr=""/>
          <p:cNvGraphicFramePr/>
          <p:nvPr/>
        </p:nvGraphicFramePr>
        <p:xfrm>
          <a:off x="457200" y="1143000"/>
          <a:ext cx="4206240" cy="3520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029200" y="1234440"/>
            <a:ext cx="36576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10.54 ± 1.91 s</a:t>
            </a:r>
            <a:endParaRPr lang="en-US" sz="2400" dirty="0"/>
          </a:p>
        </p:txBody>
      </p:sp>
      <p:sp>
        <p:nvSpPr>
          <p:cNvPr id="5" name="Text 2"/>
          <p:cNvSpPr txBox="1"/>
          <p:nvPr/>
        </p:nvSpPr>
        <p:spPr>
          <a:xfrm>
            <a:off x="5029200" y="1691640"/>
            <a:ext cx="3657600" cy="320040"/>
          </a:xfrm>
          <a:prstGeom prst="rect">
            <a:avLst/>
          </a:prstGeom>
          <a:noFill/>
          <a:ln/>
        </p:spPr>
        <p:txBody>
          <a:bodyPr wrap="square" lIns="0" tIns="0" rIns="0" bIns="0" rtlCol="0" anchor="t"/>
          <a:lstStyle/>
          <a:p>
            <a:pPr indent="0" marL="0">
              <a:buNone/>
            </a:pPr>
            <a:r>
              <a:rPr lang="en-US" sz="1200" dirty="0">
                <a:solidFill>
                  <a:schemeClr val="tx1"/>
                </a:solidFill>
              </a:rPr>
              <a:t>SEP-CNN per inverse-design run</a:t>
            </a:r>
            <a:endParaRPr lang="en-US" sz="1200" dirty="0"/>
          </a:p>
        </p:txBody>
      </p:sp>
      <p:sp>
        <p:nvSpPr>
          <p:cNvPr id="6" name="Text 3"/>
          <p:cNvSpPr txBox="1"/>
          <p:nvPr/>
        </p:nvSpPr>
        <p:spPr>
          <a:xfrm>
            <a:off x="5029200" y="2148840"/>
            <a:ext cx="36576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19.84 ± 2.24 s</a:t>
            </a:r>
            <a:endParaRPr lang="en-US" sz="2400" dirty="0"/>
          </a:p>
        </p:txBody>
      </p:sp>
      <p:sp>
        <p:nvSpPr>
          <p:cNvPr id="7" name="Text 4"/>
          <p:cNvSpPr txBox="1"/>
          <p:nvPr/>
        </p:nvSpPr>
        <p:spPr>
          <a:xfrm>
            <a:off x="5029200" y="2606040"/>
            <a:ext cx="3657600" cy="320040"/>
          </a:xfrm>
          <a:prstGeom prst="rect">
            <a:avLst/>
          </a:prstGeom>
          <a:noFill/>
          <a:ln/>
        </p:spPr>
        <p:txBody>
          <a:bodyPr wrap="square" lIns="0" tIns="0" rIns="0" bIns="0" rtlCol="0" anchor="t"/>
          <a:lstStyle/>
          <a:p>
            <a:pPr indent="0" marL="0">
              <a:buNone/>
            </a:pPr>
            <a:r>
              <a:rPr lang="en-US" sz="1200" dirty="0">
                <a:solidFill>
                  <a:schemeClr val="tx1"/>
                </a:solidFill>
              </a:rPr>
              <a:t>ResNet per inverse-design run</a:t>
            </a:r>
            <a:endParaRPr lang="en-US" sz="1200" dirty="0"/>
          </a:p>
        </p:txBody>
      </p:sp>
      <p:sp>
        <p:nvSpPr>
          <p:cNvPr id="8" name="tradeoff"/>
          <p:cNvSpPr/>
          <p:nvPr/>
        </p:nvSpPr>
        <p:spPr>
          <a:xfrm>
            <a:off x="5029200" y="3200400"/>
            <a:ext cx="3657600" cy="1417320"/>
          </a:xfrm>
          <a:prstGeom prst="roundRect">
            <a:avLst>
              <a:gd name="adj" fmla="val 5161"/>
            </a:avLst>
          </a:prstGeom>
          <a:solidFill>
            <a:schemeClr val="tx2"/>
          </a:solidFill>
          <a:ln w="12700">
            <a:solidFill>
              <a:schemeClr val="tx2"/>
            </a:solidFill>
            <a:prstDash val="solid"/>
          </a:ln>
        </p:spPr>
      </p:sp>
      <p:sp>
        <p:nvSpPr>
          <p:cNvPr id="9" name="Text 6"/>
          <p:cNvSpPr txBox="1"/>
          <p:nvPr/>
        </p:nvSpPr>
        <p:spPr>
          <a:xfrm>
            <a:off x="5257800" y="3291840"/>
            <a:ext cx="3200400" cy="1234440"/>
          </a:xfrm>
          <a:prstGeom prst="rect">
            <a:avLst/>
          </a:prstGeom>
          <a:noFill/>
          <a:ln/>
        </p:spPr>
        <p:txBody>
          <a:bodyPr wrap="square" lIns="0" tIns="0" rIns="0" bIns="0" rtlCol="0" anchor="ctr"/>
          <a:lstStyle/>
          <a:p>
            <a:pPr indent="0" marL="0">
              <a:buNone/>
            </a:pPr>
            <a:r>
              <a:rPr lang="en-US" sz="1500" b="1" dirty="0">
                <a:solidFill>
                  <a:schemeClr val="accent3"/>
                </a:solidFill>
              </a:rPr>
              <a:t>Trade-off, not a knockout</a:t>
            </a:r>
            <a:endParaRPr lang="en-US" sz="1500" dirty="0"/>
          </a:p>
          <a:p>
            <a:pPr indent="0" marL="0">
              <a:buNone/>
            </a:pPr>
            <a:r>
              <a:rPr lang="en-US" sz="1300" dirty="0">
                <a:solidFill>
                  <a:schemeClr val="bg1"/>
                </a:solidFill>
              </a:rPr>
              <a:t>≈29× lower final shape error for ≈1.88× compute. Both still finish in seconds.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All results at a glance</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1691640"/>
                <a:gridCol w="1691640"/>
                <a:gridCol w="2103120"/>
              </a:tblGrid>
              <a:tr h="438912">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SEP-CNN</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ResNet</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Better</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r>
              <a:tr h="438912">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Held-out test MSE</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2.29×10⁻³</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5.59×10⁻⁵</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ResNet (≈41×)</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r h="438912">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Mean MSE on same 1,024 candidates</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0.0208</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0.0367</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latin typeface="Calibri" pitchFamily="34" charset="0"/>
                          <a:ea typeface="Calibri" pitchFamily="34" charset="-122"/>
                          <a:cs typeface="Calibri" pitchFamily="34" charset="-120"/>
                        </a:rPr>
                        <a:t>SEP-CNN (1,016 / 1,024)</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r>
              <a:tr h="438912">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Final PEA MSE</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3.41×10⁻³</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1.16×10⁻⁴</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ResNet (≈29×)</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r h="438912">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Final PEA MAE / max abs. error</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0.0277 / 0.1425</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0.0053 / 0.0395</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ResNet</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r>
              <a:tr h="438912">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Mean PEA runtime</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10.54 ± 1.91 s</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19.84 ± 2.24 s</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latin typeface="Calibri" pitchFamily="34" charset="0"/>
                          <a:ea typeface="Calibri" pitchFamily="34" charset="-122"/>
                          <a:cs typeface="Calibri" pitchFamily="34" charset="-120"/>
                        </a:rPr>
                        <a:t>SEP-CNN (≈1.9× faster)</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r h="438912">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Final candidate / repeatability</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#961 · 10/10</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#961 · 10/10</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4"/>
                          </a:solidFill>
                          <a:latin typeface="Calibri" pitchFamily="34" charset="0"/>
                          <a:ea typeface="Calibri" pitchFamily="34" charset="-122"/>
                          <a:cs typeface="Calibri" pitchFamily="34" charset="-120"/>
                        </a:rPr>
                        <a:t>Tie</a:t>
                      </a:r>
                      <a:endParaRPr lang="en-US" sz="1300" dirty="0">
                        <a:latin typeface="Calibri" charset="0"/>
                        <a:ea typeface="Calibri" charset="0"/>
                        <a:cs typeface="Calibri" charset="0"/>
                      </a:endParaRPr>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200" i="1" dirty="0">
                <a:solidFill>
                  <a:schemeClr val="accent4"/>
                </a:solidFill>
              </a:rPr>
              <a:t>Final designs differ in 3 / 20 genes (15%).</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Three findings</a:t>
            </a:r>
            <a:endParaRPr lang="en-US" sz="2400" dirty="0"/>
          </a:p>
        </p:txBody>
      </p:sp>
      <p:sp>
        <p:nvSpPr>
          <p:cNvPr id="3" name="find0"/>
          <p:cNvSpPr/>
          <p:nvPr/>
        </p:nvSpPr>
        <p:spPr>
          <a:xfrm>
            <a:off x="457200" y="1188720"/>
            <a:ext cx="2606040" cy="3429000"/>
          </a:xfrm>
          <a:prstGeom prst="roundRect">
            <a:avLst>
              <a:gd name="adj" fmla="val 2807"/>
            </a:avLst>
          </a:prstGeom>
          <a:solidFill>
            <a:schemeClr val="bg2"/>
          </a:solidFill>
          <a:ln w="12700">
            <a:solidFill>
              <a:schemeClr val="bg2"/>
            </a:solidFill>
            <a:prstDash val="solid"/>
          </a:ln>
        </p:spPr>
      </p:sp>
      <p:sp>
        <p:nvSpPr>
          <p:cNvPr id="4" name="find0-circle"/>
          <p:cNvSpPr/>
          <p:nvPr/>
        </p:nvSpPr>
        <p:spPr>
          <a:xfrm>
            <a:off x="640080" y="1371600"/>
            <a:ext cx="640080" cy="640080"/>
          </a:xfrm>
          <a:prstGeom prst="ellipse">
            <a:avLst/>
          </a:prstGeom>
          <a:solidFill>
            <a:schemeClr val="accent4"/>
          </a:solidFill>
          <a:ln w="12700">
            <a:solidFill>
              <a:schemeClr val="accent4"/>
            </a:solidFill>
            <a:prstDash val="solid"/>
          </a:ln>
        </p:spPr>
      </p:sp>
      <p:pic>
        <p:nvPicPr>
          <p:cNvPr id="5" name="find0-icon"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640080" y="2148840"/>
            <a:ext cx="2240280" cy="7772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Test error ≠ search performance</a:t>
            </a:r>
            <a:endParaRPr lang="en-US" sz="1600" dirty="0"/>
          </a:p>
        </p:txBody>
      </p:sp>
      <p:sp>
        <p:nvSpPr>
          <p:cNvPr id="7" name="Text 4"/>
          <p:cNvSpPr txBox="1"/>
          <p:nvPr/>
        </p:nvSpPr>
        <p:spPr>
          <a:xfrm>
            <a:off x="640080" y="2926080"/>
            <a:ext cx="2240280" cy="1051560"/>
          </a:xfrm>
          <a:prstGeom prst="rect">
            <a:avLst/>
          </a:prstGeom>
          <a:noFill/>
          <a:ln/>
        </p:spPr>
        <p:txBody>
          <a:bodyPr wrap="square" lIns="0" tIns="0" rIns="0" bIns="0" rtlCol="0" anchor="t"/>
          <a:lstStyle/>
          <a:p>
            <a:pPr indent="0" marL="0">
              <a:buNone/>
            </a:pPr>
            <a:r>
              <a:rPr lang="en-US" sz="1300" dirty="0">
                <a:solidFill>
                  <a:schemeClr val="tx1"/>
                </a:solidFill>
              </a:rPr>
              <a:t>ResNet was ≈41× better on held-out data, yet SEP-CNN was better on 1,016 of 1,024 PEA candidates.</a:t>
            </a:r>
            <a:endParaRPr lang="en-US" sz="1300" dirty="0"/>
          </a:p>
        </p:txBody>
      </p:sp>
      <p:sp>
        <p:nvSpPr>
          <p:cNvPr id="8" name="Text 5"/>
          <p:cNvSpPr txBox="1"/>
          <p:nvPr/>
        </p:nvSpPr>
        <p:spPr>
          <a:xfrm>
            <a:off x="640080" y="4023360"/>
            <a:ext cx="2240280" cy="45720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1,016 / 1,024</a:t>
            </a:r>
            <a:endParaRPr lang="en-US" sz="2200" dirty="0"/>
          </a:p>
        </p:txBody>
      </p:sp>
      <p:sp>
        <p:nvSpPr>
          <p:cNvPr id="9" name="find1"/>
          <p:cNvSpPr/>
          <p:nvPr/>
        </p:nvSpPr>
        <p:spPr>
          <a:xfrm>
            <a:off x="3246120" y="1188720"/>
            <a:ext cx="2606040" cy="3429000"/>
          </a:xfrm>
          <a:prstGeom prst="roundRect">
            <a:avLst>
              <a:gd name="adj" fmla="val 2807"/>
            </a:avLst>
          </a:prstGeom>
          <a:solidFill>
            <a:schemeClr val="bg2"/>
          </a:solidFill>
          <a:ln w="12700">
            <a:solidFill>
              <a:schemeClr val="bg2"/>
            </a:solidFill>
            <a:prstDash val="solid"/>
          </a:ln>
        </p:spPr>
      </p:sp>
      <p:sp>
        <p:nvSpPr>
          <p:cNvPr id="10" name="find1-circle"/>
          <p:cNvSpPr/>
          <p:nvPr/>
        </p:nvSpPr>
        <p:spPr>
          <a:xfrm>
            <a:off x="3429000" y="1371600"/>
            <a:ext cx="640080" cy="640080"/>
          </a:xfrm>
          <a:prstGeom prst="ellipse">
            <a:avLst/>
          </a:prstGeom>
          <a:solidFill>
            <a:schemeClr val="accent1"/>
          </a:solidFill>
          <a:ln w="12700">
            <a:solidFill>
              <a:schemeClr val="accent1"/>
            </a:solidFill>
            <a:prstDash val="solid"/>
          </a:ln>
        </p:spPr>
      </p:sp>
      <p:pic>
        <p:nvPicPr>
          <p:cNvPr id="11" name="find1-icon" descr="preencoded.png">    </p:cNvPr>
          <p:cNvPicPr>
            <a:picLocks noChangeAspect="1"/>
          </p:cNvPicPr>
          <p:nvPr/>
        </p:nvPicPr>
        <p:blipFill>
          <a:blip r:embed="rId2"/>
          <a:stretch>
            <a:fillRect/>
          </a:stretch>
        </p:blipFill>
        <p:spPr>
          <a:xfrm>
            <a:off x="3582619" y="1525219"/>
            <a:ext cx="332842" cy="332842"/>
          </a:xfrm>
          <a:prstGeom prst="rect">
            <a:avLst/>
          </a:prstGeom>
        </p:spPr>
      </p:pic>
      <p:sp>
        <p:nvSpPr>
          <p:cNvPr id="12" name="Text 8"/>
          <p:cNvSpPr txBox="1"/>
          <p:nvPr/>
        </p:nvSpPr>
        <p:spPr>
          <a:xfrm>
            <a:off x="3429000" y="2148840"/>
            <a:ext cx="2240280" cy="7772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The forward model changes the answer</a:t>
            </a:r>
            <a:endParaRPr lang="en-US" sz="1600" dirty="0"/>
          </a:p>
        </p:txBody>
      </p:sp>
      <p:sp>
        <p:nvSpPr>
          <p:cNvPr id="13" name="Text 9"/>
          <p:cNvSpPr txBox="1"/>
          <p:nvPr/>
        </p:nvSpPr>
        <p:spPr>
          <a:xfrm>
            <a:off x="3429000" y="2926080"/>
            <a:ext cx="2240280" cy="1051560"/>
          </a:xfrm>
          <a:prstGeom prst="rect">
            <a:avLst/>
          </a:prstGeom>
          <a:noFill/>
          <a:ln/>
        </p:spPr>
        <p:txBody>
          <a:bodyPr wrap="square" lIns="0" tIns="0" rIns="0" bIns="0" rtlCol="0" anchor="t"/>
          <a:lstStyle/>
          <a:p>
            <a:pPr indent="0" marL="0">
              <a:buNone/>
            </a:pPr>
            <a:r>
              <a:rPr lang="en-US" sz="1300" dirty="0">
                <a:solidFill>
                  <a:schemeClr val="tx1"/>
                </a:solidFill>
              </a:rPr>
              <a:t>Swapping only the network gave a different final design (3/20 genes) and ≈29× lower final shape error.</a:t>
            </a:r>
            <a:endParaRPr lang="en-US" sz="1300" dirty="0"/>
          </a:p>
        </p:txBody>
      </p:sp>
      <p:sp>
        <p:nvSpPr>
          <p:cNvPr id="14" name="Text 10"/>
          <p:cNvSpPr txBox="1"/>
          <p:nvPr/>
        </p:nvSpPr>
        <p:spPr>
          <a:xfrm>
            <a:off x="3429000" y="4023360"/>
            <a:ext cx="224028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≈29× lower MSE</a:t>
            </a:r>
            <a:endParaRPr lang="en-US" sz="2200" dirty="0"/>
          </a:p>
        </p:txBody>
      </p:sp>
      <p:sp>
        <p:nvSpPr>
          <p:cNvPr id="15" name="find2"/>
          <p:cNvSpPr/>
          <p:nvPr/>
        </p:nvSpPr>
        <p:spPr>
          <a:xfrm>
            <a:off x="6035040" y="1188720"/>
            <a:ext cx="2606040" cy="3429000"/>
          </a:xfrm>
          <a:prstGeom prst="roundRect">
            <a:avLst>
              <a:gd name="adj" fmla="val 2807"/>
            </a:avLst>
          </a:prstGeom>
          <a:solidFill>
            <a:schemeClr val="bg2"/>
          </a:solidFill>
          <a:ln w="12700">
            <a:solidFill>
              <a:schemeClr val="bg2"/>
            </a:solidFill>
            <a:prstDash val="solid"/>
          </a:ln>
        </p:spPr>
      </p:sp>
      <p:sp>
        <p:nvSpPr>
          <p:cNvPr id="16" name="find2-circle"/>
          <p:cNvSpPr/>
          <p:nvPr/>
        </p:nvSpPr>
        <p:spPr>
          <a:xfrm>
            <a:off x="6217920" y="1371600"/>
            <a:ext cx="640080" cy="640080"/>
          </a:xfrm>
          <a:prstGeom prst="ellipse">
            <a:avLst/>
          </a:prstGeom>
          <a:solidFill>
            <a:schemeClr val="accent2"/>
          </a:solidFill>
          <a:ln w="12700">
            <a:solidFill>
              <a:schemeClr val="accent2"/>
            </a:solidFill>
            <a:prstDash val="solid"/>
          </a:ln>
        </p:spPr>
      </p:sp>
      <p:pic>
        <p:nvPicPr>
          <p:cNvPr id="17" name="find2-icon" descr="preencoded.png">    </p:cNvPr>
          <p:cNvPicPr>
            <a:picLocks noChangeAspect="1"/>
          </p:cNvPicPr>
          <p:nvPr/>
        </p:nvPicPr>
        <p:blipFill>
          <a:blip r:embed="rId3"/>
          <a:stretch>
            <a:fillRect/>
          </a:stretch>
        </p:blipFill>
        <p:spPr>
          <a:xfrm>
            <a:off x="6371539" y="1525219"/>
            <a:ext cx="332842" cy="332842"/>
          </a:xfrm>
          <a:prstGeom prst="rect">
            <a:avLst/>
          </a:prstGeom>
        </p:spPr>
      </p:pic>
      <p:sp>
        <p:nvSpPr>
          <p:cNvPr id="18" name="Text 13"/>
          <p:cNvSpPr txBox="1"/>
          <p:nvPr/>
        </p:nvSpPr>
        <p:spPr>
          <a:xfrm>
            <a:off x="6217920" y="2148840"/>
            <a:ext cx="2240280" cy="7772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Model × design interaction</a:t>
            </a:r>
            <a:endParaRPr lang="en-US" sz="1600" dirty="0"/>
          </a:p>
        </p:txBody>
      </p:sp>
      <p:sp>
        <p:nvSpPr>
          <p:cNvPr id="19" name="Text 14"/>
          <p:cNvSpPr txBox="1"/>
          <p:nvPr/>
        </p:nvSpPr>
        <p:spPr>
          <a:xfrm>
            <a:off x="6217920" y="2926080"/>
            <a:ext cx="2240280" cy="1051560"/>
          </a:xfrm>
          <a:prstGeom prst="rect">
            <a:avLst/>
          </a:prstGeom>
          <a:noFill/>
          <a:ln/>
        </p:spPr>
        <p:txBody>
          <a:bodyPr wrap="square" lIns="0" tIns="0" rIns="0" bIns="0" rtlCol="0" anchor="t"/>
          <a:lstStyle/>
          <a:p>
            <a:pPr indent="0" marL="0">
              <a:buNone/>
            </a:pPr>
            <a:r>
              <a:rPr lang="en-US" sz="1300" dirty="0">
                <a:solidFill>
                  <a:schemeClr val="tx1"/>
                </a:solidFill>
              </a:rPr>
              <a:t>Neither network is uniformly superior — choose forward models by evaluating them inside the full optimisation loop.</a:t>
            </a:r>
            <a:endParaRPr lang="en-US" sz="1300" dirty="0"/>
          </a:p>
        </p:txBody>
      </p:sp>
      <p:sp>
        <p:nvSpPr>
          <p:cNvPr id="20" name="Text 15"/>
          <p:cNvSpPr txBox="1"/>
          <p:nvPr/>
        </p:nvSpPr>
        <p:spPr>
          <a:xfrm>
            <a:off x="6217920" y="4023360"/>
            <a:ext cx="224028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Evaluate in-loop</a:t>
            </a:r>
            <a:endParaRPr lang="en-US" sz="2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Validity check: what a reviewer will ask</a:t>
            </a:r>
            <a:endParaRPr lang="en-US" sz="2400" dirty="0"/>
          </a:p>
        </p:txBody>
      </p:sp>
      <p:sp>
        <p:nvSpPr>
          <p:cNvPr id="3" name="vc0"/>
          <p:cNvSpPr/>
          <p:nvPr/>
        </p:nvSpPr>
        <p:spPr>
          <a:xfrm>
            <a:off x="457200" y="1188720"/>
            <a:ext cx="4023360" cy="1024128"/>
          </a:xfrm>
          <a:prstGeom prst="roundRect">
            <a:avLst>
              <a:gd name="adj" fmla="val 7143"/>
            </a:avLst>
          </a:prstGeom>
          <a:solidFill>
            <a:schemeClr val="bg2"/>
          </a:solidFill>
          <a:ln w="12700">
            <a:solidFill>
              <a:schemeClr val="bg2"/>
            </a:solidFill>
            <a:prstDash val="solid"/>
          </a:ln>
        </p:spPr>
      </p:sp>
      <p:sp>
        <p:nvSpPr>
          <p:cNvPr id="4" name="vc0-circle"/>
          <p:cNvSpPr/>
          <p:nvPr/>
        </p:nvSpPr>
        <p:spPr>
          <a:xfrm>
            <a:off x="594360" y="1444752"/>
            <a:ext cx="502920" cy="502920"/>
          </a:xfrm>
          <a:prstGeom prst="ellipse">
            <a:avLst/>
          </a:prstGeom>
          <a:solidFill>
            <a:schemeClr val="accent2"/>
          </a:solidFill>
          <a:ln w="12700">
            <a:solidFill>
              <a:schemeClr val="accent2"/>
            </a:solidFill>
            <a:prstDash val="solid"/>
          </a:ln>
        </p:spPr>
      </p:sp>
      <p:pic>
        <p:nvPicPr>
          <p:cNvPr id="5" name="vc0-icon" descr="preencoded.png">    </p:cNvPr>
          <p:cNvPicPr>
            <a:picLocks noChangeAspect="1"/>
          </p:cNvPicPr>
          <p:nvPr/>
        </p:nvPicPr>
        <p:blipFill>
          <a:blip r:embed="rId1"/>
          <a:stretch>
            <a:fillRect/>
          </a:stretch>
        </p:blipFill>
        <p:spPr>
          <a:xfrm>
            <a:off x="715061" y="1565453"/>
            <a:ext cx="261518" cy="261518"/>
          </a:xfrm>
          <a:prstGeom prst="rect">
            <a:avLst/>
          </a:prstGeom>
        </p:spPr>
      </p:pic>
      <p:sp>
        <p:nvSpPr>
          <p:cNvPr id="6" name="Text 3"/>
          <p:cNvSpPr txBox="1"/>
          <p:nvPr/>
        </p:nvSpPr>
        <p:spPr>
          <a:xfrm>
            <a:off x="1234440" y="1261872"/>
            <a:ext cx="3154680" cy="896112"/>
          </a:xfrm>
          <a:prstGeom prst="rect">
            <a:avLst/>
          </a:prstGeom>
          <a:noFill/>
          <a:ln/>
        </p:spPr>
        <p:txBody>
          <a:bodyPr wrap="square" lIns="0" tIns="0" rIns="0" bIns="0" rtlCol="0" anchor="ctr"/>
          <a:lstStyle/>
          <a:p>
            <a:pPr indent="0" marL="0">
              <a:buNone/>
            </a:pPr>
            <a:r>
              <a:rPr lang="en-US" sz="1400" b="1" dirty="0">
                <a:solidFill>
                  <a:schemeClr val="tx2"/>
                </a:solidFill>
              </a:rPr>
              <a:t>Surrogate-only errors</a:t>
            </a:r>
            <a:endParaRPr lang="en-US" sz="1400" dirty="0"/>
          </a:p>
          <a:p>
            <a:pPr indent="0" marL="0">
              <a:buNone/>
            </a:pPr>
            <a:r>
              <a:rPr lang="en-US" sz="1100" dirty="0">
                <a:solidFill>
                  <a:schemeClr val="tx1"/>
                </a:solidFill>
              </a:rPr>
              <a:t>Final 29× gain compares each network's own prediction with the target — verify both designs with FE (and printing).</a:t>
            </a:r>
            <a:endParaRPr lang="en-US" sz="1400" dirty="0"/>
          </a:p>
        </p:txBody>
      </p:sp>
      <p:sp>
        <p:nvSpPr>
          <p:cNvPr id="7" name="vc1"/>
          <p:cNvSpPr/>
          <p:nvPr/>
        </p:nvSpPr>
        <p:spPr>
          <a:xfrm>
            <a:off x="4663440" y="1188720"/>
            <a:ext cx="4023360" cy="1024128"/>
          </a:xfrm>
          <a:prstGeom prst="roundRect">
            <a:avLst>
              <a:gd name="adj" fmla="val 7143"/>
            </a:avLst>
          </a:prstGeom>
          <a:solidFill>
            <a:schemeClr val="bg2"/>
          </a:solidFill>
          <a:ln w="12700">
            <a:solidFill>
              <a:schemeClr val="bg2"/>
            </a:solidFill>
            <a:prstDash val="solid"/>
          </a:ln>
        </p:spPr>
      </p:sp>
      <p:sp>
        <p:nvSpPr>
          <p:cNvPr id="8" name="vc1-circle"/>
          <p:cNvSpPr/>
          <p:nvPr/>
        </p:nvSpPr>
        <p:spPr>
          <a:xfrm>
            <a:off x="4800600" y="1444752"/>
            <a:ext cx="502920" cy="502920"/>
          </a:xfrm>
          <a:prstGeom prst="ellipse">
            <a:avLst/>
          </a:prstGeom>
          <a:solidFill>
            <a:schemeClr val="accent2"/>
          </a:solidFill>
          <a:ln w="12700">
            <a:solidFill>
              <a:schemeClr val="accent2"/>
            </a:solidFill>
            <a:prstDash val="solid"/>
          </a:ln>
        </p:spPr>
      </p:sp>
      <p:pic>
        <p:nvPicPr>
          <p:cNvPr id="9" name="vc1-icon" descr="preencoded.png">    </p:cNvPr>
          <p:cNvPicPr>
            <a:picLocks noChangeAspect="1"/>
          </p:cNvPicPr>
          <p:nvPr/>
        </p:nvPicPr>
        <p:blipFill>
          <a:blip r:embed="rId2"/>
          <a:stretch>
            <a:fillRect/>
          </a:stretch>
        </p:blipFill>
        <p:spPr>
          <a:xfrm>
            <a:off x="4921301" y="1565453"/>
            <a:ext cx="261518" cy="261518"/>
          </a:xfrm>
          <a:prstGeom prst="rect">
            <a:avLst/>
          </a:prstGeom>
        </p:spPr>
      </p:pic>
      <p:sp>
        <p:nvSpPr>
          <p:cNvPr id="10" name="Text 6"/>
          <p:cNvSpPr txBox="1"/>
          <p:nvPr/>
        </p:nvSpPr>
        <p:spPr>
          <a:xfrm>
            <a:off x="5440680" y="1261872"/>
            <a:ext cx="3154680" cy="896112"/>
          </a:xfrm>
          <a:prstGeom prst="rect">
            <a:avLst/>
          </a:prstGeom>
          <a:noFill/>
          <a:ln/>
        </p:spPr>
        <p:txBody>
          <a:bodyPr wrap="square" lIns="0" tIns="0" rIns="0" bIns="0" rtlCol="0" anchor="ctr"/>
          <a:lstStyle/>
          <a:p>
            <a:pPr indent="0" marL="0">
              <a:buNone/>
            </a:pPr>
            <a:r>
              <a:rPr lang="en-US" sz="1400" b="1" dirty="0">
                <a:solidFill>
                  <a:schemeClr val="tx2"/>
                </a:solidFill>
              </a:rPr>
              <a:t>Fixed 10k-step budget</a:t>
            </a:r>
            <a:endParaRPr lang="en-US" sz="1400" dirty="0"/>
          </a:p>
          <a:p>
            <a:pPr indent="0" marL="0">
              <a:buNone/>
            </a:pPr>
            <a:r>
              <a:rPr lang="en-US" sz="1100" dirty="0">
                <a:solidFill>
                  <a:schemeClr val="tx1"/>
                </a:solidFill>
              </a:rPr>
              <a:t>SEP-CNN loss was still falling at step 10,000; add a converged comparison so the gap isn't just training speed.</a:t>
            </a:r>
            <a:endParaRPr lang="en-US" sz="1400" dirty="0"/>
          </a:p>
        </p:txBody>
      </p:sp>
      <p:sp>
        <p:nvSpPr>
          <p:cNvPr id="11" name="vc2"/>
          <p:cNvSpPr/>
          <p:nvPr/>
        </p:nvSpPr>
        <p:spPr>
          <a:xfrm>
            <a:off x="457200" y="2350008"/>
            <a:ext cx="4023360" cy="1024128"/>
          </a:xfrm>
          <a:prstGeom prst="roundRect">
            <a:avLst>
              <a:gd name="adj" fmla="val 7143"/>
            </a:avLst>
          </a:prstGeom>
          <a:solidFill>
            <a:schemeClr val="bg2"/>
          </a:solidFill>
          <a:ln w="12700">
            <a:solidFill>
              <a:schemeClr val="bg2"/>
            </a:solidFill>
            <a:prstDash val="solid"/>
          </a:ln>
        </p:spPr>
      </p:sp>
      <p:sp>
        <p:nvSpPr>
          <p:cNvPr id="12" name="vc2-circle"/>
          <p:cNvSpPr/>
          <p:nvPr/>
        </p:nvSpPr>
        <p:spPr>
          <a:xfrm>
            <a:off x="594360" y="2606040"/>
            <a:ext cx="502920" cy="502920"/>
          </a:xfrm>
          <a:prstGeom prst="ellipse">
            <a:avLst/>
          </a:prstGeom>
          <a:solidFill>
            <a:schemeClr val="accent4"/>
          </a:solidFill>
          <a:ln w="12700">
            <a:solidFill>
              <a:schemeClr val="accent4"/>
            </a:solidFill>
            <a:prstDash val="solid"/>
          </a:ln>
        </p:spPr>
      </p:sp>
      <p:pic>
        <p:nvPicPr>
          <p:cNvPr id="13" name="vc2-icon" descr="preencoded.png">    </p:cNvPr>
          <p:cNvPicPr>
            <a:picLocks noChangeAspect="1"/>
          </p:cNvPicPr>
          <p:nvPr/>
        </p:nvPicPr>
        <p:blipFill>
          <a:blip r:embed="rId3"/>
          <a:stretch>
            <a:fillRect/>
          </a:stretch>
        </p:blipFill>
        <p:spPr>
          <a:xfrm>
            <a:off x="715061" y="2726741"/>
            <a:ext cx="261518" cy="261518"/>
          </a:xfrm>
          <a:prstGeom prst="rect">
            <a:avLst/>
          </a:prstGeom>
        </p:spPr>
      </p:pic>
      <p:sp>
        <p:nvSpPr>
          <p:cNvPr id="14" name="Text 9"/>
          <p:cNvSpPr txBox="1"/>
          <p:nvPr/>
        </p:nvSpPr>
        <p:spPr>
          <a:xfrm>
            <a:off x="1234440" y="2423160"/>
            <a:ext cx="3154680" cy="896112"/>
          </a:xfrm>
          <a:prstGeom prst="rect">
            <a:avLst/>
          </a:prstGeom>
          <a:noFill/>
          <a:ln/>
        </p:spPr>
        <p:txBody>
          <a:bodyPr wrap="square" lIns="0" tIns="0" rIns="0" bIns="0" rtlCol="0" anchor="ctr"/>
          <a:lstStyle/>
          <a:p>
            <a:pPr indent="0" marL="0">
              <a:buNone/>
            </a:pPr>
            <a:r>
              <a:rPr lang="en-US" sz="1400" b="1" dirty="0">
                <a:solidFill>
                  <a:schemeClr val="tx2"/>
                </a:solidFill>
              </a:rPr>
              <a:t>One target, one setting</a:t>
            </a:r>
            <a:endParaRPr lang="en-US" sz="1400" dirty="0"/>
          </a:p>
          <a:p>
            <a:pPr indent="0" marL="0">
              <a:buNone/>
            </a:pPr>
            <a:r>
              <a:rPr lang="en-US" sz="1100" dirty="0">
                <a:solidFill>
                  <a:schemeClr val="tx1"/>
                </a:solidFill>
              </a:rPr>
              <a:t>10/10 repeats reflect PEA's deterministic final stage; test more targets, seeds and mutation rates.</a:t>
            </a:r>
            <a:endParaRPr lang="en-US" sz="1400" dirty="0"/>
          </a:p>
        </p:txBody>
      </p:sp>
      <p:sp>
        <p:nvSpPr>
          <p:cNvPr id="15" name="vc3"/>
          <p:cNvSpPr/>
          <p:nvPr/>
        </p:nvSpPr>
        <p:spPr>
          <a:xfrm>
            <a:off x="4663440" y="2350008"/>
            <a:ext cx="4023360" cy="1024128"/>
          </a:xfrm>
          <a:prstGeom prst="roundRect">
            <a:avLst>
              <a:gd name="adj" fmla="val 7143"/>
            </a:avLst>
          </a:prstGeom>
          <a:solidFill>
            <a:schemeClr val="bg2"/>
          </a:solidFill>
          <a:ln w="12700">
            <a:solidFill>
              <a:schemeClr val="bg2"/>
            </a:solidFill>
            <a:prstDash val="solid"/>
          </a:ln>
        </p:spPr>
      </p:sp>
      <p:sp>
        <p:nvSpPr>
          <p:cNvPr id="16" name="vc3-circle"/>
          <p:cNvSpPr/>
          <p:nvPr/>
        </p:nvSpPr>
        <p:spPr>
          <a:xfrm>
            <a:off x="4800600" y="2606040"/>
            <a:ext cx="502920" cy="502920"/>
          </a:xfrm>
          <a:prstGeom prst="ellipse">
            <a:avLst/>
          </a:prstGeom>
          <a:solidFill>
            <a:schemeClr val="accent4"/>
          </a:solidFill>
          <a:ln w="12700">
            <a:solidFill>
              <a:schemeClr val="accent4"/>
            </a:solidFill>
            <a:prstDash val="solid"/>
          </a:ln>
        </p:spPr>
      </p:sp>
      <p:pic>
        <p:nvPicPr>
          <p:cNvPr id="17" name="vc3-icon" descr="preencoded.png">    </p:cNvPr>
          <p:cNvPicPr>
            <a:picLocks noChangeAspect="1"/>
          </p:cNvPicPr>
          <p:nvPr/>
        </p:nvPicPr>
        <p:blipFill>
          <a:blip r:embed="rId4"/>
          <a:stretch>
            <a:fillRect/>
          </a:stretch>
        </p:blipFill>
        <p:spPr>
          <a:xfrm>
            <a:off x="4921301" y="2726741"/>
            <a:ext cx="261518" cy="261518"/>
          </a:xfrm>
          <a:prstGeom prst="rect">
            <a:avLst/>
          </a:prstGeom>
        </p:spPr>
      </p:pic>
      <p:sp>
        <p:nvSpPr>
          <p:cNvPr id="18" name="Text 12"/>
          <p:cNvSpPr txBox="1"/>
          <p:nvPr/>
        </p:nvSpPr>
        <p:spPr>
          <a:xfrm>
            <a:off x="5440680" y="2423160"/>
            <a:ext cx="3154680" cy="896112"/>
          </a:xfrm>
          <a:prstGeom prst="rect">
            <a:avLst/>
          </a:prstGeom>
          <a:noFill/>
          <a:ln/>
        </p:spPr>
        <p:txBody>
          <a:bodyPr wrap="square" lIns="0" tIns="0" rIns="0" bIns="0" rtlCol="0" anchor="ctr"/>
          <a:lstStyle/>
          <a:p>
            <a:pPr indent="0" marL="0">
              <a:buNone/>
            </a:pPr>
            <a:r>
              <a:rPr lang="en-US" sz="1400" b="1" dirty="0">
                <a:solidFill>
                  <a:schemeClr val="tx2"/>
                </a:solidFill>
              </a:rPr>
              <a:t>Clarify “candidate 961”</a:t>
            </a:r>
            <a:endParaRPr lang="en-US" sz="1400" dirty="0"/>
          </a:p>
          <a:p>
            <a:pPr indent="0" marL="0">
              <a:buNone/>
            </a:pPr>
            <a:r>
              <a:rPr lang="en-US" sz="1100" dirty="0">
                <a:solidFill>
                  <a:schemeClr val="tx1"/>
                </a:solidFill>
              </a:rPr>
              <a:t>It is an index in the final-stage enumeration, not a shared design — say so explicitly.</a:t>
            </a:r>
            <a:endParaRPr lang="en-US" sz="1400" dirty="0"/>
          </a:p>
        </p:txBody>
      </p:sp>
      <p:sp>
        <p:nvSpPr>
          <p:cNvPr id="19" name="vc4"/>
          <p:cNvSpPr/>
          <p:nvPr/>
        </p:nvSpPr>
        <p:spPr>
          <a:xfrm>
            <a:off x="457200" y="3511296"/>
            <a:ext cx="4023360" cy="1024128"/>
          </a:xfrm>
          <a:prstGeom prst="roundRect">
            <a:avLst>
              <a:gd name="adj" fmla="val 7143"/>
            </a:avLst>
          </a:prstGeom>
          <a:solidFill>
            <a:schemeClr val="bg2"/>
          </a:solidFill>
          <a:ln w="12700">
            <a:solidFill>
              <a:schemeClr val="bg2"/>
            </a:solidFill>
            <a:prstDash val="solid"/>
          </a:ln>
        </p:spPr>
      </p:sp>
      <p:sp>
        <p:nvSpPr>
          <p:cNvPr id="20" name="vc4-circle"/>
          <p:cNvSpPr/>
          <p:nvPr/>
        </p:nvSpPr>
        <p:spPr>
          <a:xfrm>
            <a:off x="594360" y="3767328"/>
            <a:ext cx="502920" cy="502920"/>
          </a:xfrm>
          <a:prstGeom prst="ellipse">
            <a:avLst/>
          </a:prstGeom>
          <a:solidFill>
            <a:schemeClr val="accent4"/>
          </a:solidFill>
          <a:ln w="12700">
            <a:solidFill>
              <a:schemeClr val="accent4"/>
            </a:solidFill>
            <a:prstDash val="solid"/>
          </a:ln>
        </p:spPr>
      </p:sp>
      <p:pic>
        <p:nvPicPr>
          <p:cNvPr id="21" name="vc4-icon" descr="preencoded.png">    </p:cNvPr>
          <p:cNvPicPr>
            <a:picLocks noChangeAspect="1"/>
          </p:cNvPicPr>
          <p:nvPr/>
        </p:nvPicPr>
        <p:blipFill>
          <a:blip r:embed="rId5"/>
          <a:stretch>
            <a:fillRect/>
          </a:stretch>
        </p:blipFill>
        <p:spPr>
          <a:xfrm>
            <a:off x="715061" y="3888029"/>
            <a:ext cx="261518" cy="261518"/>
          </a:xfrm>
          <a:prstGeom prst="rect">
            <a:avLst/>
          </a:prstGeom>
        </p:spPr>
      </p:pic>
      <p:sp>
        <p:nvSpPr>
          <p:cNvPr id="22" name="Text 15"/>
          <p:cNvSpPr txBox="1"/>
          <p:nvPr/>
        </p:nvSpPr>
        <p:spPr>
          <a:xfrm>
            <a:off x="1234440" y="3584448"/>
            <a:ext cx="3154680" cy="896112"/>
          </a:xfrm>
          <a:prstGeom prst="rect">
            <a:avLst/>
          </a:prstGeom>
          <a:noFill/>
          <a:ln/>
        </p:spPr>
        <p:txBody>
          <a:bodyPr wrap="square" lIns="0" tIns="0" rIns="0" bIns="0" rtlCol="0" anchor="ctr"/>
          <a:lstStyle/>
          <a:p>
            <a:pPr indent="0" marL="0">
              <a:buNone/>
            </a:pPr>
            <a:r>
              <a:rPr lang="en-US" sz="1400" b="1" dirty="0">
                <a:solidFill>
                  <a:schemeClr val="tx2"/>
                </a:solidFill>
              </a:rPr>
              <a:t>Convergence figure</a:t>
            </a:r>
            <a:endParaRPr lang="en-US" sz="1400" dirty="0"/>
          </a:p>
          <a:p>
            <a:pPr indent="0" marL="0">
              <a:buNone/>
            </a:pPr>
            <a:r>
              <a:rPr lang="en-US" sz="1100" dirty="0">
                <a:solidFill>
                  <a:schemeClr val="tx1"/>
                </a:solidFill>
              </a:rPr>
              <a:t>Only generation 5 is plotted; log the full generation-by-generation trajectory.</a:t>
            </a:r>
            <a:endParaRPr lang="en-US" sz="1400" dirty="0"/>
          </a:p>
        </p:txBody>
      </p:sp>
      <p:sp>
        <p:nvSpPr>
          <p:cNvPr id="23" name="vc5"/>
          <p:cNvSpPr/>
          <p:nvPr/>
        </p:nvSpPr>
        <p:spPr>
          <a:xfrm>
            <a:off x="4663440" y="3511296"/>
            <a:ext cx="4023360" cy="1024128"/>
          </a:xfrm>
          <a:prstGeom prst="roundRect">
            <a:avLst>
              <a:gd name="adj" fmla="val 7143"/>
            </a:avLst>
          </a:prstGeom>
          <a:solidFill>
            <a:schemeClr val="bg2"/>
          </a:solidFill>
          <a:ln w="12700">
            <a:solidFill>
              <a:schemeClr val="bg2"/>
            </a:solidFill>
            <a:prstDash val="solid"/>
          </a:ln>
        </p:spPr>
      </p:sp>
      <p:sp>
        <p:nvSpPr>
          <p:cNvPr id="24" name="vc5-circle"/>
          <p:cNvSpPr/>
          <p:nvPr/>
        </p:nvSpPr>
        <p:spPr>
          <a:xfrm>
            <a:off x="4800600" y="3767328"/>
            <a:ext cx="502920" cy="502920"/>
          </a:xfrm>
          <a:prstGeom prst="ellipse">
            <a:avLst/>
          </a:prstGeom>
          <a:solidFill>
            <a:schemeClr val="accent4"/>
          </a:solidFill>
          <a:ln w="12700">
            <a:solidFill>
              <a:schemeClr val="accent4"/>
            </a:solidFill>
            <a:prstDash val="solid"/>
          </a:ln>
        </p:spPr>
      </p:sp>
      <p:pic>
        <p:nvPicPr>
          <p:cNvPr id="25" name="vc5-icon" descr="preencoded.png">    </p:cNvPr>
          <p:cNvPicPr>
            <a:picLocks noChangeAspect="1"/>
          </p:cNvPicPr>
          <p:nvPr/>
        </p:nvPicPr>
        <p:blipFill>
          <a:blip r:embed="rId6"/>
          <a:stretch>
            <a:fillRect/>
          </a:stretch>
        </p:blipFill>
        <p:spPr>
          <a:xfrm>
            <a:off x="4921301" y="3888029"/>
            <a:ext cx="261518" cy="261518"/>
          </a:xfrm>
          <a:prstGeom prst="rect">
            <a:avLst/>
          </a:prstGeom>
        </p:spPr>
      </p:pic>
      <p:sp>
        <p:nvSpPr>
          <p:cNvPr id="26" name="Text 18"/>
          <p:cNvSpPr txBox="1"/>
          <p:nvPr/>
        </p:nvSpPr>
        <p:spPr>
          <a:xfrm>
            <a:off x="5440680" y="3584448"/>
            <a:ext cx="3154680" cy="896112"/>
          </a:xfrm>
          <a:prstGeom prst="rect">
            <a:avLst/>
          </a:prstGeom>
          <a:noFill/>
          <a:ln/>
        </p:spPr>
        <p:txBody>
          <a:bodyPr wrap="square" lIns="0" tIns="0" rIns="0" bIns="0" rtlCol="0" anchor="ctr"/>
          <a:lstStyle/>
          <a:p>
            <a:pPr indent="0" marL="0">
              <a:buNone/>
            </a:pPr>
            <a:r>
              <a:rPr lang="en-US" sz="1400" b="1" dirty="0">
                <a:solidFill>
                  <a:schemeClr val="tx2"/>
                </a:solidFill>
              </a:rPr>
              <a:t>Runtime context</a:t>
            </a:r>
            <a:endParaRPr lang="en-US" sz="1400" dirty="0"/>
          </a:p>
          <a:p>
            <a:pPr indent="0" marL="0">
              <a:buNone/>
            </a:pPr>
            <a:r>
              <a:rPr lang="en-US" sz="1100" dirty="0">
                <a:solidFill>
                  <a:schemeClr val="tx1"/>
                </a:solidFill>
              </a:rPr>
              <a:t>10.5 s vs Wang's ≈3.04 s — report hardware (CPU-only TF 2.10) and PEA settings.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Next phase: from a 2 × 10 beam to an orthosis</a:t>
            </a:r>
            <a:endParaRPr lang="en-US" sz="2400" dirty="0"/>
          </a:p>
        </p:txBody>
      </p:sp>
      <p:sp>
        <p:nvSpPr>
          <p:cNvPr id="3" name="road-line"/>
          <p:cNvSpPr/>
          <p:nvPr/>
        </p:nvSpPr>
        <p:spPr>
          <a:xfrm>
            <a:off x="1088136" y="1691640"/>
            <a:ext cx="6967728" cy="0"/>
          </a:xfrm>
          <a:prstGeom prst="line">
            <a:avLst/>
          </a:prstGeom>
          <a:noFill/>
          <a:ln w="25400">
            <a:solidFill>
              <a:schemeClr val="accent6"/>
            </a:solidFill>
            <a:prstDash val="solid"/>
          </a:ln>
        </p:spPr>
      </p:sp>
      <p:sp>
        <p:nvSpPr>
          <p:cNvPr id="4" name="road0-num"/>
          <p:cNvSpPr/>
          <p:nvPr/>
        </p:nvSpPr>
        <p:spPr>
          <a:xfrm>
            <a:off x="841248" y="1444752"/>
            <a:ext cx="493776" cy="493776"/>
          </a:xfrm>
          <a:prstGeom prst="ellipse">
            <a:avLst/>
          </a:prstGeom>
          <a:solidFill>
            <a:schemeClr val="accent1"/>
          </a:solidFill>
          <a:ln w="12700">
            <a:solidFill>
              <a:schemeClr val="accent1"/>
            </a:solidFill>
            <a:prstDash val="solid"/>
          </a:ln>
        </p:spPr>
      </p:sp>
      <p:sp>
        <p:nvSpPr>
          <p:cNvPr id="5" name="road0-numtxt"/>
          <p:cNvSpPr txBox="1"/>
          <p:nvPr/>
        </p:nvSpPr>
        <p:spPr>
          <a:xfrm>
            <a:off x="841248" y="144475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roadcard0"/>
          <p:cNvSpPr/>
          <p:nvPr/>
        </p:nvSpPr>
        <p:spPr>
          <a:xfrm>
            <a:off x="457200" y="2148840"/>
            <a:ext cx="1261872" cy="1508760"/>
          </a:xfrm>
          <a:prstGeom prst="roundRect">
            <a:avLst>
              <a:gd name="adj" fmla="val 5797"/>
            </a:avLst>
          </a:prstGeom>
          <a:solidFill>
            <a:schemeClr val="bg2"/>
          </a:solidFill>
          <a:ln w="12700">
            <a:solidFill>
              <a:schemeClr val="bg2"/>
            </a:solidFill>
            <a:prstDash val="solid"/>
          </a:ln>
        </p:spPr>
      </p:sp>
      <p:sp>
        <p:nvSpPr>
          <p:cNvPr id="7" name="Text 5"/>
          <p:cNvSpPr txBox="1"/>
          <p:nvPr/>
        </p:nvSpPr>
        <p:spPr>
          <a:xfrm>
            <a:off x="548640" y="22402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Spatial grid</a:t>
            </a:r>
            <a:endParaRPr lang="en-US" sz="1300" dirty="0"/>
          </a:p>
        </p:txBody>
      </p:sp>
      <p:sp>
        <p:nvSpPr>
          <p:cNvPr id="8" name="Text 6"/>
          <p:cNvSpPr txBox="1"/>
          <p:nvPr/>
        </p:nvSpPr>
        <p:spPr>
          <a:xfrm>
            <a:off x="548640" y="269748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Replace 2×10 chromosome with an N×M orthosis grid</a:t>
            </a:r>
            <a:endParaRPr lang="en-US" sz="1100" dirty="0"/>
          </a:p>
        </p:txBody>
      </p:sp>
      <p:sp>
        <p:nvSpPr>
          <p:cNvPr id="9" name="road1-num"/>
          <p:cNvSpPr/>
          <p:nvPr/>
        </p:nvSpPr>
        <p:spPr>
          <a:xfrm>
            <a:off x="2234794" y="1444752"/>
            <a:ext cx="493776" cy="493776"/>
          </a:xfrm>
          <a:prstGeom prst="ellipse">
            <a:avLst/>
          </a:prstGeom>
          <a:solidFill>
            <a:schemeClr val="accent1"/>
          </a:solidFill>
          <a:ln w="12700">
            <a:solidFill>
              <a:schemeClr val="accent1"/>
            </a:solidFill>
            <a:prstDash val="solid"/>
          </a:ln>
        </p:spPr>
      </p:sp>
      <p:sp>
        <p:nvSpPr>
          <p:cNvPr id="10" name="road1-numtxt"/>
          <p:cNvSpPr txBox="1"/>
          <p:nvPr/>
        </p:nvSpPr>
        <p:spPr>
          <a:xfrm>
            <a:off x="2234794" y="144475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roadcard1"/>
          <p:cNvSpPr/>
          <p:nvPr/>
        </p:nvSpPr>
        <p:spPr>
          <a:xfrm>
            <a:off x="1850746" y="2148840"/>
            <a:ext cx="1261872" cy="1508760"/>
          </a:xfrm>
          <a:prstGeom prst="roundRect">
            <a:avLst>
              <a:gd name="adj" fmla="val 5797"/>
            </a:avLst>
          </a:prstGeom>
          <a:solidFill>
            <a:schemeClr val="bg2"/>
          </a:solidFill>
          <a:ln w="12700">
            <a:solidFill>
              <a:schemeClr val="bg2"/>
            </a:solidFill>
            <a:prstDash val="solid"/>
          </a:ln>
        </p:spPr>
      </p:sp>
      <p:sp>
        <p:nvSpPr>
          <p:cNvPr id="12" name="Text 10"/>
          <p:cNvSpPr txBox="1"/>
          <p:nvPr/>
        </p:nvSpPr>
        <p:spPr>
          <a:xfrm>
            <a:off x="1942186" y="22402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Multi-material</a:t>
            </a:r>
            <a:endParaRPr lang="en-US" sz="1300" dirty="0"/>
          </a:p>
        </p:txBody>
      </p:sp>
      <p:sp>
        <p:nvSpPr>
          <p:cNvPr id="13" name="Text 11"/>
          <p:cNvSpPr txBox="1"/>
          <p:nvPr/>
        </p:nvSpPr>
        <p:spPr>
          <a:xfrm>
            <a:off x="1942186" y="269748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Separate channels for empty, passive, active</a:t>
            </a:r>
            <a:endParaRPr lang="en-US" sz="1100" dirty="0"/>
          </a:p>
        </p:txBody>
      </p:sp>
      <p:sp>
        <p:nvSpPr>
          <p:cNvPr id="14" name="road2-num"/>
          <p:cNvSpPr/>
          <p:nvPr/>
        </p:nvSpPr>
        <p:spPr>
          <a:xfrm>
            <a:off x="3628339" y="1444752"/>
            <a:ext cx="493776" cy="493776"/>
          </a:xfrm>
          <a:prstGeom prst="ellipse">
            <a:avLst/>
          </a:prstGeom>
          <a:solidFill>
            <a:schemeClr val="accent1"/>
          </a:solidFill>
          <a:ln w="12700">
            <a:solidFill>
              <a:schemeClr val="accent1"/>
            </a:solidFill>
            <a:prstDash val="solid"/>
          </a:ln>
        </p:spPr>
      </p:sp>
      <p:sp>
        <p:nvSpPr>
          <p:cNvPr id="15" name="road2-numtxt"/>
          <p:cNvSpPr txBox="1"/>
          <p:nvPr/>
        </p:nvSpPr>
        <p:spPr>
          <a:xfrm>
            <a:off x="3628339" y="144475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roadcard2"/>
          <p:cNvSpPr/>
          <p:nvPr/>
        </p:nvSpPr>
        <p:spPr>
          <a:xfrm>
            <a:off x="3244291" y="2148840"/>
            <a:ext cx="1261872" cy="1508760"/>
          </a:xfrm>
          <a:prstGeom prst="roundRect">
            <a:avLst>
              <a:gd name="adj" fmla="val 5797"/>
            </a:avLst>
          </a:prstGeom>
          <a:solidFill>
            <a:schemeClr val="bg2"/>
          </a:solidFill>
          <a:ln w="12700">
            <a:solidFill>
              <a:schemeClr val="bg2"/>
            </a:solidFill>
            <a:prstDash val="solid"/>
          </a:ln>
        </p:spPr>
      </p:sp>
      <p:sp>
        <p:nvSpPr>
          <p:cNvPr id="17" name="Text 15"/>
          <p:cNvSpPr txBox="1"/>
          <p:nvPr/>
        </p:nvSpPr>
        <p:spPr>
          <a:xfrm>
            <a:off x="3335731" y="22402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Spatial ResNet</a:t>
            </a:r>
            <a:endParaRPr lang="en-US" sz="1300" dirty="0"/>
          </a:p>
        </p:txBody>
      </p:sp>
      <p:sp>
        <p:nvSpPr>
          <p:cNvPr id="18" name="Text 16"/>
          <p:cNvSpPr txBox="1"/>
          <p:nvPr/>
        </p:nvSpPr>
        <p:spPr>
          <a:xfrm>
            <a:off x="3335731" y="269748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Map grid → deformed orthosis coordinates</a:t>
            </a:r>
            <a:endParaRPr lang="en-US" sz="1100" dirty="0"/>
          </a:p>
        </p:txBody>
      </p:sp>
      <p:sp>
        <p:nvSpPr>
          <p:cNvPr id="19" name="road3-num"/>
          <p:cNvSpPr/>
          <p:nvPr/>
        </p:nvSpPr>
        <p:spPr>
          <a:xfrm>
            <a:off x="5021885" y="1444752"/>
            <a:ext cx="493776" cy="493776"/>
          </a:xfrm>
          <a:prstGeom prst="ellipse">
            <a:avLst/>
          </a:prstGeom>
          <a:solidFill>
            <a:schemeClr val="accent1"/>
          </a:solidFill>
          <a:ln w="12700">
            <a:solidFill>
              <a:schemeClr val="accent1"/>
            </a:solidFill>
            <a:prstDash val="solid"/>
          </a:ln>
        </p:spPr>
      </p:sp>
      <p:sp>
        <p:nvSpPr>
          <p:cNvPr id="20" name="road3-numtxt"/>
          <p:cNvSpPr txBox="1"/>
          <p:nvPr/>
        </p:nvSpPr>
        <p:spPr>
          <a:xfrm>
            <a:off x="5021885" y="144475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roadcard3"/>
          <p:cNvSpPr/>
          <p:nvPr/>
        </p:nvSpPr>
        <p:spPr>
          <a:xfrm>
            <a:off x="4637837" y="2148840"/>
            <a:ext cx="1261872" cy="1508760"/>
          </a:xfrm>
          <a:prstGeom prst="roundRect">
            <a:avLst>
              <a:gd name="adj" fmla="val 5797"/>
            </a:avLst>
          </a:prstGeom>
          <a:solidFill>
            <a:schemeClr val="bg2"/>
          </a:solidFill>
          <a:ln w="12700">
            <a:solidFill>
              <a:schemeClr val="bg2"/>
            </a:solidFill>
            <a:prstDash val="solid"/>
          </a:ln>
        </p:spPr>
      </p:sp>
      <p:sp>
        <p:nvSpPr>
          <p:cNvPr id="22" name="Text 20"/>
          <p:cNvSpPr txBox="1"/>
          <p:nvPr/>
        </p:nvSpPr>
        <p:spPr>
          <a:xfrm>
            <a:off x="4729277" y="22402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Spatial PEA</a:t>
            </a:r>
            <a:endParaRPr lang="en-US" sz="1300" dirty="0"/>
          </a:p>
        </p:txBody>
      </p:sp>
      <p:sp>
        <p:nvSpPr>
          <p:cNvPr id="23" name="Text 21"/>
          <p:cNvSpPr txBox="1"/>
          <p:nvPr/>
        </p:nvSpPr>
        <p:spPr>
          <a:xfrm>
            <a:off x="4729277" y="269748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Scale the search to the larger design space</a:t>
            </a:r>
            <a:endParaRPr lang="en-US" sz="1100" dirty="0"/>
          </a:p>
        </p:txBody>
      </p:sp>
      <p:sp>
        <p:nvSpPr>
          <p:cNvPr id="24" name="road4-num"/>
          <p:cNvSpPr/>
          <p:nvPr/>
        </p:nvSpPr>
        <p:spPr>
          <a:xfrm>
            <a:off x="6415430" y="1444752"/>
            <a:ext cx="493776" cy="493776"/>
          </a:xfrm>
          <a:prstGeom prst="ellipse">
            <a:avLst/>
          </a:prstGeom>
          <a:solidFill>
            <a:schemeClr val="accent2"/>
          </a:solidFill>
          <a:ln w="12700">
            <a:solidFill>
              <a:schemeClr val="accent2"/>
            </a:solidFill>
            <a:prstDash val="solid"/>
          </a:ln>
        </p:spPr>
      </p:sp>
      <p:sp>
        <p:nvSpPr>
          <p:cNvPr id="25" name="road4-numtxt"/>
          <p:cNvSpPr txBox="1"/>
          <p:nvPr/>
        </p:nvSpPr>
        <p:spPr>
          <a:xfrm>
            <a:off x="6415430" y="144475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roadcard4"/>
          <p:cNvSpPr/>
          <p:nvPr/>
        </p:nvSpPr>
        <p:spPr>
          <a:xfrm>
            <a:off x="6031382" y="2148840"/>
            <a:ext cx="1261872" cy="1508760"/>
          </a:xfrm>
          <a:prstGeom prst="roundRect">
            <a:avLst>
              <a:gd name="adj" fmla="val 5797"/>
            </a:avLst>
          </a:prstGeom>
          <a:solidFill>
            <a:schemeClr val="bg2"/>
          </a:solidFill>
          <a:ln w="12700">
            <a:solidFill>
              <a:schemeClr val="bg2"/>
            </a:solidFill>
            <a:prstDash val="solid"/>
          </a:ln>
        </p:spPr>
      </p:sp>
      <p:sp>
        <p:nvSpPr>
          <p:cNvPr id="27" name="Text 25"/>
          <p:cNvSpPr txBox="1"/>
          <p:nvPr/>
        </p:nvSpPr>
        <p:spPr>
          <a:xfrm>
            <a:off x="6122822" y="22402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Patient target</a:t>
            </a:r>
            <a:endParaRPr lang="en-US" sz="1300" dirty="0"/>
          </a:p>
        </p:txBody>
      </p:sp>
      <p:sp>
        <p:nvSpPr>
          <p:cNvPr id="28" name="Text 26"/>
          <p:cNvSpPr txBox="1"/>
          <p:nvPr/>
        </p:nvSpPr>
        <p:spPr>
          <a:xfrm>
            <a:off x="6122822" y="269748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Hand scan → target orthosis geometry</a:t>
            </a:r>
            <a:endParaRPr lang="en-US" sz="1100" dirty="0"/>
          </a:p>
        </p:txBody>
      </p:sp>
      <p:sp>
        <p:nvSpPr>
          <p:cNvPr id="29" name="road5-num"/>
          <p:cNvSpPr/>
          <p:nvPr/>
        </p:nvSpPr>
        <p:spPr>
          <a:xfrm>
            <a:off x="7808976" y="1444752"/>
            <a:ext cx="493776" cy="493776"/>
          </a:xfrm>
          <a:prstGeom prst="ellipse">
            <a:avLst/>
          </a:prstGeom>
          <a:solidFill>
            <a:schemeClr val="accent1"/>
          </a:solidFill>
          <a:ln w="12700">
            <a:solidFill>
              <a:schemeClr val="accent1"/>
            </a:solidFill>
            <a:prstDash val="solid"/>
          </a:ln>
        </p:spPr>
      </p:sp>
      <p:sp>
        <p:nvSpPr>
          <p:cNvPr id="30" name="road5-numtxt"/>
          <p:cNvSpPr txBox="1"/>
          <p:nvPr/>
        </p:nvSpPr>
        <p:spPr>
          <a:xfrm>
            <a:off x="7808976" y="144475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roadcard5"/>
          <p:cNvSpPr/>
          <p:nvPr/>
        </p:nvSpPr>
        <p:spPr>
          <a:xfrm>
            <a:off x="7424928" y="2148840"/>
            <a:ext cx="1261872" cy="1508760"/>
          </a:xfrm>
          <a:prstGeom prst="roundRect">
            <a:avLst>
              <a:gd name="adj" fmla="val 5797"/>
            </a:avLst>
          </a:prstGeom>
          <a:solidFill>
            <a:schemeClr val="bg2"/>
          </a:solidFill>
          <a:ln w="12700">
            <a:solidFill>
              <a:schemeClr val="bg2"/>
            </a:solidFill>
            <a:prstDash val="solid"/>
          </a:ln>
        </p:spPr>
      </p:sp>
      <p:sp>
        <p:nvSpPr>
          <p:cNvPr id="32" name="Text 30"/>
          <p:cNvSpPr txBox="1"/>
          <p:nvPr/>
        </p:nvSpPr>
        <p:spPr>
          <a:xfrm>
            <a:off x="7516368" y="22402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Validate</a:t>
            </a:r>
            <a:endParaRPr lang="en-US" sz="1300" dirty="0"/>
          </a:p>
        </p:txBody>
      </p:sp>
      <p:sp>
        <p:nvSpPr>
          <p:cNvPr id="33" name="Text 31"/>
          <p:cNvSpPr txBox="1"/>
          <p:nvPr/>
        </p:nvSpPr>
        <p:spPr>
          <a:xfrm>
            <a:off x="7516368" y="269748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FE simulation, then 4D print</a:t>
            </a:r>
            <a:endParaRPr lang="en-US" sz="1100" dirty="0"/>
          </a:p>
        </p:txBody>
      </p:sp>
      <p:sp>
        <p:nvSpPr>
          <p:cNvPr id="34" name="road-msg"/>
          <p:cNvSpPr/>
          <p:nvPr/>
        </p:nvSpPr>
        <p:spPr>
          <a:xfrm>
            <a:off x="457200" y="4069080"/>
            <a:ext cx="8229600" cy="548640"/>
          </a:xfrm>
          <a:prstGeom prst="roundRect">
            <a:avLst>
              <a:gd name="adj" fmla="val 13333"/>
            </a:avLst>
          </a:prstGeom>
          <a:solidFill>
            <a:schemeClr val="tx2"/>
          </a:solidFill>
          <a:ln w="12700">
            <a:solidFill>
              <a:schemeClr val="tx2"/>
            </a:solidFill>
            <a:prstDash val="solid"/>
          </a:ln>
        </p:spPr>
      </p:sp>
      <p:sp>
        <p:nvSpPr>
          <p:cNvPr id="35" name="Text 33"/>
          <p:cNvSpPr txBox="1"/>
          <p:nvPr/>
        </p:nvSpPr>
        <p:spPr>
          <a:xfrm>
            <a:off x="685800" y="4069080"/>
            <a:ext cx="7772400" cy="548640"/>
          </a:xfrm>
          <a:prstGeom prst="rect">
            <a:avLst/>
          </a:prstGeom>
          <a:noFill/>
          <a:ln/>
        </p:spPr>
        <p:txBody>
          <a:bodyPr wrap="square" lIns="0" tIns="0" rIns="0" bIns="0" rtlCol="0" anchor="ctr"/>
          <a:lstStyle/>
          <a:p>
            <a:pPr indent="0" marL="0">
              <a:buNone/>
            </a:pPr>
            <a:r>
              <a:rPr lang="en-US" sz="1400" b="1" dirty="0">
                <a:solidFill>
                  <a:schemeClr val="accent3"/>
                </a:solidFill>
              </a:rPr>
              <a:t>Carry forward: </a:t>
            </a:r>
            <a:pPr indent="0" marL="0">
              <a:buNone/>
            </a:pPr>
            <a:r>
              <a:rPr lang="en-US" sz="1400" dirty="0">
                <a:solidFill>
                  <a:schemeClr val="bg1"/>
                </a:solidFill>
              </a:rPr>
              <a:t>evaluate each forward model inside the full PEA loop and on FE-verified designs.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0"/>
          <p:cNvSpPr/>
          <p:nvPr>
            <p:ph idx="120" type="title" hasCustomPrompt="1"/>
          </p:nvPr>
        </p:nvSpPr>
        <p:spPr>
          <a:xfrm>
            <a:off x="457200" y="1600200"/>
            <a:ext cx="7680960" cy="1600200"/>
          </a:xfrm>
          <a:prstGeom prst="rect">
            <a:avLst/>
          </a:prstGeom>
          <a:noFill/>
          <a:ln/>
        </p:spPr>
        <p:txBody>
          <a:bodyPr wrap="square" lIns="0" tIns="0" rIns="0" bIns="0" rtlCol="0" anchor="b"/>
          <a:lstStyle/>
          <a:p>
            <a:pPr algn="l" indent="0" marL="0">
              <a:buNone/>
            </a:pPr>
            <a:r>
              <a:rPr lang="en-US" sz="2800" b="1" dirty="0">
                <a:solidFill>
                  <a:schemeClr val="bg1"/>
                </a:solidFill>
                <a:latin typeface="Cambria" pitchFamily="34" charset="0"/>
                <a:ea typeface="Cambria" pitchFamily="34" charset="-122"/>
                <a:cs typeface="Cambria" pitchFamily="34" charset="-120"/>
              </a:rPr>
              <a:t>Conclusion: the forward model is not a swappable part</a:t>
            </a:r>
            <a:endParaRPr lang="en-US" sz="2800" dirty="0"/>
          </a:p>
        </p:txBody>
      </p:sp>
      <p:sp>
        <p:nvSpPr>
          <p:cNvPr id="3" name="Text 20"/>
          <p:cNvSpPr/>
          <p:nvPr>
            <p:ph idx="121" type="body" hasCustomPrompt="1"/>
          </p:nvPr>
        </p:nvSpPr>
        <p:spPr>
          <a:xfrm>
            <a:off x="457200" y="3429000"/>
            <a:ext cx="7680960" cy="1005840"/>
          </a:xfrm>
          <a:prstGeom prst="rect">
            <a:avLst/>
          </a:prstGeom>
          <a:noFill/>
          <a:ln/>
        </p:spPr>
        <p:txBody>
          <a:bodyPr wrap="square" lIns="0" tIns="0" rIns="0" bIns="0" rtlCol="0" anchor="t"/>
          <a:lstStyle/>
          <a:p>
            <a:pPr algn="l" indent="0" marL="0">
              <a:buNone/>
            </a:pPr>
            <a:r>
              <a:rPr lang="en-US" sz="1500" dirty="0">
                <a:solidFill>
                  <a:schemeClr val="accent5"/>
                </a:solidFill>
                <a:latin typeface="Calibri" pitchFamily="34" charset="0"/>
                <a:ea typeface="Calibri" pitchFamily="34" charset="-122"/>
                <a:cs typeface="Calibri" pitchFamily="34" charset="-120"/>
              </a:rPr>
              <a:t>Same PEA, same data — swapping SEP-CNN for ResNet changed the design and cut final shape error ≈29×, at ≈1.9× runtime, even though SEP-CNN scored better on most PEA candidates.</a:t>
            </a:r>
            <a:endParaRPr lang="en-US" sz="1500" dirty="0"/>
          </a:p>
          <a:p>
            <a:pPr algn="l" indent="0" marL="0">
              <a:buNone/>
            </a:pPr>
            <a:r>
              <a:rPr lang="en-US" sz="1500" b="1" dirty="0">
                <a:solidFill>
                  <a:schemeClr val="bg1"/>
                </a:solidFill>
                <a:latin typeface="Calibri" pitchFamily="34" charset="0"/>
                <a:ea typeface="Calibri" pitchFamily="34" charset="-122"/>
                <a:cs typeface="Calibri" pitchFamily="34" charset="-120"/>
              </a:rPr>
              <a:t>A validated computational base for patient-specific 4D-printed orthosis design.</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1"/>
          <p:cNvSpPr/>
          <p:nvPr>
            <p:ph idx="121" type="title" hasCustomPrompt="1"/>
          </p:nvPr>
        </p:nvSpPr>
        <p:spPr>
          <a:xfrm>
            <a:off x="457200" y="274320"/>
            <a:ext cx="7132320" cy="7315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References and code</a:t>
            </a:r>
            <a:endParaRPr lang="en-US" sz="2400" dirty="0"/>
          </a:p>
        </p:txBody>
      </p:sp>
      <p:sp>
        <p:nvSpPr>
          <p:cNvPr id="3" name="Text 1"/>
          <p:cNvSpPr txBox="1"/>
          <p:nvPr/>
        </p:nvSpPr>
        <p:spPr>
          <a:xfrm>
            <a:off x="457200" y="1188720"/>
            <a:ext cx="8229600" cy="2514600"/>
          </a:xfrm>
          <a:prstGeom prst="rect">
            <a:avLst/>
          </a:prstGeom>
          <a:noFill/>
          <a:ln/>
        </p:spPr>
        <p:txBody>
          <a:bodyPr wrap="square" lIns="0" tIns="0" rIns="0" bIns="0" rtlCol="0" anchor="t"/>
          <a:lstStyle/>
          <a:p>
            <a:pPr indent="0" marL="0">
              <a:spcAft>
                <a:spcPts val="800"/>
              </a:spcAft>
              <a:buNone/>
            </a:pPr>
            <a:r>
              <a:rPr lang="en-US" sz="1200" dirty="0">
                <a:solidFill>
                  <a:schemeClr val="tx1"/>
                </a:solidFill>
              </a:rPr>
              <a:t>[1] M. Wang et al., “Fast Reverse Design of 4D-Printed Voxelized Composite Structures Using Deep Learning and Evolutionary Algorithm,” Advanced Science 12(12), 2407825, 2025. doi:10.1002/advs.202407825</a:t>
            </a:r>
            <a:endParaRPr lang="en-US" sz="1200" dirty="0"/>
          </a:p>
          <a:p>
            <a:pPr indent="0" marL="0">
              <a:spcAft>
                <a:spcPts val="800"/>
              </a:spcAft>
              <a:buNone/>
            </a:pPr>
            <a:r>
              <a:rPr lang="en-US" sz="1200" dirty="0">
                <a:solidFill>
                  <a:schemeClr val="tx1"/>
                </a:solidFill>
              </a:rPr>
              <a:t>[2] L. Jin et al., “Machine learning driven forward prediction and inverse design for 4D printed hierarchical architecture with arbitrary shapes,” Applied Materials Today 40, 102373, 2024. doi:10.1016/j.apmt.2024.102373</a:t>
            </a:r>
            <a:endParaRPr lang="en-US" sz="1200" dirty="0"/>
          </a:p>
          <a:p>
            <a:pPr indent="0" marL="0">
              <a:spcAft>
                <a:spcPts val="800"/>
              </a:spcAft>
              <a:buNone/>
            </a:pPr>
            <a:r>
              <a:rPr lang="en-US" sz="1200" dirty="0">
                <a:solidFill>
                  <a:schemeClr val="tx1"/>
                </a:solidFill>
              </a:rPr>
              <a:t>[3] X. Sun et al., “Machine Learning-Evolutionary Algorithm Enabled Design for 4D-Printed Active Composite Structures,” Adv. Funct. Mater. 32(10), 2109805, 2022 (freehand-drawn targets).</a:t>
            </a:r>
            <a:endParaRPr lang="en-US" sz="1200" dirty="0"/>
          </a:p>
          <a:p>
            <a:pPr indent="0" marL="0">
              <a:buNone/>
            </a:pPr>
            <a:r>
              <a:rPr lang="en-US" sz="1200" dirty="0">
                <a:solidFill>
                  <a:schemeClr val="tx1"/>
                </a:solidFill>
              </a:rPr>
              <a:t>[4] X. Sun et al., “Machine learning and sequential subdomain optimization for ultrafast inverse design of 4D-printed active composite structures,” J. Mech. Phys. Solids, 2024. doi:10.1016/j.jmps.2024.105561</a:t>
            </a:r>
            <a:endParaRPr lang="en-US" sz="1200" dirty="0"/>
          </a:p>
        </p:txBody>
      </p:sp>
      <p:sp>
        <p:nvSpPr>
          <p:cNvPr id="4" name="code"/>
          <p:cNvSpPr/>
          <p:nvPr/>
        </p:nvSpPr>
        <p:spPr>
          <a:xfrm>
            <a:off x="457200" y="3840480"/>
            <a:ext cx="8229600" cy="777240"/>
          </a:xfrm>
          <a:prstGeom prst="roundRect">
            <a:avLst>
              <a:gd name="adj" fmla="val 9412"/>
            </a:avLst>
          </a:prstGeom>
          <a:solidFill>
            <a:schemeClr val="bg2"/>
          </a:solidFill>
          <a:ln w="12700">
            <a:solidFill>
              <a:schemeClr val="bg2"/>
            </a:solidFill>
            <a:prstDash val="solid"/>
          </a:ln>
        </p:spPr>
      </p:sp>
      <p:pic>
        <p:nvPicPr>
          <p:cNvPr id="5" name="gh" descr="preencoded.png">    </p:cNvPr>
          <p:cNvPicPr>
            <a:picLocks noChangeAspect="1"/>
          </p:cNvPicPr>
          <p:nvPr/>
        </p:nvPicPr>
        <p:blipFill>
          <a:blip r:embed="rId1"/>
          <a:stretch>
            <a:fillRect/>
          </a:stretch>
        </p:blipFill>
        <p:spPr>
          <a:xfrm>
            <a:off x="685800" y="4005072"/>
            <a:ext cx="457200" cy="457200"/>
          </a:xfrm>
          <a:prstGeom prst="rect">
            <a:avLst/>
          </a:prstGeom>
        </p:spPr>
      </p:pic>
      <p:sp>
        <p:nvSpPr>
          <p:cNvPr id="6" name="Text 3"/>
          <p:cNvSpPr txBox="1"/>
          <p:nvPr/>
        </p:nvSpPr>
        <p:spPr>
          <a:xfrm>
            <a:off x="1325880" y="3840480"/>
            <a:ext cx="7223760" cy="777240"/>
          </a:xfrm>
          <a:prstGeom prst="rect">
            <a:avLst/>
          </a:prstGeom>
          <a:noFill/>
          <a:ln/>
        </p:spPr>
        <p:txBody>
          <a:bodyPr wrap="square" lIns="0" tIns="0" rIns="0" bIns="0" rtlCol="0" anchor="ctr"/>
          <a:lstStyle/>
          <a:p>
            <a:pPr indent="0" marL="0">
              <a:buNone/>
            </a:pPr>
            <a:r>
              <a:rPr lang="en-US" sz="1300" b="1" dirty="0">
                <a:solidFill>
                  <a:schemeClr val="tx2"/>
                </a:solidFill>
              </a:rPr>
              <a:t>Our code: </a:t>
            </a:r>
            <a:pPr indent="0" marL="0">
              <a:buNone/>
            </a:pPr>
            <a:r>
              <a:rPr lang="en-US" sz="13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github.com/proknapz/Fast-reverse-design-of-4D-printing</a:t>
            </a:r>
            <a:endParaRPr lang="en-US" sz="1300" dirty="0"/>
          </a:p>
          <a:p>
            <a:pPr indent="0" marL="0">
              <a:buNone/>
            </a:pPr>
            <a:r>
              <a:rPr lang="en-US" sz="1100" dirty="0">
                <a:solidFill>
                  <a:schemeClr val="accent4"/>
                </a:solidFill>
              </a:rPr>
              <a:t>Forked from github.com/MengtaoWANG/Fast-reverse-design-of-4D-printing</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Voxel Inverse Design">
  <a:themeElements>
    <a:clrScheme name="Voxel Inverse Design">
      <a:dk1>
        <a:srgbClr val="1B2333"/>
      </a:dk1>
      <a:lt1>
        <a:srgbClr val="FFFFFF"/>
      </a:lt1>
      <a:dk2>
        <a:srgbClr val="14213D"/>
      </a:dk2>
      <a:lt2>
        <a:srgbClr val="EEF2F6"/>
      </a:lt2>
      <a:accent1>
        <a:srgbClr val="0E9E8E"/>
      </a:accent1>
      <a:accent2>
        <a:srgbClr val="E4572E"/>
      </a:accent2>
      <a:accent3>
        <a:srgbClr val="F2B134"/>
      </a:accent3>
      <a:accent4>
        <a:srgbClr val="5B6B82"/>
      </a:accent4>
      <a:accent5>
        <a:srgbClr val="9FD8CF"/>
      </a:accent5>
      <a:accent6>
        <a:srgbClr val="C9D3DF"/>
      </a:accent6>
      <a:hlink>
        <a:srgbClr val="0E9E8E"/>
      </a:hlink>
      <a:folHlink>
        <a:srgbClr val="5B6B82"/>
      </a:folHlink>
    </a:clrScheme>
    <a:fontScheme name="Voxel Inverse Desig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SEP-CNN to ResNet in DL-PEA for 4D-Printed Shape Inverse Design</dc:title>
  <dc:subject>PptxGenJS Presentation</dc:subject>
  <dc:creator>Omar Khan</dc:creator>
  <cp:lastModifiedBy>Omar Khan</cp:lastModifiedBy>
  <cp:revision>1</cp:revision>
  <dcterms:created xsi:type="dcterms:W3CDTF">2026-10-10T17:04:31Z</dcterms:created>
  <dcterms:modified xsi:type="dcterms:W3CDTF">2026-10-10T17:04:31Z</dcterms:modified>
</cp:coreProperties>
</file>