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chemeClr val="tx2"/>
                </a:solidFill>
                <a:latin typeface="+mn-lt"/>
              </a:defRPr>
            </a:pPr>
            <a:r>
              <a:rPr sz="1100" b="0" i="0" u="none" strike="noStrike">
                <a:solidFill>
                  <a:schemeClr val="tx2"/>
                </a:solidFill>
                <a:latin typeface="+mn-lt"/>
              </a:rPr>
              <a:t>Overall accuracy S, 2,000 reverse designs (Wang et al., recreated)</a:t>
            </a:r>
          </a:p>
        </c:rich>
      </c:tx>
      <c:layout/>
      <c:overlay val="0"/>
    </c:title>
    <c:autoTitleDeleted val="0"/>
    <c:plotArea>
      <c:layout/>
      <c:barChart>
        <c:barDir val="bar"/>
        <c:grouping val="clustered"/>
        <c:varyColors val="0"/>
        <c:ser>
          <c:idx val="0"/>
          <c:order val="0"/>
          <c:tx>
            <c:strRef>
              <c:f>Sheet1!$B$1</c:f>
              <c:strCache>
                <c:ptCount val="1"/>
                <c:pt idx="0">
                  <c:v>Overall accuracy (%)</c:v>
                </c:pt>
              </c:strCache>
            </c:strRef>
          </c:tx>
          <c:spPr>
            <a:solidFill>
              <a:srgbClr val="5B6B82"/>
            </a:solidFill>
            <a:effectLst/>
          </c:spPr>
          <c:invertIfNegative val="0"/>
          <c:dLbls>
            <c:numFmt formatCode="0.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5B6B82"/>
              </a:solidFill>
              <a:effectLst/>
            </c:spPr>
          </c:dPt>
          <c:dPt>
            <c:idx val="1"/>
            <c:invertIfNegative val="0"/>
            <c:bubble3D val="0"/>
            <c:spPr>
              <a:solidFill>
                <a:srgbClr val="E4572E"/>
              </a:solidFill>
              <a:effectLst/>
            </c:spPr>
          </c:dPt>
          <c:cat>
            <c:multiLvlStrRef>
              <c:f>Sheet1!$A$2:$A$3</c:f>
              <c:multiLvlStrCache>
                <c:ptCount val="2"/>
                <c:lvl>
                  <c:pt idx="0">
                    <c:v>Standard EA</c:v>
                  </c:pt>
                  <c:pt idx="1">
                    <c:v>Progressive EA</c:v>
                  </c:pt>
                </c:lvl>
              </c:multiLvlStrCache>
            </c:multiLvlStrRef>
          </c:cat>
          <c:val>
            <c:numRef>
              <c:f>Sheet1!$B$2:$B$3</c:f>
              <c:numCache>
                <c:formatCode>General</c:formatCode>
                <c:ptCount val="2"/>
                <c:pt idx="0">
                  <c:v>87.65</c:v>
                </c:pt>
                <c:pt idx="1">
                  <c:v>98.7</c:v>
                </c:pt>
              </c:numCache>
            </c:numRef>
          </c:val>
        </c:ser>
        <c:dLbls>
          <c:numFmt formatCode="0.0#&quot;%&quot;"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MSE</c:v>
                </c:pt>
              </c:strCache>
            </c:strRef>
          </c:tx>
          <c:spPr>
            <a:solidFill>
              <a:srgbClr val="E4572E"/>
            </a:solidFill>
            <a:effectLst/>
          </c:spPr>
          <c:invertIfNegative val="0"/>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E9E8E"/>
              </a:solidFill>
              <a:effectLst/>
            </c:spPr>
          </c:dPt>
          <c:cat>
            <c:multiLvlStrRef>
              <c:f>Sheet1!$A$2:$A$3</c:f>
              <c:multiLvlStrCache>
                <c:ptCount val="2"/>
                <c:lvl>
                  <c:pt idx="0">
                    <c:v>SEP-CNN</c:v>
                  </c:pt>
                  <c:pt idx="1">
                    <c:v>ResNet</c:v>
                  </c:pt>
                </c:lvl>
              </c:multiLvlStrCache>
            </c:multiLvlStrRef>
          </c:cat>
          <c:val>
            <c:numRef>
              <c:f>Sheet1!$B$2:$B$3</c:f>
              <c:numCache>
                <c:formatCode>General</c:formatCode>
                <c:ptCount val="2"/>
                <c:pt idx="0">
                  <c:v>0.00228699</c:v>
                </c:pt>
                <c:pt idx="1">
                  <c:v>0.0000559052</c:v>
                </c:pt>
              </c:numCache>
            </c:numRef>
          </c:val>
        </c:ser>
        <c:dLbls>
          <c:numFmt formatCode="#,##0" sourceLinked="0"/>
          <c:txPr>
            <a:bodyPr/>
            <a:lstStyle/>
            <a:p>
              <a:pPr>
                <a:defRPr b="0" i="0" strike="noStrike" sz="1000" u="none">
                  <a:solidFill>
                    <a:schemeClr val="tx1"/>
                  </a:solidFill>
                  <a:latin typeface="+mn-lt"/>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logBase val="10"/>
          <c:orientation val="minMax"/>
          <c:max val="0.01"/>
          <c:min val="0.00001"/>
        </c:scaling>
        <c:delete val="0"/>
        <c:axPos val="l"/>
        <c:majorGridlines>
          <c:spPr>
            <a:ln w="6350" cap="flat">
              <a:solidFill>
                <a:srgbClr val="C9D3DF"/>
              </a:solidFill>
              <a:prstDash val="solid"/>
              <a:round/>
            </a:ln>
          </c:spPr>
        </c:majorGridlines>
        <c:numFmt formatCode="0E+0" sourceLinked="0"/>
        <c:majorTickMark val="out"/>
        <c:minorTickMark val="none"/>
        <c:tickLblPos val="nextTo"/>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MSE</c:v>
                </c:pt>
              </c:strCache>
            </c:strRef>
          </c:tx>
          <c:spPr>
            <a:solidFill>
              <a:srgbClr val="E4572E"/>
            </a:solidFill>
            <a:effectLst/>
          </c:spPr>
          <c:invertIfNegative val="0"/>
          <c:dLbls>
            <c:numFmt formatCode="0.000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0E9E8E"/>
              </a:solidFill>
              <a:effectLst/>
            </c:spPr>
          </c:dPt>
          <c:cat>
            <c:multiLvlStrRef>
              <c:f>Sheet1!$A$2:$A$3</c:f>
              <c:multiLvlStrCache>
                <c:ptCount val="2"/>
                <c:lvl>
                  <c:pt idx="0">
                    <c:v>SEP-CNN</c:v>
                  </c:pt>
                  <c:pt idx="1">
                    <c:v>ResNet</c:v>
                  </c:pt>
                </c:lvl>
              </c:multiLvlStrCache>
            </c:multiLvlStrRef>
          </c:cat>
          <c:val>
            <c:numRef>
              <c:f>Sheet1!$B$2:$B$3</c:f>
              <c:numCache>
                <c:formatCode>General</c:formatCode>
                <c:ptCount val="2"/>
                <c:pt idx="0">
                  <c:v>0.0207693</c:v>
                </c:pt>
                <c:pt idx="1">
                  <c:v>0.0367186</c:v>
                </c:pt>
              </c:numCache>
            </c:numRef>
          </c:val>
        </c:ser>
        <c:dLbls>
          <c:numFmt formatCode="0.0000" sourceLinked="0"/>
          <c:txPr>
            <a:bodyPr/>
            <a:lstStyle/>
            <a:p>
              <a:pPr>
                <a:defRPr b="0" i="0" strike="noStrike" sz="1000" u="none">
                  <a:solidFill>
                    <a:schemeClr val="tx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0.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Good morning. I'm Pavan, and with Omar Khan we'll show how a 4D-printed part can be designed backwards: start from the shape you want, then compute the material layout. We review Wang et al. 2025 and Jin et al. 2024, and finish with what our own fork of Wang's code does.
TRANSITION: Let's start with a hands-on example of 4D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Freehand 4D printing, as in 4Doodle, uses a handheld 3D pen. Extruding plastic stores strain along the drawn path, and heating releases it, so the path programs the shape change. That's the fabrication side. The rest of our talk is a different problem, reverse design: given a target shape, choose the material layout. Our repository does not take hand-drawn sketches; its target is a numeric curve loaded from a CSV file.
TRANSITION: Wang et al. tackle reverse design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Part one: fast reverse design by Wang and colleagues.
TRANSITION: Here's their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Wang et al. design hydrogel beams made of voxels. Finite-element simulations train a neural network that predicts the bent shape. An evolutionary algorithm then searches for the layout that matches a target. They report about three seconds per design, in a space of over a million possible layouts.
TRANSITION: Let's look at how voxels encode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Each voxel is either active, coded 1, which swells more, or passive, coded 0, which swells less. The beam is a 2-by-10 grid. Each column's mismatch sets its local bend, and the sequence of columns sets the overall curve. The model predicts that curve as 200 x-y points.
TRANSITION: Two engines do the work: predict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To predict, SEP-CNN processes each voxel column in its own channel and passes information along to the next. To search, the progressive evolutionary algorithm locks in good columns one at a time instead of guessing all twenty genes at once. In the repository, the target is a numeric curve read from a CSV file.
TRANSITION: What do Wang et 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These are Wang et al.'s reported results, not ours. In their example, the optimal shape matches the target by generation 3. Their table of 2,000 reverse designs reports an overall accuracy, S, of 98.7 percent with progressive search versus 87.65 for a standard evolutionary algorithm. The chart is recreated from that table. Omar takes over.
TRANSITION: Omar: Jin et al. and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Thanks, Pavan. Jin et al. solve a different problem: arbitrary shapes. They pad any outline into a grid, with 0 for empty, 1 for passive and 2 for active. A ResNet predicts the deformation, and an evolutionary algorithm searches with the settings in the table.
TRANSITION: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For a parabola target, Jin et al. report the best error falling from about 3.7 to 1.8 millimetres over 200 generations, with the optimised shape tracking the target. They also printed a hand-shaped part that opens and closes on heating. That match is shown visually, not as a measured error.
TRANSITION: How do the two papers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The workflow is related: a learned forward model plus evolutionary search. But the models and goals differ. Wang uses SEP-CNN and progressive search for speed in a small beam. Jin uses ResNet and a standard evolutionary algorithm for arbitrary outlines. Their metrics aren't directly comparable.
TRANSITION: Part two: what our repository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Part two: what our repository actually does.
TRANSITION: We started by replacing the forward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In our fork we replaced SEP-CNN with a retrained 2D ResNet. Both map a 2-by-10 layout to a 2-by-200 curve, but it wasn't plug-and-play. We needed matching preprocessing, the same output format, a new checkpoint and PEA integration. Both models were trained on the same 6,000 samples and tested on a separate held-out set of 2,000.
TRANSITION: What did we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Three separate results. On the held-out test set, ResNet's MSE was about 41 times lower. On two selected designs, the result was mixed. On one shared set of 1,024 generation-5 candidates, SEP-CNN had lower target-curve prediction error on 1,016. These are model predictions, not physical performance, and they don't establish a universal winner.
TRANSITION: So where does this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Our vision, which is proposed and not built, goes from a patient's hand scan to a printed orthosis. A drawn or scanned target would first need digitizing, resampling to 200 points, and scaling. Our separate FreiHAND prototype isn't part of this code. Takeaways: representation matters, test the surrogate inside the loop, and validate physically.
TRANSITION: Thank you;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Thank you. Our question for you: which validation step should come first before moving toward orthoses? Is it a finite-element check, a printed measurement, or testing new target shapes?
TRANSITION: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737360"/>
          </a:xfrm>
          <a:prstGeom prst="rect">
            <a:avLst/>
          </a:prstGeom>
          <a:noFill/>
          <a:ln/>
        </p:spPr>
        <p:txBody>
          <a:bodyPr wrap="square" rtlCol="0"/>
          <a:lstStyle>
            <a:lvl1pPr algn="l" indent="0" marL="0">
              <a:buNone/>
              <a:defRPr lang="en-US" sz="3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3" name="Text 0"/>
          <p:cNvSpPr/>
          <p:nvPr>
            <p:ph idx="101" type="body" hasCustomPrompt="1"/>
          </p:nvPr>
        </p:nvSpPr>
        <p:spPr>
          <a:xfrm>
            <a:off x="548640" y="3291840"/>
            <a:ext cx="5120640" cy="822960"/>
          </a:xfrm>
          <a:prstGeom prst="rect">
            <a:avLst/>
          </a:prstGeom>
          <a:noFill/>
          <a:ln/>
        </p:spPr>
        <p:txBody>
          <a:bodyPr wrap="square" rtlCol="0"/>
          <a:lstStyle>
            <a:lvl1pPr algn="l" indent="0" marL="0">
              <a:buNone/>
              <a:defRPr lang="en-US" sz="15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5074920" y="1600200"/>
            <a:ext cx="329184" cy="329184"/>
          </a:xfrm>
          <a:prstGeom prst="rect">
            <a:avLst/>
          </a:prstGeom>
          <a:solidFill>
            <a:srgbClr val="0E9E8E"/>
          </a:solidFill>
          <a:ln w="12700">
            <a:solidFill>
              <a:srgbClr val="0E9E8E"/>
            </a:solidFill>
            <a:prstDash val="solid"/>
          </a:ln>
        </p:spPr>
      </p:sp>
      <p:sp>
        <p:nvSpPr>
          <p:cNvPr id="3" name="Shape 1"/>
          <p:cNvSpPr/>
          <p:nvPr/>
        </p:nvSpPr>
        <p:spPr>
          <a:xfrm>
            <a:off x="5449824" y="1600200"/>
            <a:ext cx="329184" cy="329184"/>
          </a:xfrm>
          <a:prstGeom prst="rect">
            <a:avLst/>
          </a:prstGeom>
          <a:solidFill>
            <a:srgbClr val="0E9E8E"/>
          </a:solidFill>
          <a:ln w="12700">
            <a:solidFill>
              <a:srgbClr val="0E9E8E"/>
            </a:solidFill>
            <a:prstDash val="solid"/>
          </a:ln>
        </p:spPr>
      </p:sp>
      <p:sp>
        <p:nvSpPr>
          <p:cNvPr id="4" name="Shape 2"/>
          <p:cNvSpPr/>
          <p:nvPr/>
        </p:nvSpPr>
        <p:spPr>
          <a:xfrm>
            <a:off x="5824728" y="1600200"/>
            <a:ext cx="329184" cy="329184"/>
          </a:xfrm>
          <a:prstGeom prst="rect">
            <a:avLst/>
          </a:prstGeom>
          <a:solidFill>
            <a:srgbClr val="22325A"/>
          </a:solidFill>
          <a:ln w="12700">
            <a:solidFill>
              <a:srgbClr val="22325A"/>
            </a:solidFill>
            <a:prstDash val="solid"/>
          </a:ln>
        </p:spPr>
      </p:sp>
      <p:sp>
        <p:nvSpPr>
          <p:cNvPr id="5" name="Shape 3"/>
          <p:cNvSpPr/>
          <p:nvPr/>
        </p:nvSpPr>
        <p:spPr>
          <a:xfrm>
            <a:off x="6199632" y="1600200"/>
            <a:ext cx="329184" cy="329184"/>
          </a:xfrm>
          <a:prstGeom prst="rect">
            <a:avLst/>
          </a:prstGeom>
          <a:solidFill>
            <a:srgbClr val="22325A"/>
          </a:solidFill>
          <a:ln w="12700">
            <a:solidFill>
              <a:srgbClr val="22325A"/>
            </a:solidFill>
            <a:prstDash val="solid"/>
          </a:ln>
        </p:spPr>
      </p:sp>
      <p:sp>
        <p:nvSpPr>
          <p:cNvPr id="6" name="Shape 4"/>
          <p:cNvSpPr/>
          <p:nvPr/>
        </p:nvSpPr>
        <p:spPr>
          <a:xfrm>
            <a:off x="6574536" y="1600200"/>
            <a:ext cx="329184" cy="329184"/>
          </a:xfrm>
          <a:prstGeom prst="rect">
            <a:avLst/>
          </a:prstGeom>
          <a:solidFill>
            <a:srgbClr val="0E9E8E"/>
          </a:solidFill>
          <a:ln w="12700">
            <a:solidFill>
              <a:srgbClr val="0E9E8E"/>
            </a:solidFill>
            <a:prstDash val="solid"/>
          </a:ln>
        </p:spPr>
      </p:sp>
      <p:sp>
        <p:nvSpPr>
          <p:cNvPr id="7" name="Shape 5"/>
          <p:cNvSpPr/>
          <p:nvPr/>
        </p:nvSpPr>
        <p:spPr>
          <a:xfrm>
            <a:off x="6949440" y="1600200"/>
            <a:ext cx="329184" cy="329184"/>
          </a:xfrm>
          <a:prstGeom prst="rect">
            <a:avLst/>
          </a:prstGeom>
          <a:solidFill>
            <a:srgbClr val="0E9E8E"/>
          </a:solidFill>
          <a:ln w="12700">
            <a:solidFill>
              <a:srgbClr val="0E9E8E"/>
            </a:solidFill>
            <a:prstDash val="solid"/>
          </a:ln>
        </p:spPr>
      </p:sp>
      <p:sp>
        <p:nvSpPr>
          <p:cNvPr id="8" name="Shape 6"/>
          <p:cNvSpPr/>
          <p:nvPr/>
        </p:nvSpPr>
        <p:spPr>
          <a:xfrm>
            <a:off x="7324344" y="1600200"/>
            <a:ext cx="329184" cy="329184"/>
          </a:xfrm>
          <a:prstGeom prst="rect">
            <a:avLst/>
          </a:prstGeom>
          <a:solidFill>
            <a:srgbClr val="0E9E8E"/>
          </a:solidFill>
          <a:ln w="12700">
            <a:solidFill>
              <a:srgbClr val="0E9E8E"/>
            </a:solidFill>
            <a:prstDash val="solid"/>
          </a:ln>
        </p:spPr>
      </p:sp>
      <p:sp>
        <p:nvSpPr>
          <p:cNvPr id="9" name="Shape 7"/>
          <p:cNvSpPr/>
          <p:nvPr/>
        </p:nvSpPr>
        <p:spPr>
          <a:xfrm>
            <a:off x="7699248" y="1600200"/>
            <a:ext cx="329184" cy="329184"/>
          </a:xfrm>
          <a:prstGeom prst="rect">
            <a:avLst/>
          </a:prstGeom>
          <a:solidFill>
            <a:srgbClr val="0E9E8E"/>
          </a:solidFill>
          <a:ln w="12700">
            <a:solidFill>
              <a:srgbClr val="0E9E8E"/>
            </a:solidFill>
            <a:prstDash val="solid"/>
          </a:ln>
        </p:spPr>
      </p:sp>
      <p:sp>
        <p:nvSpPr>
          <p:cNvPr id="10" name="Shape 8"/>
          <p:cNvSpPr/>
          <p:nvPr/>
        </p:nvSpPr>
        <p:spPr>
          <a:xfrm>
            <a:off x="8074152" y="1600200"/>
            <a:ext cx="329184" cy="329184"/>
          </a:xfrm>
          <a:prstGeom prst="rect">
            <a:avLst/>
          </a:prstGeom>
          <a:solidFill>
            <a:srgbClr val="0E9E8E"/>
          </a:solidFill>
          <a:ln w="12700">
            <a:solidFill>
              <a:srgbClr val="0E9E8E"/>
            </a:solidFill>
            <a:prstDash val="solid"/>
          </a:ln>
        </p:spPr>
      </p:sp>
      <p:sp>
        <p:nvSpPr>
          <p:cNvPr id="11" name="Shape 9"/>
          <p:cNvSpPr/>
          <p:nvPr/>
        </p:nvSpPr>
        <p:spPr>
          <a:xfrm>
            <a:off x="8449056" y="1600200"/>
            <a:ext cx="329184" cy="329184"/>
          </a:xfrm>
          <a:prstGeom prst="rect">
            <a:avLst/>
          </a:prstGeom>
          <a:solidFill>
            <a:srgbClr val="22325A"/>
          </a:solidFill>
          <a:ln w="12700">
            <a:solidFill>
              <a:srgbClr val="22325A"/>
            </a:solidFill>
            <a:prstDash val="solid"/>
          </a:ln>
        </p:spPr>
      </p:sp>
      <p:sp>
        <p:nvSpPr>
          <p:cNvPr id="12" name="Shape 10"/>
          <p:cNvSpPr/>
          <p:nvPr/>
        </p:nvSpPr>
        <p:spPr>
          <a:xfrm>
            <a:off x="5074920" y="1975104"/>
            <a:ext cx="329184" cy="329184"/>
          </a:xfrm>
          <a:prstGeom prst="rect">
            <a:avLst/>
          </a:prstGeom>
          <a:solidFill>
            <a:srgbClr val="0E9E8E"/>
          </a:solidFill>
          <a:ln w="12700">
            <a:solidFill>
              <a:srgbClr val="0E9E8E"/>
            </a:solidFill>
            <a:prstDash val="solid"/>
          </a:ln>
        </p:spPr>
      </p:sp>
      <p:sp>
        <p:nvSpPr>
          <p:cNvPr id="13" name="Shape 11"/>
          <p:cNvSpPr/>
          <p:nvPr/>
        </p:nvSpPr>
        <p:spPr>
          <a:xfrm>
            <a:off x="5449824" y="1975104"/>
            <a:ext cx="329184" cy="329184"/>
          </a:xfrm>
          <a:prstGeom prst="rect">
            <a:avLst/>
          </a:prstGeom>
          <a:solidFill>
            <a:srgbClr val="0E9E8E"/>
          </a:solidFill>
          <a:ln w="12700">
            <a:solidFill>
              <a:srgbClr val="0E9E8E"/>
            </a:solidFill>
            <a:prstDash val="solid"/>
          </a:ln>
        </p:spPr>
      </p:sp>
      <p:sp>
        <p:nvSpPr>
          <p:cNvPr id="14" name="Shape 12"/>
          <p:cNvSpPr/>
          <p:nvPr/>
        </p:nvSpPr>
        <p:spPr>
          <a:xfrm>
            <a:off x="5824728" y="1975104"/>
            <a:ext cx="329184" cy="329184"/>
          </a:xfrm>
          <a:prstGeom prst="rect">
            <a:avLst/>
          </a:prstGeom>
          <a:solidFill>
            <a:srgbClr val="0E9E8E"/>
          </a:solidFill>
          <a:ln w="12700">
            <a:solidFill>
              <a:srgbClr val="0E9E8E"/>
            </a:solidFill>
            <a:prstDash val="solid"/>
          </a:ln>
        </p:spPr>
      </p:sp>
      <p:sp>
        <p:nvSpPr>
          <p:cNvPr id="15" name="Shape 13"/>
          <p:cNvSpPr/>
          <p:nvPr/>
        </p:nvSpPr>
        <p:spPr>
          <a:xfrm>
            <a:off x="6199632" y="1975104"/>
            <a:ext cx="329184" cy="329184"/>
          </a:xfrm>
          <a:prstGeom prst="rect">
            <a:avLst/>
          </a:prstGeom>
          <a:solidFill>
            <a:srgbClr val="0E9E8E"/>
          </a:solidFill>
          <a:ln w="12700">
            <a:solidFill>
              <a:srgbClr val="0E9E8E"/>
            </a:solidFill>
            <a:prstDash val="solid"/>
          </a:ln>
        </p:spPr>
      </p:sp>
      <p:sp>
        <p:nvSpPr>
          <p:cNvPr id="16" name="Shape 14"/>
          <p:cNvSpPr/>
          <p:nvPr/>
        </p:nvSpPr>
        <p:spPr>
          <a:xfrm>
            <a:off x="6574536" y="1975104"/>
            <a:ext cx="329184" cy="329184"/>
          </a:xfrm>
          <a:prstGeom prst="rect">
            <a:avLst/>
          </a:prstGeom>
          <a:solidFill>
            <a:srgbClr val="22325A"/>
          </a:solidFill>
          <a:ln w="12700">
            <a:solidFill>
              <a:srgbClr val="22325A"/>
            </a:solidFill>
            <a:prstDash val="solid"/>
          </a:ln>
        </p:spPr>
      </p:sp>
      <p:sp>
        <p:nvSpPr>
          <p:cNvPr id="17" name="Shape 15"/>
          <p:cNvSpPr/>
          <p:nvPr/>
        </p:nvSpPr>
        <p:spPr>
          <a:xfrm>
            <a:off x="6949440" y="1975104"/>
            <a:ext cx="329184" cy="329184"/>
          </a:xfrm>
          <a:prstGeom prst="rect">
            <a:avLst/>
          </a:prstGeom>
          <a:solidFill>
            <a:srgbClr val="22325A"/>
          </a:solidFill>
          <a:ln w="12700">
            <a:solidFill>
              <a:srgbClr val="22325A"/>
            </a:solidFill>
            <a:prstDash val="solid"/>
          </a:ln>
        </p:spPr>
      </p:sp>
      <p:sp>
        <p:nvSpPr>
          <p:cNvPr id="18" name="Shape 16"/>
          <p:cNvSpPr/>
          <p:nvPr/>
        </p:nvSpPr>
        <p:spPr>
          <a:xfrm>
            <a:off x="7324344" y="1975104"/>
            <a:ext cx="329184" cy="329184"/>
          </a:xfrm>
          <a:prstGeom prst="rect">
            <a:avLst/>
          </a:prstGeom>
          <a:solidFill>
            <a:srgbClr val="22325A"/>
          </a:solidFill>
          <a:ln w="12700">
            <a:solidFill>
              <a:srgbClr val="22325A"/>
            </a:solidFill>
            <a:prstDash val="solid"/>
          </a:ln>
        </p:spPr>
      </p:sp>
      <p:sp>
        <p:nvSpPr>
          <p:cNvPr id="19" name="Shape 17"/>
          <p:cNvSpPr/>
          <p:nvPr/>
        </p:nvSpPr>
        <p:spPr>
          <a:xfrm>
            <a:off x="7699248" y="1975104"/>
            <a:ext cx="329184" cy="329184"/>
          </a:xfrm>
          <a:prstGeom prst="rect">
            <a:avLst/>
          </a:prstGeom>
          <a:solidFill>
            <a:srgbClr val="22325A"/>
          </a:solidFill>
          <a:ln w="12700">
            <a:solidFill>
              <a:srgbClr val="22325A"/>
            </a:solidFill>
            <a:prstDash val="solid"/>
          </a:ln>
        </p:spPr>
      </p:sp>
      <p:sp>
        <p:nvSpPr>
          <p:cNvPr id="20" name="Shape 18"/>
          <p:cNvSpPr/>
          <p:nvPr/>
        </p:nvSpPr>
        <p:spPr>
          <a:xfrm>
            <a:off x="8074152" y="1975104"/>
            <a:ext cx="329184" cy="329184"/>
          </a:xfrm>
          <a:prstGeom prst="rect">
            <a:avLst/>
          </a:prstGeom>
          <a:solidFill>
            <a:srgbClr val="22325A"/>
          </a:solidFill>
          <a:ln w="12700">
            <a:solidFill>
              <a:srgbClr val="22325A"/>
            </a:solidFill>
            <a:prstDash val="solid"/>
          </a:ln>
        </p:spPr>
      </p:sp>
      <p:sp>
        <p:nvSpPr>
          <p:cNvPr id="21" name="Shape 19"/>
          <p:cNvSpPr/>
          <p:nvPr/>
        </p:nvSpPr>
        <p:spPr>
          <a:xfrm>
            <a:off x="8449056" y="1975104"/>
            <a:ext cx="329184" cy="329184"/>
          </a:xfrm>
          <a:prstGeom prst="rect">
            <a:avLst/>
          </a:prstGeom>
          <a:solidFill>
            <a:srgbClr val="0E9E8E"/>
          </a:solidFill>
          <a:ln w="12700">
            <a:solidFill>
              <a:srgbClr val="0E9E8E"/>
            </a:solidFill>
            <a:prstDash val="solid"/>
          </a:ln>
        </p:spPr>
      </p:sp>
      <p:sp>
        <p:nvSpPr>
          <p:cNvPr id="22" name="Text 20"/>
          <p:cNvSpPr/>
          <p:nvPr>
            <p:ph idx="120" type="body" hasCustomPrompt="1"/>
          </p:nvPr>
        </p:nvSpPr>
        <p:spPr>
          <a:xfrm>
            <a:off x="548640" y="1097280"/>
            <a:ext cx="2743200" cy="914400"/>
          </a:xfrm>
          <a:prstGeom prst="rect">
            <a:avLst/>
          </a:prstGeom>
          <a:noFill/>
          <a:ln/>
        </p:spPr>
        <p:txBody>
          <a:bodyPr wrap="square" rtlCol="0"/>
          <a:lstStyle>
            <a:lvl1pPr algn="l" indent="0" marL="0">
              <a:buNone/>
              <a:defRPr lang="en-US" sz="5400" b="1" dirty="0">
                <a:solidFill>
                  <a:schemeClr val="accent3"/>
                </a:solidFill>
                <a:latin typeface="Georgia" pitchFamily="34" charset="0"/>
                <a:ea typeface="Georgia" pitchFamily="34" charset="-122"/>
                <a:cs typeface="Georgia" pitchFamily="34" charset="-120"/>
              </a:defRPr>
            </a:lvl1pPr>
          </a:lstStyle>
          <a:p>
            <a:pPr algn="l" indent="0" marL="0">
              <a:buNone/>
            </a:pPr>
            <a:endParaRPr lang="en-US" sz="5400" dirty="0"/>
          </a:p>
        </p:txBody>
      </p:sp>
      <p:sp>
        <p:nvSpPr>
          <p:cNvPr id="23" name="Text 20"/>
          <p:cNvSpPr/>
          <p:nvPr>
            <p:ph idx="121" type="title" hasCustomPrompt="1"/>
          </p:nvPr>
        </p:nvSpPr>
        <p:spPr>
          <a:xfrm>
            <a:off x="548640" y="2103120"/>
            <a:ext cx="4297680" cy="1188720"/>
          </a:xfrm>
          <a:prstGeom prst="rect">
            <a:avLst/>
          </a:prstGeom>
          <a:noFill/>
          <a:ln/>
        </p:spPr>
        <p:txBody>
          <a:bodyPr wrap="square" rtlCol="0"/>
          <a:lstStyle>
            <a:lvl1pPr algn="l" indent="0" marL="0">
              <a:buNone/>
              <a:defRPr lang="en-US" sz="3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24" name="Text 20"/>
          <p:cNvSpPr/>
          <p:nvPr>
            <p:ph idx="122" type="body" hasCustomPrompt="1"/>
          </p:nvPr>
        </p:nvSpPr>
        <p:spPr>
          <a:xfrm>
            <a:off x="548640" y="3383280"/>
            <a:ext cx="4297680" cy="731520"/>
          </a:xfrm>
          <a:prstGeom prst="rect">
            <a:avLst/>
          </a:prstGeom>
          <a:noFill/>
          <a:ln/>
        </p:spPr>
        <p:txBody>
          <a:bodyPr wrap="square" rtlCol="0"/>
          <a:lstStyle>
            <a:lvl1pPr algn="l" indent="0" marL="0">
              <a:buNone/>
              <a:defRPr lang="en-US" sz="15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accent1"/>
          </a:solidFill>
          <a:ln/>
        </p:spPr>
      </p:sp>
      <p:sp>
        <p:nvSpPr>
          <p:cNvPr id="3" name="Shape 1"/>
          <p:cNvSpPr/>
          <p:nvPr/>
        </p:nvSpPr>
        <p:spPr>
          <a:xfrm>
            <a:off x="457200" y="4754880"/>
            <a:ext cx="8229600" cy="0"/>
          </a:xfrm>
          <a:prstGeom prst="line">
            <a:avLst/>
          </a:prstGeom>
          <a:noFill/>
          <a:ln w="6350">
            <a:solidFill>
              <a:srgbClr val="C9D3DF"/>
            </a:solidFill>
            <a:prstDash val="solid"/>
          </a:ln>
        </p:spPr>
      </p:sp>
      <p:sp>
        <p:nvSpPr>
          <p:cNvPr id="4" name="Text 2"/>
          <p:cNvSpPr/>
          <p:nvPr>
            <p:ph idx="102" type="body" hasCustomPrompt="1"/>
          </p:nvPr>
        </p:nvSpPr>
        <p:spPr>
          <a:xfrm>
            <a:off x="457200" y="256032"/>
            <a:ext cx="7315200" cy="228600"/>
          </a:xfrm>
          <a:prstGeom prst="rect">
            <a:avLst/>
          </a:prstGeom>
          <a:noFill/>
          <a:ln/>
        </p:spPr>
        <p:txBody>
          <a:bodyPr wrap="square" rtlCol="0"/>
          <a:lstStyle>
            <a:lvl1pPr algn="l" indent="0" marL="0">
              <a:buNone/>
              <a:defRPr lang="en-US" sz="1000" b="1" spc="200" kern="0" dirty="0">
                <a:solidFill>
                  <a:schemeClr val="accent1"/>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5" name="Text 2"/>
          <p:cNvSpPr/>
          <p:nvPr>
            <p:ph idx="103" type="title" hasCustomPrompt="1"/>
          </p:nvPr>
        </p:nvSpPr>
        <p:spPr>
          <a:xfrm>
            <a:off x="457200" y="502920"/>
            <a:ext cx="8229600" cy="548640"/>
          </a:xfrm>
          <a:prstGeom prst="rect">
            <a:avLst/>
          </a:prstGeom>
          <a:noFill/>
          <a:ln/>
        </p:spPr>
        <p:txBody>
          <a:bodyPr wrap="square" rtlCol="0"/>
          <a:lstStyle>
            <a:lvl1pPr algn="l" indent="0" marL="0">
              <a:buNone/>
              <a:defRPr lang="en-US" sz="2400" b="1" dirty="0">
                <a:solidFill>
                  <a:schemeClr val="tx2"/>
                </a:solidFill>
                <a:latin typeface="Georgia" pitchFamily="34" charset="0"/>
                <a:ea typeface="Georgia" pitchFamily="34" charset="-122"/>
                <a:cs typeface="Georg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3" Type="http://schemas.openxmlformats.org/officeDocument/2006/relationships/chart" Target="/ppt/charts/chart3.xml"/><Relationship Id="rId2"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029200" cy="274320"/>
          </a:xfrm>
          <a:prstGeom prst="rect">
            <a:avLst/>
          </a:prstGeom>
          <a:noFill/>
          <a:ln/>
        </p:spPr>
        <p:txBody>
          <a:bodyPr wrap="square" lIns="0" tIns="0" rIns="0" bIns="0" rtlCol="0" anchor="t"/>
          <a:lstStyle/>
          <a:p>
            <a:pPr indent="0" marL="0">
              <a:buNone/>
            </a:pPr>
            <a:r>
              <a:rPr lang="en-US" sz="1100" b="1" spc="300" kern="0" dirty="0">
                <a:solidFill>
                  <a:schemeClr val="accent3"/>
                </a:solidFill>
                <a:latin typeface="Calibri" pitchFamily="34" charset="0"/>
                <a:ea typeface="Calibri" pitchFamily="34" charset="-122"/>
                <a:cs typeface="Calibri" pitchFamily="34" charset="-120"/>
              </a:rPr>
              <a:t>THE UNIVERSITY OF TEXAS AT DALLAS</a:t>
            </a:r>
            <a:endParaRPr lang="en-US" sz="1100" dirty="0"/>
          </a:p>
        </p:txBody>
      </p:sp>
      <p:sp>
        <p:nvSpPr>
          <p:cNvPr id="3" name="Text 0"/>
          <p:cNvSpPr/>
          <p:nvPr>
            <p:ph idx="100" type="title" hasCustomPrompt="1"/>
          </p:nvPr>
        </p:nvSpPr>
        <p:spPr>
          <a:xfrm>
            <a:off x="548640" y="1417320"/>
            <a:ext cx="5120640" cy="1737360"/>
          </a:xfrm>
          <a:prstGeom prst="rect">
            <a:avLst/>
          </a:prstGeom>
          <a:noFill/>
          <a:ln/>
        </p:spPr>
        <p:txBody>
          <a:bodyPr wrap="square" lIns="0" tIns="0" rIns="0" bIns="0" rtlCol="0" anchor="b"/>
          <a:lstStyle/>
          <a:p>
            <a:pPr algn="l" indent="0" marL="0">
              <a:buNone/>
            </a:pPr>
            <a:r>
              <a:rPr lang="en-US" sz="3000" b="1" dirty="0">
                <a:solidFill>
                  <a:schemeClr val="bg1"/>
                </a:solidFill>
                <a:latin typeface="Georgia" pitchFamily="34" charset="0"/>
                <a:ea typeface="Georgia" pitchFamily="34" charset="-122"/>
                <a:cs typeface="Georgia" pitchFamily="34" charset="-120"/>
              </a:rPr>
              <a:t>From Freehand 4D Printing to AI-Driven Fast Reverse Design</a:t>
            </a:r>
            <a:endParaRPr lang="en-US" sz="3000" dirty="0"/>
          </a:p>
        </p:txBody>
      </p:sp>
      <p:sp>
        <p:nvSpPr>
          <p:cNvPr id="4" name="Text 0"/>
          <p:cNvSpPr/>
          <p:nvPr>
            <p:ph idx="101" type="body" hasCustomPrompt="1"/>
          </p:nvPr>
        </p:nvSpPr>
        <p:spPr>
          <a:xfrm>
            <a:off x="548640" y="3291840"/>
            <a:ext cx="5120640" cy="82296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Pavan Kailas Patil  ·  Omar Khan</a:t>
            </a:r>
            <a:endParaRPr lang="en-US" sz="1500" dirty="0"/>
          </a:p>
          <a:p>
            <a:pPr algn="l" indent="0" marL="0">
              <a:buNone/>
            </a:pPr>
            <a:r>
              <a:rPr lang="en-US" sz="1200" dirty="0">
                <a:solidFill>
                  <a:schemeClr val="accent5"/>
                </a:solidFill>
                <a:latin typeface="Calibri" pitchFamily="34" charset="0"/>
                <a:ea typeface="Calibri" pitchFamily="34" charset="-122"/>
                <a:cs typeface="Calibri" pitchFamily="34" charset="-120"/>
              </a:rPr>
              <a:t>Based on Wang et al. (2025) and Jin et al. (2024)</a:t>
            </a:r>
            <a:endParaRPr lang="en-US" sz="1500" dirty="0"/>
          </a:p>
        </p:txBody>
      </p:sp>
      <p:pic>
        <p:nvPicPr>
          <p:cNvPr id="5" name="t-flat" descr="img/hero_flat.png">    </p:cNvPr>
          <p:cNvPicPr>
            <a:picLocks noChangeAspect="1"/>
          </p:cNvPicPr>
          <p:nvPr/>
        </p:nvPicPr>
        <p:blipFill>
          <a:blip r:embed="rId1"/>
          <a:stretch>
            <a:fillRect/>
          </a:stretch>
        </p:blipFill>
        <p:spPr>
          <a:xfrm>
            <a:off x="5989320" y="868680"/>
            <a:ext cx="2743200" cy="466344"/>
          </a:xfrm>
          <a:prstGeom prst="rect">
            <a:avLst/>
          </a:prstGeom>
        </p:spPr>
      </p:pic>
      <p:sp>
        <p:nvSpPr>
          <p:cNvPr id="6" name="Text 3"/>
          <p:cNvSpPr txBox="1"/>
          <p:nvPr/>
        </p:nvSpPr>
        <p:spPr>
          <a:xfrm>
            <a:off x="5989320" y="1389888"/>
            <a:ext cx="274320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print flat</a:t>
            </a:r>
            <a:endParaRPr lang="en-US" sz="1000" dirty="0"/>
          </a:p>
        </p:txBody>
      </p:sp>
      <p:sp>
        <p:nvSpPr>
          <p:cNvPr id="7" name="t-arr"/>
          <p:cNvSpPr/>
          <p:nvPr/>
        </p:nvSpPr>
        <p:spPr>
          <a:xfrm>
            <a:off x="7360920" y="1691640"/>
            <a:ext cx="0" cy="502920"/>
          </a:xfrm>
          <a:prstGeom prst="line">
            <a:avLst/>
          </a:prstGeom>
          <a:noFill/>
          <a:ln w="22225">
            <a:solidFill>
              <a:schemeClr val="accent3"/>
            </a:solidFill>
            <a:prstDash val="solid"/>
            <a:tailEnd type="triangle"/>
          </a:ln>
        </p:spPr>
      </p:sp>
      <p:sp>
        <p:nvSpPr>
          <p:cNvPr id="8" name="Text 5"/>
          <p:cNvSpPr txBox="1"/>
          <p:nvPr/>
        </p:nvSpPr>
        <p:spPr>
          <a:xfrm>
            <a:off x="7498080" y="1810512"/>
            <a:ext cx="1097280" cy="274320"/>
          </a:xfrm>
          <a:prstGeom prst="rect">
            <a:avLst/>
          </a:prstGeom>
          <a:noFill/>
          <a:ln/>
        </p:spPr>
        <p:txBody>
          <a:bodyPr wrap="square" lIns="0" tIns="0" rIns="0" bIns="0" rtlCol="0" anchor="t"/>
          <a:lstStyle/>
          <a:p>
            <a:pPr indent="0" marL="0">
              <a:buNone/>
            </a:pPr>
            <a:r>
              <a:rPr lang="en-US" sz="1100" b="1" dirty="0">
                <a:solidFill>
                  <a:schemeClr val="accent3"/>
                </a:solidFill>
                <a:latin typeface="Calibri" pitchFamily="34" charset="0"/>
                <a:ea typeface="Calibri" pitchFamily="34" charset="-122"/>
                <a:cs typeface="Calibri" pitchFamily="34" charset="-120"/>
              </a:rPr>
              <a:t>trigger</a:t>
            </a:r>
            <a:endParaRPr lang="en-US" sz="1100" dirty="0"/>
          </a:p>
        </p:txBody>
      </p:sp>
      <p:pic>
        <p:nvPicPr>
          <p:cNvPr id="9" name="t-bent" descr="img/hero_bent.png">    </p:cNvPr>
          <p:cNvPicPr>
            <a:picLocks noChangeAspect="1"/>
          </p:cNvPicPr>
          <p:nvPr/>
        </p:nvPicPr>
        <p:blipFill>
          <a:blip r:embed="rId2"/>
          <a:stretch>
            <a:fillRect/>
          </a:stretch>
        </p:blipFill>
        <p:spPr>
          <a:xfrm>
            <a:off x="5943600" y="2331720"/>
            <a:ext cx="2834640" cy="1417320"/>
          </a:xfrm>
          <a:prstGeom prst="rect">
            <a:avLst/>
          </a:prstGeom>
        </p:spPr>
      </p:pic>
      <p:sp>
        <p:nvSpPr>
          <p:cNvPr id="10" name="Text 6"/>
          <p:cNvSpPr txBox="1"/>
          <p:nvPr/>
        </p:nvSpPr>
        <p:spPr>
          <a:xfrm>
            <a:off x="5989320" y="3794760"/>
            <a:ext cx="274320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Calibri" pitchFamily="34" charset="0"/>
                <a:ea typeface="Calibri" pitchFamily="34" charset="-122"/>
                <a:cs typeface="Calibri" pitchFamily="34" charset="-120"/>
              </a:rPr>
              <a:t>programmed shape</a:t>
            </a:r>
            <a:endParaRPr lang="en-US" sz="1000" dirty="0"/>
          </a:p>
        </p:txBody>
      </p:sp>
      <p:sp>
        <p:nvSpPr>
          <p:cNvPr id="11" name="Text 7"/>
          <p:cNvSpPr txBox="1"/>
          <p:nvPr/>
        </p:nvSpPr>
        <p:spPr>
          <a:xfrm>
            <a:off x="5989320" y="4617720"/>
            <a:ext cx="2743200" cy="201168"/>
          </a:xfrm>
          <a:prstGeom prst="rect">
            <a:avLst/>
          </a:prstGeom>
          <a:noFill/>
          <a:ln/>
        </p:spPr>
        <p:txBody>
          <a:bodyPr wrap="square" lIns="0" tIns="0" rIns="0" bIns="0" rtlCol="0" anchor="t"/>
          <a:lstStyle/>
          <a:p>
            <a:pPr algn="ctr" indent="0" marL="0">
              <a:buNone/>
            </a:pPr>
            <a:r>
              <a:rPr lang="en-US" sz="800" i="1" dirty="0">
                <a:solidFill>
                  <a:schemeClr val="accent4"/>
                </a:solidFill>
                <a:latin typeface="Calibri" pitchFamily="34" charset="0"/>
                <a:ea typeface="Calibri" pitchFamily="34" charset="-122"/>
                <a:cs typeface="Calibri" pitchFamily="34" charset="-120"/>
              </a:rPr>
              <a:t>Schematic illustration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A HANDS-ON STARTING POINT</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Freehand 4D: a pen path programs the shape</a:t>
            </a:r>
            <a:endParaRPr lang="en-US" sz="2400" dirty="0"/>
          </a:p>
        </p:txBody>
      </p:sp>
      <p:sp>
        <p:nvSpPr>
          <p:cNvPr id="4" name="fh0-c"/>
          <p:cNvSpPr/>
          <p:nvPr/>
        </p:nvSpPr>
        <p:spPr>
          <a:xfrm>
            <a:off x="914400" y="1280160"/>
            <a:ext cx="640080" cy="640080"/>
          </a:xfrm>
          <a:prstGeom prst="ellipse">
            <a:avLst/>
          </a:prstGeom>
          <a:solidFill>
            <a:schemeClr val="accent1"/>
          </a:solidFill>
          <a:ln w="12700">
            <a:solidFill>
              <a:schemeClr val="accent1"/>
            </a:solidFill>
            <a:prstDash val="solid"/>
          </a:ln>
        </p:spPr>
      </p:sp>
      <p:pic>
        <p:nvPicPr>
          <p:cNvPr id="5" name="fh0-i" descr="preencoded.png">    </p:cNvPr>
          <p:cNvPicPr>
            <a:picLocks noChangeAspect="1"/>
          </p:cNvPicPr>
          <p:nvPr/>
        </p:nvPicPr>
        <p:blipFill>
          <a:blip r:embed="rId1"/>
          <a:stretch>
            <a:fillRect/>
          </a:stretch>
        </p:blipFill>
        <p:spPr>
          <a:xfrm>
            <a:off x="1080821" y="1446581"/>
            <a:ext cx="307238" cy="307238"/>
          </a:xfrm>
          <a:prstGeom prst="rect">
            <a:avLst/>
          </a:prstGeom>
        </p:spPr>
      </p:pic>
      <p:sp>
        <p:nvSpPr>
          <p:cNvPr id="6" name="Text 3"/>
          <p:cNvSpPr txBox="1"/>
          <p:nvPr/>
        </p:nvSpPr>
        <p:spPr>
          <a:xfrm>
            <a:off x="457200" y="201168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Georgia" pitchFamily="34" charset="0"/>
                <a:ea typeface="Georgia" pitchFamily="34" charset="-122"/>
                <a:cs typeface="Georgia" pitchFamily="34" charset="-120"/>
              </a:rPr>
              <a:t>Draw</a:t>
            </a:r>
            <a:endParaRPr lang="en-US" sz="1500" dirty="0"/>
          </a:p>
        </p:txBody>
      </p:sp>
      <p:sp>
        <p:nvSpPr>
          <p:cNvPr id="7" name="Text 4"/>
          <p:cNvSpPr txBox="1"/>
          <p:nvPr/>
        </p:nvSpPr>
        <p:spPr>
          <a:xfrm>
            <a:off x="502920" y="2331720"/>
            <a:ext cx="1463040" cy="640080"/>
          </a:xfrm>
          <a:prstGeom prst="rect">
            <a:avLst/>
          </a:prstGeom>
          <a:noFill/>
          <a:ln/>
        </p:spPr>
        <p:txBody>
          <a:bodyPr wrap="square" lIns="0" tIns="0" rIns="0" bIns="0" rtlCol="0" anchor="t"/>
          <a:lstStyle/>
          <a:p>
            <a:pPr algn="ctr" indent="0" marL="0">
              <a:buNone/>
            </a:pPr>
            <a:r>
              <a:rPr lang="en-US" sz="1150" dirty="0">
                <a:solidFill>
                  <a:schemeClr val="accent4"/>
                </a:solidFill>
                <a:latin typeface="Calibri" pitchFamily="34" charset="0"/>
                <a:ea typeface="Calibri" pitchFamily="34" charset="-122"/>
                <a:cs typeface="Calibri" pitchFamily="34" charset="-120"/>
              </a:rPr>
              <a:t>3D pen extrudes plastic along a hand-drawn path</a:t>
            </a:r>
            <a:endParaRPr lang="en-US" sz="1150" dirty="0"/>
          </a:p>
        </p:txBody>
      </p:sp>
      <p:sp>
        <p:nvSpPr>
          <p:cNvPr id="8" name="fha0"/>
          <p:cNvSpPr/>
          <p:nvPr/>
        </p:nvSpPr>
        <p:spPr>
          <a:xfrm>
            <a:off x="1673352" y="1600200"/>
            <a:ext cx="365760" cy="0"/>
          </a:xfrm>
          <a:prstGeom prst="line">
            <a:avLst/>
          </a:prstGeom>
          <a:noFill/>
          <a:ln w="22225">
            <a:solidFill>
              <a:schemeClr val="accent4"/>
            </a:solidFill>
            <a:prstDash val="solid"/>
            <a:tailEnd type="triangle"/>
          </a:ln>
        </p:spPr>
      </p:sp>
      <p:sp>
        <p:nvSpPr>
          <p:cNvPr id="9" name="fh1-c"/>
          <p:cNvSpPr/>
          <p:nvPr/>
        </p:nvSpPr>
        <p:spPr>
          <a:xfrm>
            <a:off x="2606040" y="1280160"/>
            <a:ext cx="640080" cy="640080"/>
          </a:xfrm>
          <a:prstGeom prst="ellipse">
            <a:avLst/>
          </a:prstGeom>
          <a:solidFill>
            <a:schemeClr val="accent1"/>
          </a:solidFill>
          <a:ln w="12700">
            <a:solidFill>
              <a:schemeClr val="accent1"/>
            </a:solidFill>
            <a:prstDash val="solid"/>
          </a:ln>
        </p:spPr>
      </p:sp>
      <p:pic>
        <p:nvPicPr>
          <p:cNvPr id="10" name="fh1-i" descr="preencoded.png">    </p:cNvPr>
          <p:cNvPicPr>
            <a:picLocks noChangeAspect="1"/>
          </p:cNvPicPr>
          <p:nvPr/>
        </p:nvPicPr>
        <p:blipFill>
          <a:blip r:embed="rId2"/>
          <a:stretch>
            <a:fillRect/>
          </a:stretch>
        </p:blipFill>
        <p:spPr>
          <a:xfrm>
            <a:off x="2772461" y="1446581"/>
            <a:ext cx="307238" cy="307238"/>
          </a:xfrm>
          <a:prstGeom prst="rect">
            <a:avLst/>
          </a:prstGeom>
        </p:spPr>
      </p:pic>
      <p:sp>
        <p:nvSpPr>
          <p:cNvPr id="11" name="Text 7"/>
          <p:cNvSpPr txBox="1"/>
          <p:nvPr/>
        </p:nvSpPr>
        <p:spPr>
          <a:xfrm>
            <a:off x="2148840" y="201168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Georgia" pitchFamily="34" charset="0"/>
                <a:ea typeface="Georgia" pitchFamily="34" charset="-122"/>
                <a:cs typeface="Georgia" pitchFamily="34" charset="-120"/>
              </a:rPr>
              <a:t>Store</a:t>
            </a:r>
            <a:endParaRPr lang="en-US" sz="1500" dirty="0"/>
          </a:p>
        </p:txBody>
      </p:sp>
      <p:sp>
        <p:nvSpPr>
          <p:cNvPr id="12" name="Text 8"/>
          <p:cNvSpPr txBox="1"/>
          <p:nvPr/>
        </p:nvSpPr>
        <p:spPr>
          <a:xfrm>
            <a:off x="2194560" y="2331720"/>
            <a:ext cx="1463040" cy="640080"/>
          </a:xfrm>
          <a:prstGeom prst="rect">
            <a:avLst/>
          </a:prstGeom>
          <a:noFill/>
          <a:ln/>
        </p:spPr>
        <p:txBody>
          <a:bodyPr wrap="square" lIns="0" tIns="0" rIns="0" bIns="0" rtlCol="0" anchor="t"/>
          <a:lstStyle/>
          <a:p>
            <a:pPr algn="ctr" indent="0" marL="0">
              <a:buNone/>
            </a:pPr>
            <a:r>
              <a:rPr lang="en-US" sz="1150" dirty="0">
                <a:solidFill>
                  <a:schemeClr val="accent4"/>
                </a:solidFill>
                <a:latin typeface="Calibri" pitchFamily="34" charset="0"/>
                <a:ea typeface="Calibri" pitchFamily="34" charset="-122"/>
                <a:cs typeface="Calibri" pitchFamily="34" charset="-120"/>
              </a:rPr>
              <a:t>stretching freezes strain into that path</a:t>
            </a:r>
            <a:endParaRPr lang="en-US" sz="1150" dirty="0"/>
          </a:p>
        </p:txBody>
      </p:sp>
      <p:sp>
        <p:nvSpPr>
          <p:cNvPr id="13" name="fha1"/>
          <p:cNvSpPr/>
          <p:nvPr/>
        </p:nvSpPr>
        <p:spPr>
          <a:xfrm>
            <a:off x="3364992" y="1600200"/>
            <a:ext cx="365760" cy="0"/>
          </a:xfrm>
          <a:prstGeom prst="line">
            <a:avLst/>
          </a:prstGeom>
          <a:noFill/>
          <a:ln w="22225">
            <a:solidFill>
              <a:schemeClr val="accent4"/>
            </a:solidFill>
            <a:prstDash val="solid"/>
            <a:tailEnd type="triangle"/>
          </a:ln>
        </p:spPr>
      </p:sp>
      <p:sp>
        <p:nvSpPr>
          <p:cNvPr id="14" name="fh2-c"/>
          <p:cNvSpPr/>
          <p:nvPr/>
        </p:nvSpPr>
        <p:spPr>
          <a:xfrm>
            <a:off x="4297680" y="1280160"/>
            <a:ext cx="640080" cy="640080"/>
          </a:xfrm>
          <a:prstGeom prst="ellipse">
            <a:avLst/>
          </a:prstGeom>
          <a:solidFill>
            <a:schemeClr val="accent2"/>
          </a:solidFill>
          <a:ln w="12700">
            <a:solidFill>
              <a:schemeClr val="accent2"/>
            </a:solidFill>
            <a:prstDash val="solid"/>
          </a:ln>
        </p:spPr>
      </p:sp>
      <p:pic>
        <p:nvPicPr>
          <p:cNvPr id="15" name="fh2-i" descr="preencoded.png">    </p:cNvPr>
          <p:cNvPicPr>
            <a:picLocks noChangeAspect="1"/>
          </p:cNvPicPr>
          <p:nvPr/>
        </p:nvPicPr>
        <p:blipFill>
          <a:blip r:embed="rId3"/>
          <a:stretch>
            <a:fillRect/>
          </a:stretch>
        </p:blipFill>
        <p:spPr>
          <a:xfrm>
            <a:off x="4464101" y="1446581"/>
            <a:ext cx="307238" cy="307238"/>
          </a:xfrm>
          <a:prstGeom prst="rect">
            <a:avLst/>
          </a:prstGeom>
        </p:spPr>
      </p:pic>
      <p:sp>
        <p:nvSpPr>
          <p:cNvPr id="16" name="Text 11"/>
          <p:cNvSpPr txBox="1"/>
          <p:nvPr/>
        </p:nvSpPr>
        <p:spPr>
          <a:xfrm>
            <a:off x="3840480" y="201168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Georgia" pitchFamily="34" charset="0"/>
                <a:ea typeface="Georgia" pitchFamily="34" charset="-122"/>
                <a:cs typeface="Georgia" pitchFamily="34" charset="-120"/>
              </a:rPr>
              <a:t>Heat</a:t>
            </a:r>
            <a:endParaRPr lang="en-US" sz="1500" dirty="0"/>
          </a:p>
        </p:txBody>
      </p:sp>
      <p:sp>
        <p:nvSpPr>
          <p:cNvPr id="17" name="Text 12"/>
          <p:cNvSpPr txBox="1"/>
          <p:nvPr/>
        </p:nvSpPr>
        <p:spPr>
          <a:xfrm>
            <a:off x="3886200" y="2331720"/>
            <a:ext cx="1463040" cy="640080"/>
          </a:xfrm>
          <a:prstGeom prst="rect">
            <a:avLst/>
          </a:prstGeom>
          <a:noFill/>
          <a:ln/>
        </p:spPr>
        <p:txBody>
          <a:bodyPr wrap="square" lIns="0" tIns="0" rIns="0" bIns="0" rtlCol="0" anchor="t"/>
          <a:lstStyle/>
          <a:p>
            <a:pPr algn="ctr" indent="0" marL="0">
              <a:buNone/>
            </a:pPr>
            <a:r>
              <a:rPr lang="en-US" sz="1150" dirty="0">
                <a:solidFill>
                  <a:schemeClr val="accent4"/>
                </a:solidFill>
                <a:latin typeface="Calibri" pitchFamily="34" charset="0"/>
                <a:ea typeface="Calibri" pitchFamily="34" charset="-122"/>
                <a:cs typeface="Calibri" pitchFamily="34" charset="-120"/>
              </a:rPr>
              <a:t>strain releases and the part bends</a:t>
            </a:r>
            <a:endParaRPr lang="en-US" sz="1150" dirty="0"/>
          </a:p>
        </p:txBody>
      </p:sp>
      <p:sp>
        <p:nvSpPr>
          <p:cNvPr id="18" name="fh-note"/>
          <p:cNvSpPr/>
          <p:nvPr/>
        </p:nvSpPr>
        <p:spPr>
          <a:xfrm>
            <a:off x="457200" y="3154680"/>
            <a:ext cx="4937760" cy="640080"/>
          </a:xfrm>
          <a:prstGeom prst="roundRect">
            <a:avLst>
              <a:gd name="adj" fmla="val 11429"/>
            </a:avLst>
          </a:prstGeom>
          <a:solidFill>
            <a:schemeClr val="bg2"/>
          </a:solidFill>
          <a:ln w="12700">
            <a:solidFill>
              <a:schemeClr val="bg2"/>
            </a:solidFill>
            <a:prstDash val="solid"/>
          </a:ln>
        </p:spPr>
      </p:sp>
      <p:sp>
        <p:nvSpPr>
          <p:cNvPr id="19" name="Text 14"/>
          <p:cNvSpPr txBox="1"/>
          <p:nvPr/>
        </p:nvSpPr>
        <p:spPr>
          <a:xfrm>
            <a:off x="640080" y="3154680"/>
            <a:ext cx="4572000" cy="640080"/>
          </a:xfrm>
          <a:prstGeom prst="rect">
            <a:avLst/>
          </a:prstGeom>
          <a:noFill/>
          <a:ln/>
        </p:spPr>
        <p:txBody>
          <a:bodyPr wrap="square" lIns="0" tIns="0" rIns="0" bIns="0" rtlCol="0" anchor="ctr"/>
          <a:lstStyle/>
          <a:p>
            <a:pPr indent="0" marL="0">
              <a:buNone/>
            </a:pPr>
            <a:r>
              <a:rPr lang="en-US" sz="1250" b="1" dirty="0">
                <a:solidFill>
                  <a:schemeClr val="tx2"/>
                </a:solidFill>
                <a:latin typeface="Calibri" pitchFamily="34" charset="0"/>
                <a:ea typeface="Calibri" pitchFamily="34" charset="-122"/>
                <a:cs typeface="Calibri" pitchFamily="34" charset="-120"/>
              </a:rPr>
              <a:t>Fabrication-side example: </a:t>
            </a:r>
            <a:pPr indent="0" marL="0">
              <a:buNone/>
            </a:pPr>
            <a:r>
              <a:rPr lang="en-US" sz="1250" dirty="0">
                <a:solidFill>
                  <a:schemeClr val="tx1"/>
                </a:solidFill>
                <a:latin typeface="Calibri" pitchFamily="34" charset="0"/>
                <a:ea typeface="Calibri" pitchFamily="34" charset="-122"/>
                <a:cs typeface="Calibri" pitchFamily="34" charset="-120"/>
              </a:rPr>
              <a:t>the person chooses the path; the shape follows.</a:t>
            </a:r>
            <a:endParaRPr lang="en-US" sz="1250" dirty="0"/>
          </a:p>
        </p:txBody>
      </p:sp>
      <p:sp>
        <p:nvSpPr>
          <p:cNvPr id="20" name="rd"/>
          <p:cNvSpPr/>
          <p:nvPr/>
        </p:nvSpPr>
        <p:spPr>
          <a:xfrm>
            <a:off x="5669280" y="1188720"/>
            <a:ext cx="3017520" cy="3429000"/>
          </a:xfrm>
          <a:prstGeom prst="roundRect">
            <a:avLst>
              <a:gd name="adj" fmla="val 2424"/>
            </a:avLst>
          </a:prstGeom>
          <a:solidFill>
            <a:schemeClr val="tx2"/>
          </a:solidFill>
          <a:ln w="12700">
            <a:solidFill>
              <a:schemeClr val="tx2"/>
            </a:solidFill>
            <a:prstDash val="solid"/>
          </a:ln>
        </p:spPr>
      </p:sp>
      <p:sp>
        <p:nvSpPr>
          <p:cNvPr id="21" name="Text 16"/>
          <p:cNvSpPr txBox="1"/>
          <p:nvPr/>
        </p:nvSpPr>
        <p:spPr>
          <a:xfrm>
            <a:off x="5852160" y="1325880"/>
            <a:ext cx="2651760" cy="274320"/>
          </a:xfrm>
          <a:prstGeom prst="rect">
            <a:avLst/>
          </a:prstGeom>
          <a:noFill/>
          <a:ln/>
        </p:spPr>
        <p:txBody>
          <a:bodyPr wrap="square" lIns="0" tIns="0" rIns="0" bIns="0" rtlCol="0" anchor="t"/>
          <a:lstStyle/>
          <a:p>
            <a:pPr indent="0" marL="0">
              <a:buNone/>
            </a:pPr>
            <a:r>
              <a:rPr lang="en-US" sz="1000" b="1" spc="200" kern="0" dirty="0">
                <a:solidFill>
                  <a:schemeClr val="accent3"/>
                </a:solidFill>
                <a:latin typeface="Calibri" pitchFamily="34" charset="0"/>
                <a:ea typeface="Calibri" pitchFamily="34" charset="-122"/>
                <a:cs typeface="Calibri" pitchFamily="34" charset="-120"/>
              </a:rPr>
              <a:t>THIS TALK</a:t>
            </a:r>
            <a:endParaRPr lang="en-US" sz="1000" dirty="0"/>
          </a:p>
        </p:txBody>
      </p:sp>
      <p:sp>
        <p:nvSpPr>
          <p:cNvPr id="22" name="Text 17"/>
          <p:cNvSpPr txBox="1"/>
          <p:nvPr/>
        </p:nvSpPr>
        <p:spPr>
          <a:xfrm>
            <a:off x="5852160" y="1600200"/>
            <a:ext cx="2651760" cy="411480"/>
          </a:xfrm>
          <a:prstGeom prst="rect">
            <a:avLst/>
          </a:prstGeom>
          <a:noFill/>
          <a:ln/>
        </p:spPr>
        <p:txBody>
          <a:bodyPr wrap="square" lIns="0" tIns="0" rIns="0" bIns="0" rtlCol="0" anchor="t"/>
          <a:lstStyle/>
          <a:p>
            <a:pPr indent="0" marL="0">
              <a:buNone/>
            </a:pPr>
            <a:r>
              <a:rPr lang="en-US" sz="2000" b="1" dirty="0">
                <a:solidFill>
                  <a:schemeClr val="bg1"/>
                </a:solidFill>
                <a:latin typeface="Georgia" pitchFamily="34" charset="0"/>
                <a:ea typeface="Georgia" pitchFamily="34" charset="-122"/>
                <a:cs typeface="Georgia" pitchFamily="34" charset="-120"/>
              </a:rPr>
              <a:t>Reverse design</a:t>
            </a:r>
            <a:endParaRPr lang="en-US" sz="2000" dirty="0"/>
          </a:p>
        </p:txBody>
      </p:sp>
      <p:sp>
        <p:nvSpPr>
          <p:cNvPr id="23" name="Text 18"/>
          <p:cNvSpPr txBox="1"/>
          <p:nvPr/>
        </p:nvSpPr>
        <p:spPr>
          <a:xfrm>
            <a:off x="5852160" y="2103120"/>
            <a:ext cx="2651760" cy="960120"/>
          </a:xfrm>
          <a:prstGeom prst="rect">
            <a:avLst/>
          </a:prstGeom>
          <a:noFill/>
          <a:ln/>
        </p:spPr>
        <p:txBody>
          <a:bodyPr wrap="square" lIns="0" tIns="0" rIns="0" bIns="0" rtlCol="0" anchor="t"/>
          <a:lstStyle/>
          <a:p>
            <a:pPr algn="ctr" indent="0" marL="0">
              <a:buNone/>
            </a:pPr>
            <a:r>
              <a:rPr lang="en-US" sz="1400" b="1" dirty="0">
                <a:solidFill>
                  <a:schemeClr val="bg1"/>
                </a:solidFill>
                <a:latin typeface="Calibri" pitchFamily="34" charset="0"/>
                <a:ea typeface="Calibri" pitchFamily="34" charset="-122"/>
                <a:cs typeface="Calibri" pitchFamily="34" charset="-120"/>
              </a:rPr>
              <a:t>Target shape</a:t>
            </a:r>
            <a:endParaRPr lang="en-US" sz="1400" dirty="0"/>
          </a:p>
          <a:p>
            <a:pPr algn="ctr" indent="0" marL="0">
              <a:buNone/>
            </a:pPr>
            <a:r>
              <a:rPr lang="en-US" sz="1400" dirty="0">
                <a:solidFill>
                  <a:schemeClr val="accent3"/>
                </a:solidFill>
                <a:latin typeface="Calibri" pitchFamily="34" charset="0"/>
                <a:ea typeface="Calibri" pitchFamily="34" charset="-122"/>
                <a:cs typeface="Calibri" pitchFamily="34" charset="-120"/>
              </a:rPr>
              <a:t>↓  compute</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Material layout</a:t>
            </a:r>
            <a:endParaRPr lang="en-US" sz="1400" dirty="0"/>
          </a:p>
        </p:txBody>
      </p:sp>
      <p:sp>
        <p:nvSpPr>
          <p:cNvPr id="24" name="rd-l"/>
          <p:cNvSpPr/>
          <p:nvPr/>
        </p:nvSpPr>
        <p:spPr>
          <a:xfrm>
            <a:off x="5943600" y="3200400"/>
            <a:ext cx="2468880" cy="0"/>
          </a:xfrm>
          <a:prstGeom prst="line">
            <a:avLst/>
          </a:prstGeom>
          <a:noFill/>
          <a:ln w="12700">
            <a:solidFill>
              <a:srgbClr val="34466E"/>
            </a:solidFill>
            <a:prstDash val="solid"/>
          </a:ln>
        </p:spPr>
      </p:sp>
      <p:sp>
        <p:nvSpPr>
          <p:cNvPr id="25" name="rd-csv-c"/>
          <p:cNvSpPr/>
          <p:nvPr/>
        </p:nvSpPr>
        <p:spPr>
          <a:xfrm>
            <a:off x="5852160" y="3337560"/>
            <a:ext cx="457200" cy="457200"/>
          </a:xfrm>
          <a:prstGeom prst="ellipse">
            <a:avLst/>
          </a:prstGeom>
          <a:solidFill>
            <a:schemeClr val="accent1"/>
          </a:solidFill>
          <a:ln w="12700">
            <a:solidFill>
              <a:schemeClr val="accent1"/>
            </a:solidFill>
            <a:prstDash val="solid"/>
          </a:ln>
        </p:spPr>
      </p:sp>
      <p:pic>
        <p:nvPicPr>
          <p:cNvPr id="26" name="rd-csv-i" descr="preencoded.png">    </p:cNvPr>
          <p:cNvPicPr>
            <a:picLocks noChangeAspect="1"/>
          </p:cNvPicPr>
          <p:nvPr/>
        </p:nvPicPr>
        <p:blipFill>
          <a:blip r:embed="rId4"/>
          <a:stretch>
            <a:fillRect/>
          </a:stretch>
        </p:blipFill>
        <p:spPr>
          <a:xfrm>
            <a:off x="5971032" y="3456432"/>
            <a:ext cx="219456" cy="219456"/>
          </a:xfrm>
          <a:prstGeom prst="rect">
            <a:avLst/>
          </a:prstGeom>
        </p:spPr>
      </p:pic>
      <p:sp>
        <p:nvSpPr>
          <p:cNvPr id="27" name="Text 21"/>
          <p:cNvSpPr txBox="1"/>
          <p:nvPr/>
        </p:nvSpPr>
        <p:spPr>
          <a:xfrm>
            <a:off x="6400800" y="3291840"/>
            <a:ext cx="2148840" cy="1188720"/>
          </a:xfrm>
          <a:prstGeom prst="rect">
            <a:avLst/>
          </a:prstGeom>
          <a:noFill/>
          <a:ln/>
        </p:spPr>
        <p:txBody>
          <a:bodyPr wrap="square" lIns="0" tIns="0" rIns="0" bIns="0" rtlCol="0" anchor="t"/>
          <a:lstStyle/>
          <a:p>
            <a:pPr indent="0" marL="0">
              <a:buNone/>
            </a:pPr>
            <a:r>
              <a:rPr lang="en-US" sz="1150" dirty="0">
                <a:solidFill>
                  <a:schemeClr val="accent5"/>
                </a:solidFill>
                <a:latin typeface="Calibri" pitchFamily="34" charset="0"/>
                <a:ea typeface="Calibri" pitchFamily="34" charset="-122"/>
                <a:cs typeface="Calibri" pitchFamily="34" charset="-120"/>
              </a:rPr>
              <a:t>Our repo: target is a numeric curve loaded from CSV. No sketch or drawing input.</a:t>
            </a:r>
            <a:endParaRPr lang="en-US" sz="1150" dirty="0"/>
          </a:p>
        </p:txBody>
      </p:sp>
      <p:sp>
        <p:nvSpPr>
          <p:cNvPr id="28" name="Text 22"/>
          <p:cNvSpPr txBox="1"/>
          <p:nvPr/>
        </p:nvSpPr>
        <p:spPr>
          <a:xfrm>
            <a:off x="457200" y="3977640"/>
            <a:ext cx="4937760" cy="640080"/>
          </a:xfrm>
          <a:prstGeom prst="rect">
            <a:avLst/>
          </a:prstGeom>
          <a:noFill/>
          <a:ln/>
        </p:spPr>
        <p:txBody>
          <a:bodyPr wrap="square" lIns="0" tIns="0" rIns="0" bIns="0" rtlCol="0" anchor="ctr"/>
          <a:lstStyle/>
          <a:p>
            <a:pPr indent="0" marL="0">
              <a:buNone/>
            </a:pPr>
            <a:r>
              <a:rPr lang="en-US" sz="1150" i="1" dirty="0">
                <a:solidFill>
                  <a:schemeClr val="accent4"/>
                </a:solidFill>
                <a:latin typeface="Calibri" pitchFamily="34" charset="0"/>
                <a:ea typeface="Calibri" pitchFamily="34" charset="-122"/>
                <a:cs typeface="Calibri" pitchFamily="34" charset="-120"/>
              </a:rPr>
              <a:t>Freehand fabrication is background only; it is not implemented in our code.</a:t>
            </a:r>
            <a:endParaRPr lang="en-US" sz="1150" dirty="0"/>
          </a:p>
        </p:txBody>
      </p:sp>
      <p:sp>
        <p:nvSpPr>
          <p:cNvPr id="29" name="Text 23"/>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4Doodle, Proc. CHI ’23, doi:10.1145/3544548.3581321 [3]; strain release on heating: Jin et al. 2024, Sec. 3.1 [2]. Icons schematic.</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0" type="body" hasCustomPrompt="1"/>
          </p:nvPr>
        </p:nvSpPr>
        <p:spPr>
          <a:xfrm>
            <a:off x="548640" y="1097280"/>
            <a:ext cx="2743200" cy="914400"/>
          </a:xfrm>
          <a:prstGeom prst="rect">
            <a:avLst/>
          </a:prstGeom>
          <a:noFill/>
          <a:ln/>
        </p:spPr>
        <p:txBody>
          <a:bodyPr wrap="square" lIns="0" tIns="0" rIns="0" bIns="0" rtlCol="0" anchor="b"/>
          <a:lstStyle/>
          <a:p>
            <a:pPr algn="l" indent="0" marL="0">
              <a:buNone/>
            </a:pPr>
            <a:r>
              <a:rPr lang="en-US" sz="5400" b="1" dirty="0">
                <a:solidFill>
                  <a:schemeClr val="accent3"/>
                </a:solidFill>
                <a:latin typeface="Georgia" pitchFamily="34" charset="0"/>
                <a:ea typeface="Georgia" pitchFamily="34" charset="-122"/>
                <a:cs typeface="Georgia" pitchFamily="34" charset="-120"/>
              </a:rPr>
              <a:t>01</a:t>
            </a:r>
            <a:endParaRPr lang="en-US" sz="5400" dirty="0"/>
          </a:p>
        </p:txBody>
      </p:sp>
      <p:sp>
        <p:nvSpPr>
          <p:cNvPr id="3" name="Text 20"/>
          <p:cNvSpPr/>
          <p:nvPr>
            <p:ph idx="121" type="title" hasCustomPrompt="1"/>
          </p:nvPr>
        </p:nvSpPr>
        <p:spPr>
          <a:xfrm>
            <a:off x="548640" y="2103120"/>
            <a:ext cx="4297680" cy="1188720"/>
          </a:xfrm>
          <a:prstGeom prst="rect">
            <a:avLst/>
          </a:prstGeom>
          <a:noFill/>
          <a:ln/>
        </p:spPr>
        <p:txBody>
          <a:bodyPr wrap="square" lIns="0" tIns="0" rIns="0" bIns="0" rtlCol="0" anchor="t"/>
          <a:lstStyle/>
          <a:p>
            <a:pPr algn="l" indent="0" marL="0">
              <a:buNone/>
            </a:pPr>
            <a:r>
              <a:rPr lang="en-US" sz="3000" b="1" dirty="0">
                <a:solidFill>
                  <a:schemeClr val="bg1"/>
                </a:solidFill>
                <a:latin typeface="Georgia" pitchFamily="34" charset="0"/>
                <a:ea typeface="Georgia" pitchFamily="34" charset="-122"/>
                <a:cs typeface="Georgia" pitchFamily="34" charset="-120"/>
              </a:rPr>
              <a:t>Fast reverse design</a:t>
            </a:r>
            <a:endParaRPr lang="en-US" sz="3000" dirty="0"/>
          </a:p>
        </p:txBody>
      </p:sp>
      <p:sp>
        <p:nvSpPr>
          <p:cNvPr id="4" name="Text 20"/>
          <p:cNvSpPr/>
          <p:nvPr>
            <p:ph idx="122" type="body" hasCustomPrompt="1"/>
          </p:nvPr>
        </p:nvSpPr>
        <p:spPr>
          <a:xfrm>
            <a:off x="548640" y="3383280"/>
            <a:ext cx="4297680" cy="73152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Wang et al., Advanced Science, 2025</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Simulate once, then design in seconds</a:t>
            </a:r>
            <a:endParaRPr lang="en-US" sz="2400" dirty="0"/>
          </a:p>
        </p:txBody>
      </p:sp>
      <p:pic>
        <p:nvPicPr>
          <p:cNvPr id="4" name="w1" descr="img/wang_fig1.png">    </p:cNvPr>
          <p:cNvPicPr>
            <a:picLocks noChangeAspect="1"/>
          </p:cNvPicPr>
          <p:nvPr/>
        </p:nvPicPr>
        <p:blipFill>
          <a:blip r:embed="rId1"/>
          <a:stretch>
            <a:fillRect/>
          </a:stretch>
        </p:blipFill>
        <p:spPr>
          <a:xfrm>
            <a:off x="457200" y="1188720"/>
            <a:ext cx="5486400" cy="2688336"/>
          </a:xfrm>
          <a:prstGeom prst="rect">
            <a:avLst/>
          </a:prstGeom>
        </p:spPr>
      </p:pic>
      <p:sp>
        <p:nvSpPr>
          <p:cNvPr id="5" name="Text 2"/>
          <p:cNvSpPr txBox="1"/>
          <p:nvPr/>
        </p:nvSpPr>
        <p:spPr>
          <a:xfrm>
            <a:off x="457200" y="3913632"/>
            <a:ext cx="5486400" cy="22860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Wang et al. 2025, Fig. 1: overall framework</a:t>
            </a:r>
            <a:endParaRPr lang="en-US" sz="950" dirty="0"/>
          </a:p>
        </p:txBody>
      </p:sp>
      <p:sp>
        <p:nvSpPr>
          <p:cNvPr id="6" name="Text 3"/>
          <p:cNvSpPr txBox="1"/>
          <p:nvPr/>
        </p:nvSpPr>
        <p:spPr>
          <a:xfrm>
            <a:off x="457200" y="4206240"/>
            <a:ext cx="5486400" cy="41148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Solvent-responsive hydrogel beam  ·  FE data → neural network → evolutionary search</a:t>
            </a:r>
            <a:endParaRPr lang="en-US" sz="1200" dirty="0"/>
          </a:p>
        </p:txBody>
      </p:sp>
      <p:sp>
        <p:nvSpPr>
          <p:cNvPr id="7" name="ws0"/>
          <p:cNvSpPr/>
          <p:nvPr/>
        </p:nvSpPr>
        <p:spPr>
          <a:xfrm>
            <a:off x="6217920" y="1188720"/>
            <a:ext cx="2468880" cy="1024128"/>
          </a:xfrm>
          <a:prstGeom prst="roundRect">
            <a:avLst>
              <a:gd name="adj" fmla="val 7143"/>
            </a:avLst>
          </a:prstGeom>
          <a:solidFill>
            <a:schemeClr val="bg2"/>
          </a:solidFill>
          <a:ln w="12700">
            <a:solidFill>
              <a:schemeClr val="bg2"/>
            </a:solidFill>
            <a:prstDash val="solid"/>
          </a:ln>
        </p:spPr>
      </p:sp>
      <p:sp>
        <p:nvSpPr>
          <p:cNvPr id="8" name="Text 5"/>
          <p:cNvSpPr txBox="1"/>
          <p:nvPr/>
        </p:nvSpPr>
        <p:spPr>
          <a:xfrm>
            <a:off x="6400800" y="1261872"/>
            <a:ext cx="2148840" cy="502920"/>
          </a:xfrm>
          <a:prstGeom prst="rect">
            <a:avLst/>
          </a:prstGeom>
          <a:noFill/>
          <a:ln/>
        </p:spPr>
        <p:txBody>
          <a:bodyPr wrap="square" lIns="0" tIns="0" rIns="0" bIns="0" rtlCol="0" anchor="t"/>
          <a:lstStyle/>
          <a:p>
            <a:pPr indent="0" marL="0">
              <a:buNone/>
            </a:pPr>
            <a:r>
              <a:rPr lang="en-US" sz="2800" b="1" dirty="0">
                <a:solidFill>
                  <a:schemeClr val="accent2"/>
                </a:solidFill>
                <a:latin typeface="Georgia" pitchFamily="34" charset="0"/>
                <a:ea typeface="Georgia" pitchFamily="34" charset="-122"/>
                <a:cs typeface="Georgia" pitchFamily="34" charset="-120"/>
              </a:rPr>
              <a:t>≈3 s</a:t>
            </a:r>
            <a:endParaRPr lang="en-US" sz="2800" dirty="0"/>
          </a:p>
        </p:txBody>
      </p:sp>
      <p:sp>
        <p:nvSpPr>
          <p:cNvPr id="9" name="Text 6"/>
          <p:cNvSpPr txBox="1"/>
          <p:nvPr/>
        </p:nvSpPr>
        <p:spPr>
          <a:xfrm>
            <a:off x="6400800" y="1783080"/>
            <a:ext cx="2148840" cy="36576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average time per design</a:t>
            </a:r>
            <a:endParaRPr lang="en-US" sz="1100" dirty="0"/>
          </a:p>
        </p:txBody>
      </p:sp>
      <p:sp>
        <p:nvSpPr>
          <p:cNvPr id="10" name="ws1"/>
          <p:cNvSpPr/>
          <p:nvPr/>
        </p:nvSpPr>
        <p:spPr>
          <a:xfrm>
            <a:off x="6217920" y="2350008"/>
            <a:ext cx="2468880" cy="1024128"/>
          </a:xfrm>
          <a:prstGeom prst="roundRect">
            <a:avLst>
              <a:gd name="adj" fmla="val 7143"/>
            </a:avLst>
          </a:prstGeom>
          <a:solidFill>
            <a:schemeClr val="bg2"/>
          </a:solidFill>
          <a:ln w="12700">
            <a:solidFill>
              <a:schemeClr val="bg2"/>
            </a:solidFill>
            <a:prstDash val="solid"/>
          </a:ln>
        </p:spPr>
      </p:sp>
      <p:sp>
        <p:nvSpPr>
          <p:cNvPr id="11" name="Text 8"/>
          <p:cNvSpPr txBox="1"/>
          <p:nvPr/>
        </p:nvSpPr>
        <p:spPr>
          <a:xfrm>
            <a:off x="6400800" y="2423160"/>
            <a:ext cx="2148840" cy="502920"/>
          </a:xfrm>
          <a:prstGeom prst="rect">
            <a:avLst/>
          </a:prstGeom>
          <a:noFill/>
          <a:ln/>
        </p:spPr>
        <p:txBody>
          <a:bodyPr wrap="square" lIns="0" tIns="0" rIns="0" bIns="0" rtlCol="0" anchor="t"/>
          <a:lstStyle/>
          <a:p>
            <a:pPr indent="0" marL="0">
              <a:buNone/>
            </a:pPr>
            <a:r>
              <a:rPr lang="en-US" sz="2800" b="1" dirty="0">
                <a:solidFill>
                  <a:schemeClr val="tx2"/>
                </a:solidFill>
                <a:latin typeface="Georgia" pitchFamily="34" charset="0"/>
                <a:ea typeface="Georgia" pitchFamily="34" charset="-122"/>
                <a:cs typeface="Georgia" pitchFamily="34" charset="-120"/>
              </a:rPr>
              <a:t>2²⁰</a:t>
            </a:r>
            <a:endParaRPr lang="en-US" sz="2800" dirty="0"/>
          </a:p>
        </p:txBody>
      </p:sp>
      <p:sp>
        <p:nvSpPr>
          <p:cNvPr id="12" name="Text 9"/>
          <p:cNvSpPr txBox="1"/>
          <p:nvPr/>
        </p:nvSpPr>
        <p:spPr>
          <a:xfrm>
            <a:off x="6400800" y="2944368"/>
            <a:ext cx="2148840" cy="36576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≈1 million possible layouts</a:t>
            </a:r>
            <a:endParaRPr lang="en-US" sz="1100" dirty="0"/>
          </a:p>
        </p:txBody>
      </p:sp>
      <p:sp>
        <p:nvSpPr>
          <p:cNvPr id="13" name="ws2"/>
          <p:cNvSpPr/>
          <p:nvPr/>
        </p:nvSpPr>
        <p:spPr>
          <a:xfrm>
            <a:off x="6217920" y="3511296"/>
            <a:ext cx="2468880" cy="1024128"/>
          </a:xfrm>
          <a:prstGeom prst="roundRect">
            <a:avLst>
              <a:gd name="adj" fmla="val 7143"/>
            </a:avLst>
          </a:prstGeom>
          <a:solidFill>
            <a:schemeClr val="bg2"/>
          </a:solidFill>
          <a:ln w="12700">
            <a:solidFill>
              <a:schemeClr val="bg2"/>
            </a:solidFill>
            <a:prstDash val="solid"/>
          </a:ln>
        </p:spPr>
      </p:sp>
      <p:sp>
        <p:nvSpPr>
          <p:cNvPr id="14" name="Text 11"/>
          <p:cNvSpPr txBox="1"/>
          <p:nvPr/>
        </p:nvSpPr>
        <p:spPr>
          <a:xfrm>
            <a:off x="6400800" y="3584448"/>
            <a:ext cx="2148840" cy="50292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6,000</a:t>
            </a:r>
            <a:endParaRPr lang="en-US" sz="2800" dirty="0"/>
          </a:p>
        </p:txBody>
      </p:sp>
      <p:sp>
        <p:nvSpPr>
          <p:cNvPr id="15" name="Text 12"/>
          <p:cNvSpPr txBox="1"/>
          <p:nvPr/>
        </p:nvSpPr>
        <p:spPr>
          <a:xfrm>
            <a:off x="6400800" y="4105656"/>
            <a:ext cx="2148840" cy="36576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FE samples was the best training-set size</a:t>
            </a:r>
            <a:endParaRPr lang="en-US" sz="1100" dirty="0"/>
          </a:p>
        </p:txBody>
      </p:sp>
      <p:sp>
        <p:nvSpPr>
          <p:cNvPr id="16" name="Text 13"/>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Adv. Sci. 12(12), 2407825 (2025): abstract, Fig. 1, Fig. 4a [1].</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Voxels are the design language</a:t>
            </a:r>
            <a:endParaRPr lang="en-US" sz="2400" dirty="0"/>
          </a:p>
        </p:txBody>
      </p:sp>
      <p:sp>
        <p:nvSpPr>
          <p:cNvPr id="4" name="v00"/>
          <p:cNvSpPr/>
          <p:nvPr/>
        </p:nvSpPr>
        <p:spPr>
          <a:xfrm>
            <a:off x="685800" y="1508760"/>
            <a:ext cx="420624" cy="420624"/>
          </a:xfrm>
          <a:prstGeom prst="rect">
            <a:avLst/>
          </a:prstGeom>
          <a:solidFill>
            <a:schemeClr val="accent1"/>
          </a:solidFill>
          <a:ln w="12700">
            <a:solidFill>
              <a:schemeClr val="bg1"/>
            </a:solidFill>
            <a:prstDash val="solid"/>
          </a:ln>
        </p:spPr>
      </p:sp>
      <p:sp>
        <p:nvSpPr>
          <p:cNvPr id="5" name="Text 3"/>
          <p:cNvSpPr txBox="1"/>
          <p:nvPr/>
        </p:nvSpPr>
        <p:spPr>
          <a:xfrm>
            <a:off x="6858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v01"/>
          <p:cNvSpPr/>
          <p:nvPr/>
        </p:nvSpPr>
        <p:spPr>
          <a:xfrm>
            <a:off x="1143000" y="1508760"/>
            <a:ext cx="420624" cy="420624"/>
          </a:xfrm>
          <a:prstGeom prst="rect">
            <a:avLst/>
          </a:prstGeom>
          <a:solidFill>
            <a:schemeClr val="accent1"/>
          </a:solidFill>
          <a:ln w="12700">
            <a:solidFill>
              <a:schemeClr val="bg1"/>
            </a:solidFill>
            <a:prstDash val="solid"/>
          </a:ln>
        </p:spPr>
      </p:sp>
      <p:sp>
        <p:nvSpPr>
          <p:cNvPr id="7" name="Text 5"/>
          <p:cNvSpPr txBox="1"/>
          <p:nvPr/>
        </p:nvSpPr>
        <p:spPr>
          <a:xfrm>
            <a:off x="11430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8" name="v02"/>
          <p:cNvSpPr/>
          <p:nvPr/>
        </p:nvSpPr>
        <p:spPr>
          <a:xfrm>
            <a:off x="1600200" y="1508760"/>
            <a:ext cx="420624" cy="420624"/>
          </a:xfrm>
          <a:prstGeom prst="rect">
            <a:avLst/>
          </a:prstGeom>
          <a:solidFill>
            <a:schemeClr val="accent6"/>
          </a:solidFill>
          <a:ln w="12700">
            <a:solidFill>
              <a:schemeClr val="bg1"/>
            </a:solidFill>
            <a:prstDash val="solid"/>
          </a:ln>
        </p:spPr>
      </p:sp>
      <p:sp>
        <p:nvSpPr>
          <p:cNvPr id="9" name="Text 7"/>
          <p:cNvSpPr txBox="1"/>
          <p:nvPr/>
        </p:nvSpPr>
        <p:spPr>
          <a:xfrm>
            <a:off x="1600200" y="15087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10" name="v03"/>
          <p:cNvSpPr/>
          <p:nvPr/>
        </p:nvSpPr>
        <p:spPr>
          <a:xfrm>
            <a:off x="2057400" y="1508760"/>
            <a:ext cx="420624" cy="420624"/>
          </a:xfrm>
          <a:prstGeom prst="rect">
            <a:avLst/>
          </a:prstGeom>
          <a:solidFill>
            <a:schemeClr val="accent6"/>
          </a:solidFill>
          <a:ln w="12700">
            <a:solidFill>
              <a:schemeClr val="bg1"/>
            </a:solidFill>
            <a:prstDash val="solid"/>
          </a:ln>
        </p:spPr>
      </p:sp>
      <p:sp>
        <p:nvSpPr>
          <p:cNvPr id="11" name="Text 9"/>
          <p:cNvSpPr txBox="1"/>
          <p:nvPr/>
        </p:nvSpPr>
        <p:spPr>
          <a:xfrm>
            <a:off x="2057400" y="15087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12" name="v04"/>
          <p:cNvSpPr/>
          <p:nvPr/>
        </p:nvSpPr>
        <p:spPr>
          <a:xfrm>
            <a:off x="2514600" y="1508760"/>
            <a:ext cx="420624" cy="420624"/>
          </a:xfrm>
          <a:prstGeom prst="rect">
            <a:avLst/>
          </a:prstGeom>
          <a:solidFill>
            <a:schemeClr val="accent1"/>
          </a:solidFill>
          <a:ln w="12700">
            <a:solidFill>
              <a:schemeClr val="bg1"/>
            </a:solidFill>
            <a:prstDash val="solid"/>
          </a:ln>
        </p:spPr>
      </p:sp>
      <p:sp>
        <p:nvSpPr>
          <p:cNvPr id="13" name="Text 11"/>
          <p:cNvSpPr txBox="1"/>
          <p:nvPr/>
        </p:nvSpPr>
        <p:spPr>
          <a:xfrm>
            <a:off x="25146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4" name="v05"/>
          <p:cNvSpPr/>
          <p:nvPr/>
        </p:nvSpPr>
        <p:spPr>
          <a:xfrm>
            <a:off x="2971800" y="1508760"/>
            <a:ext cx="420624" cy="420624"/>
          </a:xfrm>
          <a:prstGeom prst="rect">
            <a:avLst/>
          </a:prstGeom>
          <a:solidFill>
            <a:schemeClr val="accent1"/>
          </a:solidFill>
          <a:ln w="12700">
            <a:solidFill>
              <a:schemeClr val="bg1"/>
            </a:solidFill>
            <a:prstDash val="solid"/>
          </a:ln>
        </p:spPr>
      </p:sp>
      <p:sp>
        <p:nvSpPr>
          <p:cNvPr id="15" name="Text 13"/>
          <p:cNvSpPr txBox="1"/>
          <p:nvPr/>
        </p:nvSpPr>
        <p:spPr>
          <a:xfrm>
            <a:off x="29718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6" name="v06"/>
          <p:cNvSpPr/>
          <p:nvPr/>
        </p:nvSpPr>
        <p:spPr>
          <a:xfrm>
            <a:off x="3429000" y="1508760"/>
            <a:ext cx="420624" cy="420624"/>
          </a:xfrm>
          <a:prstGeom prst="rect">
            <a:avLst/>
          </a:prstGeom>
          <a:solidFill>
            <a:schemeClr val="accent1"/>
          </a:solidFill>
          <a:ln w="12700">
            <a:solidFill>
              <a:schemeClr val="bg1"/>
            </a:solidFill>
            <a:prstDash val="solid"/>
          </a:ln>
        </p:spPr>
      </p:sp>
      <p:sp>
        <p:nvSpPr>
          <p:cNvPr id="17" name="Text 15"/>
          <p:cNvSpPr txBox="1"/>
          <p:nvPr/>
        </p:nvSpPr>
        <p:spPr>
          <a:xfrm>
            <a:off x="34290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8" name="v07"/>
          <p:cNvSpPr/>
          <p:nvPr/>
        </p:nvSpPr>
        <p:spPr>
          <a:xfrm>
            <a:off x="3886200" y="1508760"/>
            <a:ext cx="420624" cy="420624"/>
          </a:xfrm>
          <a:prstGeom prst="rect">
            <a:avLst/>
          </a:prstGeom>
          <a:solidFill>
            <a:schemeClr val="accent1"/>
          </a:solidFill>
          <a:ln w="12700">
            <a:solidFill>
              <a:schemeClr val="bg1"/>
            </a:solidFill>
            <a:prstDash val="solid"/>
          </a:ln>
        </p:spPr>
      </p:sp>
      <p:sp>
        <p:nvSpPr>
          <p:cNvPr id="19" name="Text 17"/>
          <p:cNvSpPr txBox="1"/>
          <p:nvPr/>
        </p:nvSpPr>
        <p:spPr>
          <a:xfrm>
            <a:off x="38862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0" name="v08"/>
          <p:cNvSpPr/>
          <p:nvPr/>
        </p:nvSpPr>
        <p:spPr>
          <a:xfrm>
            <a:off x="4343400" y="1508760"/>
            <a:ext cx="420624" cy="420624"/>
          </a:xfrm>
          <a:prstGeom prst="rect">
            <a:avLst/>
          </a:prstGeom>
          <a:solidFill>
            <a:schemeClr val="accent1"/>
          </a:solidFill>
          <a:ln w="12700">
            <a:solidFill>
              <a:schemeClr val="bg1"/>
            </a:solidFill>
            <a:prstDash val="solid"/>
          </a:ln>
        </p:spPr>
      </p:sp>
      <p:sp>
        <p:nvSpPr>
          <p:cNvPr id="21" name="Text 19"/>
          <p:cNvSpPr txBox="1"/>
          <p:nvPr/>
        </p:nvSpPr>
        <p:spPr>
          <a:xfrm>
            <a:off x="434340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2" name="v09"/>
          <p:cNvSpPr/>
          <p:nvPr/>
        </p:nvSpPr>
        <p:spPr>
          <a:xfrm>
            <a:off x="4800600" y="1508760"/>
            <a:ext cx="420624" cy="420624"/>
          </a:xfrm>
          <a:prstGeom prst="rect">
            <a:avLst/>
          </a:prstGeom>
          <a:solidFill>
            <a:schemeClr val="accent6"/>
          </a:solidFill>
          <a:ln w="12700">
            <a:solidFill>
              <a:schemeClr val="bg1"/>
            </a:solidFill>
            <a:prstDash val="solid"/>
          </a:ln>
        </p:spPr>
      </p:sp>
      <p:sp>
        <p:nvSpPr>
          <p:cNvPr id="23" name="Text 21"/>
          <p:cNvSpPr txBox="1"/>
          <p:nvPr/>
        </p:nvSpPr>
        <p:spPr>
          <a:xfrm>
            <a:off x="4800600" y="15087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24" name="v10"/>
          <p:cNvSpPr/>
          <p:nvPr/>
        </p:nvSpPr>
        <p:spPr>
          <a:xfrm>
            <a:off x="685800" y="1965960"/>
            <a:ext cx="420624" cy="420624"/>
          </a:xfrm>
          <a:prstGeom prst="rect">
            <a:avLst/>
          </a:prstGeom>
          <a:solidFill>
            <a:schemeClr val="accent1"/>
          </a:solidFill>
          <a:ln w="12700">
            <a:solidFill>
              <a:schemeClr val="bg1"/>
            </a:solidFill>
            <a:prstDash val="solid"/>
          </a:ln>
        </p:spPr>
      </p:sp>
      <p:sp>
        <p:nvSpPr>
          <p:cNvPr id="25" name="Text 23"/>
          <p:cNvSpPr txBox="1"/>
          <p:nvPr/>
        </p:nvSpPr>
        <p:spPr>
          <a:xfrm>
            <a:off x="6858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6" name="v11"/>
          <p:cNvSpPr/>
          <p:nvPr/>
        </p:nvSpPr>
        <p:spPr>
          <a:xfrm>
            <a:off x="1143000" y="1965960"/>
            <a:ext cx="420624" cy="420624"/>
          </a:xfrm>
          <a:prstGeom prst="rect">
            <a:avLst/>
          </a:prstGeom>
          <a:solidFill>
            <a:schemeClr val="accent1"/>
          </a:solidFill>
          <a:ln w="12700">
            <a:solidFill>
              <a:schemeClr val="bg1"/>
            </a:solidFill>
            <a:prstDash val="solid"/>
          </a:ln>
        </p:spPr>
      </p:sp>
      <p:sp>
        <p:nvSpPr>
          <p:cNvPr id="27" name="Text 25"/>
          <p:cNvSpPr txBox="1"/>
          <p:nvPr/>
        </p:nvSpPr>
        <p:spPr>
          <a:xfrm>
            <a:off x="11430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8" name="v12"/>
          <p:cNvSpPr/>
          <p:nvPr/>
        </p:nvSpPr>
        <p:spPr>
          <a:xfrm>
            <a:off x="1600200" y="1965960"/>
            <a:ext cx="420624" cy="420624"/>
          </a:xfrm>
          <a:prstGeom prst="rect">
            <a:avLst/>
          </a:prstGeom>
          <a:solidFill>
            <a:schemeClr val="accent1"/>
          </a:solidFill>
          <a:ln w="12700">
            <a:solidFill>
              <a:schemeClr val="bg1"/>
            </a:solidFill>
            <a:prstDash val="solid"/>
          </a:ln>
        </p:spPr>
      </p:sp>
      <p:sp>
        <p:nvSpPr>
          <p:cNvPr id="29" name="Text 27"/>
          <p:cNvSpPr txBox="1"/>
          <p:nvPr/>
        </p:nvSpPr>
        <p:spPr>
          <a:xfrm>
            <a:off x="16002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0" name="v13"/>
          <p:cNvSpPr/>
          <p:nvPr/>
        </p:nvSpPr>
        <p:spPr>
          <a:xfrm>
            <a:off x="2057400" y="1965960"/>
            <a:ext cx="420624" cy="420624"/>
          </a:xfrm>
          <a:prstGeom prst="rect">
            <a:avLst/>
          </a:prstGeom>
          <a:solidFill>
            <a:schemeClr val="accent1"/>
          </a:solidFill>
          <a:ln w="12700">
            <a:solidFill>
              <a:schemeClr val="bg1"/>
            </a:solidFill>
            <a:prstDash val="solid"/>
          </a:ln>
        </p:spPr>
      </p:sp>
      <p:sp>
        <p:nvSpPr>
          <p:cNvPr id="31" name="Text 29"/>
          <p:cNvSpPr txBox="1"/>
          <p:nvPr/>
        </p:nvSpPr>
        <p:spPr>
          <a:xfrm>
            <a:off x="20574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2" name="v14"/>
          <p:cNvSpPr/>
          <p:nvPr/>
        </p:nvSpPr>
        <p:spPr>
          <a:xfrm>
            <a:off x="2514600" y="1965960"/>
            <a:ext cx="420624" cy="420624"/>
          </a:xfrm>
          <a:prstGeom prst="rect">
            <a:avLst/>
          </a:prstGeom>
          <a:solidFill>
            <a:schemeClr val="accent6"/>
          </a:solidFill>
          <a:ln w="12700">
            <a:solidFill>
              <a:schemeClr val="bg1"/>
            </a:solidFill>
            <a:prstDash val="solid"/>
          </a:ln>
        </p:spPr>
      </p:sp>
      <p:sp>
        <p:nvSpPr>
          <p:cNvPr id="33" name="Text 31"/>
          <p:cNvSpPr txBox="1"/>
          <p:nvPr/>
        </p:nvSpPr>
        <p:spPr>
          <a:xfrm>
            <a:off x="25146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4" name="v15"/>
          <p:cNvSpPr/>
          <p:nvPr/>
        </p:nvSpPr>
        <p:spPr>
          <a:xfrm>
            <a:off x="2971800" y="1965960"/>
            <a:ext cx="420624" cy="420624"/>
          </a:xfrm>
          <a:prstGeom prst="rect">
            <a:avLst/>
          </a:prstGeom>
          <a:solidFill>
            <a:schemeClr val="accent6"/>
          </a:solidFill>
          <a:ln w="12700">
            <a:solidFill>
              <a:schemeClr val="bg1"/>
            </a:solidFill>
            <a:prstDash val="solid"/>
          </a:ln>
        </p:spPr>
      </p:sp>
      <p:sp>
        <p:nvSpPr>
          <p:cNvPr id="35" name="Text 33"/>
          <p:cNvSpPr txBox="1"/>
          <p:nvPr/>
        </p:nvSpPr>
        <p:spPr>
          <a:xfrm>
            <a:off x="29718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6" name="v16"/>
          <p:cNvSpPr/>
          <p:nvPr/>
        </p:nvSpPr>
        <p:spPr>
          <a:xfrm>
            <a:off x="3429000" y="1965960"/>
            <a:ext cx="420624" cy="420624"/>
          </a:xfrm>
          <a:prstGeom prst="rect">
            <a:avLst/>
          </a:prstGeom>
          <a:solidFill>
            <a:schemeClr val="accent6"/>
          </a:solidFill>
          <a:ln w="12700">
            <a:solidFill>
              <a:schemeClr val="bg1"/>
            </a:solidFill>
            <a:prstDash val="solid"/>
          </a:ln>
        </p:spPr>
      </p:sp>
      <p:sp>
        <p:nvSpPr>
          <p:cNvPr id="37" name="Text 35"/>
          <p:cNvSpPr txBox="1"/>
          <p:nvPr/>
        </p:nvSpPr>
        <p:spPr>
          <a:xfrm>
            <a:off x="34290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8" name="v17"/>
          <p:cNvSpPr/>
          <p:nvPr/>
        </p:nvSpPr>
        <p:spPr>
          <a:xfrm>
            <a:off x="3886200" y="1965960"/>
            <a:ext cx="420624" cy="420624"/>
          </a:xfrm>
          <a:prstGeom prst="rect">
            <a:avLst/>
          </a:prstGeom>
          <a:solidFill>
            <a:schemeClr val="accent6"/>
          </a:solidFill>
          <a:ln w="12700">
            <a:solidFill>
              <a:schemeClr val="bg1"/>
            </a:solidFill>
            <a:prstDash val="solid"/>
          </a:ln>
        </p:spPr>
      </p:sp>
      <p:sp>
        <p:nvSpPr>
          <p:cNvPr id="39" name="Text 37"/>
          <p:cNvSpPr txBox="1"/>
          <p:nvPr/>
        </p:nvSpPr>
        <p:spPr>
          <a:xfrm>
            <a:off x="38862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40" name="v18"/>
          <p:cNvSpPr/>
          <p:nvPr/>
        </p:nvSpPr>
        <p:spPr>
          <a:xfrm>
            <a:off x="4343400" y="1965960"/>
            <a:ext cx="420624" cy="420624"/>
          </a:xfrm>
          <a:prstGeom prst="rect">
            <a:avLst/>
          </a:prstGeom>
          <a:solidFill>
            <a:schemeClr val="accent6"/>
          </a:solidFill>
          <a:ln w="12700">
            <a:solidFill>
              <a:schemeClr val="bg1"/>
            </a:solidFill>
            <a:prstDash val="solid"/>
          </a:ln>
        </p:spPr>
      </p:sp>
      <p:sp>
        <p:nvSpPr>
          <p:cNvPr id="41" name="Text 39"/>
          <p:cNvSpPr txBox="1"/>
          <p:nvPr/>
        </p:nvSpPr>
        <p:spPr>
          <a:xfrm>
            <a:off x="4343400" y="196596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42" name="v19"/>
          <p:cNvSpPr/>
          <p:nvPr/>
        </p:nvSpPr>
        <p:spPr>
          <a:xfrm>
            <a:off x="4800600" y="1965960"/>
            <a:ext cx="420624" cy="420624"/>
          </a:xfrm>
          <a:prstGeom prst="rect">
            <a:avLst/>
          </a:prstGeom>
          <a:solidFill>
            <a:schemeClr val="accent1"/>
          </a:solidFill>
          <a:ln w="12700">
            <a:solidFill>
              <a:schemeClr val="bg1"/>
            </a:solidFill>
            <a:prstDash val="solid"/>
          </a:ln>
        </p:spPr>
      </p:sp>
      <p:sp>
        <p:nvSpPr>
          <p:cNvPr id="43" name="Text 41"/>
          <p:cNvSpPr txBox="1"/>
          <p:nvPr/>
        </p:nvSpPr>
        <p:spPr>
          <a:xfrm>
            <a:off x="4800600" y="19659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44" name="Text 42"/>
          <p:cNvSpPr txBox="1"/>
          <p:nvPr/>
        </p:nvSpPr>
        <p:spPr>
          <a:xfrm>
            <a:off x="685800" y="1207008"/>
            <a:ext cx="3657600" cy="274320"/>
          </a:xfrm>
          <a:prstGeom prst="rect">
            <a:avLst/>
          </a:prstGeom>
          <a:noFill/>
          <a:ln/>
        </p:spPr>
        <p:txBody>
          <a:bodyPr wrap="square" lIns="0" tIns="0" rIns="0" bIns="0" rtlCol="0" anchor="t"/>
          <a:lstStyle/>
          <a:p>
            <a:pPr indent="0" marL="0">
              <a:buNone/>
            </a:pPr>
            <a:r>
              <a:rPr lang="en-US" sz="1100" b="1" dirty="0">
                <a:solidFill>
                  <a:schemeClr val="accent4"/>
                </a:solidFill>
                <a:latin typeface="Calibri" pitchFamily="34" charset="0"/>
                <a:ea typeface="Calibri" pitchFamily="34" charset="-122"/>
                <a:cs typeface="Calibri" pitchFamily="34" charset="-120"/>
              </a:rPr>
              <a:t>2 × 10 layout (example)</a:t>
            </a:r>
            <a:endParaRPr lang="en-US" sz="1100" dirty="0"/>
          </a:p>
        </p:txBody>
      </p:sp>
      <p:sp>
        <p:nvSpPr>
          <p:cNvPr id="45" name="v-arr"/>
          <p:cNvSpPr/>
          <p:nvPr/>
        </p:nvSpPr>
        <p:spPr>
          <a:xfrm>
            <a:off x="2926080" y="2487168"/>
            <a:ext cx="0" cy="320040"/>
          </a:xfrm>
          <a:prstGeom prst="line">
            <a:avLst/>
          </a:prstGeom>
          <a:noFill/>
          <a:ln w="22225">
            <a:solidFill>
              <a:schemeClr val="accent4"/>
            </a:solidFill>
            <a:prstDash val="solid"/>
            <a:tailEnd type="triangle"/>
          </a:ln>
        </p:spPr>
      </p:sp>
      <p:sp>
        <p:nvSpPr>
          <p:cNvPr id="46" name="Text 44"/>
          <p:cNvSpPr txBox="1"/>
          <p:nvPr/>
        </p:nvSpPr>
        <p:spPr>
          <a:xfrm>
            <a:off x="3063240" y="2487168"/>
            <a:ext cx="1097280" cy="274320"/>
          </a:xfrm>
          <a:prstGeom prst="rect">
            <a:avLst/>
          </a:prstGeom>
          <a:noFill/>
          <a:ln/>
        </p:spPr>
        <p:txBody>
          <a:bodyPr wrap="square" lIns="0" tIns="0" rIns="0" bIns="0" rtlCol="0" anchor="t"/>
          <a:lstStyle/>
          <a:p>
            <a:pPr indent="0" marL="0">
              <a:buNone/>
            </a:pPr>
            <a:r>
              <a:rPr lang="en-US" sz="1000" i="1" dirty="0">
                <a:solidFill>
                  <a:schemeClr val="accent4"/>
                </a:solidFill>
                <a:latin typeface="Calibri" pitchFamily="34" charset="0"/>
                <a:ea typeface="Calibri" pitchFamily="34" charset="-122"/>
                <a:cs typeface="Calibri" pitchFamily="34" charset="-120"/>
              </a:rPr>
              <a:t>swells</a:t>
            </a:r>
            <a:endParaRPr lang="en-US" sz="1000" dirty="0"/>
          </a:p>
        </p:txBody>
      </p:sp>
      <p:pic>
        <p:nvPicPr>
          <p:cNvPr id="47" name="v-bent" descr="img/hero_bent.png">    </p:cNvPr>
          <p:cNvPicPr>
            <a:picLocks noChangeAspect="1"/>
          </p:cNvPicPr>
          <p:nvPr/>
        </p:nvPicPr>
        <p:blipFill>
          <a:blip r:embed="rId1"/>
          <a:stretch>
            <a:fillRect/>
          </a:stretch>
        </p:blipFill>
        <p:spPr>
          <a:xfrm>
            <a:off x="1325880" y="2880360"/>
            <a:ext cx="3383280" cy="1691640"/>
          </a:xfrm>
          <a:prstGeom prst="rect">
            <a:avLst/>
          </a:prstGeom>
        </p:spPr>
      </p:pic>
      <p:sp>
        <p:nvSpPr>
          <p:cNvPr id="48" name="vp0"/>
          <p:cNvSpPr/>
          <p:nvPr/>
        </p:nvSpPr>
        <p:spPr>
          <a:xfrm>
            <a:off x="5486400" y="1234440"/>
            <a:ext cx="548640" cy="548640"/>
          </a:xfrm>
          <a:prstGeom prst="ellipse">
            <a:avLst/>
          </a:prstGeom>
          <a:solidFill>
            <a:schemeClr val="accent1"/>
          </a:solidFill>
          <a:ln w="12700">
            <a:solidFill>
              <a:schemeClr val="accent1"/>
            </a:solidFill>
            <a:prstDash val="solid"/>
          </a:ln>
        </p:spPr>
      </p:sp>
      <p:sp>
        <p:nvSpPr>
          <p:cNvPr id="49" name="Text 46"/>
          <p:cNvSpPr txBox="1"/>
          <p:nvPr/>
        </p:nvSpPr>
        <p:spPr>
          <a:xfrm>
            <a:off x="5486400" y="12344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0" name="Text 47"/>
          <p:cNvSpPr txBox="1"/>
          <p:nvPr/>
        </p:nvSpPr>
        <p:spPr>
          <a:xfrm>
            <a:off x="6172200" y="1234440"/>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active voxel: swells more</a:t>
            </a:r>
            <a:endParaRPr lang="en-US" sz="1300" dirty="0"/>
          </a:p>
        </p:txBody>
      </p:sp>
      <p:sp>
        <p:nvSpPr>
          <p:cNvPr id="51" name="vp1"/>
          <p:cNvSpPr/>
          <p:nvPr/>
        </p:nvSpPr>
        <p:spPr>
          <a:xfrm>
            <a:off x="5486400" y="2075688"/>
            <a:ext cx="548640" cy="548640"/>
          </a:xfrm>
          <a:prstGeom prst="ellipse">
            <a:avLst/>
          </a:prstGeom>
          <a:solidFill>
            <a:schemeClr val="accent4"/>
          </a:solidFill>
          <a:ln w="12700">
            <a:solidFill>
              <a:schemeClr val="accent4"/>
            </a:solidFill>
            <a:prstDash val="solid"/>
          </a:ln>
        </p:spPr>
      </p:sp>
      <p:sp>
        <p:nvSpPr>
          <p:cNvPr id="52" name="Text 49"/>
          <p:cNvSpPr txBox="1"/>
          <p:nvPr/>
        </p:nvSpPr>
        <p:spPr>
          <a:xfrm>
            <a:off x="5486400" y="207568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0</a:t>
            </a:r>
            <a:endParaRPr lang="en-US" sz="1800" dirty="0"/>
          </a:p>
        </p:txBody>
      </p:sp>
      <p:sp>
        <p:nvSpPr>
          <p:cNvPr id="53" name="Text 50"/>
          <p:cNvSpPr txBox="1"/>
          <p:nvPr/>
        </p:nvSpPr>
        <p:spPr>
          <a:xfrm>
            <a:off x="6172200" y="2075688"/>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passive voxel: swells less</a:t>
            </a:r>
            <a:endParaRPr lang="en-US" sz="1300" dirty="0"/>
          </a:p>
        </p:txBody>
      </p:sp>
      <p:sp>
        <p:nvSpPr>
          <p:cNvPr id="54" name="vp2"/>
          <p:cNvSpPr/>
          <p:nvPr/>
        </p:nvSpPr>
        <p:spPr>
          <a:xfrm>
            <a:off x="5486400" y="2916936"/>
            <a:ext cx="548640" cy="548640"/>
          </a:xfrm>
          <a:prstGeom prst="ellipse">
            <a:avLst/>
          </a:prstGeom>
          <a:solidFill>
            <a:schemeClr val="accent2"/>
          </a:solidFill>
          <a:ln w="12700">
            <a:solidFill>
              <a:schemeClr val="accent2"/>
            </a:solidFill>
            <a:prstDash val="solid"/>
          </a:ln>
        </p:spPr>
      </p:sp>
      <p:sp>
        <p:nvSpPr>
          <p:cNvPr id="55" name="Text 52"/>
          <p:cNvSpPr txBox="1"/>
          <p:nvPr/>
        </p:nvSpPr>
        <p:spPr>
          <a:xfrm>
            <a:off x="5486400" y="291693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56" name="Text 53"/>
          <p:cNvSpPr txBox="1"/>
          <p:nvPr/>
        </p:nvSpPr>
        <p:spPr>
          <a:xfrm>
            <a:off x="6172200" y="2916936"/>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each column's mismatch sets its local bend</a:t>
            </a:r>
            <a:endParaRPr lang="en-US" sz="1300" dirty="0"/>
          </a:p>
        </p:txBody>
      </p:sp>
      <p:sp>
        <p:nvSpPr>
          <p:cNvPr id="57" name="vp3"/>
          <p:cNvSpPr/>
          <p:nvPr/>
        </p:nvSpPr>
        <p:spPr>
          <a:xfrm>
            <a:off x="5486400" y="3758184"/>
            <a:ext cx="548640" cy="548640"/>
          </a:xfrm>
          <a:prstGeom prst="ellipse">
            <a:avLst/>
          </a:prstGeom>
          <a:solidFill>
            <a:schemeClr val="tx2"/>
          </a:solidFill>
          <a:ln w="12700">
            <a:solidFill>
              <a:schemeClr val="tx2"/>
            </a:solidFill>
            <a:prstDash val="solid"/>
          </a:ln>
        </p:spPr>
      </p:sp>
      <p:sp>
        <p:nvSpPr>
          <p:cNvPr id="58" name="Text 55"/>
          <p:cNvSpPr txBox="1"/>
          <p:nvPr/>
        </p:nvSpPr>
        <p:spPr>
          <a:xfrm>
            <a:off x="5486400" y="375818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59" name="Text 56"/>
          <p:cNvSpPr txBox="1"/>
          <p:nvPr/>
        </p:nvSpPr>
        <p:spPr>
          <a:xfrm>
            <a:off x="6172200" y="3758184"/>
            <a:ext cx="2514600" cy="54864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the column sequence sets the whole curve: 200 (x, y) points</a:t>
            </a:r>
            <a:endParaRPr lang="en-US" sz="1300" dirty="0"/>
          </a:p>
        </p:txBody>
      </p:sp>
      <p:sp>
        <p:nvSpPr>
          <p:cNvPr id="60" name="Text 57"/>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2025, Fig. 1–2 captions, Sec. 2.2 [1]; (batch, 2, 10) → (batch, 2, 200) per repo Documentation.md [4]. Bent strip is schematic.</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Two engines: predict fast, search smart</a:t>
            </a:r>
            <a:endParaRPr lang="en-US" sz="2400" dirty="0"/>
          </a:p>
        </p:txBody>
      </p:sp>
      <p:sp>
        <p:nvSpPr>
          <p:cNvPr id="4" name="pred"/>
          <p:cNvSpPr/>
          <p:nvPr/>
        </p:nvSpPr>
        <p:spPr>
          <a:xfrm>
            <a:off x="457200" y="1188720"/>
            <a:ext cx="4023360" cy="3429000"/>
          </a:xfrm>
          <a:prstGeom prst="roundRect">
            <a:avLst>
              <a:gd name="adj" fmla="val 2133"/>
            </a:avLst>
          </a:prstGeom>
          <a:solidFill>
            <a:schemeClr val="bg2"/>
          </a:solidFill>
          <a:ln w="12700">
            <a:solidFill>
              <a:schemeClr val="bg2"/>
            </a:solidFill>
            <a:prstDash val="solid"/>
          </a:ln>
        </p:spPr>
      </p:sp>
      <p:sp>
        <p:nvSpPr>
          <p:cNvPr id="5" name="pr-c"/>
          <p:cNvSpPr/>
          <p:nvPr/>
        </p:nvSpPr>
        <p:spPr>
          <a:xfrm>
            <a:off x="640080" y="1325880"/>
            <a:ext cx="502920" cy="502920"/>
          </a:xfrm>
          <a:prstGeom prst="ellipse">
            <a:avLst/>
          </a:prstGeom>
          <a:solidFill>
            <a:schemeClr val="accent1"/>
          </a:solidFill>
          <a:ln w="12700">
            <a:solidFill>
              <a:schemeClr val="accent1"/>
            </a:solidFill>
            <a:prstDash val="solid"/>
          </a:ln>
        </p:spPr>
      </p:sp>
      <p:pic>
        <p:nvPicPr>
          <p:cNvPr id="6" name="pr-i" descr="preencoded.png">    </p:cNvPr>
          <p:cNvPicPr>
            <a:picLocks noChangeAspect="1"/>
          </p:cNvPicPr>
          <p:nvPr/>
        </p:nvPicPr>
        <p:blipFill>
          <a:blip r:embed="rId1"/>
          <a:stretch>
            <a:fillRect/>
          </a:stretch>
        </p:blipFill>
        <p:spPr>
          <a:xfrm>
            <a:off x="770839" y="1456639"/>
            <a:ext cx="241402" cy="241402"/>
          </a:xfrm>
          <a:prstGeom prst="rect">
            <a:avLst/>
          </a:prstGeom>
        </p:spPr>
      </p:pic>
      <p:sp>
        <p:nvSpPr>
          <p:cNvPr id="7" name="Text 4"/>
          <p:cNvSpPr txBox="1"/>
          <p:nvPr/>
        </p:nvSpPr>
        <p:spPr>
          <a:xfrm>
            <a:off x="1234440" y="1371600"/>
            <a:ext cx="3108960" cy="411480"/>
          </a:xfrm>
          <a:prstGeom prst="rect">
            <a:avLst/>
          </a:prstGeom>
          <a:noFill/>
          <a:ln/>
        </p:spPr>
        <p:txBody>
          <a:bodyPr wrap="square" lIns="0" tIns="0" rIns="0" bIns="0" rtlCol="0" anchor="ctr"/>
          <a:lstStyle/>
          <a:p>
            <a:pPr indent="0" marL="0">
              <a:buNone/>
            </a:pPr>
            <a:r>
              <a:rPr lang="en-US" sz="1500" b="1" dirty="0">
                <a:solidFill>
                  <a:schemeClr val="tx2"/>
                </a:solidFill>
                <a:latin typeface="Georgia" pitchFamily="34" charset="0"/>
                <a:ea typeface="Georgia" pitchFamily="34" charset="-122"/>
                <a:cs typeface="Georgia" pitchFamily="34" charset="-120"/>
              </a:rPr>
              <a:t>PREDICT  ·  SEP-CNN</a:t>
            </a:r>
            <a:endParaRPr lang="en-US" sz="1500" dirty="0"/>
          </a:p>
        </p:txBody>
      </p:sp>
      <p:pic>
        <p:nvPicPr>
          <p:cNvPr id="8" name="p-fig" descr="img/wang_fig3.png">    </p:cNvPr>
          <p:cNvPicPr>
            <a:picLocks noChangeAspect="1"/>
          </p:cNvPicPr>
          <p:nvPr/>
        </p:nvPicPr>
        <p:blipFill>
          <a:blip r:embed="rId2"/>
          <a:stretch>
            <a:fillRect/>
          </a:stretch>
        </p:blipFill>
        <p:spPr>
          <a:xfrm>
            <a:off x="594360" y="1920240"/>
            <a:ext cx="3749040" cy="1563624"/>
          </a:xfrm>
          <a:prstGeom prst="rect">
            <a:avLst/>
          </a:prstGeom>
        </p:spPr>
      </p:pic>
      <p:sp>
        <p:nvSpPr>
          <p:cNvPr id="9" name="Text 5"/>
          <p:cNvSpPr txBox="1"/>
          <p:nvPr/>
        </p:nvSpPr>
        <p:spPr>
          <a:xfrm>
            <a:off x="640080" y="3611880"/>
            <a:ext cx="3657600" cy="6858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Each voxel column gets its own channel and passes information to the next, like a sequence.</a:t>
            </a:r>
            <a:endParaRPr lang="en-US" sz="1200" dirty="0"/>
          </a:p>
        </p:txBody>
      </p:sp>
      <p:sp>
        <p:nvSpPr>
          <p:cNvPr id="10" name="Text 6"/>
          <p:cNvSpPr txBox="1"/>
          <p:nvPr/>
        </p:nvSpPr>
        <p:spPr>
          <a:xfrm>
            <a:off x="640080" y="4315968"/>
            <a:ext cx="3657600" cy="201168"/>
          </a:xfrm>
          <a:prstGeom prst="rect">
            <a:avLst/>
          </a:prstGeom>
          <a:noFill/>
          <a:ln/>
        </p:spPr>
        <p:txBody>
          <a:bodyPr wrap="square" lIns="0" tIns="0" rIns="0" bIns="0" rtlCol="0" anchor="t"/>
          <a:lstStyle/>
          <a:p>
            <a:pPr indent="0" marL="0">
              <a:buNone/>
            </a:pPr>
            <a:r>
              <a:rPr lang="en-US" sz="900" i="1" dirty="0">
                <a:solidFill>
                  <a:schemeClr val="accent4"/>
                </a:solidFill>
                <a:latin typeface="Calibri" pitchFamily="34" charset="0"/>
                <a:ea typeface="Calibri" pitchFamily="34" charset="-122"/>
                <a:cs typeface="Calibri" pitchFamily="34" charset="-120"/>
              </a:rPr>
              <a:t>Wang et al. 2025, Fig. 3</a:t>
            </a:r>
            <a:endParaRPr lang="en-US" sz="900" dirty="0"/>
          </a:p>
        </p:txBody>
      </p:sp>
      <p:sp>
        <p:nvSpPr>
          <p:cNvPr id="11" name="srch"/>
          <p:cNvSpPr/>
          <p:nvPr/>
        </p:nvSpPr>
        <p:spPr>
          <a:xfrm>
            <a:off x="4663440" y="1188720"/>
            <a:ext cx="4023360" cy="3429000"/>
          </a:xfrm>
          <a:prstGeom prst="roundRect">
            <a:avLst>
              <a:gd name="adj" fmla="val 2133"/>
            </a:avLst>
          </a:prstGeom>
          <a:solidFill>
            <a:schemeClr val="tx2"/>
          </a:solidFill>
          <a:ln w="12700">
            <a:solidFill>
              <a:schemeClr val="tx2"/>
            </a:solidFill>
            <a:prstDash val="solid"/>
          </a:ln>
        </p:spPr>
      </p:sp>
      <p:sp>
        <p:nvSpPr>
          <p:cNvPr id="12" name="sr-c"/>
          <p:cNvSpPr/>
          <p:nvPr/>
        </p:nvSpPr>
        <p:spPr>
          <a:xfrm>
            <a:off x="4846320" y="1325880"/>
            <a:ext cx="502920" cy="502920"/>
          </a:xfrm>
          <a:prstGeom prst="ellipse">
            <a:avLst/>
          </a:prstGeom>
          <a:solidFill>
            <a:schemeClr val="accent2"/>
          </a:solidFill>
          <a:ln w="12700">
            <a:solidFill>
              <a:schemeClr val="accent2"/>
            </a:solidFill>
            <a:prstDash val="solid"/>
          </a:ln>
        </p:spPr>
      </p:sp>
      <p:pic>
        <p:nvPicPr>
          <p:cNvPr id="13" name="sr-i" descr="preencoded.png">    </p:cNvPr>
          <p:cNvPicPr>
            <a:picLocks noChangeAspect="1"/>
          </p:cNvPicPr>
          <p:nvPr/>
        </p:nvPicPr>
        <p:blipFill>
          <a:blip r:embed="rId3"/>
          <a:stretch>
            <a:fillRect/>
          </a:stretch>
        </p:blipFill>
        <p:spPr>
          <a:xfrm>
            <a:off x="4977079" y="1456639"/>
            <a:ext cx="241402" cy="241402"/>
          </a:xfrm>
          <a:prstGeom prst="rect">
            <a:avLst/>
          </a:prstGeom>
        </p:spPr>
      </p:pic>
      <p:sp>
        <p:nvSpPr>
          <p:cNvPr id="14" name="Text 9"/>
          <p:cNvSpPr txBox="1"/>
          <p:nvPr/>
        </p:nvSpPr>
        <p:spPr>
          <a:xfrm>
            <a:off x="5440680" y="1371600"/>
            <a:ext cx="3108960" cy="411480"/>
          </a:xfrm>
          <a:prstGeom prst="rect">
            <a:avLst/>
          </a:prstGeom>
          <a:noFill/>
          <a:ln/>
        </p:spPr>
        <p:txBody>
          <a:bodyPr wrap="square" lIns="0" tIns="0" rIns="0" bIns="0" rtlCol="0" anchor="ctr"/>
          <a:lstStyle/>
          <a:p>
            <a:pPr indent="0" marL="0">
              <a:buNone/>
            </a:pPr>
            <a:r>
              <a:rPr lang="en-US" sz="1500" b="1" dirty="0">
                <a:solidFill>
                  <a:schemeClr val="bg1"/>
                </a:solidFill>
                <a:latin typeface="Georgia" pitchFamily="34" charset="0"/>
                <a:ea typeface="Georgia" pitchFamily="34" charset="-122"/>
                <a:cs typeface="Georgia" pitchFamily="34" charset="-120"/>
              </a:rPr>
              <a:t>SEARCH  ·  Progressive EA</a:t>
            </a:r>
            <a:endParaRPr lang="en-US" sz="1500" dirty="0"/>
          </a:p>
        </p:txBody>
      </p:sp>
      <p:sp>
        <p:nvSpPr>
          <p:cNvPr id="15" name="Text 10"/>
          <p:cNvSpPr txBox="1"/>
          <p:nvPr/>
        </p:nvSpPr>
        <p:spPr>
          <a:xfrm>
            <a:off x="4846320" y="1965960"/>
            <a:ext cx="640080" cy="36576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early</a:t>
            </a:r>
            <a:endParaRPr lang="en-US" sz="900" dirty="0"/>
          </a:p>
        </p:txBody>
      </p:sp>
      <p:sp>
        <p:nvSpPr>
          <p:cNvPr id="16" name="ps00"/>
          <p:cNvSpPr/>
          <p:nvPr/>
        </p:nvSpPr>
        <p:spPr>
          <a:xfrm>
            <a:off x="5532120" y="2002536"/>
            <a:ext cx="256032" cy="292608"/>
          </a:xfrm>
          <a:prstGeom prst="rect">
            <a:avLst/>
          </a:prstGeom>
          <a:solidFill>
            <a:schemeClr val="accent1"/>
          </a:solidFill>
          <a:ln w="12700">
            <a:solidFill>
              <a:schemeClr val="accent1"/>
            </a:solidFill>
            <a:prstDash val="solid"/>
          </a:ln>
        </p:spPr>
      </p:sp>
      <p:sp>
        <p:nvSpPr>
          <p:cNvPr id="17" name="ps01"/>
          <p:cNvSpPr/>
          <p:nvPr/>
        </p:nvSpPr>
        <p:spPr>
          <a:xfrm>
            <a:off x="5824728" y="2002536"/>
            <a:ext cx="256032" cy="292608"/>
          </a:xfrm>
          <a:prstGeom prst="rect">
            <a:avLst/>
          </a:prstGeom>
          <a:solidFill>
            <a:schemeClr val="accent1"/>
          </a:solidFill>
          <a:ln w="12700">
            <a:solidFill>
              <a:schemeClr val="accent1"/>
            </a:solidFill>
            <a:prstDash val="solid"/>
          </a:ln>
        </p:spPr>
      </p:sp>
      <p:sp>
        <p:nvSpPr>
          <p:cNvPr id="18" name="ps02"/>
          <p:cNvSpPr/>
          <p:nvPr/>
        </p:nvSpPr>
        <p:spPr>
          <a:xfrm>
            <a:off x="6117336" y="2002536"/>
            <a:ext cx="256032" cy="292608"/>
          </a:xfrm>
          <a:prstGeom prst="rect">
            <a:avLst/>
          </a:prstGeom>
          <a:solidFill>
            <a:schemeClr val="accent1"/>
          </a:solidFill>
          <a:ln w="12700">
            <a:solidFill>
              <a:schemeClr val="accent1"/>
            </a:solidFill>
            <a:prstDash val="solid"/>
          </a:ln>
        </p:spPr>
      </p:sp>
      <p:sp>
        <p:nvSpPr>
          <p:cNvPr id="19" name="ps03"/>
          <p:cNvSpPr/>
          <p:nvPr/>
        </p:nvSpPr>
        <p:spPr>
          <a:xfrm>
            <a:off x="6409944" y="2002536"/>
            <a:ext cx="256032" cy="292608"/>
          </a:xfrm>
          <a:prstGeom prst="rect">
            <a:avLst/>
          </a:prstGeom>
          <a:solidFill>
            <a:srgbClr val="34466E"/>
          </a:solidFill>
          <a:ln w="12700">
            <a:solidFill>
              <a:srgbClr val="34466E"/>
            </a:solidFill>
            <a:prstDash val="solid"/>
          </a:ln>
        </p:spPr>
      </p:sp>
      <p:sp>
        <p:nvSpPr>
          <p:cNvPr id="20" name="ps04"/>
          <p:cNvSpPr/>
          <p:nvPr/>
        </p:nvSpPr>
        <p:spPr>
          <a:xfrm>
            <a:off x="6702552" y="2002536"/>
            <a:ext cx="256032" cy="292608"/>
          </a:xfrm>
          <a:prstGeom prst="rect">
            <a:avLst/>
          </a:prstGeom>
          <a:solidFill>
            <a:srgbClr val="34466E"/>
          </a:solidFill>
          <a:ln w="12700">
            <a:solidFill>
              <a:srgbClr val="34466E"/>
            </a:solidFill>
            <a:prstDash val="solid"/>
          </a:ln>
        </p:spPr>
      </p:sp>
      <p:sp>
        <p:nvSpPr>
          <p:cNvPr id="21" name="ps05"/>
          <p:cNvSpPr/>
          <p:nvPr/>
        </p:nvSpPr>
        <p:spPr>
          <a:xfrm>
            <a:off x="6995160" y="2002536"/>
            <a:ext cx="256032" cy="292608"/>
          </a:xfrm>
          <a:prstGeom prst="rect">
            <a:avLst/>
          </a:prstGeom>
          <a:solidFill>
            <a:srgbClr val="34466E"/>
          </a:solidFill>
          <a:ln w="12700">
            <a:solidFill>
              <a:srgbClr val="34466E"/>
            </a:solidFill>
            <a:prstDash val="solid"/>
          </a:ln>
        </p:spPr>
      </p:sp>
      <p:sp>
        <p:nvSpPr>
          <p:cNvPr id="22" name="ps06"/>
          <p:cNvSpPr/>
          <p:nvPr/>
        </p:nvSpPr>
        <p:spPr>
          <a:xfrm>
            <a:off x="7287768" y="2002536"/>
            <a:ext cx="256032" cy="292608"/>
          </a:xfrm>
          <a:prstGeom prst="rect">
            <a:avLst/>
          </a:prstGeom>
          <a:solidFill>
            <a:srgbClr val="34466E"/>
          </a:solidFill>
          <a:ln w="12700">
            <a:solidFill>
              <a:srgbClr val="34466E"/>
            </a:solidFill>
            <a:prstDash val="solid"/>
          </a:ln>
        </p:spPr>
      </p:sp>
      <p:sp>
        <p:nvSpPr>
          <p:cNvPr id="23" name="ps07"/>
          <p:cNvSpPr/>
          <p:nvPr/>
        </p:nvSpPr>
        <p:spPr>
          <a:xfrm>
            <a:off x="7580376" y="2002536"/>
            <a:ext cx="256032" cy="292608"/>
          </a:xfrm>
          <a:prstGeom prst="rect">
            <a:avLst/>
          </a:prstGeom>
          <a:solidFill>
            <a:srgbClr val="34466E"/>
          </a:solidFill>
          <a:ln w="12700">
            <a:solidFill>
              <a:srgbClr val="34466E"/>
            </a:solidFill>
            <a:prstDash val="solid"/>
          </a:ln>
        </p:spPr>
      </p:sp>
      <p:sp>
        <p:nvSpPr>
          <p:cNvPr id="24" name="ps08"/>
          <p:cNvSpPr/>
          <p:nvPr/>
        </p:nvSpPr>
        <p:spPr>
          <a:xfrm>
            <a:off x="7872984" y="2002536"/>
            <a:ext cx="256032" cy="292608"/>
          </a:xfrm>
          <a:prstGeom prst="rect">
            <a:avLst/>
          </a:prstGeom>
          <a:solidFill>
            <a:srgbClr val="34466E"/>
          </a:solidFill>
          <a:ln w="12700">
            <a:solidFill>
              <a:srgbClr val="34466E"/>
            </a:solidFill>
            <a:prstDash val="solid"/>
          </a:ln>
        </p:spPr>
      </p:sp>
      <p:sp>
        <p:nvSpPr>
          <p:cNvPr id="25" name="ps09"/>
          <p:cNvSpPr/>
          <p:nvPr/>
        </p:nvSpPr>
        <p:spPr>
          <a:xfrm>
            <a:off x="8165592" y="2002536"/>
            <a:ext cx="256032" cy="292608"/>
          </a:xfrm>
          <a:prstGeom prst="rect">
            <a:avLst/>
          </a:prstGeom>
          <a:solidFill>
            <a:srgbClr val="34466E"/>
          </a:solidFill>
          <a:ln w="12700">
            <a:solidFill>
              <a:srgbClr val="34466E"/>
            </a:solidFill>
            <a:prstDash val="solid"/>
          </a:ln>
        </p:spPr>
      </p:sp>
      <p:sp>
        <p:nvSpPr>
          <p:cNvPr id="26" name="Text 21"/>
          <p:cNvSpPr txBox="1"/>
          <p:nvPr/>
        </p:nvSpPr>
        <p:spPr>
          <a:xfrm>
            <a:off x="4846320" y="2468880"/>
            <a:ext cx="640080" cy="36576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middle</a:t>
            </a:r>
            <a:endParaRPr lang="en-US" sz="900" dirty="0"/>
          </a:p>
        </p:txBody>
      </p:sp>
      <p:sp>
        <p:nvSpPr>
          <p:cNvPr id="27" name="ps10"/>
          <p:cNvSpPr/>
          <p:nvPr/>
        </p:nvSpPr>
        <p:spPr>
          <a:xfrm>
            <a:off x="5532120" y="2505456"/>
            <a:ext cx="256032" cy="292608"/>
          </a:xfrm>
          <a:prstGeom prst="rect">
            <a:avLst/>
          </a:prstGeom>
          <a:solidFill>
            <a:schemeClr val="accent1"/>
          </a:solidFill>
          <a:ln w="12700">
            <a:solidFill>
              <a:schemeClr val="accent1"/>
            </a:solidFill>
            <a:prstDash val="solid"/>
          </a:ln>
        </p:spPr>
      </p:sp>
      <p:sp>
        <p:nvSpPr>
          <p:cNvPr id="28" name="ps11"/>
          <p:cNvSpPr/>
          <p:nvPr/>
        </p:nvSpPr>
        <p:spPr>
          <a:xfrm>
            <a:off x="5824728" y="2505456"/>
            <a:ext cx="256032" cy="292608"/>
          </a:xfrm>
          <a:prstGeom prst="rect">
            <a:avLst/>
          </a:prstGeom>
          <a:solidFill>
            <a:schemeClr val="accent1"/>
          </a:solidFill>
          <a:ln w="12700">
            <a:solidFill>
              <a:schemeClr val="accent1"/>
            </a:solidFill>
            <a:prstDash val="solid"/>
          </a:ln>
        </p:spPr>
      </p:sp>
      <p:sp>
        <p:nvSpPr>
          <p:cNvPr id="29" name="ps12"/>
          <p:cNvSpPr/>
          <p:nvPr/>
        </p:nvSpPr>
        <p:spPr>
          <a:xfrm>
            <a:off x="6117336" y="2505456"/>
            <a:ext cx="256032" cy="292608"/>
          </a:xfrm>
          <a:prstGeom prst="rect">
            <a:avLst/>
          </a:prstGeom>
          <a:solidFill>
            <a:schemeClr val="accent1"/>
          </a:solidFill>
          <a:ln w="12700">
            <a:solidFill>
              <a:schemeClr val="accent1"/>
            </a:solidFill>
            <a:prstDash val="solid"/>
          </a:ln>
        </p:spPr>
      </p:sp>
      <p:sp>
        <p:nvSpPr>
          <p:cNvPr id="30" name="ps13"/>
          <p:cNvSpPr/>
          <p:nvPr/>
        </p:nvSpPr>
        <p:spPr>
          <a:xfrm>
            <a:off x="6409944" y="2505456"/>
            <a:ext cx="256032" cy="292608"/>
          </a:xfrm>
          <a:prstGeom prst="rect">
            <a:avLst/>
          </a:prstGeom>
          <a:solidFill>
            <a:schemeClr val="accent1"/>
          </a:solidFill>
          <a:ln w="12700">
            <a:solidFill>
              <a:schemeClr val="accent1"/>
            </a:solidFill>
            <a:prstDash val="solid"/>
          </a:ln>
        </p:spPr>
      </p:sp>
      <p:sp>
        <p:nvSpPr>
          <p:cNvPr id="31" name="ps14"/>
          <p:cNvSpPr/>
          <p:nvPr/>
        </p:nvSpPr>
        <p:spPr>
          <a:xfrm>
            <a:off x="6702552" y="2505456"/>
            <a:ext cx="256032" cy="292608"/>
          </a:xfrm>
          <a:prstGeom prst="rect">
            <a:avLst/>
          </a:prstGeom>
          <a:solidFill>
            <a:schemeClr val="accent1"/>
          </a:solidFill>
          <a:ln w="12700">
            <a:solidFill>
              <a:schemeClr val="accent1"/>
            </a:solidFill>
            <a:prstDash val="solid"/>
          </a:ln>
        </p:spPr>
      </p:sp>
      <p:sp>
        <p:nvSpPr>
          <p:cNvPr id="32" name="ps15"/>
          <p:cNvSpPr/>
          <p:nvPr/>
        </p:nvSpPr>
        <p:spPr>
          <a:xfrm>
            <a:off x="6995160" y="2505456"/>
            <a:ext cx="256032" cy="292608"/>
          </a:xfrm>
          <a:prstGeom prst="rect">
            <a:avLst/>
          </a:prstGeom>
          <a:solidFill>
            <a:schemeClr val="accent1"/>
          </a:solidFill>
          <a:ln w="12700">
            <a:solidFill>
              <a:schemeClr val="accent1"/>
            </a:solidFill>
            <a:prstDash val="solid"/>
          </a:ln>
        </p:spPr>
      </p:sp>
      <p:sp>
        <p:nvSpPr>
          <p:cNvPr id="33" name="ps16"/>
          <p:cNvSpPr/>
          <p:nvPr/>
        </p:nvSpPr>
        <p:spPr>
          <a:xfrm>
            <a:off x="7287768" y="2505456"/>
            <a:ext cx="256032" cy="292608"/>
          </a:xfrm>
          <a:prstGeom prst="rect">
            <a:avLst/>
          </a:prstGeom>
          <a:solidFill>
            <a:srgbClr val="34466E"/>
          </a:solidFill>
          <a:ln w="12700">
            <a:solidFill>
              <a:srgbClr val="34466E"/>
            </a:solidFill>
            <a:prstDash val="solid"/>
          </a:ln>
        </p:spPr>
      </p:sp>
      <p:sp>
        <p:nvSpPr>
          <p:cNvPr id="34" name="ps17"/>
          <p:cNvSpPr/>
          <p:nvPr/>
        </p:nvSpPr>
        <p:spPr>
          <a:xfrm>
            <a:off x="7580376" y="2505456"/>
            <a:ext cx="256032" cy="292608"/>
          </a:xfrm>
          <a:prstGeom prst="rect">
            <a:avLst/>
          </a:prstGeom>
          <a:solidFill>
            <a:srgbClr val="34466E"/>
          </a:solidFill>
          <a:ln w="12700">
            <a:solidFill>
              <a:srgbClr val="34466E"/>
            </a:solidFill>
            <a:prstDash val="solid"/>
          </a:ln>
        </p:spPr>
      </p:sp>
      <p:sp>
        <p:nvSpPr>
          <p:cNvPr id="35" name="ps18"/>
          <p:cNvSpPr/>
          <p:nvPr/>
        </p:nvSpPr>
        <p:spPr>
          <a:xfrm>
            <a:off x="7872984" y="2505456"/>
            <a:ext cx="256032" cy="292608"/>
          </a:xfrm>
          <a:prstGeom prst="rect">
            <a:avLst/>
          </a:prstGeom>
          <a:solidFill>
            <a:srgbClr val="34466E"/>
          </a:solidFill>
          <a:ln w="12700">
            <a:solidFill>
              <a:srgbClr val="34466E"/>
            </a:solidFill>
            <a:prstDash val="solid"/>
          </a:ln>
        </p:spPr>
      </p:sp>
      <p:sp>
        <p:nvSpPr>
          <p:cNvPr id="36" name="ps19"/>
          <p:cNvSpPr/>
          <p:nvPr/>
        </p:nvSpPr>
        <p:spPr>
          <a:xfrm>
            <a:off x="8165592" y="2505456"/>
            <a:ext cx="256032" cy="292608"/>
          </a:xfrm>
          <a:prstGeom prst="rect">
            <a:avLst/>
          </a:prstGeom>
          <a:solidFill>
            <a:srgbClr val="34466E"/>
          </a:solidFill>
          <a:ln w="12700">
            <a:solidFill>
              <a:srgbClr val="34466E"/>
            </a:solidFill>
            <a:prstDash val="solid"/>
          </a:ln>
        </p:spPr>
      </p:sp>
      <p:sp>
        <p:nvSpPr>
          <p:cNvPr id="37" name="Text 32"/>
          <p:cNvSpPr txBox="1"/>
          <p:nvPr/>
        </p:nvSpPr>
        <p:spPr>
          <a:xfrm>
            <a:off x="4846320" y="2971800"/>
            <a:ext cx="640080" cy="365760"/>
          </a:xfrm>
          <a:prstGeom prst="rect">
            <a:avLst/>
          </a:prstGeom>
          <a:noFill/>
          <a:ln/>
        </p:spPr>
        <p:txBody>
          <a:bodyPr wrap="square" lIns="0" tIns="0" rIns="0" bIns="0" rtlCol="0" anchor="ctr"/>
          <a:lstStyle/>
          <a:p>
            <a:pPr indent="0" marL="0">
              <a:buNone/>
            </a:pPr>
            <a:r>
              <a:rPr lang="en-US" sz="900" dirty="0">
                <a:solidFill>
                  <a:schemeClr val="accent5"/>
                </a:solidFill>
                <a:latin typeface="Calibri" pitchFamily="34" charset="0"/>
                <a:ea typeface="Calibri" pitchFamily="34" charset="-122"/>
                <a:cs typeface="Calibri" pitchFamily="34" charset="-120"/>
              </a:rPr>
              <a:t>final</a:t>
            </a:r>
            <a:endParaRPr lang="en-US" sz="900" dirty="0"/>
          </a:p>
        </p:txBody>
      </p:sp>
      <p:sp>
        <p:nvSpPr>
          <p:cNvPr id="38" name="ps20"/>
          <p:cNvSpPr/>
          <p:nvPr/>
        </p:nvSpPr>
        <p:spPr>
          <a:xfrm>
            <a:off x="5532120" y="3008376"/>
            <a:ext cx="256032" cy="292608"/>
          </a:xfrm>
          <a:prstGeom prst="rect">
            <a:avLst/>
          </a:prstGeom>
          <a:solidFill>
            <a:schemeClr val="accent1"/>
          </a:solidFill>
          <a:ln w="12700">
            <a:solidFill>
              <a:schemeClr val="accent1"/>
            </a:solidFill>
            <a:prstDash val="solid"/>
          </a:ln>
        </p:spPr>
      </p:sp>
      <p:sp>
        <p:nvSpPr>
          <p:cNvPr id="39" name="ps21"/>
          <p:cNvSpPr/>
          <p:nvPr/>
        </p:nvSpPr>
        <p:spPr>
          <a:xfrm>
            <a:off x="5824728" y="3008376"/>
            <a:ext cx="256032" cy="292608"/>
          </a:xfrm>
          <a:prstGeom prst="rect">
            <a:avLst/>
          </a:prstGeom>
          <a:solidFill>
            <a:schemeClr val="accent1"/>
          </a:solidFill>
          <a:ln w="12700">
            <a:solidFill>
              <a:schemeClr val="accent1"/>
            </a:solidFill>
            <a:prstDash val="solid"/>
          </a:ln>
        </p:spPr>
      </p:sp>
      <p:sp>
        <p:nvSpPr>
          <p:cNvPr id="40" name="ps22"/>
          <p:cNvSpPr/>
          <p:nvPr/>
        </p:nvSpPr>
        <p:spPr>
          <a:xfrm>
            <a:off x="6117336" y="3008376"/>
            <a:ext cx="256032" cy="292608"/>
          </a:xfrm>
          <a:prstGeom prst="rect">
            <a:avLst/>
          </a:prstGeom>
          <a:solidFill>
            <a:schemeClr val="accent1"/>
          </a:solidFill>
          <a:ln w="12700">
            <a:solidFill>
              <a:schemeClr val="accent1"/>
            </a:solidFill>
            <a:prstDash val="solid"/>
          </a:ln>
        </p:spPr>
      </p:sp>
      <p:sp>
        <p:nvSpPr>
          <p:cNvPr id="41" name="ps23"/>
          <p:cNvSpPr/>
          <p:nvPr/>
        </p:nvSpPr>
        <p:spPr>
          <a:xfrm>
            <a:off x="6409944" y="3008376"/>
            <a:ext cx="256032" cy="292608"/>
          </a:xfrm>
          <a:prstGeom prst="rect">
            <a:avLst/>
          </a:prstGeom>
          <a:solidFill>
            <a:schemeClr val="accent1"/>
          </a:solidFill>
          <a:ln w="12700">
            <a:solidFill>
              <a:schemeClr val="accent1"/>
            </a:solidFill>
            <a:prstDash val="solid"/>
          </a:ln>
        </p:spPr>
      </p:sp>
      <p:sp>
        <p:nvSpPr>
          <p:cNvPr id="42" name="ps24"/>
          <p:cNvSpPr/>
          <p:nvPr/>
        </p:nvSpPr>
        <p:spPr>
          <a:xfrm>
            <a:off x="6702552" y="3008376"/>
            <a:ext cx="256032" cy="292608"/>
          </a:xfrm>
          <a:prstGeom prst="rect">
            <a:avLst/>
          </a:prstGeom>
          <a:solidFill>
            <a:schemeClr val="accent1"/>
          </a:solidFill>
          <a:ln w="12700">
            <a:solidFill>
              <a:schemeClr val="accent1"/>
            </a:solidFill>
            <a:prstDash val="solid"/>
          </a:ln>
        </p:spPr>
      </p:sp>
      <p:sp>
        <p:nvSpPr>
          <p:cNvPr id="43" name="ps25"/>
          <p:cNvSpPr/>
          <p:nvPr/>
        </p:nvSpPr>
        <p:spPr>
          <a:xfrm>
            <a:off x="6995160" y="3008376"/>
            <a:ext cx="256032" cy="292608"/>
          </a:xfrm>
          <a:prstGeom prst="rect">
            <a:avLst/>
          </a:prstGeom>
          <a:solidFill>
            <a:schemeClr val="accent1"/>
          </a:solidFill>
          <a:ln w="12700">
            <a:solidFill>
              <a:schemeClr val="accent1"/>
            </a:solidFill>
            <a:prstDash val="solid"/>
          </a:ln>
        </p:spPr>
      </p:sp>
      <p:sp>
        <p:nvSpPr>
          <p:cNvPr id="44" name="ps26"/>
          <p:cNvSpPr/>
          <p:nvPr/>
        </p:nvSpPr>
        <p:spPr>
          <a:xfrm>
            <a:off x="7287768" y="3008376"/>
            <a:ext cx="256032" cy="292608"/>
          </a:xfrm>
          <a:prstGeom prst="rect">
            <a:avLst/>
          </a:prstGeom>
          <a:solidFill>
            <a:schemeClr val="accent1"/>
          </a:solidFill>
          <a:ln w="12700">
            <a:solidFill>
              <a:schemeClr val="accent1"/>
            </a:solidFill>
            <a:prstDash val="solid"/>
          </a:ln>
        </p:spPr>
      </p:sp>
      <p:sp>
        <p:nvSpPr>
          <p:cNvPr id="45" name="ps27"/>
          <p:cNvSpPr/>
          <p:nvPr/>
        </p:nvSpPr>
        <p:spPr>
          <a:xfrm>
            <a:off x="7580376" y="3008376"/>
            <a:ext cx="256032" cy="292608"/>
          </a:xfrm>
          <a:prstGeom prst="rect">
            <a:avLst/>
          </a:prstGeom>
          <a:solidFill>
            <a:schemeClr val="accent1"/>
          </a:solidFill>
          <a:ln w="12700">
            <a:solidFill>
              <a:schemeClr val="accent1"/>
            </a:solidFill>
            <a:prstDash val="solid"/>
          </a:ln>
        </p:spPr>
      </p:sp>
      <p:sp>
        <p:nvSpPr>
          <p:cNvPr id="46" name="ps28"/>
          <p:cNvSpPr/>
          <p:nvPr/>
        </p:nvSpPr>
        <p:spPr>
          <a:xfrm>
            <a:off x="7872984" y="3008376"/>
            <a:ext cx="256032" cy="292608"/>
          </a:xfrm>
          <a:prstGeom prst="rect">
            <a:avLst/>
          </a:prstGeom>
          <a:solidFill>
            <a:schemeClr val="accent1"/>
          </a:solidFill>
          <a:ln w="12700">
            <a:solidFill>
              <a:schemeClr val="accent1"/>
            </a:solidFill>
            <a:prstDash val="solid"/>
          </a:ln>
        </p:spPr>
      </p:sp>
      <p:sp>
        <p:nvSpPr>
          <p:cNvPr id="47" name="ps29"/>
          <p:cNvSpPr/>
          <p:nvPr/>
        </p:nvSpPr>
        <p:spPr>
          <a:xfrm>
            <a:off x="8165592" y="3008376"/>
            <a:ext cx="256032" cy="292608"/>
          </a:xfrm>
          <a:prstGeom prst="rect">
            <a:avLst/>
          </a:prstGeom>
          <a:solidFill>
            <a:schemeClr val="accent1"/>
          </a:solidFill>
          <a:ln w="12700">
            <a:solidFill>
              <a:schemeClr val="accent1"/>
            </a:solidFill>
            <a:prstDash val="solid"/>
          </a:ln>
        </p:spPr>
      </p:sp>
      <p:sp>
        <p:nvSpPr>
          <p:cNvPr id="48" name="Text 43"/>
          <p:cNvSpPr txBox="1"/>
          <p:nvPr/>
        </p:nvSpPr>
        <p:spPr>
          <a:xfrm>
            <a:off x="4846320" y="3520440"/>
            <a:ext cx="3657600" cy="54864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Locks in good columns one by one instead of guessing all 20 genes at once.</a:t>
            </a:r>
            <a:endParaRPr lang="en-US" sz="1200" dirty="0"/>
          </a:p>
        </p:txBody>
      </p:sp>
      <p:sp>
        <p:nvSpPr>
          <p:cNvPr id="49" name="Text 44"/>
          <p:cNvSpPr txBox="1"/>
          <p:nvPr/>
        </p:nvSpPr>
        <p:spPr>
          <a:xfrm>
            <a:off x="4846320" y="4114800"/>
            <a:ext cx="3657600" cy="365760"/>
          </a:xfrm>
          <a:prstGeom prst="rect">
            <a:avLst/>
          </a:prstGeom>
          <a:noFill/>
          <a:ln/>
        </p:spPr>
        <p:txBody>
          <a:bodyPr wrap="square" lIns="0" tIns="0" rIns="0" bIns="0" rtlCol="0" anchor="t"/>
          <a:lstStyle/>
          <a:p>
            <a:pPr indent="0" marL="0">
              <a:buNone/>
            </a:pPr>
            <a:r>
              <a:rPr lang="en-US" sz="1050" b="1" dirty="0">
                <a:solidFill>
                  <a:schemeClr val="accent3"/>
                </a:solidFill>
                <a:latin typeface="Calibri" pitchFamily="34" charset="0"/>
                <a:ea typeface="Calibri" pitchFamily="34" charset="-122"/>
                <a:cs typeface="Calibri" pitchFamily="34" charset="-120"/>
              </a:rPr>
              <a:t>Repo: </a:t>
            </a:r>
            <a:pPr indent="0" marL="0">
              <a:buNone/>
            </a:pPr>
            <a:r>
              <a:rPr lang="en-US" sz="1050" dirty="0">
                <a:solidFill>
                  <a:schemeClr val="accent5"/>
                </a:solidFill>
                <a:latin typeface="Calibri" pitchFamily="34" charset="0"/>
                <a:ea typeface="Calibri" pitchFamily="34" charset="-122"/>
                <a:cs typeface="Calibri" pitchFamily="34" charset="-120"/>
              </a:rPr>
              <a:t>target read as a numeric curve from target_test.csv</a:t>
            </a:r>
            <a:endParaRPr lang="en-US" sz="1050" dirty="0"/>
          </a:p>
        </p:txBody>
      </p:sp>
      <p:sp>
        <p:nvSpPr>
          <p:cNvPr id="50" name="Text 45"/>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2025, Fig. 3 and PEA description [1]; repository PEA_for_reverse_design.py [4]. Column-locking graphic is schematic.</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Wang et al. report: target hit by generation 3</a:t>
            </a:r>
            <a:endParaRPr lang="en-US" sz="2400" dirty="0"/>
          </a:p>
        </p:txBody>
      </p:sp>
      <p:pic>
        <p:nvPicPr>
          <p:cNvPr id="4" name="wr-h" descr="img/wang_h.png">    </p:cNvPr>
          <p:cNvPicPr>
            <a:picLocks noChangeAspect="1"/>
          </p:cNvPicPr>
          <p:nvPr/>
        </p:nvPicPr>
        <p:blipFill>
          <a:blip r:embed="rId1"/>
          <a:stretch>
            <a:fillRect/>
          </a:stretch>
        </p:blipFill>
        <p:spPr>
          <a:xfrm>
            <a:off x="457200" y="1188720"/>
            <a:ext cx="5120640" cy="1362456"/>
          </a:xfrm>
          <a:prstGeom prst="rect">
            <a:avLst/>
          </a:prstGeom>
        </p:spPr>
      </p:pic>
      <p:sp>
        <p:nvSpPr>
          <p:cNvPr id="5" name="Text 2"/>
          <p:cNvSpPr txBox="1"/>
          <p:nvPr/>
        </p:nvSpPr>
        <p:spPr>
          <a:xfrm>
            <a:off x="457200" y="2587752"/>
            <a:ext cx="5120640" cy="228600"/>
          </a:xfrm>
          <a:prstGeom prst="rect">
            <a:avLst/>
          </a:prstGeom>
          <a:noFill/>
          <a:ln/>
        </p:spPr>
        <p:txBody>
          <a:bodyPr wrap="square" lIns="0" tIns="0" rIns="0" bIns="0" rtlCol="0" anchor="t"/>
          <a:lstStyle/>
          <a:p>
            <a:pPr indent="0" marL="0">
              <a:buNone/>
            </a:pPr>
            <a:r>
              <a:rPr lang="en-US" sz="950" i="1" dirty="0">
                <a:solidFill>
                  <a:schemeClr val="accent4"/>
                </a:solidFill>
                <a:latin typeface="Calibri" pitchFamily="34" charset="0"/>
                <a:ea typeface="Calibri" pitchFamily="34" charset="-122"/>
                <a:cs typeface="Calibri" pitchFamily="34" charset="-120"/>
              </a:rPr>
              <a:t>Wang et al.: target (red) vs. optimal shape (blue), generations 0 → 3</a:t>
            </a:r>
            <a:endParaRPr lang="en-US" sz="950" dirty="0"/>
          </a:p>
        </p:txBody>
      </p:sp>
      <p:graphicFrame>
        <p:nvGraphicFramePr>
          <p:cNvPr id="6" name="Chart 0" descr=""/>
          <p:cNvGraphicFramePr/>
          <p:nvPr/>
        </p:nvGraphicFramePr>
        <p:xfrm>
          <a:off x="457200" y="2880360"/>
          <a:ext cx="5120640" cy="1783080"/>
        </p:xfrm>
        <a:graphic xmlns:a="http://schemas.openxmlformats.org/drawingml/2006/main">
          <a:graphicData uri="http://schemas.openxmlformats.org/drawingml/2006/chart">
            <c:chart xmlns:c="http://schemas.openxmlformats.org/drawingml/2006/chart" r:id="rId2"/>
          </a:graphicData>
        </a:graphic>
      </p:graphicFrame>
      <p:sp>
        <p:nvSpPr>
          <p:cNvPr id="7" name="wr-big"/>
          <p:cNvSpPr/>
          <p:nvPr/>
        </p:nvSpPr>
        <p:spPr>
          <a:xfrm>
            <a:off x="5852160" y="1188720"/>
            <a:ext cx="2834640" cy="3429000"/>
          </a:xfrm>
          <a:prstGeom prst="roundRect">
            <a:avLst>
              <a:gd name="adj" fmla="val 2581"/>
            </a:avLst>
          </a:prstGeom>
          <a:solidFill>
            <a:schemeClr val="tx2"/>
          </a:solidFill>
          <a:ln w="12700">
            <a:solidFill>
              <a:schemeClr val="tx2"/>
            </a:solidFill>
            <a:prstDash val="solid"/>
          </a:ln>
        </p:spPr>
      </p:sp>
      <p:sp>
        <p:nvSpPr>
          <p:cNvPr id="8" name="Text 4"/>
          <p:cNvSpPr txBox="1"/>
          <p:nvPr/>
        </p:nvSpPr>
        <p:spPr>
          <a:xfrm>
            <a:off x="5989320" y="1463040"/>
            <a:ext cx="2560320" cy="822960"/>
          </a:xfrm>
          <a:prstGeom prst="rect">
            <a:avLst/>
          </a:prstGeom>
          <a:noFill/>
          <a:ln/>
        </p:spPr>
        <p:txBody>
          <a:bodyPr wrap="square" lIns="0" tIns="0" rIns="0" bIns="0" rtlCol="0" anchor="t"/>
          <a:lstStyle/>
          <a:p>
            <a:pPr algn="ctr" indent="0" marL="0">
              <a:buNone/>
            </a:pPr>
            <a:r>
              <a:rPr lang="en-US" sz="4400" b="1" dirty="0">
                <a:solidFill>
                  <a:schemeClr val="accent3"/>
                </a:solidFill>
                <a:latin typeface="Georgia" pitchFamily="34" charset="0"/>
                <a:ea typeface="Georgia" pitchFamily="34" charset="-122"/>
                <a:cs typeface="Georgia" pitchFamily="34" charset="-120"/>
              </a:rPr>
              <a:t>98.7%</a:t>
            </a:r>
            <a:endParaRPr lang="en-US" sz="4400" dirty="0"/>
          </a:p>
        </p:txBody>
      </p:sp>
      <p:sp>
        <p:nvSpPr>
          <p:cNvPr id="9" name="Text 5"/>
          <p:cNvSpPr txBox="1"/>
          <p:nvPr/>
        </p:nvSpPr>
        <p:spPr>
          <a:xfrm>
            <a:off x="6035040" y="2286000"/>
            <a:ext cx="246888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overall accuracy S with progressive search (DL-PEA)</a:t>
            </a:r>
            <a:endParaRPr lang="en-US" sz="1200" dirty="0"/>
          </a:p>
        </p:txBody>
      </p:sp>
      <p:sp>
        <p:nvSpPr>
          <p:cNvPr id="10" name="wr-l"/>
          <p:cNvSpPr/>
          <p:nvPr/>
        </p:nvSpPr>
        <p:spPr>
          <a:xfrm>
            <a:off x="6309360" y="2834640"/>
            <a:ext cx="1920240" cy="0"/>
          </a:xfrm>
          <a:prstGeom prst="line">
            <a:avLst/>
          </a:prstGeom>
          <a:noFill/>
          <a:ln w="12700">
            <a:solidFill>
              <a:srgbClr val="34466E"/>
            </a:solidFill>
            <a:prstDash val="solid"/>
          </a:ln>
        </p:spPr>
      </p:sp>
      <p:sp>
        <p:nvSpPr>
          <p:cNvPr id="11" name="Text 7"/>
          <p:cNvSpPr txBox="1"/>
          <p:nvPr/>
        </p:nvSpPr>
        <p:spPr>
          <a:xfrm>
            <a:off x="5989320" y="2971800"/>
            <a:ext cx="2560320" cy="502920"/>
          </a:xfrm>
          <a:prstGeom prst="rect">
            <a:avLst/>
          </a:prstGeom>
          <a:noFill/>
          <a:ln/>
        </p:spPr>
        <p:txBody>
          <a:bodyPr wrap="square" lIns="0" tIns="0" rIns="0" bIns="0" rtlCol="0" anchor="t"/>
          <a:lstStyle/>
          <a:p>
            <a:pPr algn="ctr" indent="0" marL="0">
              <a:buNone/>
            </a:pPr>
            <a:r>
              <a:rPr lang="en-US" sz="2400" b="1" dirty="0">
                <a:solidFill>
                  <a:schemeClr val="accent5"/>
                </a:solidFill>
                <a:latin typeface="Georgia" pitchFamily="34" charset="0"/>
                <a:ea typeface="Georgia" pitchFamily="34" charset="-122"/>
                <a:cs typeface="Georgia" pitchFamily="34" charset="-120"/>
              </a:rPr>
              <a:t>vs 87.65%</a:t>
            </a:r>
            <a:endParaRPr lang="en-US" sz="2400" dirty="0"/>
          </a:p>
        </p:txBody>
      </p:sp>
      <p:sp>
        <p:nvSpPr>
          <p:cNvPr id="12" name="Text 8"/>
          <p:cNvSpPr txBox="1"/>
          <p:nvPr/>
        </p:nvSpPr>
        <p:spPr>
          <a:xfrm>
            <a:off x="6035040" y="3474720"/>
            <a:ext cx="2468880" cy="32004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with a standard EA (DL-EA)</a:t>
            </a:r>
            <a:endParaRPr lang="en-US" sz="1200" dirty="0"/>
          </a:p>
        </p:txBody>
      </p:sp>
      <p:sp>
        <p:nvSpPr>
          <p:cNvPr id="13" name="Text 9"/>
          <p:cNvSpPr txBox="1"/>
          <p:nvPr/>
        </p:nvSpPr>
        <p:spPr>
          <a:xfrm>
            <a:off x="6035040" y="3977640"/>
            <a:ext cx="2468880" cy="502920"/>
          </a:xfrm>
          <a:prstGeom prst="rect">
            <a:avLst/>
          </a:prstGeom>
          <a:noFill/>
          <a:ln/>
        </p:spPr>
        <p:txBody>
          <a:bodyPr wrap="square" lIns="0" tIns="0" rIns="0" bIns="0" rtlCol="0" anchor="t"/>
          <a:lstStyle/>
          <a:p>
            <a:pPr algn="ctr" indent="0" marL="0">
              <a:buNone/>
            </a:pPr>
            <a:r>
              <a:rPr lang="en-US" sz="1000" i="1" dirty="0">
                <a:solidFill>
                  <a:schemeClr val="accent3"/>
                </a:solidFill>
                <a:latin typeface="Calibri" pitchFamily="34" charset="0"/>
                <a:ea typeface="Calibri" pitchFamily="34" charset="-122"/>
                <a:cs typeface="Calibri" pitchFamily="34" charset="-120"/>
              </a:rPr>
              <a:t>Reported by Wang et al.; not reproduced in our repo</a:t>
            </a:r>
            <a:endParaRPr lang="en-US" sz="1000" dirty="0"/>
          </a:p>
        </p:txBody>
      </p:sp>
      <p:sp>
        <p:nvSpPr>
          <p:cNvPr id="14" name="Text 10"/>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Wang et al. 2025, PEA results figure, panels h–i [1]. S = overall accuracy in their table of 2,000 reverse designs; exact definition per paper.</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JIN ET AL. (2024)</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Any outline: pad it into a grid</a:t>
            </a:r>
            <a:endParaRPr lang="en-US" sz="2400" dirty="0"/>
          </a:p>
        </p:txBody>
      </p:sp>
      <p:sp>
        <p:nvSpPr>
          <p:cNvPr id="4" name="g00"/>
          <p:cNvSpPr/>
          <p:nvPr/>
        </p:nvSpPr>
        <p:spPr>
          <a:xfrm>
            <a:off x="548640" y="1280160"/>
            <a:ext cx="457200" cy="457200"/>
          </a:xfrm>
          <a:prstGeom prst="rect">
            <a:avLst/>
          </a:prstGeom>
          <a:solidFill>
            <a:schemeClr val="bg2"/>
          </a:solidFill>
          <a:ln w="6350">
            <a:solidFill>
              <a:schemeClr val="accent6"/>
            </a:solidFill>
            <a:prstDash val="solid"/>
          </a:ln>
        </p:spPr>
      </p:sp>
      <p:sp>
        <p:nvSpPr>
          <p:cNvPr id="5" name="Text 3"/>
          <p:cNvSpPr txBox="1"/>
          <p:nvPr/>
        </p:nvSpPr>
        <p:spPr>
          <a:xfrm>
            <a:off x="54864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6" name="g01"/>
          <p:cNvSpPr/>
          <p:nvPr/>
        </p:nvSpPr>
        <p:spPr>
          <a:xfrm>
            <a:off x="1051560" y="1280160"/>
            <a:ext cx="457200" cy="457200"/>
          </a:xfrm>
          <a:prstGeom prst="rect">
            <a:avLst/>
          </a:prstGeom>
          <a:solidFill>
            <a:schemeClr val="bg2"/>
          </a:solidFill>
          <a:ln w="6350">
            <a:solidFill>
              <a:schemeClr val="accent6"/>
            </a:solidFill>
            <a:prstDash val="solid"/>
          </a:ln>
        </p:spPr>
      </p:sp>
      <p:sp>
        <p:nvSpPr>
          <p:cNvPr id="7" name="Text 5"/>
          <p:cNvSpPr txBox="1"/>
          <p:nvPr/>
        </p:nvSpPr>
        <p:spPr>
          <a:xfrm>
            <a:off x="105156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8" name="g02"/>
          <p:cNvSpPr/>
          <p:nvPr/>
        </p:nvSpPr>
        <p:spPr>
          <a:xfrm>
            <a:off x="1554480" y="1280160"/>
            <a:ext cx="457200" cy="457200"/>
          </a:xfrm>
          <a:prstGeom prst="rect">
            <a:avLst/>
          </a:prstGeom>
          <a:solidFill>
            <a:schemeClr val="accent2"/>
          </a:solidFill>
          <a:ln w="6350">
            <a:solidFill>
              <a:schemeClr val="accent6"/>
            </a:solidFill>
            <a:prstDash val="solid"/>
          </a:ln>
        </p:spPr>
      </p:sp>
      <p:sp>
        <p:nvSpPr>
          <p:cNvPr id="9" name="Text 7"/>
          <p:cNvSpPr txBox="1"/>
          <p:nvPr/>
        </p:nvSpPr>
        <p:spPr>
          <a:xfrm>
            <a:off x="1554480" y="12801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0" name="g03"/>
          <p:cNvSpPr/>
          <p:nvPr/>
        </p:nvSpPr>
        <p:spPr>
          <a:xfrm>
            <a:off x="2057400" y="1280160"/>
            <a:ext cx="457200" cy="457200"/>
          </a:xfrm>
          <a:prstGeom prst="rect">
            <a:avLst/>
          </a:prstGeom>
          <a:solidFill>
            <a:schemeClr val="accent2"/>
          </a:solidFill>
          <a:ln w="6350">
            <a:solidFill>
              <a:schemeClr val="accent6"/>
            </a:solidFill>
            <a:prstDash val="solid"/>
          </a:ln>
        </p:spPr>
      </p:sp>
      <p:sp>
        <p:nvSpPr>
          <p:cNvPr id="11" name="Text 9"/>
          <p:cNvSpPr txBox="1"/>
          <p:nvPr/>
        </p:nvSpPr>
        <p:spPr>
          <a:xfrm>
            <a:off x="2057400" y="12801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2" name="g04"/>
          <p:cNvSpPr/>
          <p:nvPr/>
        </p:nvSpPr>
        <p:spPr>
          <a:xfrm>
            <a:off x="2560320" y="1280160"/>
            <a:ext cx="457200" cy="457200"/>
          </a:xfrm>
          <a:prstGeom prst="rect">
            <a:avLst/>
          </a:prstGeom>
          <a:solidFill>
            <a:schemeClr val="bg2"/>
          </a:solidFill>
          <a:ln w="6350">
            <a:solidFill>
              <a:schemeClr val="accent6"/>
            </a:solidFill>
            <a:prstDash val="solid"/>
          </a:ln>
        </p:spPr>
      </p:sp>
      <p:sp>
        <p:nvSpPr>
          <p:cNvPr id="13" name="Text 11"/>
          <p:cNvSpPr txBox="1"/>
          <p:nvPr/>
        </p:nvSpPr>
        <p:spPr>
          <a:xfrm>
            <a:off x="256032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4" name="g05"/>
          <p:cNvSpPr/>
          <p:nvPr/>
        </p:nvSpPr>
        <p:spPr>
          <a:xfrm>
            <a:off x="3063240" y="1280160"/>
            <a:ext cx="457200" cy="457200"/>
          </a:xfrm>
          <a:prstGeom prst="rect">
            <a:avLst/>
          </a:prstGeom>
          <a:solidFill>
            <a:schemeClr val="bg2"/>
          </a:solidFill>
          <a:ln w="6350">
            <a:solidFill>
              <a:schemeClr val="accent6"/>
            </a:solidFill>
            <a:prstDash val="solid"/>
          </a:ln>
        </p:spPr>
      </p:sp>
      <p:sp>
        <p:nvSpPr>
          <p:cNvPr id="15" name="Text 13"/>
          <p:cNvSpPr txBox="1"/>
          <p:nvPr/>
        </p:nvSpPr>
        <p:spPr>
          <a:xfrm>
            <a:off x="3063240" y="128016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6" name="g10"/>
          <p:cNvSpPr/>
          <p:nvPr/>
        </p:nvSpPr>
        <p:spPr>
          <a:xfrm>
            <a:off x="548640" y="1783080"/>
            <a:ext cx="457200" cy="457200"/>
          </a:xfrm>
          <a:prstGeom prst="rect">
            <a:avLst/>
          </a:prstGeom>
          <a:solidFill>
            <a:schemeClr val="bg2"/>
          </a:solidFill>
          <a:ln w="6350">
            <a:solidFill>
              <a:schemeClr val="accent6"/>
            </a:solidFill>
            <a:prstDash val="solid"/>
          </a:ln>
        </p:spPr>
      </p:sp>
      <p:sp>
        <p:nvSpPr>
          <p:cNvPr id="17" name="Text 15"/>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8" name="g11"/>
          <p:cNvSpPr/>
          <p:nvPr/>
        </p:nvSpPr>
        <p:spPr>
          <a:xfrm>
            <a:off x="1051560" y="1783080"/>
            <a:ext cx="457200" cy="457200"/>
          </a:xfrm>
          <a:prstGeom prst="rect">
            <a:avLst/>
          </a:prstGeom>
          <a:solidFill>
            <a:schemeClr val="accent2"/>
          </a:solidFill>
          <a:ln w="6350">
            <a:solidFill>
              <a:schemeClr val="accent6"/>
            </a:solidFill>
            <a:prstDash val="solid"/>
          </a:ln>
        </p:spPr>
      </p:sp>
      <p:sp>
        <p:nvSpPr>
          <p:cNvPr id="19" name="Text 17"/>
          <p:cNvSpPr txBox="1"/>
          <p:nvPr/>
        </p:nvSpPr>
        <p:spPr>
          <a:xfrm>
            <a:off x="105156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0" name="g12"/>
          <p:cNvSpPr/>
          <p:nvPr/>
        </p:nvSpPr>
        <p:spPr>
          <a:xfrm>
            <a:off x="1554480" y="1783080"/>
            <a:ext cx="457200" cy="457200"/>
          </a:xfrm>
          <a:prstGeom prst="rect">
            <a:avLst/>
          </a:prstGeom>
          <a:solidFill>
            <a:schemeClr val="accent1"/>
          </a:solidFill>
          <a:ln w="6350">
            <a:solidFill>
              <a:schemeClr val="accent6"/>
            </a:solidFill>
            <a:prstDash val="solid"/>
          </a:ln>
        </p:spPr>
      </p:sp>
      <p:sp>
        <p:nvSpPr>
          <p:cNvPr id="21" name="Text 19"/>
          <p:cNvSpPr txBox="1"/>
          <p:nvPr/>
        </p:nvSpPr>
        <p:spPr>
          <a:xfrm>
            <a:off x="155448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2" name="g13"/>
          <p:cNvSpPr/>
          <p:nvPr/>
        </p:nvSpPr>
        <p:spPr>
          <a:xfrm>
            <a:off x="2057400" y="1783080"/>
            <a:ext cx="457200" cy="457200"/>
          </a:xfrm>
          <a:prstGeom prst="rect">
            <a:avLst/>
          </a:prstGeom>
          <a:solidFill>
            <a:schemeClr val="accent1"/>
          </a:solidFill>
          <a:ln w="6350">
            <a:solidFill>
              <a:schemeClr val="accent6"/>
            </a:solidFill>
            <a:prstDash val="solid"/>
          </a:ln>
        </p:spPr>
      </p:sp>
      <p:sp>
        <p:nvSpPr>
          <p:cNvPr id="23" name="Text 21"/>
          <p:cNvSpPr txBox="1"/>
          <p:nvPr/>
        </p:nvSpPr>
        <p:spPr>
          <a:xfrm>
            <a:off x="205740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4" name="g14"/>
          <p:cNvSpPr/>
          <p:nvPr/>
        </p:nvSpPr>
        <p:spPr>
          <a:xfrm>
            <a:off x="2560320" y="1783080"/>
            <a:ext cx="457200" cy="457200"/>
          </a:xfrm>
          <a:prstGeom prst="rect">
            <a:avLst/>
          </a:prstGeom>
          <a:solidFill>
            <a:schemeClr val="accent2"/>
          </a:solidFill>
          <a:ln w="6350">
            <a:solidFill>
              <a:schemeClr val="accent6"/>
            </a:solidFill>
            <a:prstDash val="solid"/>
          </a:ln>
        </p:spPr>
      </p:sp>
      <p:sp>
        <p:nvSpPr>
          <p:cNvPr id="25" name="Text 23"/>
          <p:cNvSpPr txBox="1"/>
          <p:nvPr/>
        </p:nvSpPr>
        <p:spPr>
          <a:xfrm>
            <a:off x="2560320" y="17830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6" name="g15"/>
          <p:cNvSpPr/>
          <p:nvPr/>
        </p:nvSpPr>
        <p:spPr>
          <a:xfrm>
            <a:off x="3063240" y="1783080"/>
            <a:ext cx="457200" cy="457200"/>
          </a:xfrm>
          <a:prstGeom prst="rect">
            <a:avLst/>
          </a:prstGeom>
          <a:solidFill>
            <a:schemeClr val="bg2"/>
          </a:solidFill>
          <a:ln w="6350">
            <a:solidFill>
              <a:schemeClr val="accent6"/>
            </a:solidFill>
            <a:prstDash val="solid"/>
          </a:ln>
        </p:spPr>
      </p:sp>
      <p:sp>
        <p:nvSpPr>
          <p:cNvPr id="27" name="Text 25"/>
          <p:cNvSpPr txBox="1"/>
          <p:nvPr/>
        </p:nvSpPr>
        <p:spPr>
          <a:xfrm>
            <a:off x="3063240" y="178308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28" name="g20"/>
          <p:cNvSpPr/>
          <p:nvPr/>
        </p:nvSpPr>
        <p:spPr>
          <a:xfrm>
            <a:off x="548640" y="2286000"/>
            <a:ext cx="457200" cy="457200"/>
          </a:xfrm>
          <a:prstGeom prst="rect">
            <a:avLst/>
          </a:prstGeom>
          <a:solidFill>
            <a:schemeClr val="accent2"/>
          </a:solidFill>
          <a:ln w="6350">
            <a:solidFill>
              <a:schemeClr val="accent6"/>
            </a:solidFill>
            <a:prstDash val="solid"/>
          </a:ln>
        </p:spPr>
      </p:sp>
      <p:sp>
        <p:nvSpPr>
          <p:cNvPr id="29" name="Text 27"/>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30" name="g21"/>
          <p:cNvSpPr/>
          <p:nvPr/>
        </p:nvSpPr>
        <p:spPr>
          <a:xfrm>
            <a:off x="1051560" y="2286000"/>
            <a:ext cx="457200" cy="457200"/>
          </a:xfrm>
          <a:prstGeom prst="rect">
            <a:avLst/>
          </a:prstGeom>
          <a:solidFill>
            <a:schemeClr val="accent1"/>
          </a:solidFill>
          <a:ln w="6350">
            <a:solidFill>
              <a:schemeClr val="accent6"/>
            </a:solidFill>
            <a:prstDash val="solid"/>
          </a:ln>
        </p:spPr>
      </p:sp>
      <p:sp>
        <p:nvSpPr>
          <p:cNvPr id="31" name="Text 29"/>
          <p:cNvSpPr txBox="1"/>
          <p:nvPr/>
        </p:nvSpPr>
        <p:spPr>
          <a:xfrm>
            <a:off x="105156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2" name="g22"/>
          <p:cNvSpPr/>
          <p:nvPr/>
        </p:nvSpPr>
        <p:spPr>
          <a:xfrm>
            <a:off x="1554480" y="2286000"/>
            <a:ext cx="457200" cy="457200"/>
          </a:xfrm>
          <a:prstGeom prst="rect">
            <a:avLst/>
          </a:prstGeom>
          <a:solidFill>
            <a:schemeClr val="accent1"/>
          </a:solidFill>
          <a:ln w="6350">
            <a:solidFill>
              <a:schemeClr val="accent6"/>
            </a:solidFill>
            <a:prstDash val="solid"/>
          </a:ln>
        </p:spPr>
      </p:sp>
      <p:sp>
        <p:nvSpPr>
          <p:cNvPr id="33" name="Text 31"/>
          <p:cNvSpPr txBox="1"/>
          <p:nvPr/>
        </p:nvSpPr>
        <p:spPr>
          <a:xfrm>
            <a:off x="155448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4" name="g23"/>
          <p:cNvSpPr/>
          <p:nvPr/>
        </p:nvSpPr>
        <p:spPr>
          <a:xfrm>
            <a:off x="2057400" y="2286000"/>
            <a:ext cx="457200" cy="457200"/>
          </a:xfrm>
          <a:prstGeom prst="rect">
            <a:avLst/>
          </a:prstGeom>
          <a:solidFill>
            <a:schemeClr val="accent2"/>
          </a:solidFill>
          <a:ln w="6350">
            <a:solidFill>
              <a:schemeClr val="accent6"/>
            </a:solidFill>
            <a:prstDash val="solid"/>
          </a:ln>
        </p:spPr>
      </p:sp>
      <p:sp>
        <p:nvSpPr>
          <p:cNvPr id="35" name="Text 33"/>
          <p:cNvSpPr txBox="1"/>
          <p:nvPr/>
        </p:nvSpPr>
        <p:spPr>
          <a:xfrm>
            <a:off x="205740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36" name="g24"/>
          <p:cNvSpPr/>
          <p:nvPr/>
        </p:nvSpPr>
        <p:spPr>
          <a:xfrm>
            <a:off x="2560320" y="2286000"/>
            <a:ext cx="457200" cy="457200"/>
          </a:xfrm>
          <a:prstGeom prst="rect">
            <a:avLst/>
          </a:prstGeom>
          <a:solidFill>
            <a:schemeClr val="accent1"/>
          </a:solidFill>
          <a:ln w="6350">
            <a:solidFill>
              <a:schemeClr val="accent6"/>
            </a:solidFill>
            <a:prstDash val="solid"/>
          </a:ln>
        </p:spPr>
      </p:sp>
      <p:sp>
        <p:nvSpPr>
          <p:cNvPr id="37" name="Text 35"/>
          <p:cNvSpPr txBox="1"/>
          <p:nvPr/>
        </p:nvSpPr>
        <p:spPr>
          <a:xfrm>
            <a:off x="256032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8" name="g25"/>
          <p:cNvSpPr/>
          <p:nvPr/>
        </p:nvSpPr>
        <p:spPr>
          <a:xfrm>
            <a:off x="3063240" y="2286000"/>
            <a:ext cx="457200" cy="457200"/>
          </a:xfrm>
          <a:prstGeom prst="rect">
            <a:avLst/>
          </a:prstGeom>
          <a:solidFill>
            <a:schemeClr val="accent2"/>
          </a:solidFill>
          <a:ln w="6350">
            <a:solidFill>
              <a:schemeClr val="accent6"/>
            </a:solidFill>
            <a:prstDash val="solid"/>
          </a:ln>
        </p:spPr>
      </p:sp>
      <p:sp>
        <p:nvSpPr>
          <p:cNvPr id="39" name="Text 37"/>
          <p:cNvSpPr txBox="1"/>
          <p:nvPr/>
        </p:nvSpPr>
        <p:spPr>
          <a:xfrm>
            <a:off x="3063240" y="22860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0" name="g30"/>
          <p:cNvSpPr/>
          <p:nvPr/>
        </p:nvSpPr>
        <p:spPr>
          <a:xfrm>
            <a:off x="548640" y="2788920"/>
            <a:ext cx="457200" cy="457200"/>
          </a:xfrm>
          <a:prstGeom prst="rect">
            <a:avLst/>
          </a:prstGeom>
          <a:solidFill>
            <a:schemeClr val="bg2"/>
          </a:solidFill>
          <a:ln w="6350">
            <a:solidFill>
              <a:schemeClr val="accent6"/>
            </a:solidFill>
            <a:prstDash val="solid"/>
          </a:ln>
        </p:spPr>
      </p:sp>
      <p:sp>
        <p:nvSpPr>
          <p:cNvPr id="41" name="Text 39"/>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42" name="g31"/>
          <p:cNvSpPr/>
          <p:nvPr/>
        </p:nvSpPr>
        <p:spPr>
          <a:xfrm>
            <a:off x="1051560" y="2788920"/>
            <a:ext cx="457200" cy="457200"/>
          </a:xfrm>
          <a:prstGeom prst="rect">
            <a:avLst/>
          </a:prstGeom>
          <a:solidFill>
            <a:schemeClr val="accent1"/>
          </a:solidFill>
          <a:ln w="6350">
            <a:solidFill>
              <a:schemeClr val="accent6"/>
            </a:solidFill>
            <a:prstDash val="solid"/>
          </a:ln>
        </p:spPr>
      </p:sp>
      <p:sp>
        <p:nvSpPr>
          <p:cNvPr id="43" name="Text 41"/>
          <p:cNvSpPr txBox="1"/>
          <p:nvPr/>
        </p:nvSpPr>
        <p:spPr>
          <a:xfrm>
            <a:off x="105156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44" name="g32"/>
          <p:cNvSpPr/>
          <p:nvPr/>
        </p:nvSpPr>
        <p:spPr>
          <a:xfrm>
            <a:off x="1554480" y="2788920"/>
            <a:ext cx="457200" cy="457200"/>
          </a:xfrm>
          <a:prstGeom prst="rect">
            <a:avLst/>
          </a:prstGeom>
          <a:solidFill>
            <a:schemeClr val="accent2"/>
          </a:solidFill>
          <a:ln w="6350">
            <a:solidFill>
              <a:schemeClr val="accent6"/>
            </a:solidFill>
            <a:prstDash val="solid"/>
          </a:ln>
        </p:spPr>
      </p:sp>
      <p:sp>
        <p:nvSpPr>
          <p:cNvPr id="45" name="Text 43"/>
          <p:cNvSpPr txBox="1"/>
          <p:nvPr/>
        </p:nvSpPr>
        <p:spPr>
          <a:xfrm>
            <a:off x="155448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6" name="g33"/>
          <p:cNvSpPr/>
          <p:nvPr/>
        </p:nvSpPr>
        <p:spPr>
          <a:xfrm>
            <a:off x="2057400" y="2788920"/>
            <a:ext cx="457200" cy="457200"/>
          </a:xfrm>
          <a:prstGeom prst="rect">
            <a:avLst/>
          </a:prstGeom>
          <a:solidFill>
            <a:schemeClr val="accent2"/>
          </a:solidFill>
          <a:ln w="6350">
            <a:solidFill>
              <a:schemeClr val="accent6"/>
            </a:solidFill>
            <a:prstDash val="solid"/>
          </a:ln>
        </p:spPr>
      </p:sp>
      <p:sp>
        <p:nvSpPr>
          <p:cNvPr id="47" name="Text 45"/>
          <p:cNvSpPr txBox="1"/>
          <p:nvPr/>
        </p:nvSpPr>
        <p:spPr>
          <a:xfrm>
            <a:off x="205740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8" name="g34"/>
          <p:cNvSpPr/>
          <p:nvPr/>
        </p:nvSpPr>
        <p:spPr>
          <a:xfrm>
            <a:off x="2560320" y="2788920"/>
            <a:ext cx="457200" cy="457200"/>
          </a:xfrm>
          <a:prstGeom prst="rect">
            <a:avLst/>
          </a:prstGeom>
          <a:solidFill>
            <a:schemeClr val="accent1"/>
          </a:solidFill>
          <a:ln w="6350">
            <a:solidFill>
              <a:schemeClr val="accent6"/>
            </a:solidFill>
            <a:prstDash val="solid"/>
          </a:ln>
        </p:spPr>
      </p:sp>
      <p:sp>
        <p:nvSpPr>
          <p:cNvPr id="49" name="Text 47"/>
          <p:cNvSpPr txBox="1"/>
          <p:nvPr/>
        </p:nvSpPr>
        <p:spPr>
          <a:xfrm>
            <a:off x="2560320" y="2788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50" name="g35"/>
          <p:cNvSpPr/>
          <p:nvPr/>
        </p:nvSpPr>
        <p:spPr>
          <a:xfrm>
            <a:off x="3063240" y="2788920"/>
            <a:ext cx="457200" cy="457200"/>
          </a:xfrm>
          <a:prstGeom prst="rect">
            <a:avLst/>
          </a:prstGeom>
          <a:solidFill>
            <a:schemeClr val="bg2"/>
          </a:solidFill>
          <a:ln w="6350">
            <a:solidFill>
              <a:schemeClr val="accent6"/>
            </a:solidFill>
            <a:prstDash val="solid"/>
          </a:ln>
        </p:spPr>
      </p:sp>
      <p:sp>
        <p:nvSpPr>
          <p:cNvPr id="51" name="Text 49"/>
          <p:cNvSpPr txBox="1"/>
          <p:nvPr/>
        </p:nvSpPr>
        <p:spPr>
          <a:xfrm>
            <a:off x="3063240" y="2788920"/>
            <a:ext cx="457200" cy="457200"/>
          </a:xfrm>
          <a:prstGeom prst="rect">
            <a:avLst/>
          </a:prstGeom>
          <a:no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52" name="Text 50"/>
          <p:cNvSpPr txBox="1"/>
          <p:nvPr/>
        </p:nvSpPr>
        <p:spPr>
          <a:xfrm>
            <a:off x="457200" y="3383280"/>
            <a:ext cx="3566160" cy="274320"/>
          </a:xfrm>
          <a:prstGeom prst="rect">
            <a:avLst/>
          </a:prstGeom>
          <a:noFill/>
          <a:ln/>
        </p:spPr>
        <p:txBody>
          <a:bodyPr wrap="square" lIns="0" tIns="0" rIns="0" bIns="0" rtlCol="0" anchor="t"/>
          <a:lstStyle/>
          <a:p>
            <a:pPr indent="0" marL="0">
              <a:buNone/>
            </a:pPr>
            <a:r>
              <a:rPr lang="en-US" sz="1100" b="1" dirty="0">
                <a:solidFill>
                  <a:schemeClr val="accent4"/>
                </a:solidFill>
                <a:latin typeface="Calibri" pitchFamily="34" charset="0"/>
                <a:ea typeface="Calibri" pitchFamily="34" charset="-122"/>
                <a:cs typeface="Calibri" pitchFamily="34" charset="-120"/>
              </a:rPr>
              <a:t>0 </a:t>
            </a:r>
            <a:pPr indent="0" marL="0">
              <a:buNone/>
            </a:pPr>
            <a:r>
              <a:rPr lang="en-US" sz="1100" dirty="0">
                <a:solidFill>
                  <a:schemeClr val="tx2"/>
                </a:solidFill>
                <a:latin typeface="Calibri" pitchFamily="34" charset="0"/>
                <a:ea typeface="Calibri" pitchFamily="34" charset="-122"/>
                <a:cs typeface="Calibri" pitchFamily="34" charset="-120"/>
              </a:rPr>
              <a:t>empty   </a:t>
            </a:r>
            <a:pPr indent="0" marL="0">
              <a:buNone/>
            </a:pPr>
            <a:r>
              <a:rPr lang="en-US" sz="1100" b="1" dirty="0">
                <a:solidFill>
                  <a:schemeClr val="accent1"/>
                </a:solidFill>
                <a:latin typeface="Calibri" pitchFamily="34" charset="0"/>
                <a:ea typeface="Calibri" pitchFamily="34" charset="-122"/>
                <a:cs typeface="Calibri" pitchFamily="34" charset="-120"/>
              </a:rPr>
              <a:t>1 </a:t>
            </a:r>
            <a:pPr indent="0" marL="0">
              <a:buNone/>
            </a:pPr>
            <a:r>
              <a:rPr lang="en-US" sz="1100" dirty="0">
                <a:solidFill>
                  <a:schemeClr val="tx2"/>
                </a:solidFill>
                <a:latin typeface="Calibri" pitchFamily="34" charset="0"/>
                <a:ea typeface="Calibri" pitchFamily="34" charset="-122"/>
                <a:cs typeface="Calibri" pitchFamily="34" charset="-120"/>
              </a:rPr>
              <a:t>passive (TPU)   </a:t>
            </a:r>
            <a:pPr indent="0" marL="0">
              <a:buNone/>
            </a:pPr>
            <a:r>
              <a:rPr lang="en-US" sz="1100" b="1" dirty="0">
                <a:solidFill>
                  <a:schemeClr val="accent2"/>
                </a:solidFill>
                <a:latin typeface="Calibri" pitchFamily="34" charset="0"/>
                <a:ea typeface="Calibri" pitchFamily="34" charset="-122"/>
                <a:cs typeface="Calibri" pitchFamily="34" charset="-120"/>
              </a:rPr>
              <a:t>2 </a:t>
            </a:r>
            <a:pPr indent="0" marL="0">
              <a:buNone/>
            </a:pPr>
            <a:r>
              <a:rPr lang="en-US" sz="1100" dirty="0">
                <a:solidFill>
                  <a:schemeClr val="tx2"/>
                </a:solidFill>
                <a:latin typeface="Calibri" pitchFamily="34" charset="0"/>
                <a:ea typeface="Calibri" pitchFamily="34" charset="-122"/>
                <a:cs typeface="Calibri" pitchFamily="34" charset="-120"/>
              </a:rPr>
              <a:t>active (SMP)</a:t>
            </a:r>
            <a:endParaRPr lang="en-US" sz="1100" dirty="0"/>
          </a:p>
        </p:txBody>
      </p:sp>
      <p:sp>
        <p:nvSpPr>
          <p:cNvPr id="53" name="Text 51"/>
          <p:cNvSpPr txBox="1"/>
          <p:nvPr/>
        </p:nvSpPr>
        <p:spPr>
          <a:xfrm>
            <a:off x="457200" y="3794760"/>
            <a:ext cx="3566160" cy="54864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Grid → ResNet (5 residual blocks) → predicted deformation</a:t>
            </a:r>
            <a:endParaRPr lang="en-US" sz="1200" dirty="0"/>
          </a:p>
        </p:txBody>
      </p:sp>
      <p:sp>
        <p:nvSpPr>
          <p:cNvPr id="54" name="Text 52"/>
          <p:cNvSpPr txBox="1"/>
          <p:nvPr/>
        </p:nvSpPr>
        <p:spPr>
          <a:xfrm>
            <a:off x="457200" y="4389120"/>
            <a:ext cx="3566160" cy="201168"/>
          </a:xfrm>
          <a:prstGeom prst="rect">
            <a:avLst/>
          </a:prstGeom>
          <a:noFill/>
          <a:ln/>
        </p:spPr>
        <p:txBody>
          <a:bodyPr wrap="square" lIns="0" tIns="0" rIns="0" bIns="0" rtlCol="0" anchor="t"/>
          <a:lstStyle/>
          <a:p>
            <a:pPr indent="0" marL="0">
              <a:buNone/>
            </a:pPr>
            <a:r>
              <a:rPr lang="en-US" sz="900" i="1" dirty="0">
                <a:solidFill>
                  <a:schemeClr val="accent4"/>
                </a:solidFill>
                <a:latin typeface="Calibri" pitchFamily="34" charset="0"/>
                <a:ea typeface="Calibri" pitchFamily="34" charset="-122"/>
                <a:cs typeface="Calibri" pitchFamily="34" charset="-120"/>
              </a:rPr>
              <a:t>Illustrative grid</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297680" y="1234440"/>
          <a:ext cx="4389120" cy="914400"/>
        </p:xfrm>
        <a:graphic>
          <a:graphicData uri="http://schemas.openxmlformats.org/drawingml/2006/table">
            <a:tbl>
              <a:tblPr/>
              <a:tblGrid>
                <a:gridCol w="1188720"/>
                <a:gridCol w="3200400"/>
              </a:tblGrid>
              <a:tr h="38404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Search step</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Jin et al. setting</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5,000 random layouts</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RMSE: predicted vs. target coordinates</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Keep</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top 10% (elites)</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Mix</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70% two-point column crossover</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Mutate</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20% random column flip (1 ↔ 2)</a:t>
                      </a:r>
                      <a:endParaRPr lang="en-US" sz="1200" dirty="0">
                        <a:latin typeface="Calibri" charset="0"/>
                        <a:ea typeface="Calibri" charset="0"/>
                        <a:cs typeface="Calibri" charset="0"/>
                      </a:endParaRPr>
                    </a:p>
                  </a:txBody>
                  <a:tcPr marL="91440" marR="91440"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r>
            </a:tbl>
          </a:graphicData>
        </a:graphic>
      </p:graphicFrame>
      <p:sp>
        <p:nvSpPr>
          <p:cNvPr id="56" name="jin-why"/>
          <p:cNvSpPr/>
          <p:nvPr/>
        </p:nvSpPr>
        <p:spPr>
          <a:xfrm>
            <a:off x="4297680" y="3749040"/>
            <a:ext cx="4389120" cy="868680"/>
          </a:xfrm>
          <a:prstGeom prst="roundRect">
            <a:avLst>
              <a:gd name="adj" fmla="val 8421"/>
            </a:avLst>
          </a:prstGeom>
          <a:solidFill>
            <a:schemeClr val="bg2"/>
          </a:solidFill>
          <a:ln w="12700">
            <a:solidFill>
              <a:schemeClr val="bg2"/>
            </a:solidFill>
            <a:prstDash val="solid"/>
          </a:ln>
        </p:spPr>
      </p:sp>
      <p:sp>
        <p:nvSpPr>
          <p:cNvPr id="57" name="Text 54"/>
          <p:cNvSpPr txBox="1"/>
          <p:nvPr/>
        </p:nvSpPr>
        <p:spPr>
          <a:xfrm>
            <a:off x="4480560" y="3749040"/>
            <a:ext cx="4023360" cy="868680"/>
          </a:xfrm>
          <a:prstGeom prst="rect">
            <a:avLst/>
          </a:prstGeom>
          <a:noFill/>
          <a:ln/>
        </p:spPr>
        <p:txBody>
          <a:bodyPr wrap="square" lIns="0" tIns="0" rIns="0" bIns="0" rtlCol="0" anchor="ctr"/>
          <a:lstStyle/>
          <a:p>
            <a:pPr indent="0" marL="0">
              <a:buNone/>
            </a:pPr>
            <a:r>
              <a:rPr lang="en-US" sz="1250" b="1" dirty="0">
                <a:solidFill>
                  <a:schemeClr val="tx2"/>
                </a:solidFill>
                <a:latin typeface="Calibri" pitchFamily="34" charset="0"/>
                <a:ea typeface="Calibri" pitchFamily="34" charset="-122"/>
                <a:cs typeface="Calibri" pitchFamily="34" charset="-120"/>
              </a:rPr>
              <a:t>Why it matters: </a:t>
            </a:r>
            <a:pPr indent="0" marL="0">
              <a:buNone/>
            </a:pPr>
            <a:r>
              <a:rPr lang="en-US" sz="1250" dirty="0">
                <a:solidFill>
                  <a:schemeClr val="tx1"/>
                </a:solidFill>
                <a:latin typeface="Calibri" pitchFamily="34" charset="0"/>
                <a:ea typeface="Calibri" pitchFamily="34" charset="-122"/>
                <a:cs typeface="Calibri" pitchFamily="34" charset="-120"/>
              </a:rPr>
              <a:t>padding turns irregular shapes into fixed-size inputs a CNN can read.</a:t>
            </a:r>
            <a:endParaRPr lang="en-US" sz="1250" dirty="0"/>
          </a:p>
        </p:txBody>
      </p:sp>
      <p:sp>
        <p:nvSpPr>
          <p:cNvPr id="58" name="Text 55"/>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Jin et al., Appl. Mater. Today 40, 102373 (2024), Secs. 2–4 [2].</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JIN ET AL. (2024)</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Result: curves matched, and a printed hand</a:t>
            </a:r>
            <a:endParaRPr lang="en-US" sz="2400" dirty="0"/>
          </a:p>
        </p:txBody>
      </p:sp>
      <p:pic>
        <p:nvPicPr>
          <p:cNvPr id="4" name="j6a" descr="img/jin_fig6a.png">    </p:cNvPr>
          <p:cNvPicPr>
            <a:picLocks noChangeAspect="1"/>
          </p:cNvPicPr>
          <p:nvPr/>
        </p:nvPicPr>
        <p:blipFill>
          <a:blip r:embed="rId1"/>
          <a:stretch>
            <a:fillRect/>
          </a:stretch>
        </p:blipFill>
        <p:spPr>
          <a:xfrm>
            <a:off x="457200" y="1143000"/>
            <a:ext cx="3840480" cy="1463040"/>
          </a:xfrm>
          <a:prstGeom prst="rect">
            <a:avLst/>
          </a:prstGeom>
        </p:spPr>
      </p:pic>
      <p:pic>
        <p:nvPicPr>
          <p:cNvPr id="5" name="j6c" descr="img/jin_fig6c.png">    </p:cNvPr>
          <p:cNvPicPr>
            <a:picLocks noChangeAspect="1"/>
          </p:cNvPicPr>
          <p:nvPr/>
        </p:nvPicPr>
        <p:blipFill>
          <a:blip r:embed="rId2"/>
          <a:stretch>
            <a:fillRect/>
          </a:stretch>
        </p:blipFill>
        <p:spPr>
          <a:xfrm>
            <a:off x="457200" y="2743200"/>
            <a:ext cx="2148840" cy="1636776"/>
          </a:xfrm>
          <a:prstGeom prst="rect">
            <a:avLst/>
          </a:prstGeom>
        </p:spPr>
      </p:pic>
      <p:pic>
        <p:nvPicPr>
          <p:cNvPr id="6" name="j6d" descr="img/jin_fig6d.png">    </p:cNvPr>
          <p:cNvPicPr>
            <a:picLocks noChangeAspect="1"/>
          </p:cNvPicPr>
          <p:nvPr/>
        </p:nvPicPr>
        <p:blipFill>
          <a:blip r:embed="rId3"/>
          <a:stretch>
            <a:fillRect/>
          </a:stretch>
        </p:blipFill>
        <p:spPr>
          <a:xfrm>
            <a:off x="2743200" y="2743200"/>
            <a:ext cx="2194560" cy="1636776"/>
          </a:xfrm>
          <a:prstGeom prst="rect">
            <a:avLst/>
          </a:prstGeom>
        </p:spPr>
      </p:pic>
      <p:sp>
        <p:nvSpPr>
          <p:cNvPr id="7" name="Text 2"/>
          <p:cNvSpPr txBox="1"/>
          <p:nvPr/>
        </p:nvSpPr>
        <p:spPr>
          <a:xfrm>
            <a:off x="457200" y="4434840"/>
            <a:ext cx="4572000" cy="228600"/>
          </a:xfrm>
          <a:prstGeom prst="rect">
            <a:avLst/>
          </a:prstGeom>
          <a:noFill/>
          <a:ln/>
        </p:spPr>
        <p:txBody>
          <a:bodyPr wrap="square" lIns="0" tIns="0" rIns="0" bIns="0" rtlCol="0" anchor="t"/>
          <a:lstStyle/>
          <a:p>
            <a:pPr indent="0" marL="0">
              <a:buNone/>
            </a:pPr>
            <a:r>
              <a:rPr lang="en-US" sz="900" i="1" dirty="0">
                <a:solidFill>
                  <a:schemeClr val="accent4"/>
                </a:solidFill>
                <a:latin typeface="Calibri" pitchFamily="34" charset="0"/>
                <a:ea typeface="Calibri" pitchFamily="34" charset="-122"/>
                <a:cs typeface="Calibri" pitchFamily="34" charset="-120"/>
              </a:rPr>
              <a:t>Fig. 6: (a) optimised layout &amp; FE result · (c) error vs. generation · (d) target vs. optimised</a:t>
            </a:r>
            <a:endParaRPr lang="en-US" sz="900" dirty="0"/>
          </a:p>
        </p:txBody>
      </p:sp>
      <p:sp>
        <p:nvSpPr>
          <p:cNvPr id="8" name="jr1"/>
          <p:cNvSpPr/>
          <p:nvPr/>
        </p:nvSpPr>
        <p:spPr>
          <a:xfrm>
            <a:off x="5257800" y="1188720"/>
            <a:ext cx="3429000" cy="1325880"/>
          </a:xfrm>
          <a:prstGeom prst="roundRect">
            <a:avLst>
              <a:gd name="adj" fmla="val 5517"/>
            </a:avLst>
          </a:prstGeom>
          <a:solidFill>
            <a:schemeClr val="bg2"/>
          </a:solidFill>
          <a:ln w="12700">
            <a:solidFill>
              <a:schemeClr val="bg2"/>
            </a:solidFill>
            <a:prstDash val="solid"/>
          </a:ln>
        </p:spPr>
      </p:sp>
      <p:sp>
        <p:nvSpPr>
          <p:cNvPr id="9" name="Text 4"/>
          <p:cNvSpPr txBox="1"/>
          <p:nvPr/>
        </p:nvSpPr>
        <p:spPr>
          <a:xfrm>
            <a:off x="5440680" y="1280160"/>
            <a:ext cx="3108960" cy="548640"/>
          </a:xfrm>
          <a:prstGeom prst="rect">
            <a:avLst/>
          </a:prstGeom>
          <a:noFill/>
          <a:ln/>
        </p:spPr>
        <p:txBody>
          <a:bodyPr wrap="square" lIns="0" tIns="0" rIns="0" bIns="0" rtlCol="0" anchor="t"/>
          <a:lstStyle/>
          <a:p>
            <a:pPr indent="0" marL="0">
              <a:buNone/>
            </a:pPr>
            <a:r>
              <a:rPr lang="en-US" sz="2600" b="1" dirty="0">
                <a:solidFill>
                  <a:schemeClr val="accent1"/>
                </a:solidFill>
                <a:latin typeface="Georgia" pitchFamily="34" charset="0"/>
                <a:ea typeface="Georgia" pitchFamily="34" charset="-122"/>
                <a:cs typeface="Georgia" pitchFamily="34" charset="-120"/>
              </a:rPr>
              <a:t>3.7 → 1.8 mm</a:t>
            </a:r>
            <a:endParaRPr lang="en-US" sz="2600" dirty="0"/>
          </a:p>
        </p:txBody>
      </p:sp>
      <p:sp>
        <p:nvSpPr>
          <p:cNvPr id="10" name="Text 5"/>
          <p:cNvSpPr txBox="1"/>
          <p:nvPr/>
        </p:nvSpPr>
        <p:spPr>
          <a:xfrm>
            <a:off x="5440680" y="1874520"/>
            <a:ext cx="310896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best RMSE over 200 generations (read from Fig. 6c)</a:t>
            </a:r>
            <a:endParaRPr lang="en-US" sz="1200" dirty="0"/>
          </a:p>
        </p:txBody>
      </p:sp>
      <p:sp>
        <p:nvSpPr>
          <p:cNvPr id="11" name="jr2"/>
          <p:cNvSpPr/>
          <p:nvPr/>
        </p:nvSpPr>
        <p:spPr>
          <a:xfrm>
            <a:off x="5257800" y="2697480"/>
            <a:ext cx="3429000" cy="1920240"/>
          </a:xfrm>
          <a:prstGeom prst="roundRect">
            <a:avLst>
              <a:gd name="adj" fmla="val 3810"/>
            </a:avLst>
          </a:prstGeom>
          <a:solidFill>
            <a:schemeClr val="tx2"/>
          </a:solidFill>
          <a:ln w="12700">
            <a:solidFill>
              <a:schemeClr val="tx2"/>
            </a:solidFill>
            <a:prstDash val="solid"/>
          </a:ln>
        </p:spPr>
      </p:sp>
      <p:sp>
        <p:nvSpPr>
          <p:cNvPr id="12" name="jrh-c"/>
          <p:cNvSpPr/>
          <p:nvPr/>
        </p:nvSpPr>
        <p:spPr>
          <a:xfrm>
            <a:off x="5440680" y="2834640"/>
            <a:ext cx="548640" cy="548640"/>
          </a:xfrm>
          <a:prstGeom prst="ellipse">
            <a:avLst/>
          </a:prstGeom>
          <a:solidFill>
            <a:schemeClr val="accent2"/>
          </a:solidFill>
          <a:ln w="12700">
            <a:solidFill>
              <a:schemeClr val="accent2"/>
            </a:solidFill>
            <a:prstDash val="solid"/>
          </a:ln>
        </p:spPr>
      </p:sp>
      <p:pic>
        <p:nvPicPr>
          <p:cNvPr id="13" name="jrh-i" descr="preencoded.png">    </p:cNvPr>
          <p:cNvPicPr>
            <a:picLocks noChangeAspect="1"/>
          </p:cNvPicPr>
          <p:nvPr/>
        </p:nvPicPr>
        <p:blipFill>
          <a:blip r:embed="rId4"/>
          <a:stretch>
            <a:fillRect/>
          </a:stretch>
        </p:blipFill>
        <p:spPr>
          <a:xfrm>
            <a:off x="5583326" y="2977286"/>
            <a:ext cx="263347" cy="263347"/>
          </a:xfrm>
          <a:prstGeom prst="rect">
            <a:avLst/>
          </a:prstGeom>
        </p:spPr>
      </p:pic>
      <p:sp>
        <p:nvSpPr>
          <p:cNvPr id="14" name="Text 8"/>
          <p:cNvSpPr txBox="1"/>
          <p:nvPr/>
        </p:nvSpPr>
        <p:spPr>
          <a:xfrm>
            <a:off x="6126480" y="2834640"/>
            <a:ext cx="2468880" cy="548640"/>
          </a:xfrm>
          <a:prstGeom prst="rect">
            <a:avLst/>
          </a:prstGeom>
          <a:noFill/>
          <a:ln/>
        </p:spPr>
        <p:txBody>
          <a:bodyPr wrap="square" lIns="0" tIns="0" rIns="0" bIns="0" rtlCol="0" anchor="ctr"/>
          <a:lstStyle/>
          <a:p>
            <a:pPr indent="0" marL="0">
              <a:buNone/>
            </a:pPr>
            <a:r>
              <a:rPr lang="en-US" sz="1600" b="1" dirty="0">
                <a:solidFill>
                  <a:schemeClr val="bg1"/>
                </a:solidFill>
                <a:latin typeface="Georgia" pitchFamily="34" charset="0"/>
                <a:ea typeface="Georgia" pitchFamily="34" charset="-122"/>
                <a:cs typeface="Georgia" pitchFamily="34" charset="-120"/>
              </a:rPr>
              <a:t>Printed hand shape</a:t>
            </a:r>
            <a:endParaRPr lang="en-US" sz="1600" dirty="0"/>
          </a:p>
        </p:txBody>
      </p:sp>
      <p:sp>
        <p:nvSpPr>
          <p:cNvPr id="15" name="Text 9"/>
          <p:cNvSpPr txBox="1"/>
          <p:nvPr/>
        </p:nvSpPr>
        <p:spPr>
          <a:xfrm>
            <a:off x="5440680" y="3474720"/>
            <a:ext cx="3108960" cy="10515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SMP/TPU part opens and closes on heating, like the target hand motion. Agreement is shown visually; no numeric printed error is reported.</a:t>
            </a:r>
            <a:endParaRPr lang="en-US" sz="1200" dirty="0"/>
          </a:p>
        </p:txBody>
      </p:sp>
      <p:sp>
        <p:nvSpPr>
          <p:cNvPr id="16" name="Text 10"/>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Jin et al. 2024, Fig. 6 and Fig. 7 [2]. Fig. 6 panels cleaned of a caption overlay from our source copy.</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COMPARISON</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Related workflow, different models and goals</a:t>
            </a:r>
            <a:endParaRPr lang="en-US" sz="2400" dirty="0"/>
          </a:p>
        </p:txBody>
      </p:sp>
      <p:sp>
        <p:nvSpPr>
          <p:cNvPr id="4" name="hw"/>
          <p:cNvSpPr/>
          <p:nvPr/>
        </p:nvSpPr>
        <p:spPr>
          <a:xfrm>
            <a:off x="457200" y="1188720"/>
            <a:ext cx="3246120" cy="3429000"/>
          </a:xfrm>
          <a:prstGeom prst="roundRect">
            <a:avLst>
              <a:gd name="adj" fmla="val 2254"/>
            </a:avLst>
          </a:prstGeom>
          <a:solidFill>
            <a:schemeClr val="bg2"/>
          </a:solidFill>
          <a:ln w="12700">
            <a:solidFill>
              <a:schemeClr val="bg2"/>
            </a:solidFill>
            <a:prstDash val="solid"/>
          </a:ln>
        </p:spPr>
      </p:sp>
      <p:sp>
        <p:nvSpPr>
          <p:cNvPr id="5" name="hj"/>
          <p:cNvSpPr/>
          <p:nvPr/>
        </p:nvSpPr>
        <p:spPr>
          <a:xfrm>
            <a:off x="5440680" y="1188720"/>
            <a:ext cx="3246120" cy="3429000"/>
          </a:xfrm>
          <a:prstGeom prst="roundRect">
            <a:avLst>
              <a:gd name="adj" fmla="val 2254"/>
            </a:avLst>
          </a:prstGeom>
          <a:solidFill>
            <a:schemeClr val="bg2"/>
          </a:solidFill>
          <a:ln w="12700">
            <a:solidFill>
              <a:schemeClr val="bg2"/>
            </a:solidFill>
            <a:prstDash val="solid"/>
          </a:ln>
        </p:spPr>
      </p:sp>
      <p:sp>
        <p:nvSpPr>
          <p:cNvPr id="6" name="Text 4"/>
          <p:cNvSpPr txBox="1"/>
          <p:nvPr/>
        </p:nvSpPr>
        <p:spPr>
          <a:xfrm>
            <a:off x="640080" y="1280160"/>
            <a:ext cx="2880360" cy="411480"/>
          </a:xfrm>
          <a:prstGeom prst="rect">
            <a:avLst/>
          </a:prstGeom>
          <a:noFill/>
          <a:ln/>
        </p:spPr>
        <p:txBody>
          <a:bodyPr wrap="square" lIns="0" tIns="0" rIns="0" bIns="0" rtlCol="0" anchor="t"/>
          <a:lstStyle/>
          <a:p>
            <a:pPr algn="ctr" indent="0" marL="0">
              <a:buNone/>
            </a:pPr>
            <a:r>
              <a:rPr lang="en-US" sz="1800" b="1" dirty="0">
                <a:solidFill>
                  <a:schemeClr val="accent2"/>
                </a:solidFill>
                <a:latin typeface="Georgia" pitchFamily="34" charset="0"/>
                <a:ea typeface="Georgia" pitchFamily="34" charset="-122"/>
                <a:cs typeface="Georgia" pitchFamily="34" charset="-120"/>
              </a:rPr>
              <a:t>Wang et al.</a:t>
            </a:r>
            <a:endParaRPr lang="en-US" sz="1800" dirty="0"/>
          </a:p>
        </p:txBody>
      </p:sp>
      <p:sp>
        <p:nvSpPr>
          <p:cNvPr id="7" name="Text 5"/>
          <p:cNvSpPr txBox="1"/>
          <p:nvPr/>
        </p:nvSpPr>
        <p:spPr>
          <a:xfrm>
            <a:off x="5623560" y="1280160"/>
            <a:ext cx="2880360" cy="411480"/>
          </a:xfrm>
          <a:prstGeom prst="rect">
            <a:avLst/>
          </a:prstGeom>
          <a:noFill/>
          <a:ln/>
        </p:spPr>
        <p:txBody>
          <a:bodyPr wrap="square" lIns="0" tIns="0" rIns="0" bIns="0" rtlCol="0" anchor="t"/>
          <a:lstStyle/>
          <a:p>
            <a:pPr algn="ctr" indent="0" marL="0">
              <a:buNone/>
            </a:pPr>
            <a:r>
              <a:rPr lang="en-US" sz="1800" b="1" dirty="0">
                <a:solidFill>
                  <a:schemeClr val="accent1"/>
                </a:solidFill>
                <a:latin typeface="Georgia" pitchFamily="34" charset="0"/>
                <a:ea typeface="Georgia" pitchFamily="34" charset="-122"/>
                <a:cs typeface="Georgia" pitchFamily="34" charset="-120"/>
              </a:rPr>
              <a:t>Jin et al.</a:t>
            </a:r>
            <a:endParaRPr lang="en-US" sz="1800" dirty="0"/>
          </a:p>
        </p:txBody>
      </p:sp>
      <p:sp>
        <p:nvSpPr>
          <p:cNvPr id="8" name="Text 6"/>
          <p:cNvSpPr txBox="1"/>
          <p:nvPr/>
        </p:nvSpPr>
        <p:spPr>
          <a:xfrm>
            <a:off x="640080" y="1783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Speed</a:t>
            </a:r>
            <a:endParaRPr lang="en-US" sz="1300" dirty="0"/>
          </a:p>
        </p:txBody>
      </p:sp>
      <p:sp>
        <p:nvSpPr>
          <p:cNvPr id="9" name="hl0"/>
          <p:cNvSpPr/>
          <p:nvPr/>
        </p:nvSpPr>
        <p:spPr>
          <a:xfrm>
            <a:off x="3886200" y="1810512"/>
            <a:ext cx="1371600" cy="329184"/>
          </a:xfrm>
          <a:prstGeom prst="roundRect">
            <a:avLst>
              <a:gd name="adj" fmla="val 22222"/>
            </a:avLst>
          </a:prstGeom>
          <a:solidFill>
            <a:schemeClr val="tx2"/>
          </a:solidFill>
          <a:ln w="12700">
            <a:solidFill>
              <a:schemeClr val="tx2"/>
            </a:solidFill>
            <a:prstDash val="solid"/>
          </a:ln>
        </p:spPr>
      </p:sp>
      <p:sp>
        <p:nvSpPr>
          <p:cNvPr id="10" name="Text 8"/>
          <p:cNvSpPr txBox="1"/>
          <p:nvPr/>
        </p:nvSpPr>
        <p:spPr>
          <a:xfrm>
            <a:off x="3886200" y="18105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Goal</a:t>
            </a:r>
            <a:endParaRPr lang="en-US" sz="1100" dirty="0"/>
          </a:p>
        </p:txBody>
      </p:sp>
      <p:sp>
        <p:nvSpPr>
          <p:cNvPr id="11" name="Text 9"/>
          <p:cNvSpPr txBox="1"/>
          <p:nvPr/>
        </p:nvSpPr>
        <p:spPr>
          <a:xfrm>
            <a:off x="5623560" y="1783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Shape freedom</a:t>
            </a:r>
            <a:endParaRPr lang="en-US" sz="1300" dirty="0"/>
          </a:p>
        </p:txBody>
      </p:sp>
      <p:sp>
        <p:nvSpPr>
          <p:cNvPr id="12" name="Text 10"/>
          <p:cNvSpPr txBox="1"/>
          <p:nvPr/>
        </p:nvSpPr>
        <p:spPr>
          <a:xfrm>
            <a:off x="640080" y="22402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Hydrogel (solvent)</a:t>
            </a:r>
            <a:endParaRPr lang="en-US" sz="1300" dirty="0"/>
          </a:p>
        </p:txBody>
      </p:sp>
      <p:sp>
        <p:nvSpPr>
          <p:cNvPr id="13" name="hl1"/>
          <p:cNvSpPr/>
          <p:nvPr/>
        </p:nvSpPr>
        <p:spPr>
          <a:xfrm>
            <a:off x="3886200" y="2267712"/>
            <a:ext cx="1371600" cy="329184"/>
          </a:xfrm>
          <a:prstGeom prst="roundRect">
            <a:avLst>
              <a:gd name="adj" fmla="val 22222"/>
            </a:avLst>
          </a:prstGeom>
          <a:solidFill>
            <a:schemeClr val="tx2"/>
          </a:solidFill>
          <a:ln w="12700">
            <a:solidFill>
              <a:schemeClr val="tx2"/>
            </a:solidFill>
            <a:prstDash val="solid"/>
          </a:ln>
        </p:spPr>
      </p:sp>
      <p:sp>
        <p:nvSpPr>
          <p:cNvPr id="14" name="Text 12"/>
          <p:cNvSpPr txBox="1"/>
          <p:nvPr/>
        </p:nvSpPr>
        <p:spPr>
          <a:xfrm>
            <a:off x="3886200" y="22677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Material</a:t>
            </a:r>
            <a:endParaRPr lang="en-US" sz="1100" dirty="0"/>
          </a:p>
        </p:txBody>
      </p:sp>
      <p:sp>
        <p:nvSpPr>
          <p:cNvPr id="15" name="Text 13"/>
          <p:cNvSpPr txBox="1"/>
          <p:nvPr/>
        </p:nvSpPr>
        <p:spPr>
          <a:xfrm>
            <a:off x="5623560" y="22402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SMP + TPU (heat)</a:t>
            </a:r>
            <a:endParaRPr lang="en-US" sz="1300" dirty="0"/>
          </a:p>
        </p:txBody>
      </p:sp>
      <p:sp>
        <p:nvSpPr>
          <p:cNvPr id="16" name="Text 14"/>
          <p:cNvSpPr txBox="1"/>
          <p:nvPr/>
        </p:nvSpPr>
        <p:spPr>
          <a:xfrm>
            <a:off x="640080" y="26974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2 × 10 binary beam</a:t>
            </a:r>
            <a:endParaRPr lang="en-US" sz="1300" dirty="0"/>
          </a:p>
        </p:txBody>
      </p:sp>
      <p:sp>
        <p:nvSpPr>
          <p:cNvPr id="17" name="hl2"/>
          <p:cNvSpPr/>
          <p:nvPr/>
        </p:nvSpPr>
        <p:spPr>
          <a:xfrm>
            <a:off x="3886200" y="2724912"/>
            <a:ext cx="1371600" cy="329184"/>
          </a:xfrm>
          <a:prstGeom prst="roundRect">
            <a:avLst>
              <a:gd name="adj" fmla="val 22222"/>
            </a:avLst>
          </a:prstGeom>
          <a:solidFill>
            <a:schemeClr val="tx2"/>
          </a:solidFill>
          <a:ln w="12700">
            <a:solidFill>
              <a:schemeClr val="tx2"/>
            </a:solidFill>
            <a:prstDash val="solid"/>
          </a:ln>
        </p:spPr>
      </p:sp>
      <p:sp>
        <p:nvSpPr>
          <p:cNvPr id="18" name="Text 16"/>
          <p:cNvSpPr txBox="1"/>
          <p:nvPr/>
        </p:nvSpPr>
        <p:spPr>
          <a:xfrm>
            <a:off x="3886200" y="27249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Layout</a:t>
            </a:r>
            <a:endParaRPr lang="en-US" sz="1100" dirty="0"/>
          </a:p>
        </p:txBody>
      </p:sp>
      <p:sp>
        <p:nvSpPr>
          <p:cNvPr id="19" name="Text 17"/>
          <p:cNvSpPr txBox="1"/>
          <p:nvPr/>
        </p:nvSpPr>
        <p:spPr>
          <a:xfrm>
            <a:off x="5623560" y="26974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Padded 0/1/2 grid</a:t>
            </a:r>
            <a:endParaRPr lang="en-US" sz="1300" dirty="0"/>
          </a:p>
        </p:txBody>
      </p:sp>
      <p:sp>
        <p:nvSpPr>
          <p:cNvPr id="20" name="Text 18"/>
          <p:cNvSpPr txBox="1"/>
          <p:nvPr/>
        </p:nvSpPr>
        <p:spPr>
          <a:xfrm>
            <a:off x="640080" y="31546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SEP-CNN</a:t>
            </a:r>
            <a:endParaRPr lang="en-US" sz="1300" dirty="0"/>
          </a:p>
        </p:txBody>
      </p:sp>
      <p:sp>
        <p:nvSpPr>
          <p:cNvPr id="21" name="hl3"/>
          <p:cNvSpPr/>
          <p:nvPr/>
        </p:nvSpPr>
        <p:spPr>
          <a:xfrm>
            <a:off x="3886200" y="3182112"/>
            <a:ext cx="1371600" cy="329184"/>
          </a:xfrm>
          <a:prstGeom prst="roundRect">
            <a:avLst>
              <a:gd name="adj" fmla="val 22222"/>
            </a:avLst>
          </a:prstGeom>
          <a:solidFill>
            <a:schemeClr val="tx2"/>
          </a:solidFill>
          <a:ln w="12700">
            <a:solidFill>
              <a:schemeClr val="tx2"/>
            </a:solidFill>
            <a:prstDash val="solid"/>
          </a:ln>
        </p:spPr>
      </p:sp>
      <p:sp>
        <p:nvSpPr>
          <p:cNvPr id="22" name="Text 20"/>
          <p:cNvSpPr txBox="1"/>
          <p:nvPr/>
        </p:nvSpPr>
        <p:spPr>
          <a:xfrm>
            <a:off x="3886200" y="31821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Network</a:t>
            </a:r>
            <a:endParaRPr lang="en-US" sz="1100" dirty="0"/>
          </a:p>
        </p:txBody>
      </p:sp>
      <p:sp>
        <p:nvSpPr>
          <p:cNvPr id="23" name="Text 21"/>
          <p:cNvSpPr txBox="1"/>
          <p:nvPr/>
        </p:nvSpPr>
        <p:spPr>
          <a:xfrm>
            <a:off x="5623560" y="31546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ResNet</a:t>
            </a:r>
            <a:endParaRPr lang="en-US" sz="1300" dirty="0"/>
          </a:p>
        </p:txBody>
      </p:sp>
      <p:sp>
        <p:nvSpPr>
          <p:cNvPr id="24" name="Text 22"/>
          <p:cNvSpPr txBox="1"/>
          <p:nvPr/>
        </p:nvSpPr>
        <p:spPr>
          <a:xfrm>
            <a:off x="640080" y="36118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Progressive EA</a:t>
            </a:r>
            <a:endParaRPr lang="en-US" sz="1300" dirty="0"/>
          </a:p>
        </p:txBody>
      </p:sp>
      <p:sp>
        <p:nvSpPr>
          <p:cNvPr id="25" name="hl4"/>
          <p:cNvSpPr/>
          <p:nvPr/>
        </p:nvSpPr>
        <p:spPr>
          <a:xfrm>
            <a:off x="3886200" y="3639312"/>
            <a:ext cx="1371600" cy="329184"/>
          </a:xfrm>
          <a:prstGeom prst="roundRect">
            <a:avLst>
              <a:gd name="adj" fmla="val 22222"/>
            </a:avLst>
          </a:prstGeom>
          <a:solidFill>
            <a:schemeClr val="tx2"/>
          </a:solidFill>
          <a:ln w="12700">
            <a:solidFill>
              <a:schemeClr val="tx2"/>
            </a:solidFill>
            <a:prstDash val="solid"/>
          </a:ln>
        </p:spPr>
      </p:sp>
      <p:sp>
        <p:nvSpPr>
          <p:cNvPr id="26" name="Text 24"/>
          <p:cNvSpPr txBox="1"/>
          <p:nvPr/>
        </p:nvSpPr>
        <p:spPr>
          <a:xfrm>
            <a:off x="3886200" y="36393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Search</a:t>
            </a:r>
            <a:endParaRPr lang="en-US" sz="1100" dirty="0"/>
          </a:p>
        </p:txBody>
      </p:sp>
      <p:sp>
        <p:nvSpPr>
          <p:cNvPr id="27" name="Text 25"/>
          <p:cNvSpPr txBox="1"/>
          <p:nvPr/>
        </p:nvSpPr>
        <p:spPr>
          <a:xfrm>
            <a:off x="5623560" y="36118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Standard EA</a:t>
            </a:r>
            <a:endParaRPr lang="en-US" sz="1300" dirty="0"/>
          </a:p>
        </p:txBody>
      </p:sp>
      <p:sp>
        <p:nvSpPr>
          <p:cNvPr id="28" name="Text 26"/>
          <p:cNvSpPr txBox="1"/>
          <p:nvPr/>
        </p:nvSpPr>
        <p:spPr>
          <a:xfrm>
            <a:off x="640080" y="4069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≈3 s · 98.7%</a:t>
            </a:r>
            <a:endParaRPr lang="en-US" sz="1300" dirty="0"/>
          </a:p>
        </p:txBody>
      </p:sp>
      <p:sp>
        <p:nvSpPr>
          <p:cNvPr id="29" name="hl5"/>
          <p:cNvSpPr/>
          <p:nvPr/>
        </p:nvSpPr>
        <p:spPr>
          <a:xfrm>
            <a:off x="3886200" y="4096512"/>
            <a:ext cx="1371600" cy="329184"/>
          </a:xfrm>
          <a:prstGeom prst="roundRect">
            <a:avLst>
              <a:gd name="adj" fmla="val 22222"/>
            </a:avLst>
          </a:prstGeom>
          <a:solidFill>
            <a:schemeClr val="tx2"/>
          </a:solidFill>
          <a:ln w="12700">
            <a:solidFill>
              <a:schemeClr val="tx2"/>
            </a:solidFill>
            <a:prstDash val="solid"/>
          </a:ln>
        </p:spPr>
      </p:sp>
      <p:sp>
        <p:nvSpPr>
          <p:cNvPr id="30" name="Text 28"/>
          <p:cNvSpPr txBox="1"/>
          <p:nvPr/>
        </p:nvSpPr>
        <p:spPr>
          <a:xfrm>
            <a:off x="3886200" y="4096512"/>
            <a:ext cx="13716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Headline</a:t>
            </a:r>
            <a:endParaRPr lang="en-US" sz="1100" dirty="0"/>
          </a:p>
        </p:txBody>
      </p:sp>
      <p:sp>
        <p:nvSpPr>
          <p:cNvPr id="31" name="Text 29"/>
          <p:cNvSpPr txBox="1"/>
          <p:nvPr/>
        </p:nvSpPr>
        <p:spPr>
          <a:xfrm>
            <a:off x="5623560" y="4069080"/>
            <a:ext cx="288036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alibri" pitchFamily="34" charset="0"/>
                <a:ea typeface="Calibri" pitchFamily="34" charset="-122"/>
                <a:cs typeface="Calibri" pitchFamily="34" charset="-120"/>
              </a:rPr>
              <a:t>≈1 mm inverse error</a:t>
            </a:r>
            <a:endParaRPr lang="en-US" sz="1300" dirty="0"/>
          </a:p>
        </p:txBody>
      </p:sp>
      <p:sp>
        <p:nvSpPr>
          <p:cNvPr id="32" name="Text 30"/>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Compiled from Wang et al. 2025 [1] and Jin et al. 2024 [2]. Both pair a learned forward model with evolutionary search; metrics are not directly comparable.</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0" type="body" hasCustomPrompt="1"/>
          </p:nvPr>
        </p:nvSpPr>
        <p:spPr>
          <a:xfrm>
            <a:off x="548640" y="1097280"/>
            <a:ext cx="2743200" cy="914400"/>
          </a:xfrm>
          <a:prstGeom prst="rect">
            <a:avLst/>
          </a:prstGeom>
          <a:noFill/>
          <a:ln/>
        </p:spPr>
        <p:txBody>
          <a:bodyPr wrap="square" lIns="0" tIns="0" rIns="0" bIns="0" rtlCol="0" anchor="b"/>
          <a:lstStyle/>
          <a:p>
            <a:pPr algn="l" indent="0" marL="0">
              <a:buNone/>
            </a:pPr>
            <a:r>
              <a:rPr lang="en-US" sz="5400" b="1" dirty="0">
                <a:solidFill>
                  <a:schemeClr val="accent3"/>
                </a:solidFill>
                <a:latin typeface="Georgia" pitchFamily="34" charset="0"/>
                <a:ea typeface="Georgia" pitchFamily="34" charset="-122"/>
                <a:cs typeface="Georgia" pitchFamily="34" charset="-120"/>
              </a:rPr>
              <a:t>02</a:t>
            </a:r>
            <a:endParaRPr lang="en-US" sz="5400" dirty="0"/>
          </a:p>
        </p:txBody>
      </p:sp>
      <p:sp>
        <p:nvSpPr>
          <p:cNvPr id="3" name="Text 20"/>
          <p:cNvSpPr/>
          <p:nvPr>
            <p:ph idx="121" type="title" hasCustomPrompt="1"/>
          </p:nvPr>
        </p:nvSpPr>
        <p:spPr>
          <a:xfrm>
            <a:off x="548640" y="2103120"/>
            <a:ext cx="4297680" cy="1188720"/>
          </a:xfrm>
          <a:prstGeom prst="rect">
            <a:avLst/>
          </a:prstGeom>
          <a:noFill/>
          <a:ln/>
        </p:spPr>
        <p:txBody>
          <a:bodyPr wrap="square" lIns="0" tIns="0" rIns="0" bIns="0" rtlCol="0" anchor="t"/>
          <a:lstStyle/>
          <a:p>
            <a:pPr algn="l" indent="0" marL="0">
              <a:buNone/>
            </a:pPr>
            <a:r>
              <a:rPr lang="en-US" sz="3000" b="1" dirty="0">
                <a:solidFill>
                  <a:schemeClr val="bg1"/>
                </a:solidFill>
                <a:latin typeface="Georgia" pitchFamily="34" charset="0"/>
                <a:ea typeface="Georgia" pitchFamily="34" charset="-122"/>
                <a:cs typeface="Georgia" pitchFamily="34" charset="-120"/>
              </a:rPr>
              <a:t>What our repo does</a:t>
            </a:r>
            <a:endParaRPr lang="en-US" sz="3000" dirty="0"/>
          </a:p>
        </p:txBody>
      </p:sp>
      <p:sp>
        <p:nvSpPr>
          <p:cNvPr id="4" name="Text 20"/>
          <p:cNvSpPr/>
          <p:nvPr>
            <p:ph idx="122" type="body" hasCustomPrompt="1"/>
          </p:nvPr>
        </p:nvSpPr>
        <p:spPr>
          <a:xfrm>
            <a:off x="548640" y="3383280"/>
            <a:ext cx="4297680" cy="73152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A fork of Wang’s code with a ResNet experiment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OUR FORK</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Replacing the model: not plug-and-play</a:t>
            </a:r>
            <a:endParaRPr lang="en-US" sz="2400" dirty="0"/>
          </a:p>
        </p:txBody>
      </p:sp>
      <p:sp>
        <p:nvSpPr>
          <p:cNvPr id="4" name="pp0"/>
          <p:cNvSpPr/>
          <p:nvPr/>
        </p:nvSpPr>
        <p:spPr>
          <a:xfrm>
            <a:off x="457200" y="1234440"/>
            <a:ext cx="1463040" cy="868680"/>
          </a:xfrm>
          <a:prstGeom prst="roundRect">
            <a:avLst>
              <a:gd name="adj" fmla="val 8421"/>
            </a:avLst>
          </a:prstGeom>
          <a:solidFill>
            <a:schemeClr val="bg2"/>
          </a:solidFill>
          <a:ln w="12700">
            <a:solidFill>
              <a:schemeClr val="bg2"/>
            </a:solidFill>
            <a:prstDash val="solid"/>
          </a:ln>
        </p:spPr>
      </p:sp>
      <p:sp>
        <p:nvSpPr>
          <p:cNvPr id="5" name="Text 3"/>
          <p:cNvSpPr txBox="1"/>
          <p:nvPr/>
        </p:nvSpPr>
        <p:spPr>
          <a:xfrm>
            <a:off x="51206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Layout</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(batch, 2, 10)</a:t>
            </a:r>
            <a:endParaRPr lang="en-US" sz="1200" dirty="0"/>
          </a:p>
        </p:txBody>
      </p:sp>
      <p:sp>
        <p:nvSpPr>
          <p:cNvPr id="6" name="ppa0"/>
          <p:cNvSpPr/>
          <p:nvPr/>
        </p:nvSpPr>
        <p:spPr>
          <a:xfrm>
            <a:off x="1938528" y="1668780"/>
            <a:ext cx="192024" cy="0"/>
          </a:xfrm>
          <a:prstGeom prst="line">
            <a:avLst/>
          </a:prstGeom>
          <a:noFill/>
          <a:ln w="22225">
            <a:solidFill>
              <a:schemeClr val="accent4"/>
            </a:solidFill>
            <a:prstDash val="solid"/>
            <a:tailEnd type="triangle"/>
          </a:ln>
        </p:spPr>
      </p:sp>
      <p:sp>
        <p:nvSpPr>
          <p:cNvPr id="7" name="pp1"/>
          <p:cNvSpPr/>
          <p:nvPr/>
        </p:nvSpPr>
        <p:spPr>
          <a:xfrm>
            <a:off x="2148840" y="1234440"/>
            <a:ext cx="1463040" cy="868680"/>
          </a:xfrm>
          <a:prstGeom prst="roundRect">
            <a:avLst>
              <a:gd name="adj" fmla="val 8421"/>
            </a:avLst>
          </a:prstGeom>
          <a:solidFill>
            <a:schemeClr val="accent1"/>
          </a:solidFill>
          <a:ln w="12700">
            <a:solidFill>
              <a:schemeClr val="accent1"/>
            </a:solidFill>
            <a:prstDash val="solid"/>
          </a:ln>
        </p:spPr>
      </p:sp>
      <p:sp>
        <p:nvSpPr>
          <p:cNvPr id="8" name="Text 6"/>
          <p:cNvSpPr txBox="1"/>
          <p:nvPr/>
        </p:nvSpPr>
        <p:spPr>
          <a:xfrm>
            <a:off x="2203704" y="1234440"/>
            <a:ext cx="1353312" cy="86868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SEP-CNN  or  2D ResNet</a:t>
            </a:r>
            <a:endParaRPr lang="en-US" sz="1200" dirty="0"/>
          </a:p>
        </p:txBody>
      </p:sp>
      <p:sp>
        <p:nvSpPr>
          <p:cNvPr id="9" name="ppa1"/>
          <p:cNvSpPr/>
          <p:nvPr/>
        </p:nvSpPr>
        <p:spPr>
          <a:xfrm>
            <a:off x="3630168" y="1668780"/>
            <a:ext cx="192024" cy="0"/>
          </a:xfrm>
          <a:prstGeom prst="line">
            <a:avLst/>
          </a:prstGeom>
          <a:noFill/>
          <a:ln w="22225">
            <a:solidFill>
              <a:schemeClr val="accent4"/>
            </a:solidFill>
            <a:prstDash val="solid"/>
            <a:tailEnd type="triangle"/>
          </a:ln>
        </p:spPr>
      </p:sp>
      <p:sp>
        <p:nvSpPr>
          <p:cNvPr id="10" name="pp2"/>
          <p:cNvSpPr/>
          <p:nvPr/>
        </p:nvSpPr>
        <p:spPr>
          <a:xfrm>
            <a:off x="3840480" y="1234440"/>
            <a:ext cx="1463040" cy="868680"/>
          </a:xfrm>
          <a:prstGeom prst="roundRect">
            <a:avLst>
              <a:gd name="adj" fmla="val 8421"/>
            </a:avLst>
          </a:prstGeom>
          <a:solidFill>
            <a:schemeClr val="bg2"/>
          </a:solidFill>
          <a:ln w="12700">
            <a:solidFill>
              <a:schemeClr val="bg2"/>
            </a:solidFill>
            <a:prstDash val="solid"/>
          </a:ln>
        </p:spPr>
      </p:sp>
      <p:sp>
        <p:nvSpPr>
          <p:cNvPr id="11" name="Text 9"/>
          <p:cNvSpPr txBox="1"/>
          <p:nvPr/>
        </p:nvSpPr>
        <p:spPr>
          <a:xfrm>
            <a:off x="389534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Predicted curve</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(batch, 2, 200)</a:t>
            </a:r>
            <a:endParaRPr lang="en-US" sz="1200" dirty="0"/>
          </a:p>
        </p:txBody>
      </p:sp>
      <p:sp>
        <p:nvSpPr>
          <p:cNvPr id="12" name="ppa2"/>
          <p:cNvSpPr/>
          <p:nvPr/>
        </p:nvSpPr>
        <p:spPr>
          <a:xfrm>
            <a:off x="5321808" y="1668780"/>
            <a:ext cx="192024" cy="0"/>
          </a:xfrm>
          <a:prstGeom prst="line">
            <a:avLst/>
          </a:prstGeom>
          <a:noFill/>
          <a:ln w="22225">
            <a:solidFill>
              <a:schemeClr val="accent4"/>
            </a:solidFill>
            <a:prstDash val="solid"/>
            <a:tailEnd type="triangle"/>
          </a:ln>
        </p:spPr>
      </p:sp>
      <p:sp>
        <p:nvSpPr>
          <p:cNvPr id="13" name="pp3"/>
          <p:cNvSpPr/>
          <p:nvPr/>
        </p:nvSpPr>
        <p:spPr>
          <a:xfrm>
            <a:off x="5532120" y="1234440"/>
            <a:ext cx="1463040" cy="868680"/>
          </a:xfrm>
          <a:prstGeom prst="roundRect">
            <a:avLst>
              <a:gd name="adj" fmla="val 8421"/>
            </a:avLst>
          </a:prstGeom>
          <a:solidFill>
            <a:schemeClr val="bg2"/>
          </a:solidFill>
          <a:ln w="12700">
            <a:solidFill>
              <a:schemeClr val="bg2"/>
            </a:solidFill>
            <a:prstDash val="solid"/>
          </a:ln>
        </p:spPr>
      </p:sp>
      <p:sp>
        <p:nvSpPr>
          <p:cNvPr id="14" name="Text 12"/>
          <p:cNvSpPr txBox="1"/>
          <p:nvPr/>
        </p:nvSpPr>
        <p:spPr>
          <a:xfrm>
            <a:off x="558698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Score vs target</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target_test.csv</a:t>
            </a:r>
            <a:endParaRPr lang="en-US" sz="1200" dirty="0"/>
          </a:p>
        </p:txBody>
      </p:sp>
      <p:sp>
        <p:nvSpPr>
          <p:cNvPr id="15" name="ppa3"/>
          <p:cNvSpPr/>
          <p:nvPr/>
        </p:nvSpPr>
        <p:spPr>
          <a:xfrm>
            <a:off x="7013448" y="1668780"/>
            <a:ext cx="192024" cy="0"/>
          </a:xfrm>
          <a:prstGeom prst="line">
            <a:avLst/>
          </a:prstGeom>
          <a:noFill/>
          <a:ln w="22225">
            <a:solidFill>
              <a:schemeClr val="accent4"/>
            </a:solidFill>
            <a:prstDash val="solid"/>
            <a:tailEnd type="triangle"/>
          </a:ln>
        </p:spPr>
      </p:sp>
      <p:sp>
        <p:nvSpPr>
          <p:cNvPr id="16" name="pp4"/>
          <p:cNvSpPr/>
          <p:nvPr/>
        </p:nvSpPr>
        <p:spPr>
          <a:xfrm>
            <a:off x="7223760" y="1234440"/>
            <a:ext cx="1463040" cy="868680"/>
          </a:xfrm>
          <a:prstGeom prst="roundRect">
            <a:avLst>
              <a:gd name="adj" fmla="val 8421"/>
            </a:avLst>
          </a:prstGeom>
          <a:solidFill>
            <a:schemeClr val="bg2"/>
          </a:solidFill>
          <a:ln w="12700">
            <a:solidFill>
              <a:schemeClr val="bg2"/>
            </a:solidFill>
            <a:prstDash val="solid"/>
          </a:ln>
        </p:spPr>
      </p:sp>
      <p:sp>
        <p:nvSpPr>
          <p:cNvPr id="17" name="Text 15"/>
          <p:cNvSpPr txBox="1"/>
          <p:nvPr/>
        </p:nvSpPr>
        <p:spPr>
          <a:xfrm>
            <a:off x="7278624" y="1234440"/>
            <a:ext cx="1353312" cy="86868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PEA</a:t>
            </a:r>
            <a:endParaRPr lang="en-US" sz="1200" dirty="0"/>
          </a:p>
          <a:p>
            <a:pPr algn="ctr" indent="0" marL="0">
              <a:buNone/>
            </a:pPr>
            <a:r>
              <a:rPr lang="en-US" sz="1000" dirty="0">
                <a:solidFill>
                  <a:schemeClr val="tx2"/>
                </a:solidFill>
                <a:latin typeface="Consolas" pitchFamily="34" charset="0"/>
                <a:ea typeface="Consolas" pitchFamily="34" charset="-122"/>
                <a:cs typeface="Consolas" pitchFamily="34" charset="-120"/>
              </a:rPr>
              <a:t>search</a:t>
            </a:r>
            <a:endParaRPr lang="en-US" sz="1200" dirty="0"/>
          </a:p>
        </p:txBody>
      </p:sp>
      <p:sp>
        <p:nvSpPr>
          <p:cNvPr id="18" name="Text 16"/>
          <p:cNvSpPr txBox="1"/>
          <p:nvPr/>
        </p:nvSpPr>
        <p:spPr>
          <a:xfrm>
            <a:off x="457200" y="2331720"/>
            <a:ext cx="8229600" cy="3200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Same input/output shapes. Still needed:</a:t>
            </a:r>
            <a:endParaRPr lang="en-US" sz="1400" dirty="0"/>
          </a:p>
        </p:txBody>
      </p:sp>
      <p:sp>
        <p:nvSpPr>
          <p:cNvPr id="19" name="nd0"/>
          <p:cNvSpPr/>
          <p:nvPr/>
        </p:nvSpPr>
        <p:spPr>
          <a:xfrm>
            <a:off x="457200" y="2743200"/>
            <a:ext cx="1938528" cy="1325880"/>
          </a:xfrm>
          <a:prstGeom prst="roundRect">
            <a:avLst>
              <a:gd name="adj" fmla="val 5517"/>
            </a:avLst>
          </a:prstGeom>
          <a:solidFill>
            <a:schemeClr val="bg2"/>
          </a:solidFill>
          <a:ln w="12700">
            <a:solidFill>
              <a:schemeClr val="bg2"/>
            </a:solidFill>
            <a:prstDash val="solid"/>
          </a:ln>
        </p:spPr>
      </p:sp>
      <p:sp>
        <p:nvSpPr>
          <p:cNvPr id="20" name="ndc0-c"/>
          <p:cNvSpPr/>
          <p:nvPr/>
        </p:nvSpPr>
        <p:spPr>
          <a:xfrm>
            <a:off x="594360" y="2880360"/>
            <a:ext cx="457200" cy="457200"/>
          </a:xfrm>
          <a:prstGeom prst="ellipse">
            <a:avLst/>
          </a:prstGeom>
          <a:solidFill>
            <a:schemeClr val="accent2"/>
          </a:solidFill>
          <a:ln w="12700">
            <a:solidFill>
              <a:schemeClr val="accent2"/>
            </a:solidFill>
            <a:prstDash val="solid"/>
          </a:ln>
        </p:spPr>
      </p:sp>
      <p:pic>
        <p:nvPicPr>
          <p:cNvPr id="21" name="ndc0-i" descr="preencoded.png">    </p:cNvPr>
          <p:cNvPicPr>
            <a:picLocks noChangeAspect="1"/>
          </p:cNvPicPr>
          <p:nvPr/>
        </p:nvPicPr>
        <p:blipFill>
          <a:blip r:embed="rId1"/>
          <a:stretch>
            <a:fillRect/>
          </a:stretch>
        </p:blipFill>
        <p:spPr>
          <a:xfrm>
            <a:off x="713232" y="2999232"/>
            <a:ext cx="219456" cy="219456"/>
          </a:xfrm>
          <a:prstGeom prst="rect">
            <a:avLst/>
          </a:prstGeom>
        </p:spPr>
      </p:pic>
      <p:sp>
        <p:nvSpPr>
          <p:cNvPr id="22" name="Text 19"/>
          <p:cNvSpPr txBox="1"/>
          <p:nvPr/>
        </p:nvSpPr>
        <p:spPr>
          <a:xfrm>
            <a:off x="594360"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Matching preprocessing</a:t>
            </a:r>
            <a:endParaRPr lang="en-US" sz="1250" dirty="0"/>
          </a:p>
        </p:txBody>
      </p:sp>
      <p:sp>
        <p:nvSpPr>
          <p:cNvPr id="23" name="Text 20"/>
          <p:cNvSpPr txBox="1"/>
          <p:nvPr/>
        </p:nvSpPr>
        <p:spPr>
          <a:xfrm>
            <a:off x="594360"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/1000 scaling, curve unification</a:t>
            </a:r>
            <a:endParaRPr lang="en-US" sz="1000" dirty="0"/>
          </a:p>
        </p:txBody>
      </p:sp>
      <p:sp>
        <p:nvSpPr>
          <p:cNvPr id="24" name="nd1"/>
          <p:cNvSpPr/>
          <p:nvPr/>
        </p:nvSpPr>
        <p:spPr>
          <a:xfrm>
            <a:off x="2532888" y="2743200"/>
            <a:ext cx="1938528" cy="1325880"/>
          </a:xfrm>
          <a:prstGeom prst="roundRect">
            <a:avLst>
              <a:gd name="adj" fmla="val 5517"/>
            </a:avLst>
          </a:prstGeom>
          <a:solidFill>
            <a:schemeClr val="bg2"/>
          </a:solidFill>
          <a:ln w="12700">
            <a:solidFill>
              <a:schemeClr val="bg2"/>
            </a:solidFill>
            <a:prstDash val="solid"/>
          </a:ln>
        </p:spPr>
      </p:sp>
      <p:sp>
        <p:nvSpPr>
          <p:cNvPr id="25" name="ndc1-c"/>
          <p:cNvSpPr/>
          <p:nvPr/>
        </p:nvSpPr>
        <p:spPr>
          <a:xfrm>
            <a:off x="2670048" y="2880360"/>
            <a:ext cx="457200" cy="457200"/>
          </a:xfrm>
          <a:prstGeom prst="ellipse">
            <a:avLst/>
          </a:prstGeom>
          <a:solidFill>
            <a:schemeClr val="accent2"/>
          </a:solidFill>
          <a:ln w="12700">
            <a:solidFill>
              <a:schemeClr val="accent2"/>
            </a:solidFill>
            <a:prstDash val="solid"/>
          </a:ln>
        </p:spPr>
      </p:sp>
      <p:pic>
        <p:nvPicPr>
          <p:cNvPr id="26" name="ndc1-i" descr="preencoded.png">    </p:cNvPr>
          <p:cNvPicPr>
            <a:picLocks noChangeAspect="1"/>
          </p:cNvPicPr>
          <p:nvPr/>
        </p:nvPicPr>
        <p:blipFill>
          <a:blip r:embed="rId2"/>
          <a:stretch>
            <a:fillRect/>
          </a:stretch>
        </p:blipFill>
        <p:spPr>
          <a:xfrm>
            <a:off x="2788920" y="2999232"/>
            <a:ext cx="219456" cy="219456"/>
          </a:xfrm>
          <a:prstGeom prst="rect">
            <a:avLst/>
          </a:prstGeom>
        </p:spPr>
      </p:pic>
      <p:sp>
        <p:nvSpPr>
          <p:cNvPr id="27" name="Text 23"/>
          <p:cNvSpPr txBox="1"/>
          <p:nvPr/>
        </p:nvSpPr>
        <p:spPr>
          <a:xfrm>
            <a:off x="2670048"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Same output format</a:t>
            </a:r>
            <a:endParaRPr lang="en-US" sz="1250" dirty="0"/>
          </a:p>
        </p:txBody>
      </p:sp>
      <p:sp>
        <p:nvSpPr>
          <p:cNvPr id="28" name="Text 24"/>
          <p:cNvSpPr txBox="1"/>
          <p:nvPr/>
        </p:nvSpPr>
        <p:spPr>
          <a:xfrm>
            <a:off x="2670048"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2 × 200 predicted curve</a:t>
            </a:r>
            <a:endParaRPr lang="en-US" sz="1000" dirty="0"/>
          </a:p>
        </p:txBody>
      </p:sp>
      <p:sp>
        <p:nvSpPr>
          <p:cNvPr id="29" name="nd2"/>
          <p:cNvSpPr/>
          <p:nvPr/>
        </p:nvSpPr>
        <p:spPr>
          <a:xfrm>
            <a:off x="4608576" y="2743200"/>
            <a:ext cx="1938528" cy="1325880"/>
          </a:xfrm>
          <a:prstGeom prst="roundRect">
            <a:avLst>
              <a:gd name="adj" fmla="val 5517"/>
            </a:avLst>
          </a:prstGeom>
          <a:solidFill>
            <a:schemeClr val="bg2"/>
          </a:solidFill>
          <a:ln w="12700">
            <a:solidFill>
              <a:schemeClr val="bg2"/>
            </a:solidFill>
            <a:prstDash val="solid"/>
          </a:ln>
        </p:spPr>
      </p:sp>
      <p:sp>
        <p:nvSpPr>
          <p:cNvPr id="30" name="ndc2-c"/>
          <p:cNvSpPr/>
          <p:nvPr/>
        </p:nvSpPr>
        <p:spPr>
          <a:xfrm>
            <a:off x="4745736" y="2880360"/>
            <a:ext cx="457200" cy="457200"/>
          </a:xfrm>
          <a:prstGeom prst="ellipse">
            <a:avLst/>
          </a:prstGeom>
          <a:solidFill>
            <a:schemeClr val="accent2"/>
          </a:solidFill>
          <a:ln w="12700">
            <a:solidFill>
              <a:schemeClr val="accent2"/>
            </a:solidFill>
            <a:prstDash val="solid"/>
          </a:ln>
        </p:spPr>
      </p:sp>
      <p:pic>
        <p:nvPicPr>
          <p:cNvPr id="31" name="ndc2-i" descr="preencoded.png">    </p:cNvPr>
          <p:cNvPicPr>
            <a:picLocks noChangeAspect="1"/>
          </p:cNvPicPr>
          <p:nvPr/>
        </p:nvPicPr>
        <p:blipFill>
          <a:blip r:embed="rId3"/>
          <a:stretch>
            <a:fillRect/>
          </a:stretch>
        </p:blipFill>
        <p:spPr>
          <a:xfrm>
            <a:off x="4864608" y="2999232"/>
            <a:ext cx="219456" cy="219456"/>
          </a:xfrm>
          <a:prstGeom prst="rect">
            <a:avLst/>
          </a:prstGeom>
        </p:spPr>
      </p:pic>
      <p:sp>
        <p:nvSpPr>
          <p:cNvPr id="32" name="Text 27"/>
          <p:cNvSpPr txBox="1"/>
          <p:nvPr/>
        </p:nvSpPr>
        <p:spPr>
          <a:xfrm>
            <a:off x="4745736"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New trained weights</a:t>
            </a:r>
            <a:endParaRPr lang="en-US" sz="1250" dirty="0"/>
          </a:p>
        </p:txBody>
      </p:sp>
      <p:sp>
        <p:nvSpPr>
          <p:cNvPr id="33" name="Text 28"/>
          <p:cNvSpPr txBox="1"/>
          <p:nvPr/>
        </p:nvSpPr>
        <p:spPr>
          <a:xfrm>
            <a:off x="4745736"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retrained checkpoint</a:t>
            </a:r>
            <a:endParaRPr lang="en-US" sz="1000" dirty="0"/>
          </a:p>
        </p:txBody>
      </p:sp>
      <p:sp>
        <p:nvSpPr>
          <p:cNvPr id="34" name="nd3"/>
          <p:cNvSpPr/>
          <p:nvPr/>
        </p:nvSpPr>
        <p:spPr>
          <a:xfrm>
            <a:off x="6684264" y="2743200"/>
            <a:ext cx="1938528" cy="1325880"/>
          </a:xfrm>
          <a:prstGeom prst="roundRect">
            <a:avLst>
              <a:gd name="adj" fmla="val 5517"/>
            </a:avLst>
          </a:prstGeom>
          <a:solidFill>
            <a:schemeClr val="bg2"/>
          </a:solidFill>
          <a:ln w="12700">
            <a:solidFill>
              <a:schemeClr val="bg2"/>
            </a:solidFill>
            <a:prstDash val="solid"/>
          </a:ln>
        </p:spPr>
      </p:sp>
      <p:sp>
        <p:nvSpPr>
          <p:cNvPr id="35" name="ndc3-c"/>
          <p:cNvSpPr/>
          <p:nvPr/>
        </p:nvSpPr>
        <p:spPr>
          <a:xfrm>
            <a:off x="6821424" y="2880360"/>
            <a:ext cx="457200" cy="457200"/>
          </a:xfrm>
          <a:prstGeom prst="ellipse">
            <a:avLst/>
          </a:prstGeom>
          <a:solidFill>
            <a:schemeClr val="accent2"/>
          </a:solidFill>
          <a:ln w="12700">
            <a:solidFill>
              <a:schemeClr val="accent2"/>
            </a:solidFill>
            <a:prstDash val="solid"/>
          </a:ln>
        </p:spPr>
      </p:sp>
      <p:pic>
        <p:nvPicPr>
          <p:cNvPr id="36" name="ndc3-i" descr="preencoded.png">    </p:cNvPr>
          <p:cNvPicPr>
            <a:picLocks noChangeAspect="1"/>
          </p:cNvPicPr>
          <p:nvPr/>
        </p:nvPicPr>
        <p:blipFill>
          <a:blip r:embed="rId4"/>
          <a:stretch>
            <a:fillRect/>
          </a:stretch>
        </p:blipFill>
        <p:spPr>
          <a:xfrm>
            <a:off x="6940296" y="2999232"/>
            <a:ext cx="219456" cy="219456"/>
          </a:xfrm>
          <a:prstGeom prst="rect">
            <a:avLst/>
          </a:prstGeom>
        </p:spPr>
      </p:pic>
      <p:sp>
        <p:nvSpPr>
          <p:cNvPr id="37" name="Text 31"/>
          <p:cNvSpPr txBox="1"/>
          <p:nvPr/>
        </p:nvSpPr>
        <p:spPr>
          <a:xfrm>
            <a:off x="6821424" y="3401568"/>
            <a:ext cx="1691640" cy="27432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PEA integration</a:t>
            </a:r>
            <a:endParaRPr lang="en-US" sz="1250" dirty="0"/>
          </a:p>
        </p:txBody>
      </p:sp>
      <p:sp>
        <p:nvSpPr>
          <p:cNvPr id="38" name="Text 32"/>
          <p:cNvSpPr txBox="1"/>
          <p:nvPr/>
        </p:nvSpPr>
        <p:spPr>
          <a:xfrm>
            <a:off x="6821424" y="3675888"/>
            <a:ext cx="1691640" cy="320040"/>
          </a:xfrm>
          <a:prstGeom prst="rect">
            <a:avLst/>
          </a:prstGeom>
          <a:noFill/>
          <a:ln/>
        </p:spPr>
        <p:txBody>
          <a:bodyPr wrap="square" lIns="0" tIns="0" rIns="0" bIns="0" rtlCol="0" anchor="t"/>
          <a:lstStyle/>
          <a:p>
            <a:pPr indent="0" marL="0">
              <a:buNone/>
            </a:pPr>
            <a:r>
              <a:rPr lang="en-US" sz="1000" dirty="0">
                <a:solidFill>
                  <a:schemeClr val="accent4"/>
                </a:solidFill>
                <a:latin typeface="Consolas" pitchFamily="34" charset="0"/>
                <a:ea typeface="Consolas" pitchFamily="34" charset="-122"/>
                <a:cs typeface="Consolas" pitchFamily="34" charset="-120"/>
              </a:rPr>
              <a:t>PEA_fair_resnet.py</a:t>
            </a:r>
            <a:endParaRPr lang="en-US" sz="1000" dirty="0"/>
          </a:p>
        </p:txBody>
      </p:sp>
      <p:sp>
        <p:nvSpPr>
          <p:cNvPr id="39" name="Text 33"/>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150" i="1" dirty="0">
                <a:solidFill>
                  <a:schemeClr val="accent4"/>
                </a:solidFill>
                <a:latin typeface="Calibri" pitchFamily="34" charset="0"/>
                <a:ea typeface="Calibri" pitchFamily="34" charset="-122"/>
                <a:cs typeface="Calibri" pitchFamily="34" charset="-120"/>
              </a:rPr>
              <a:t>Both trained on the same 6,000 samples (10,000 steps, same batch size, learning rate, preprocessing, MSE loss) and evaluated on a separate held-out test set of 2,000.</a:t>
            </a:r>
            <a:endParaRPr lang="en-US" sz="1150" dirty="0"/>
          </a:p>
        </p:txBody>
      </p:sp>
      <p:sp>
        <p:nvSpPr>
          <p:cNvPr id="40" name="Text 34"/>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Repository: train_*_fair.py, PEA_fair_sepcnn.py, PEA_fair_resnet.py, Documentation.md [4].</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OUR FORK</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Three tests, three different answers</a:t>
            </a:r>
            <a:endParaRPr lang="en-US" sz="2400" dirty="0"/>
          </a:p>
        </p:txBody>
      </p:sp>
      <p:sp>
        <p:nvSpPr>
          <p:cNvPr id="4" name="f1"/>
          <p:cNvSpPr/>
          <p:nvPr/>
        </p:nvSpPr>
        <p:spPr>
          <a:xfrm>
            <a:off x="457200" y="1188720"/>
            <a:ext cx="2560320" cy="2743200"/>
          </a:xfrm>
          <a:prstGeom prst="roundRect">
            <a:avLst>
              <a:gd name="adj" fmla="val 2857"/>
            </a:avLst>
          </a:prstGeom>
          <a:solidFill>
            <a:schemeClr val="bg2"/>
          </a:solidFill>
          <a:ln w="12700">
            <a:solidFill>
              <a:schemeClr val="bg2"/>
            </a:solidFill>
            <a:prstDash val="solid"/>
          </a:ln>
        </p:spPr>
      </p:sp>
      <p:sp>
        <p:nvSpPr>
          <p:cNvPr id="5" name="Text 3"/>
          <p:cNvSpPr txBox="1"/>
          <p:nvPr/>
        </p:nvSpPr>
        <p:spPr>
          <a:xfrm>
            <a:off x="594360" y="1261872"/>
            <a:ext cx="2286000"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Held-out test MSE</a:t>
            </a:r>
            <a:endParaRPr lang="en-US" sz="1200" dirty="0"/>
          </a:p>
        </p:txBody>
      </p:sp>
      <p:graphicFrame>
        <p:nvGraphicFramePr>
          <p:cNvPr id="6" name="Chart 0" descr=""/>
          <p:cNvGraphicFramePr/>
          <p:nvPr/>
        </p:nvGraphicFramePr>
        <p:xfrm>
          <a:off x="502920" y="1508760"/>
          <a:ext cx="2468880" cy="1600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94360" y="3154680"/>
            <a:ext cx="2286000" cy="365760"/>
          </a:xfrm>
          <a:prstGeom prst="rect">
            <a:avLst/>
          </a:prstGeom>
          <a:noFill/>
          <a:ln/>
        </p:spPr>
        <p:txBody>
          <a:bodyPr wrap="square" lIns="0" tIns="0" rIns="0" bIns="0" rtlCol="0" anchor="t"/>
          <a:lstStyle/>
          <a:p>
            <a:pPr indent="0" marL="0">
              <a:buNone/>
            </a:pPr>
            <a:r>
              <a:rPr lang="en-US" sz="1500" b="1" dirty="0">
                <a:solidFill>
                  <a:schemeClr val="accent1"/>
                </a:solidFill>
                <a:latin typeface="Georgia" pitchFamily="34" charset="0"/>
                <a:ea typeface="Georgia" pitchFamily="34" charset="-122"/>
                <a:cs typeface="Georgia" pitchFamily="34" charset="-120"/>
              </a:rPr>
              <a:t>≈41× lower (ResNet)</a:t>
            </a:r>
            <a:endParaRPr lang="en-US" sz="1500" dirty="0"/>
          </a:p>
        </p:txBody>
      </p:sp>
      <p:sp>
        <p:nvSpPr>
          <p:cNvPr id="8" name="Text 5"/>
          <p:cNvSpPr txBox="1"/>
          <p:nvPr/>
        </p:nvSpPr>
        <p:spPr>
          <a:xfrm>
            <a:off x="594360" y="3520440"/>
            <a:ext cx="2286000" cy="36576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separate 2,000-sample test set · prediction only</a:t>
            </a:r>
            <a:endParaRPr lang="en-US" sz="1000" dirty="0"/>
          </a:p>
        </p:txBody>
      </p:sp>
      <p:sp>
        <p:nvSpPr>
          <p:cNvPr id="9" name="f2"/>
          <p:cNvSpPr/>
          <p:nvPr/>
        </p:nvSpPr>
        <p:spPr>
          <a:xfrm>
            <a:off x="3291840" y="1188720"/>
            <a:ext cx="2560320" cy="2743200"/>
          </a:xfrm>
          <a:prstGeom prst="roundRect">
            <a:avLst>
              <a:gd name="adj" fmla="val 2857"/>
            </a:avLst>
          </a:prstGeom>
          <a:solidFill>
            <a:schemeClr val="bg2"/>
          </a:solidFill>
          <a:ln w="12700">
            <a:solidFill>
              <a:schemeClr val="bg2"/>
            </a:solidFill>
            <a:prstDash val="solid"/>
          </a:ln>
        </p:spPr>
      </p:sp>
      <p:sp>
        <p:nvSpPr>
          <p:cNvPr id="10" name="Text 7"/>
          <p:cNvSpPr txBox="1"/>
          <p:nvPr/>
        </p:nvSpPr>
        <p:spPr>
          <a:xfrm>
            <a:off x="3429000" y="1261872"/>
            <a:ext cx="2286000"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Two selected designs</a:t>
            </a:r>
            <a:endParaRPr lang="en-US" sz="1200" dirty="0"/>
          </a:p>
        </p:txBody>
      </p:sp>
      <p:sp>
        <p:nvSpPr>
          <p:cNvPr id="11" name="f2c-c"/>
          <p:cNvSpPr/>
          <p:nvPr/>
        </p:nvSpPr>
        <p:spPr>
          <a:xfrm>
            <a:off x="4160520" y="1783080"/>
            <a:ext cx="822960" cy="822960"/>
          </a:xfrm>
          <a:prstGeom prst="ellipse">
            <a:avLst/>
          </a:prstGeom>
          <a:solidFill>
            <a:schemeClr val="accent4"/>
          </a:solidFill>
          <a:ln w="12700">
            <a:solidFill>
              <a:schemeClr val="accent4"/>
            </a:solidFill>
            <a:prstDash val="solid"/>
          </a:ln>
        </p:spPr>
      </p:sp>
      <p:pic>
        <p:nvPicPr>
          <p:cNvPr id="12" name="f2c-i" descr="preencoded.png">    </p:cNvPr>
          <p:cNvPicPr>
            <a:picLocks noChangeAspect="1"/>
          </p:cNvPicPr>
          <p:nvPr/>
        </p:nvPicPr>
        <p:blipFill>
          <a:blip r:embed="rId2"/>
          <a:stretch>
            <a:fillRect/>
          </a:stretch>
        </p:blipFill>
        <p:spPr>
          <a:xfrm>
            <a:off x="4374490" y="1997050"/>
            <a:ext cx="395021" cy="395021"/>
          </a:xfrm>
          <a:prstGeom prst="rect">
            <a:avLst/>
          </a:prstGeom>
        </p:spPr>
      </p:pic>
      <p:sp>
        <p:nvSpPr>
          <p:cNvPr id="13" name="Text 9"/>
          <p:cNvSpPr txBox="1"/>
          <p:nvPr/>
        </p:nvSpPr>
        <p:spPr>
          <a:xfrm>
            <a:off x="3429000" y="2788920"/>
            <a:ext cx="2286000" cy="411480"/>
          </a:xfrm>
          <a:prstGeom prst="rect">
            <a:avLst/>
          </a:prstGeom>
          <a:noFill/>
          <a:ln/>
        </p:spPr>
        <p:txBody>
          <a:bodyPr wrap="square" lIns="0" tIns="0" rIns="0" bIns="0" rtlCol="0" anchor="t"/>
          <a:lstStyle/>
          <a:p>
            <a:pPr algn="ctr" indent="0" marL="0">
              <a:buNone/>
            </a:pPr>
            <a:r>
              <a:rPr lang="en-US" sz="2400" b="1" dirty="0">
                <a:solidFill>
                  <a:schemeClr val="accent4"/>
                </a:solidFill>
                <a:latin typeface="Georgia" pitchFamily="34" charset="0"/>
                <a:ea typeface="Georgia" pitchFamily="34" charset="-122"/>
                <a:cs typeface="Georgia" pitchFamily="34" charset="-120"/>
              </a:rPr>
              <a:t>Mixed</a:t>
            </a:r>
            <a:endParaRPr lang="en-US" sz="2400" dirty="0"/>
          </a:p>
        </p:txBody>
      </p:sp>
      <p:sp>
        <p:nvSpPr>
          <p:cNvPr id="14" name="Text 10"/>
          <p:cNvSpPr txBox="1"/>
          <p:nvPr/>
        </p:nvSpPr>
        <p:spPr>
          <a:xfrm>
            <a:off x="3429000" y="3246120"/>
            <a:ext cx="2286000" cy="54864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neither model lower on both designs</a:t>
            </a:r>
            <a:endParaRPr lang="en-US" sz="1100" dirty="0"/>
          </a:p>
        </p:txBody>
      </p:sp>
      <p:sp>
        <p:nvSpPr>
          <p:cNvPr id="15" name="f3"/>
          <p:cNvSpPr/>
          <p:nvPr/>
        </p:nvSpPr>
        <p:spPr>
          <a:xfrm>
            <a:off x="6126480" y="1188720"/>
            <a:ext cx="2560320" cy="2743200"/>
          </a:xfrm>
          <a:prstGeom prst="roundRect">
            <a:avLst>
              <a:gd name="adj" fmla="val 2857"/>
            </a:avLst>
          </a:prstGeom>
          <a:solidFill>
            <a:schemeClr val="bg2"/>
          </a:solidFill>
          <a:ln w="12700">
            <a:solidFill>
              <a:schemeClr val="bg2"/>
            </a:solidFill>
            <a:prstDash val="solid"/>
          </a:ln>
        </p:spPr>
      </p:sp>
      <p:sp>
        <p:nvSpPr>
          <p:cNvPr id="16" name="Text 12"/>
          <p:cNvSpPr txBox="1"/>
          <p:nvPr/>
        </p:nvSpPr>
        <p:spPr>
          <a:xfrm>
            <a:off x="6263640" y="1261872"/>
            <a:ext cx="2286000" cy="27432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Shared gen-5 set: 1,024</a:t>
            </a:r>
            <a:endParaRPr lang="en-US" sz="1200" dirty="0"/>
          </a:p>
        </p:txBody>
      </p:sp>
      <p:graphicFrame>
        <p:nvGraphicFramePr>
          <p:cNvPr id="17" name="Chart 1" descr=""/>
          <p:cNvGraphicFramePr/>
          <p:nvPr/>
        </p:nvGraphicFramePr>
        <p:xfrm>
          <a:off x="6172200" y="1508760"/>
          <a:ext cx="2468880" cy="1600200"/>
        </p:xfrm>
        <a:graphic xmlns:a="http://schemas.openxmlformats.org/drawingml/2006/main">
          <a:graphicData uri="http://schemas.openxmlformats.org/drawingml/2006/chart">
            <c:chart xmlns:c="http://schemas.openxmlformats.org/drawingml/2006/chart" r:id="rId3"/>
          </a:graphicData>
        </a:graphic>
      </p:graphicFrame>
      <p:sp>
        <p:nvSpPr>
          <p:cNvPr id="18" name="Text 13"/>
          <p:cNvSpPr txBox="1"/>
          <p:nvPr/>
        </p:nvSpPr>
        <p:spPr>
          <a:xfrm>
            <a:off x="6263640" y="3154680"/>
            <a:ext cx="2286000" cy="365760"/>
          </a:xfrm>
          <a:prstGeom prst="rect">
            <a:avLst/>
          </a:prstGeom>
          <a:noFill/>
          <a:ln/>
        </p:spPr>
        <p:txBody>
          <a:bodyPr wrap="square" lIns="0" tIns="0" rIns="0" bIns="0" rtlCol="0" anchor="t"/>
          <a:lstStyle/>
          <a:p>
            <a:pPr indent="0" marL="0">
              <a:buNone/>
            </a:pPr>
            <a:r>
              <a:rPr lang="en-US" sz="1600" b="1" dirty="0">
                <a:solidFill>
                  <a:schemeClr val="accent2"/>
                </a:solidFill>
                <a:latin typeface="Georgia" pitchFamily="34" charset="0"/>
                <a:ea typeface="Georgia" pitchFamily="34" charset="-122"/>
                <a:cs typeface="Georgia" pitchFamily="34" charset="-120"/>
              </a:rPr>
              <a:t>1,016 / 1,024</a:t>
            </a:r>
            <a:endParaRPr lang="en-US" sz="1600" dirty="0"/>
          </a:p>
        </p:txBody>
      </p:sp>
      <p:sp>
        <p:nvSpPr>
          <p:cNvPr id="19" name="Text 14"/>
          <p:cNvSpPr txBox="1"/>
          <p:nvPr/>
        </p:nvSpPr>
        <p:spPr>
          <a:xfrm>
            <a:off x="6263640" y="3520440"/>
            <a:ext cx="2286000" cy="365760"/>
          </a:xfrm>
          <a:prstGeom prst="rect">
            <a:avLst/>
          </a:prstGeom>
          <a:noFill/>
          <a:ln/>
        </p:spPr>
        <p:txBody>
          <a:bodyPr wrap="square" lIns="0" tIns="0" rIns="0" bIns="0" rtlCol="0" anchor="t"/>
          <a:lstStyle/>
          <a:p>
            <a:pPr indent="0" marL="0">
              <a:buNone/>
            </a:pPr>
            <a:r>
              <a:rPr lang="en-US" sz="1000" dirty="0">
                <a:solidFill>
                  <a:schemeClr val="accent4"/>
                </a:solidFill>
                <a:latin typeface="Calibri" pitchFamily="34" charset="0"/>
                <a:ea typeface="Calibri" pitchFamily="34" charset="-122"/>
                <a:cs typeface="Calibri" pitchFamily="34" charset="-120"/>
              </a:rPr>
              <a:t>SEP-CNN lower target-curve prediction error · this set only</a:t>
            </a:r>
            <a:endParaRPr lang="en-US" sz="1000" dirty="0"/>
          </a:p>
        </p:txBody>
      </p:sp>
      <p:sp>
        <p:nvSpPr>
          <p:cNvPr id="20" name="f-warn"/>
          <p:cNvSpPr/>
          <p:nvPr/>
        </p:nvSpPr>
        <p:spPr>
          <a:xfrm>
            <a:off x="457200" y="4069080"/>
            <a:ext cx="8229600" cy="548640"/>
          </a:xfrm>
          <a:prstGeom prst="roundRect">
            <a:avLst>
              <a:gd name="adj" fmla="val 13333"/>
            </a:avLst>
          </a:prstGeom>
          <a:solidFill>
            <a:schemeClr val="tx2"/>
          </a:solidFill>
          <a:ln w="12700">
            <a:solidFill>
              <a:schemeClr val="tx2"/>
            </a:solidFill>
            <a:prstDash val="solid"/>
          </a:ln>
        </p:spPr>
      </p:sp>
      <p:sp>
        <p:nvSpPr>
          <p:cNvPr id="21" name="fw-c"/>
          <p:cNvSpPr/>
          <p:nvPr/>
        </p:nvSpPr>
        <p:spPr>
          <a:xfrm>
            <a:off x="594360" y="4133088"/>
            <a:ext cx="420624" cy="420624"/>
          </a:xfrm>
          <a:prstGeom prst="ellipse">
            <a:avLst/>
          </a:prstGeom>
          <a:solidFill>
            <a:schemeClr val="accent3"/>
          </a:solidFill>
          <a:ln w="12700">
            <a:solidFill>
              <a:schemeClr val="accent3"/>
            </a:solidFill>
            <a:prstDash val="solid"/>
          </a:ln>
        </p:spPr>
      </p:sp>
      <p:pic>
        <p:nvPicPr>
          <p:cNvPr id="22" name="fw-i" descr="preencoded.png">    </p:cNvPr>
          <p:cNvPicPr>
            <a:picLocks noChangeAspect="1"/>
          </p:cNvPicPr>
          <p:nvPr/>
        </p:nvPicPr>
        <p:blipFill>
          <a:blip r:embed="rId4"/>
          <a:stretch>
            <a:fillRect/>
          </a:stretch>
        </p:blipFill>
        <p:spPr>
          <a:xfrm>
            <a:off x="703722" y="4242450"/>
            <a:ext cx="201900" cy="201900"/>
          </a:xfrm>
          <a:prstGeom prst="rect">
            <a:avLst/>
          </a:prstGeom>
        </p:spPr>
      </p:pic>
      <p:sp>
        <p:nvSpPr>
          <p:cNvPr id="23" name="Text 17"/>
          <p:cNvSpPr txBox="1"/>
          <p:nvPr/>
        </p:nvSpPr>
        <p:spPr>
          <a:xfrm>
            <a:off x="1143000" y="4069080"/>
            <a:ext cx="7406640" cy="548640"/>
          </a:xfrm>
          <a:prstGeom prst="rect">
            <a:avLst/>
          </a:prstGeom>
          <a:noFill/>
          <a:ln/>
        </p:spPr>
        <p:txBody>
          <a:bodyPr wrap="square" lIns="0" tIns="0" rIns="0" bIns="0" rtlCol="0" anchor="ctr"/>
          <a:lstStyle/>
          <a:p>
            <a:pPr indent="0" marL="0">
              <a:buNone/>
            </a:pPr>
            <a:r>
              <a:rPr lang="en-US" sz="1250" dirty="0">
                <a:solidFill>
                  <a:schemeClr val="bg1"/>
                </a:solidFill>
                <a:latin typeface="Calibri" pitchFamily="34" charset="0"/>
                <a:ea typeface="Calibri" pitchFamily="34" charset="-122"/>
                <a:cs typeface="Calibri" pitchFamily="34" charset="-120"/>
              </a:rPr>
              <a:t>All errors are model predictions vs. a numeric target curve, not physical performance. These experiments do not establish a universal winner.</a:t>
            </a:r>
            <a:endParaRPr lang="en-US" sz="1250" dirty="0"/>
          </a:p>
        </p:txBody>
      </p:sp>
      <p:sp>
        <p:nvSpPr>
          <p:cNvPr id="24" name="Text 18"/>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Documentation.md (test MSE, 2-design check); cross_model_1024_results.csv [4].</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nchor="ctr"/>
          <a:lstStyle/>
          <a:p>
            <a:pPr algn="l" indent="0" marL="0">
              <a:buNone/>
            </a:pPr>
            <a:r>
              <a:rPr lang="en-US" sz="1000" b="1" spc="200" kern="0" dirty="0">
                <a:solidFill>
                  <a:schemeClr val="accent1"/>
                </a:solidFill>
                <a:latin typeface="Calibri" pitchFamily="34" charset="0"/>
                <a:ea typeface="Calibri" pitchFamily="34" charset="-122"/>
                <a:cs typeface="Calibri" pitchFamily="34" charset="-120"/>
              </a:rPr>
              <a:t>WHAT’S NEXT</a:t>
            </a:r>
            <a:endParaRPr lang="en-US" sz="1000" dirty="0"/>
          </a:p>
        </p:txBody>
      </p:sp>
      <p:sp>
        <p:nvSpPr>
          <p:cNvPr id="3" name="Text 2"/>
          <p:cNvSpPr/>
          <p:nvPr>
            <p:ph idx="103"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The 4D vision (proposed, not yet built)</a:t>
            </a:r>
            <a:endParaRPr lang="en-US" sz="2400" dirty="0"/>
          </a:p>
        </p:txBody>
      </p:sp>
      <p:sp>
        <p:nvSpPr>
          <p:cNvPr id="4" name="vs0"/>
          <p:cNvSpPr/>
          <p:nvPr/>
        </p:nvSpPr>
        <p:spPr>
          <a:xfrm>
            <a:off x="457200" y="1234440"/>
            <a:ext cx="1234440" cy="1234440"/>
          </a:xfrm>
          <a:prstGeom prst="roundRect">
            <a:avLst>
              <a:gd name="adj" fmla="val 5926"/>
            </a:avLst>
          </a:prstGeom>
          <a:solidFill>
            <a:schemeClr val="bg1"/>
          </a:solidFill>
          <a:ln w="15875">
            <a:solidFill>
              <a:schemeClr val="accent2"/>
            </a:solidFill>
            <a:prstDash val="dash"/>
          </a:ln>
        </p:spPr>
      </p:sp>
      <p:sp>
        <p:nvSpPr>
          <p:cNvPr id="5" name="vsc0-c"/>
          <p:cNvSpPr/>
          <p:nvPr/>
        </p:nvSpPr>
        <p:spPr>
          <a:xfrm>
            <a:off x="822960" y="1353312"/>
            <a:ext cx="502920" cy="502920"/>
          </a:xfrm>
          <a:prstGeom prst="ellipse">
            <a:avLst/>
          </a:prstGeom>
          <a:solidFill>
            <a:schemeClr val="accent2"/>
          </a:solidFill>
          <a:ln w="12700">
            <a:solidFill>
              <a:schemeClr val="accent2"/>
            </a:solidFill>
            <a:prstDash val="solid"/>
          </a:ln>
        </p:spPr>
      </p:sp>
      <p:pic>
        <p:nvPicPr>
          <p:cNvPr id="6" name="vsc0-i" descr="preencoded.png">    </p:cNvPr>
          <p:cNvPicPr>
            <a:picLocks noChangeAspect="1"/>
          </p:cNvPicPr>
          <p:nvPr/>
        </p:nvPicPr>
        <p:blipFill>
          <a:blip r:embed="rId1"/>
          <a:stretch>
            <a:fillRect/>
          </a:stretch>
        </p:blipFill>
        <p:spPr>
          <a:xfrm>
            <a:off x="953719" y="1484071"/>
            <a:ext cx="241402" cy="241402"/>
          </a:xfrm>
          <a:prstGeom prst="rect">
            <a:avLst/>
          </a:prstGeom>
        </p:spPr>
      </p:pic>
      <p:sp>
        <p:nvSpPr>
          <p:cNvPr id="7" name="Text 4"/>
          <p:cNvSpPr txBox="1"/>
          <p:nvPr/>
        </p:nvSpPr>
        <p:spPr>
          <a:xfrm>
            <a:off x="502920"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Hand scan</a:t>
            </a:r>
            <a:endParaRPr lang="en-US" sz="1150" dirty="0"/>
          </a:p>
        </p:txBody>
      </p:sp>
      <p:sp>
        <p:nvSpPr>
          <p:cNvPr id="8" name="vsa0"/>
          <p:cNvSpPr/>
          <p:nvPr/>
        </p:nvSpPr>
        <p:spPr>
          <a:xfrm>
            <a:off x="1700784" y="1847088"/>
            <a:ext cx="146304" cy="0"/>
          </a:xfrm>
          <a:prstGeom prst="line">
            <a:avLst/>
          </a:prstGeom>
          <a:noFill/>
          <a:ln w="22225">
            <a:solidFill>
              <a:schemeClr val="accent4"/>
            </a:solidFill>
            <a:prstDash val="solid"/>
            <a:tailEnd type="triangle"/>
          </a:ln>
        </p:spPr>
      </p:sp>
      <p:sp>
        <p:nvSpPr>
          <p:cNvPr id="9" name="vs1"/>
          <p:cNvSpPr/>
          <p:nvPr/>
        </p:nvSpPr>
        <p:spPr>
          <a:xfrm>
            <a:off x="1856232" y="1234440"/>
            <a:ext cx="1234440" cy="1234440"/>
          </a:xfrm>
          <a:prstGeom prst="roundRect">
            <a:avLst>
              <a:gd name="adj" fmla="val 5926"/>
            </a:avLst>
          </a:prstGeom>
          <a:solidFill>
            <a:schemeClr val="bg1"/>
          </a:solidFill>
          <a:ln w="15875">
            <a:solidFill>
              <a:schemeClr val="accent2"/>
            </a:solidFill>
            <a:prstDash val="dash"/>
          </a:ln>
        </p:spPr>
      </p:sp>
      <p:sp>
        <p:nvSpPr>
          <p:cNvPr id="10" name="vsc1-c"/>
          <p:cNvSpPr/>
          <p:nvPr/>
        </p:nvSpPr>
        <p:spPr>
          <a:xfrm>
            <a:off x="2221992" y="1353312"/>
            <a:ext cx="502920" cy="502920"/>
          </a:xfrm>
          <a:prstGeom prst="ellipse">
            <a:avLst/>
          </a:prstGeom>
          <a:solidFill>
            <a:schemeClr val="accent2"/>
          </a:solidFill>
          <a:ln w="12700">
            <a:solidFill>
              <a:schemeClr val="accent2"/>
            </a:solidFill>
            <a:prstDash val="solid"/>
          </a:ln>
        </p:spPr>
      </p:sp>
      <p:pic>
        <p:nvPicPr>
          <p:cNvPr id="11" name="vsc1-i" descr="preencoded.png">    </p:cNvPr>
          <p:cNvPicPr>
            <a:picLocks noChangeAspect="1"/>
          </p:cNvPicPr>
          <p:nvPr/>
        </p:nvPicPr>
        <p:blipFill>
          <a:blip r:embed="rId2"/>
          <a:stretch>
            <a:fillRect/>
          </a:stretch>
        </p:blipFill>
        <p:spPr>
          <a:xfrm>
            <a:off x="2352751" y="1484071"/>
            <a:ext cx="241402" cy="241402"/>
          </a:xfrm>
          <a:prstGeom prst="rect">
            <a:avLst/>
          </a:prstGeom>
        </p:spPr>
      </p:pic>
      <p:sp>
        <p:nvSpPr>
          <p:cNvPr id="12" name="Text 8"/>
          <p:cNvSpPr txBox="1"/>
          <p:nvPr/>
        </p:nvSpPr>
        <p:spPr>
          <a:xfrm>
            <a:off x="1901952"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Target shape</a:t>
            </a:r>
            <a:endParaRPr lang="en-US" sz="1150" dirty="0"/>
          </a:p>
        </p:txBody>
      </p:sp>
      <p:sp>
        <p:nvSpPr>
          <p:cNvPr id="13" name="vsa1"/>
          <p:cNvSpPr/>
          <p:nvPr/>
        </p:nvSpPr>
        <p:spPr>
          <a:xfrm>
            <a:off x="3099816" y="1847088"/>
            <a:ext cx="146304" cy="0"/>
          </a:xfrm>
          <a:prstGeom prst="line">
            <a:avLst/>
          </a:prstGeom>
          <a:noFill/>
          <a:ln w="22225">
            <a:solidFill>
              <a:schemeClr val="accent4"/>
            </a:solidFill>
            <a:prstDash val="solid"/>
            <a:tailEnd type="triangle"/>
          </a:ln>
        </p:spPr>
      </p:sp>
      <p:sp>
        <p:nvSpPr>
          <p:cNvPr id="14" name="vs2"/>
          <p:cNvSpPr/>
          <p:nvPr/>
        </p:nvSpPr>
        <p:spPr>
          <a:xfrm>
            <a:off x="3255264" y="1234440"/>
            <a:ext cx="1234440" cy="1234440"/>
          </a:xfrm>
          <a:prstGeom prst="roundRect">
            <a:avLst>
              <a:gd name="adj" fmla="val 5926"/>
            </a:avLst>
          </a:prstGeom>
          <a:solidFill>
            <a:schemeClr val="bg1"/>
          </a:solidFill>
          <a:ln w="15875">
            <a:solidFill>
              <a:schemeClr val="accent2"/>
            </a:solidFill>
            <a:prstDash val="dash"/>
          </a:ln>
        </p:spPr>
      </p:sp>
      <p:sp>
        <p:nvSpPr>
          <p:cNvPr id="15" name="vsc2-c"/>
          <p:cNvSpPr/>
          <p:nvPr/>
        </p:nvSpPr>
        <p:spPr>
          <a:xfrm>
            <a:off x="3621024" y="1353312"/>
            <a:ext cx="502920" cy="502920"/>
          </a:xfrm>
          <a:prstGeom prst="ellipse">
            <a:avLst/>
          </a:prstGeom>
          <a:solidFill>
            <a:schemeClr val="accent2"/>
          </a:solidFill>
          <a:ln w="12700">
            <a:solidFill>
              <a:schemeClr val="accent2"/>
            </a:solidFill>
            <a:prstDash val="solid"/>
          </a:ln>
        </p:spPr>
      </p:sp>
      <p:pic>
        <p:nvPicPr>
          <p:cNvPr id="16" name="vsc2-i" descr="preencoded.png">    </p:cNvPr>
          <p:cNvPicPr>
            <a:picLocks noChangeAspect="1"/>
          </p:cNvPicPr>
          <p:nvPr/>
        </p:nvPicPr>
        <p:blipFill>
          <a:blip r:embed="rId3"/>
          <a:stretch>
            <a:fillRect/>
          </a:stretch>
        </p:blipFill>
        <p:spPr>
          <a:xfrm>
            <a:off x="3751783" y="1484071"/>
            <a:ext cx="241402" cy="241402"/>
          </a:xfrm>
          <a:prstGeom prst="rect">
            <a:avLst/>
          </a:prstGeom>
        </p:spPr>
      </p:pic>
      <p:sp>
        <p:nvSpPr>
          <p:cNvPr id="17" name="Text 12"/>
          <p:cNvSpPr txBox="1"/>
          <p:nvPr/>
        </p:nvSpPr>
        <p:spPr>
          <a:xfrm>
            <a:off x="3300984"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Voxel grid</a:t>
            </a:r>
            <a:endParaRPr lang="en-US" sz="1150" dirty="0"/>
          </a:p>
        </p:txBody>
      </p:sp>
      <p:sp>
        <p:nvSpPr>
          <p:cNvPr id="18" name="vsa2"/>
          <p:cNvSpPr/>
          <p:nvPr/>
        </p:nvSpPr>
        <p:spPr>
          <a:xfrm>
            <a:off x="4498848" y="1847088"/>
            <a:ext cx="146304" cy="0"/>
          </a:xfrm>
          <a:prstGeom prst="line">
            <a:avLst/>
          </a:prstGeom>
          <a:noFill/>
          <a:ln w="22225">
            <a:solidFill>
              <a:schemeClr val="accent4"/>
            </a:solidFill>
            <a:prstDash val="solid"/>
            <a:tailEnd type="triangle"/>
          </a:ln>
        </p:spPr>
      </p:sp>
      <p:sp>
        <p:nvSpPr>
          <p:cNvPr id="19" name="vs3"/>
          <p:cNvSpPr/>
          <p:nvPr/>
        </p:nvSpPr>
        <p:spPr>
          <a:xfrm>
            <a:off x="4654296" y="1234440"/>
            <a:ext cx="1234440" cy="1234440"/>
          </a:xfrm>
          <a:prstGeom prst="roundRect">
            <a:avLst>
              <a:gd name="adj" fmla="val 5926"/>
            </a:avLst>
          </a:prstGeom>
          <a:solidFill>
            <a:schemeClr val="bg1"/>
          </a:solidFill>
          <a:ln w="15875">
            <a:solidFill>
              <a:schemeClr val="accent2"/>
            </a:solidFill>
            <a:prstDash val="dash"/>
          </a:ln>
        </p:spPr>
      </p:sp>
      <p:sp>
        <p:nvSpPr>
          <p:cNvPr id="20" name="vsc3-c"/>
          <p:cNvSpPr/>
          <p:nvPr/>
        </p:nvSpPr>
        <p:spPr>
          <a:xfrm>
            <a:off x="5020056" y="1353312"/>
            <a:ext cx="502920" cy="502920"/>
          </a:xfrm>
          <a:prstGeom prst="ellipse">
            <a:avLst/>
          </a:prstGeom>
          <a:solidFill>
            <a:schemeClr val="accent2"/>
          </a:solidFill>
          <a:ln w="12700">
            <a:solidFill>
              <a:schemeClr val="accent2"/>
            </a:solidFill>
            <a:prstDash val="solid"/>
          </a:ln>
        </p:spPr>
      </p:sp>
      <p:pic>
        <p:nvPicPr>
          <p:cNvPr id="21" name="vsc3-i" descr="preencoded.png">    </p:cNvPr>
          <p:cNvPicPr>
            <a:picLocks noChangeAspect="1"/>
          </p:cNvPicPr>
          <p:nvPr/>
        </p:nvPicPr>
        <p:blipFill>
          <a:blip r:embed="rId4"/>
          <a:stretch>
            <a:fillRect/>
          </a:stretch>
        </p:blipFill>
        <p:spPr>
          <a:xfrm>
            <a:off x="5150815" y="1484071"/>
            <a:ext cx="241402" cy="241402"/>
          </a:xfrm>
          <a:prstGeom prst="rect">
            <a:avLst/>
          </a:prstGeom>
        </p:spPr>
      </p:pic>
      <p:sp>
        <p:nvSpPr>
          <p:cNvPr id="22" name="Text 16"/>
          <p:cNvSpPr txBox="1"/>
          <p:nvPr/>
        </p:nvSpPr>
        <p:spPr>
          <a:xfrm>
            <a:off x="4700016"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Surrogate + PEA</a:t>
            </a:r>
            <a:endParaRPr lang="en-US" sz="1150" dirty="0"/>
          </a:p>
        </p:txBody>
      </p:sp>
      <p:sp>
        <p:nvSpPr>
          <p:cNvPr id="23" name="vsa3"/>
          <p:cNvSpPr/>
          <p:nvPr/>
        </p:nvSpPr>
        <p:spPr>
          <a:xfrm>
            <a:off x="5897880" y="1847088"/>
            <a:ext cx="146304" cy="0"/>
          </a:xfrm>
          <a:prstGeom prst="line">
            <a:avLst/>
          </a:prstGeom>
          <a:noFill/>
          <a:ln w="22225">
            <a:solidFill>
              <a:schemeClr val="accent4"/>
            </a:solidFill>
            <a:prstDash val="solid"/>
            <a:tailEnd type="triangle"/>
          </a:ln>
        </p:spPr>
      </p:sp>
      <p:sp>
        <p:nvSpPr>
          <p:cNvPr id="24" name="vs4"/>
          <p:cNvSpPr/>
          <p:nvPr/>
        </p:nvSpPr>
        <p:spPr>
          <a:xfrm>
            <a:off x="6053328" y="1234440"/>
            <a:ext cx="1234440" cy="1234440"/>
          </a:xfrm>
          <a:prstGeom prst="roundRect">
            <a:avLst>
              <a:gd name="adj" fmla="val 5926"/>
            </a:avLst>
          </a:prstGeom>
          <a:solidFill>
            <a:schemeClr val="bg1"/>
          </a:solidFill>
          <a:ln w="15875">
            <a:solidFill>
              <a:schemeClr val="accent2"/>
            </a:solidFill>
            <a:prstDash val="dash"/>
          </a:ln>
        </p:spPr>
      </p:sp>
      <p:sp>
        <p:nvSpPr>
          <p:cNvPr id="25" name="vsc4-c"/>
          <p:cNvSpPr/>
          <p:nvPr/>
        </p:nvSpPr>
        <p:spPr>
          <a:xfrm>
            <a:off x="6419088" y="1353312"/>
            <a:ext cx="502920" cy="502920"/>
          </a:xfrm>
          <a:prstGeom prst="ellipse">
            <a:avLst/>
          </a:prstGeom>
          <a:solidFill>
            <a:schemeClr val="accent2"/>
          </a:solidFill>
          <a:ln w="12700">
            <a:solidFill>
              <a:schemeClr val="accent2"/>
            </a:solidFill>
            <a:prstDash val="solid"/>
          </a:ln>
        </p:spPr>
      </p:sp>
      <p:pic>
        <p:nvPicPr>
          <p:cNvPr id="26" name="vsc4-i" descr="preencoded.png">    </p:cNvPr>
          <p:cNvPicPr>
            <a:picLocks noChangeAspect="1"/>
          </p:cNvPicPr>
          <p:nvPr/>
        </p:nvPicPr>
        <p:blipFill>
          <a:blip r:embed="rId5"/>
          <a:stretch>
            <a:fillRect/>
          </a:stretch>
        </p:blipFill>
        <p:spPr>
          <a:xfrm>
            <a:off x="6549847" y="1484071"/>
            <a:ext cx="241402" cy="241402"/>
          </a:xfrm>
          <a:prstGeom prst="rect">
            <a:avLst/>
          </a:prstGeom>
        </p:spPr>
      </p:pic>
      <p:sp>
        <p:nvSpPr>
          <p:cNvPr id="27" name="Text 20"/>
          <p:cNvSpPr txBox="1"/>
          <p:nvPr/>
        </p:nvSpPr>
        <p:spPr>
          <a:xfrm>
            <a:off x="6099048"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FE check</a:t>
            </a:r>
            <a:endParaRPr lang="en-US" sz="1150" dirty="0"/>
          </a:p>
        </p:txBody>
      </p:sp>
      <p:sp>
        <p:nvSpPr>
          <p:cNvPr id="28" name="vsa4"/>
          <p:cNvSpPr/>
          <p:nvPr/>
        </p:nvSpPr>
        <p:spPr>
          <a:xfrm>
            <a:off x="7296912" y="1847088"/>
            <a:ext cx="146304" cy="0"/>
          </a:xfrm>
          <a:prstGeom prst="line">
            <a:avLst/>
          </a:prstGeom>
          <a:noFill/>
          <a:ln w="22225">
            <a:solidFill>
              <a:schemeClr val="accent4"/>
            </a:solidFill>
            <a:prstDash val="solid"/>
            <a:tailEnd type="triangle"/>
          </a:ln>
        </p:spPr>
      </p:sp>
      <p:sp>
        <p:nvSpPr>
          <p:cNvPr id="29" name="vs5"/>
          <p:cNvSpPr/>
          <p:nvPr/>
        </p:nvSpPr>
        <p:spPr>
          <a:xfrm>
            <a:off x="7452360" y="1234440"/>
            <a:ext cx="1234440" cy="1234440"/>
          </a:xfrm>
          <a:prstGeom prst="roundRect">
            <a:avLst>
              <a:gd name="adj" fmla="val 5926"/>
            </a:avLst>
          </a:prstGeom>
          <a:solidFill>
            <a:schemeClr val="bg1"/>
          </a:solidFill>
          <a:ln w="15875">
            <a:solidFill>
              <a:schemeClr val="accent2"/>
            </a:solidFill>
            <a:prstDash val="dash"/>
          </a:ln>
        </p:spPr>
      </p:sp>
      <p:sp>
        <p:nvSpPr>
          <p:cNvPr id="30" name="vsc5-c"/>
          <p:cNvSpPr/>
          <p:nvPr/>
        </p:nvSpPr>
        <p:spPr>
          <a:xfrm>
            <a:off x="7818120" y="1353312"/>
            <a:ext cx="502920" cy="502920"/>
          </a:xfrm>
          <a:prstGeom prst="ellipse">
            <a:avLst/>
          </a:prstGeom>
          <a:solidFill>
            <a:schemeClr val="accent2"/>
          </a:solidFill>
          <a:ln w="12700">
            <a:solidFill>
              <a:schemeClr val="accent2"/>
            </a:solidFill>
            <a:prstDash val="solid"/>
          </a:ln>
        </p:spPr>
      </p:sp>
      <p:pic>
        <p:nvPicPr>
          <p:cNvPr id="31" name="vsc5-i" descr="preencoded.png">    </p:cNvPr>
          <p:cNvPicPr>
            <a:picLocks noChangeAspect="1"/>
          </p:cNvPicPr>
          <p:nvPr/>
        </p:nvPicPr>
        <p:blipFill>
          <a:blip r:embed="rId6"/>
          <a:stretch>
            <a:fillRect/>
          </a:stretch>
        </p:blipFill>
        <p:spPr>
          <a:xfrm>
            <a:off x="7948879" y="1484071"/>
            <a:ext cx="241402" cy="241402"/>
          </a:xfrm>
          <a:prstGeom prst="rect">
            <a:avLst/>
          </a:prstGeom>
        </p:spPr>
      </p:pic>
      <p:sp>
        <p:nvSpPr>
          <p:cNvPr id="32" name="Text 24"/>
          <p:cNvSpPr txBox="1"/>
          <p:nvPr/>
        </p:nvSpPr>
        <p:spPr>
          <a:xfrm>
            <a:off x="7498080" y="1920240"/>
            <a:ext cx="1143000" cy="457200"/>
          </a:xfrm>
          <a:prstGeom prst="rect">
            <a:avLst/>
          </a:prstGeom>
          <a:noFill/>
          <a:ln/>
        </p:spPr>
        <p:txBody>
          <a:bodyPr wrap="square" lIns="0" tIns="0" rIns="0" bIns="0" rtlCol="0" anchor="ctr"/>
          <a:lstStyle/>
          <a:p>
            <a:pPr algn="ctr" indent="0" marL="0">
              <a:buNone/>
            </a:pPr>
            <a:r>
              <a:rPr lang="en-US" sz="1150" b="1" dirty="0">
                <a:solidFill>
                  <a:schemeClr val="tx2"/>
                </a:solidFill>
                <a:latin typeface="Calibri" pitchFamily="34" charset="0"/>
                <a:ea typeface="Calibri" pitchFamily="34" charset="-122"/>
                <a:cs typeface="Calibri" pitchFamily="34" charset="-120"/>
              </a:rPr>
              <a:t>4D print</a:t>
            </a:r>
            <a:endParaRPr lang="en-US" sz="1150" dirty="0"/>
          </a:p>
        </p:txBody>
      </p:sp>
      <p:sp>
        <p:nvSpPr>
          <p:cNvPr id="33" name="Text 25"/>
          <p:cNvSpPr txBox="1"/>
          <p:nvPr/>
        </p:nvSpPr>
        <p:spPr>
          <a:xfrm>
            <a:off x="457200" y="2606040"/>
            <a:ext cx="8229600" cy="45720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Needs first: digitize the target curve, resample to 200 points, and match coordinates and scale. Our separate FreiHAND prototype is not part of this code.</a:t>
            </a:r>
            <a:endParaRPr lang="en-US" sz="1100" dirty="0"/>
          </a:p>
        </p:txBody>
      </p:sp>
      <p:sp>
        <p:nvSpPr>
          <p:cNvPr id="34" name="tk0"/>
          <p:cNvSpPr/>
          <p:nvPr/>
        </p:nvSpPr>
        <p:spPr>
          <a:xfrm>
            <a:off x="457200" y="3246120"/>
            <a:ext cx="2606040" cy="1371600"/>
          </a:xfrm>
          <a:prstGeom prst="roundRect">
            <a:avLst>
              <a:gd name="adj" fmla="val 5333"/>
            </a:avLst>
          </a:prstGeom>
          <a:solidFill>
            <a:schemeClr val="accent1"/>
          </a:solidFill>
          <a:ln w="12700">
            <a:solidFill>
              <a:schemeClr val="accent1"/>
            </a:solidFill>
            <a:prstDash val="solid"/>
          </a:ln>
        </p:spPr>
      </p:sp>
      <p:sp>
        <p:nvSpPr>
          <p:cNvPr id="35" name="Text 27"/>
          <p:cNvSpPr txBox="1"/>
          <p:nvPr/>
        </p:nvSpPr>
        <p:spPr>
          <a:xfrm>
            <a:off x="640080" y="3310128"/>
            <a:ext cx="548640" cy="548640"/>
          </a:xfrm>
          <a:prstGeom prst="rect">
            <a:avLst/>
          </a:prstGeom>
          <a:noFill/>
          <a:ln/>
        </p:spPr>
        <p:txBody>
          <a:bodyPr wrap="square" lIns="0" tIns="0" rIns="0" bIns="0" rtlCol="0" anchor="t"/>
          <a:lstStyle/>
          <a:p>
            <a:pPr indent="0" marL="0">
              <a:buNone/>
            </a:pPr>
            <a:r>
              <a:rPr lang="en-US" sz="2800" b="1" dirty="0">
                <a:solidFill>
                  <a:schemeClr val="bg1"/>
                </a:solidFill>
                <a:latin typeface="Georgia" pitchFamily="34" charset="0"/>
                <a:ea typeface="Georgia" pitchFamily="34" charset="-122"/>
                <a:cs typeface="Georgia" pitchFamily="34" charset="-120"/>
              </a:rPr>
              <a:t>1</a:t>
            </a:r>
            <a:endParaRPr lang="en-US" sz="2800" dirty="0"/>
          </a:p>
        </p:txBody>
      </p:sp>
      <p:sp>
        <p:nvSpPr>
          <p:cNvPr id="36" name="Text 28"/>
          <p:cNvSpPr txBox="1"/>
          <p:nvPr/>
        </p:nvSpPr>
        <p:spPr>
          <a:xfrm>
            <a:off x="640080" y="3840480"/>
            <a:ext cx="2240280" cy="68580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Representation decides what you can design</a:t>
            </a:r>
            <a:endParaRPr lang="en-US" sz="1400" dirty="0"/>
          </a:p>
        </p:txBody>
      </p:sp>
      <p:sp>
        <p:nvSpPr>
          <p:cNvPr id="37" name="tk1"/>
          <p:cNvSpPr/>
          <p:nvPr/>
        </p:nvSpPr>
        <p:spPr>
          <a:xfrm>
            <a:off x="3246120" y="3246120"/>
            <a:ext cx="2606040" cy="1371600"/>
          </a:xfrm>
          <a:prstGeom prst="roundRect">
            <a:avLst>
              <a:gd name="adj" fmla="val 5333"/>
            </a:avLst>
          </a:prstGeom>
          <a:solidFill>
            <a:schemeClr val="accent2"/>
          </a:solidFill>
          <a:ln w="12700">
            <a:solidFill>
              <a:schemeClr val="accent2"/>
            </a:solidFill>
            <a:prstDash val="solid"/>
          </a:ln>
        </p:spPr>
      </p:sp>
      <p:sp>
        <p:nvSpPr>
          <p:cNvPr id="38" name="Text 30"/>
          <p:cNvSpPr txBox="1"/>
          <p:nvPr/>
        </p:nvSpPr>
        <p:spPr>
          <a:xfrm>
            <a:off x="3429000" y="3310128"/>
            <a:ext cx="548640" cy="548640"/>
          </a:xfrm>
          <a:prstGeom prst="rect">
            <a:avLst/>
          </a:prstGeom>
          <a:noFill/>
          <a:ln/>
        </p:spPr>
        <p:txBody>
          <a:bodyPr wrap="square" lIns="0" tIns="0" rIns="0" bIns="0" rtlCol="0" anchor="t"/>
          <a:lstStyle/>
          <a:p>
            <a:pPr indent="0" marL="0">
              <a:buNone/>
            </a:pPr>
            <a:r>
              <a:rPr lang="en-US" sz="2800" b="1" dirty="0">
                <a:solidFill>
                  <a:schemeClr val="bg1"/>
                </a:solidFill>
                <a:latin typeface="Georgia" pitchFamily="34" charset="0"/>
                <a:ea typeface="Georgia" pitchFamily="34" charset="-122"/>
                <a:cs typeface="Georgia" pitchFamily="34" charset="-120"/>
              </a:rPr>
              <a:t>2</a:t>
            </a:r>
            <a:endParaRPr lang="en-US" sz="2800" dirty="0"/>
          </a:p>
        </p:txBody>
      </p:sp>
      <p:sp>
        <p:nvSpPr>
          <p:cNvPr id="39" name="Text 31"/>
          <p:cNvSpPr txBox="1"/>
          <p:nvPr/>
        </p:nvSpPr>
        <p:spPr>
          <a:xfrm>
            <a:off x="3429000" y="3840480"/>
            <a:ext cx="2240280" cy="68580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Test the surrogate inside the search loop</a:t>
            </a:r>
            <a:endParaRPr lang="en-US" sz="1400" dirty="0"/>
          </a:p>
        </p:txBody>
      </p:sp>
      <p:sp>
        <p:nvSpPr>
          <p:cNvPr id="40" name="tk2"/>
          <p:cNvSpPr/>
          <p:nvPr/>
        </p:nvSpPr>
        <p:spPr>
          <a:xfrm>
            <a:off x="6035040" y="3246120"/>
            <a:ext cx="2606040" cy="1371600"/>
          </a:xfrm>
          <a:prstGeom prst="roundRect">
            <a:avLst>
              <a:gd name="adj" fmla="val 5333"/>
            </a:avLst>
          </a:prstGeom>
          <a:solidFill>
            <a:schemeClr val="tx2"/>
          </a:solidFill>
          <a:ln w="12700">
            <a:solidFill>
              <a:schemeClr val="tx2"/>
            </a:solidFill>
            <a:prstDash val="solid"/>
          </a:ln>
        </p:spPr>
      </p:sp>
      <p:sp>
        <p:nvSpPr>
          <p:cNvPr id="41" name="Text 33"/>
          <p:cNvSpPr txBox="1"/>
          <p:nvPr/>
        </p:nvSpPr>
        <p:spPr>
          <a:xfrm>
            <a:off x="6217920" y="3310128"/>
            <a:ext cx="548640" cy="548640"/>
          </a:xfrm>
          <a:prstGeom prst="rect">
            <a:avLst/>
          </a:prstGeom>
          <a:noFill/>
          <a:ln/>
        </p:spPr>
        <p:txBody>
          <a:bodyPr wrap="square" lIns="0" tIns="0" rIns="0" bIns="0" rtlCol="0" anchor="t"/>
          <a:lstStyle/>
          <a:p>
            <a:pPr indent="0" marL="0">
              <a:buNone/>
            </a:pPr>
            <a:r>
              <a:rPr lang="en-US" sz="2800" b="1" dirty="0">
                <a:solidFill>
                  <a:schemeClr val="bg1"/>
                </a:solidFill>
                <a:latin typeface="Georgia" pitchFamily="34" charset="0"/>
                <a:ea typeface="Georgia" pitchFamily="34" charset="-122"/>
                <a:cs typeface="Georgia" pitchFamily="34" charset="-120"/>
              </a:rPr>
              <a:t>3</a:t>
            </a:r>
            <a:endParaRPr lang="en-US" sz="2800" dirty="0"/>
          </a:p>
        </p:txBody>
      </p:sp>
      <p:sp>
        <p:nvSpPr>
          <p:cNvPr id="42" name="Text 34"/>
          <p:cNvSpPr txBox="1"/>
          <p:nvPr/>
        </p:nvSpPr>
        <p:spPr>
          <a:xfrm>
            <a:off x="6217920" y="3840480"/>
            <a:ext cx="2240280" cy="68580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Validate designs with FE and printing</a:t>
            </a:r>
            <a:endParaRPr lang="en-US" sz="1400" dirty="0"/>
          </a:p>
        </p:txBody>
      </p:sp>
      <p:sp>
        <p:nvSpPr>
          <p:cNvPr id="43" name="Text 35"/>
          <p:cNvSpPr txBox="1"/>
          <p:nvPr/>
        </p:nvSpPr>
        <p:spPr>
          <a:xfrm>
            <a:off x="457200" y="4818888"/>
            <a:ext cx="7498080" cy="201168"/>
          </a:xfrm>
          <a:prstGeom prst="rect">
            <a:avLst/>
          </a:prstGeom>
          <a:noFill/>
          <a:ln/>
        </p:spPr>
        <p:txBody>
          <a:bodyPr wrap="square" lIns="0" tIns="0" rIns="0" bIns="0" rtlCol="0" anchor="t"/>
          <a:lstStyle/>
          <a:p>
            <a:pPr indent="0" marL="0">
              <a:buNone/>
            </a:pPr>
            <a:r>
              <a:rPr lang="en-US" sz="800" dirty="0">
                <a:solidFill>
                  <a:schemeClr val="accent4"/>
                </a:solidFill>
                <a:latin typeface="Calibri" pitchFamily="34" charset="0"/>
                <a:ea typeface="Calibri" pitchFamily="34" charset="-122"/>
                <a:cs typeface="Calibri" pitchFamily="34" charset="-120"/>
              </a:rPr>
              <a:t>Proposed research direction. Demonstrated hand-shape actuation: Jin et al. 2024, Fig. 7 [2].</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737360"/>
          </a:xfrm>
          <a:prstGeom prst="rect">
            <a:avLst/>
          </a:prstGeom>
          <a:noFill/>
          <a:ln/>
        </p:spPr>
        <p:txBody>
          <a:bodyPr wrap="square" lIns="0" tIns="0" rIns="0" bIns="0" rtlCol="0" anchor="b"/>
          <a:lstStyle/>
          <a:p>
            <a:pPr algn="l" indent="0" marL="0">
              <a:buNone/>
            </a:pPr>
            <a:r>
              <a:rPr lang="en-US" sz="3000" b="1" dirty="0">
                <a:solidFill>
                  <a:schemeClr val="bg1"/>
                </a:solidFill>
                <a:latin typeface="Georgia" pitchFamily="34" charset="0"/>
                <a:ea typeface="Georgia" pitchFamily="34" charset="-122"/>
                <a:cs typeface="Georgia" pitchFamily="34" charset="-120"/>
              </a:rPr>
              <a:t>Questions?</a:t>
            </a:r>
            <a:endParaRPr lang="en-US" sz="3000" dirty="0"/>
          </a:p>
        </p:txBody>
      </p:sp>
      <p:sp>
        <p:nvSpPr>
          <p:cNvPr id="3" name="qq-c"/>
          <p:cNvSpPr/>
          <p:nvPr/>
        </p:nvSpPr>
        <p:spPr>
          <a:xfrm>
            <a:off x="548640" y="640080"/>
            <a:ext cx="822960" cy="822960"/>
          </a:xfrm>
          <a:prstGeom prst="ellipse">
            <a:avLst/>
          </a:prstGeom>
          <a:solidFill>
            <a:schemeClr val="accent1"/>
          </a:solidFill>
          <a:ln w="12700">
            <a:solidFill>
              <a:schemeClr val="accent1"/>
            </a:solidFill>
            <a:prstDash val="solid"/>
          </a:ln>
        </p:spPr>
      </p:sp>
      <p:pic>
        <p:nvPicPr>
          <p:cNvPr id="4" name="qq-i" descr="preencoded.png">    </p:cNvPr>
          <p:cNvPicPr>
            <a:picLocks noChangeAspect="1"/>
          </p:cNvPicPr>
          <p:nvPr/>
        </p:nvPicPr>
        <p:blipFill>
          <a:blip r:embed="rId1"/>
          <a:stretch>
            <a:fillRect/>
          </a:stretch>
        </p:blipFill>
        <p:spPr>
          <a:xfrm>
            <a:off x="762610" y="854050"/>
            <a:ext cx="395021" cy="395021"/>
          </a:xfrm>
          <a:prstGeom prst="rect">
            <a:avLst/>
          </a:prstGeom>
        </p:spPr>
      </p:pic>
      <p:sp>
        <p:nvSpPr>
          <p:cNvPr id="5" name="Text 0"/>
          <p:cNvSpPr/>
          <p:nvPr>
            <p:ph idx="101" type="body" hasCustomPrompt="1"/>
          </p:nvPr>
        </p:nvSpPr>
        <p:spPr>
          <a:xfrm>
            <a:off x="548640" y="3291840"/>
            <a:ext cx="5120640" cy="82296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Which validation step should come first: an FE check, a printed measurement, or new target shapes?</a:t>
            </a:r>
            <a:endParaRPr lang="en-US" sz="1500" dirty="0"/>
          </a:p>
        </p:txBody>
      </p:sp>
      <p:sp>
        <p:nvSpPr>
          <p:cNvPr id="6" name="refs"/>
          <p:cNvSpPr/>
          <p:nvPr/>
        </p:nvSpPr>
        <p:spPr>
          <a:xfrm>
            <a:off x="5897880" y="548640"/>
            <a:ext cx="2834640" cy="4023360"/>
          </a:xfrm>
          <a:prstGeom prst="roundRect">
            <a:avLst>
              <a:gd name="adj" fmla="val 2581"/>
            </a:avLst>
          </a:prstGeom>
          <a:solidFill>
            <a:srgbClr val="22325A"/>
          </a:solidFill>
          <a:ln w="12700">
            <a:solidFill>
              <a:srgbClr val="22325A"/>
            </a:solidFill>
            <a:prstDash val="solid"/>
          </a:ln>
        </p:spPr>
      </p:sp>
      <p:sp>
        <p:nvSpPr>
          <p:cNvPr id="7" name="Text 4"/>
          <p:cNvSpPr txBox="1"/>
          <p:nvPr/>
        </p:nvSpPr>
        <p:spPr>
          <a:xfrm>
            <a:off x="6080760" y="685800"/>
            <a:ext cx="2468880" cy="320040"/>
          </a:xfrm>
          <a:prstGeom prst="rect">
            <a:avLst/>
          </a:prstGeom>
          <a:noFill/>
          <a:ln/>
        </p:spPr>
        <p:txBody>
          <a:bodyPr wrap="square" lIns="0" tIns="0" rIns="0" bIns="0" rtlCol="0" anchor="t"/>
          <a:lstStyle/>
          <a:p>
            <a:pPr indent="0" marL="0">
              <a:buNone/>
            </a:pPr>
            <a:r>
              <a:rPr lang="en-US" sz="1300" b="1" dirty="0">
                <a:solidFill>
                  <a:schemeClr val="accent3"/>
                </a:solidFill>
                <a:latin typeface="Georgia" pitchFamily="34" charset="0"/>
                <a:ea typeface="Georgia" pitchFamily="34" charset="-122"/>
                <a:cs typeface="Georgia" pitchFamily="34" charset="-120"/>
              </a:rPr>
              <a:t>References</a:t>
            </a:r>
            <a:endParaRPr lang="en-US" sz="1300" dirty="0"/>
          </a:p>
        </p:txBody>
      </p:sp>
      <p:sp>
        <p:nvSpPr>
          <p:cNvPr id="8" name="Text 5"/>
          <p:cNvSpPr txBox="1"/>
          <p:nvPr/>
        </p:nvSpPr>
        <p:spPr>
          <a:xfrm>
            <a:off x="6080760" y="1051560"/>
            <a:ext cx="2514600" cy="3429000"/>
          </a:xfrm>
          <a:prstGeom prst="rect">
            <a:avLst/>
          </a:prstGeom>
          <a:noFill/>
          <a:ln/>
        </p:spPr>
        <p:txBody>
          <a:bodyPr wrap="square" lIns="0" tIns="0" rIns="0" bIns="0" rtlCol="0" anchor="t"/>
          <a:lstStyle/>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[1] M. Wang et al., Adv. Sci. 12(12), 2407825, 2025. doi:10.1002/advs.202407825</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[2] L. Jin et al., Appl. Mater. Today 40, 102373, 2024. doi:10.1016/j.apmt.2024.102373</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[3] “4Doodle,” Proc. CHI ’23, ACM. doi:10.1145/3544548.3581321</a:t>
            </a:r>
            <a:endParaRPr lang="en-US" sz="900" dirty="0"/>
          </a:p>
          <a:p>
            <a:pPr indent="0" marL="0">
              <a:spcAft>
                <a:spcPts val="600"/>
              </a:spcAft>
              <a:buNone/>
            </a:pPr>
            <a:r>
              <a:rPr lang="en-US" sz="900" dirty="0">
                <a:solidFill>
                  <a:schemeClr val="accent6"/>
                </a:solidFill>
                <a:latin typeface="Calibri" pitchFamily="34" charset="0"/>
                <a:ea typeface="Calibri" pitchFamily="34" charset="-122"/>
                <a:cs typeface="Calibri" pitchFamily="34" charset="-120"/>
              </a:rPr>
              <a:t>[4] github.com/proknapz/Fast-reverse-design-of-4D-printing (fork of github.com/MengtaoWANG/Fast-reverse-design-of-4D-printing)</a:t>
            </a:r>
            <a:endParaRPr lang="en-US" sz="900" dirty="0"/>
          </a:p>
        </p:txBody>
      </p:sp>
      <p:sp>
        <p:nvSpPr>
          <p:cNvPr id="9" name="Text 6"/>
          <p:cNvSpPr txBox="1"/>
          <p:nvPr/>
        </p:nvSpPr>
        <p:spPr>
          <a:xfrm>
            <a:off x="548640" y="4480560"/>
            <a:ext cx="5029200" cy="27432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Pavan Kailas Patil  ·  Omar Khan  ·  UT Dallas</a:t>
            </a:r>
            <a:endParaRPr lang="en-US" sz="1100" dirty="0"/>
          </a:p>
        </p:txBody>
      </p:sp>
    </p:spTree>
  </p:cSld>
  <p:clrMapOvr>
    <a:masterClrMapping/>
  </p:clrMapOvr>
</p:sld>
</file>

<file path=ppt/theme/theme1.xml><?xml version="1.0" encoding="utf-8"?>
<a:theme xmlns:a="http://schemas.openxmlformats.org/drawingml/2006/main" name="Voxel Bold">
  <a:themeElements>
    <a:clrScheme name="Voxel Bold">
      <a:dk1>
        <a:srgbClr val="1B2333"/>
      </a:dk1>
      <a:lt1>
        <a:srgbClr val="FFFFFF"/>
      </a:lt1>
      <a:dk2>
        <a:srgbClr val="14213D"/>
      </a:dk2>
      <a:lt2>
        <a:srgbClr val="EEF2F6"/>
      </a:lt2>
      <a:accent1>
        <a:srgbClr val="0E9E8E"/>
      </a:accent1>
      <a:accent2>
        <a:srgbClr val="E4572E"/>
      </a:accent2>
      <a:accent3>
        <a:srgbClr val="F2B134"/>
      </a:accent3>
      <a:accent4>
        <a:srgbClr val="5B6B82"/>
      </a:accent4>
      <a:accent5>
        <a:srgbClr val="9FD8CF"/>
      </a:accent5>
      <a:accent6>
        <a:srgbClr val="C9D3DF"/>
      </a:accent6>
      <a:hlink>
        <a:srgbClr val="0E9E8E"/>
      </a:hlink>
      <a:folHlink>
        <a:srgbClr val="5B6B82"/>
      </a:folHlink>
    </a:clrScheme>
    <a:fontScheme name="Voxel Bol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Freehand 4D Printing to AI-Driven Fast Reverse Design</dc:title>
  <dc:subject>PptxGenJS Presentation</dc:subject>
  <dc:creator>Pavan Kailas Patil; Omar Khan</dc:creator>
  <cp:lastModifiedBy>Pavan Kailas Patil; Omar Khan</cp:lastModifiedBy>
  <cp:revision>1</cp:revision>
  <dcterms:created xsi:type="dcterms:W3CDTF">2026-10-11T17:16:05Z</dcterms:created>
  <dcterms:modified xsi:type="dcterms:W3CDTF">2026-10-11T17:16:05Z</dcterms:modified>
</cp:coreProperties>
</file>