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chemeClr val="tx2"/>
                </a:solidFill>
                <a:latin typeface="+mn-lt"/>
              </a:defRPr>
            </a:pPr>
            <a:r>
              <a:rPr sz="1100" b="0" i="0" u="none" strike="noStrike">
                <a:solidFill>
                  <a:schemeClr val="tx2"/>
                </a:solidFill>
                <a:latin typeface="+mn-lt"/>
              </a:rPr>
              <a:t>Design time, one benchmark (seconds, log)</a:t>
            </a:r>
          </a:p>
        </c:rich>
      </c:tx>
      <c:layout/>
      <c:overlay val="0"/>
    </c:title>
    <c:autoTitleDeleted val="0"/>
    <c:plotArea>
      <c:layout/>
      <c:barChart>
        <c:barDir val="col"/>
        <c:grouping val="clustered"/>
        <c:varyColors val="0"/>
        <c:ser>
          <c:idx val="0"/>
          <c:order val="0"/>
          <c:tx>
            <c:strRef>
              <c:f>Sheet1!$B$1</c:f>
              <c:strCache>
                <c:ptCount val="1"/>
                <c:pt idx="0">
                  <c:v>Design time (s)</c:v>
                </c:pt>
              </c:strCache>
            </c:strRef>
          </c:tx>
          <c:spPr>
            <a:solidFill>
              <a:srgbClr val="5B6B82"/>
            </a:solidFill>
            <a:effectLst/>
          </c:spPr>
          <c:invertIfNegative val="0"/>
          <c:dLbls>
            <c:numFmt formatCode="#,##0" sourceLinked="0"/>
            <c:txPr>
              <a:bodyPr/>
              <a:lstStyle/>
              <a:p>
                <a:pPr>
                  <a:defRPr b="0" i="0" strike="noStrike" sz="1000" u="none">
                    <a:solidFill>
                      <a:schemeClr val="tx1"/>
                    </a:solidFill>
                    <a:latin typeface="+mn-lt"/>
                  </a:defRPr>
                </a:pPr>
              </a:p>
            </c:txPr>
            <c:showLegendKey val="0"/>
            <c:showVal val="0"/>
            <c:showCatName val="0"/>
            <c:showSerName val="0"/>
            <c:showPercent val="0"/>
            <c:showBubbleSize val="0"/>
            <c:showLeaderLines val="0"/>
          </c:dLbls>
          <c:dPt>
            <c:idx val="0"/>
            <c:invertIfNegative val="0"/>
            <c:bubble3D val="0"/>
            <c:spPr>
              <a:solidFill>
                <a:srgbClr val="5B6B82"/>
              </a:solidFill>
              <a:effectLst/>
            </c:spPr>
          </c:dPt>
          <c:dPt>
            <c:idx val="1"/>
            <c:invertIfNegative val="0"/>
            <c:bubble3D val="0"/>
            <c:spPr>
              <a:solidFill>
                <a:srgbClr val="0E9E8E"/>
              </a:solidFill>
              <a:effectLst/>
            </c:spPr>
          </c:dPt>
          <c:dPt>
            <c:idx val="2"/>
            <c:invertIfNegative val="0"/>
            <c:bubble3D val="0"/>
            <c:spPr>
              <a:solidFill>
                <a:srgbClr val="E4572E"/>
              </a:solidFill>
              <a:effectLst/>
            </c:spPr>
          </c:dPt>
          <c:cat>
            <c:multiLvlStrRef>
              <c:f>Sheet1!$A$2:$A$4</c:f>
              <c:multiLvlStrCache>
                <c:ptCount val="3"/>
                <c:lvl>
                  <c:pt idx="0">
                    <c:v>FE + EA</c:v>
                  </c:pt>
                  <c:pt idx="1">
                    <c:v>ML + EA</c:v>
                  </c:pt>
                  <c:pt idx="2">
                    <c:v>ML + SSO</c:v>
                  </c:pt>
                </c:lvl>
              </c:multiLvlStrCache>
            </c:multiLvlStrRef>
          </c:cat>
          <c:val>
            <c:numRef>
              <c:f>Sheet1!$B$2:$B$4</c:f>
              <c:numCache>
                <c:formatCode>General</c:formatCode>
                <c:ptCount val="3"/>
                <c:pt idx="0">
                  <c:v>18921600</c:v>
                </c:pt>
                <c:pt idx="1">
                  <c:v>3240</c:v>
                </c:pt>
                <c:pt idx="2">
                  <c:v>1.97</c:v>
                </c:pt>
              </c:numCache>
            </c:numRef>
          </c:val>
        </c:ser>
        <c:dLbls>
          <c:numFmt formatCode="#,##0" sourceLinked="0"/>
          <c:txPr>
            <a:bodyPr/>
            <a:lstStyle/>
            <a:p>
              <a:pPr>
                <a:defRPr b="0" i="0" strike="noStrike" sz="1000" u="none">
                  <a:solidFill>
                    <a:schemeClr val="tx1"/>
                  </a:solidFill>
                  <a:latin typeface="+mn-lt"/>
                </a:defRPr>
              </a:pPr>
            </a:p>
          </c:txPr>
          <c:showLegendKey val="0"/>
          <c:showVal val="0"/>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chemeClr val="accent4"/>
                </a:solidFill>
                <a:latin typeface="+mn-lt"/>
              </a:defRPr>
            </a:pPr>
            <a:endParaRPr lang="en-US"/>
          </a:p>
        </c:txPr>
        <c:crossAx val="2094734552"/>
        <c:crosses val="autoZero"/>
        <c:auto val="1"/>
        <c:lblAlgn val="ctr"/>
        <c:noMultiLvlLbl val="1"/>
      </c:catAx>
      <c:valAx>
        <c:axId val="2094734552"/>
        <c:scaling>
          <c:logBase val="10"/>
          <c:orientation val="minMax"/>
          <c:max val="100000000"/>
          <c:min val="1"/>
        </c:scaling>
        <c:delete val="0"/>
        <c:axPos val="l"/>
        <c:majorGridlines>
          <c:spPr>
            <a:ln w="6350" cap="flat">
              <a:solidFill>
                <a:srgbClr val="C9D3DF"/>
              </a:solidFill>
              <a:prstDash val="solid"/>
              <a:round/>
            </a:ln>
          </c:spPr>
        </c:majorGridlines>
        <c:numFmt formatCode="0E+0" sourceLinked="0"/>
        <c:majorTickMark val="out"/>
        <c:minorTickMark val="none"/>
        <c:tickLblPos val="nextTo"/>
        <c:spPr>
          <a:ln w="12700" cap="flat">
            <a:solidFill>
              <a:srgbClr val="888888"/>
            </a:solidFill>
            <a:prstDash val="solid"/>
            <a:round/>
          </a:ln>
        </c:spPr>
        <c:txPr>
          <a:bodyPr/>
          <a:lstStyle/>
          <a:p>
            <a:pPr>
              <a:defRPr sz="900" b="0" i="0" u="none" strike="noStrike">
                <a:solidFill>
                  <a:schemeClr val="accent4"/>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chemeClr val="tx2"/>
                </a:solidFill>
                <a:latin typeface="+mn-lt"/>
              </a:defRPr>
            </a:pPr>
            <a:r>
              <a:rPr sz="1100" b="0" i="0" u="none" strike="noStrike">
                <a:solidFill>
                  <a:schemeClr val="tx2"/>
                </a:solidFill>
                <a:latin typeface="+mn-lt"/>
              </a:rPr>
              <a:t>Accuracy over 2,000 reverse designs (recreated)</a:t>
            </a:r>
          </a:p>
        </c:rich>
      </c:tx>
      <c:layout/>
      <c:overlay val="0"/>
    </c:title>
    <c:autoTitleDeleted val="0"/>
    <c:plotArea>
      <c:layout/>
      <c:barChart>
        <c:barDir val="bar"/>
        <c:grouping val="clustered"/>
        <c:varyColors val="0"/>
        <c:ser>
          <c:idx val="0"/>
          <c:order val="0"/>
          <c:tx>
            <c:strRef>
              <c:f>Sheet1!$B$1</c:f>
              <c:strCache>
                <c:ptCount val="1"/>
                <c:pt idx="0">
                  <c:v>Overall accuracy (%)</c:v>
                </c:pt>
              </c:strCache>
            </c:strRef>
          </c:tx>
          <c:spPr>
            <a:solidFill>
              <a:srgbClr val="5B6B82"/>
            </a:solidFill>
            <a:effectLst/>
          </c:spPr>
          <c:invertIfNegative val="0"/>
          <c:dLbls>
            <c:numFmt formatCode="0.0#&quot;%&quot;" sourceLinked="0"/>
            <c:txPr>
              <a:bodyPr/>
              <a:lstStyle/>
              <a:p>
                <a:pPr>
                  <a:defRPr b="0" i="0" strike="noStrike" sz="1000" u="none">
                    <a:solidFill>
                      <a:schemeClr val="tx1"/>
                    </a:solidFill>
                    <a:latin typeface="+mn-lt"/>
                  </a:defRPr>
                </a:pPr>
              </a:p>
            </c:txPr>
            <c:showLegendKey val="0"/>
            <c:showVal val="1"/>
            <c:showCatName val="0"/>
            <c:showSerName val="0"/>
            <c:showPercent val="0"/>
            <c:showBubbleSize val="0"/>
            <c:showLeaderLines val="0"/>
          </c:dLbls>
          <c:dPt>
            <c:idx val="0"/>
            <c:invertIfNegative val="0"/>
            <c:bubble3D val="0"/>
            <c:spPr>
              <a:solidFill>
                <a:srgbClr val="5B6B82"/>
              </a:solidFill>
              <a:effectLst/>
            </c:spPr>
          </c:dPt>
          <c:dPt>
            <c:idx val="1"/>
            <c:invertIfNegative val="0"/>
            <c:bubble3D val="0"/>
            <c:spPr>
              <a:solidFill>
                <a:srgbClr val="E4572E"/>
              </a:solidFill>
              <a:effectLst/>
            </c:spPr>
          </c:dPt>
          <c:cat>
            <c:multiLvlStrRef>
              <c:f>Sheet1!$A$2:$A$3</c:f>
              <c:multiLvlStrCache>
                <c:ptCount val="2"/>
                <c:lvl>
                  <c:pt idx="0">
                    <c:v>Standard EA</c:v>
                  </c:pt>
                  <c:pt idx="1">
                    <c:v>Progressive EA</c:v>
                  </c:pt>
                </c:lvl>
              </c:multiLvlStrCache>
            </c:multiLvlStrRef>
          </c:cat>
          <c:val>
            <c:numRef>
              <c:f>Sheet1!$B$2:$B$3</c:f>
              <c:numCache>
                <c:formatCode>General</c:formatCode>
                <c:ptCount val="2"/>
                <c:pt idx="0">
                  <c:v>87.65</c:v>
                </c:pt>
                <c:pt idx="1">
                  <c:v>98.7</c:v>
                </c:pt>
              </c:numCache>
            </c:numRef>
          </c:val>
        </c:ser>
        <c:dLbls>
          <c:numFmt formatCode="0.0#&quot;%&quot;" sourceLinked="0"/>
          <c:txPr>
            <a:bodyPr/>
            <a:lstStyle/>
            <a:p>
              <a:pPr>
                <a:defRPr b="0" i="0" strike="noStrike" sz="1000" u="none">
                  <a:solidFill>
                    <a:schemeClr val="tx1"/>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chemeClr val="accent4"/>
                </a:solidFill>
                <a:latin typeface="+mn-lt"/>
              </a:defRPr>
            </a:pPr>
            <a:endParaRPr lang="en-US"/>
          </a:p>
        </c:txPr>
        <c:crossAx val="2094734552"/>
        <c:crosses val="autoZero"/>
        <c:auto val="1"/>
        <c:lblAlgn val="ctr"/>
        <c:noMultiLvlLbl val="1"/>
      </c:catAx>
      <c:valAx>
        <c:axId val="2094734552"/>
        <c:scaling>
          <c:orientation val="minMax"/>
          <c:max val="11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chemeClr val="accent4"/>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Test MSE</c:v>
                </c:pt>
              </c:strCache>
            </c:strRef>
          </c:tx>
          <c:spPr>
            <a:solidFill>
              <a:srgbClr val="E4572E"/>
            </a:solidFill>
            <a:effectLst/>
          </c:spPr>
          <c:invertIfNegative val="0"/>
          <c:dLbls>
            <c:numFmt formatCode="#,##0" sourceLinked="0"/>
            <c:txPr>
              <a:bodyPr/>
              <a:lstStyle/>
              <a:p>
                <a:pPr>
                  <a:defRPr b="0" i="0" strike="noStrike" sz="1000" u="none">
                    <a:solidFill>
                      <a:schemeClr val="tx1"/>
                    </a:solidFill>
                    <a:latin typeface="+mn-lt"/>
                  </a:defRPr>
                </a:pPr>
              </a:p>
            </c:txPr>
            <c:showLegendKey val="0"/>
            <c:showVal val="0"/>
            <c:showCatName val="0"/>
            <c:showSerName val="0"/>
            <c:showPercent val="0"/>
            <c:showBubbleSize val="0"/>
            <c:showLeaderLines val="0"/>
          </c:dLbls>
          <c:dPt>
            <c:idx val="0"/>
            <c:invertIfNegative val="0"/>
            <c:bubble3D val="0"/>
            <c:spPr>
              <a:solidFill>
                <a:srgbClr val="E4572E"/>
              </a:solidFill>
              <a:effectLst/>
            </c:spPr>
          </c:dPt>
          <c:dPt>
            <c:idx val="1"/>
            <c:invertIfNegative val="0"/>
            <c:bubble3D val="0"/>
            <c:spPr>
              <a:solidFill>
                <a:srgbClr val="0E9E8E"/>
              </a:solidFill>
              <a:effectLst/>
            </c:spPr>
          </c:dPt>
          <c:cat>
            <c:multiLvlStrRef>
              <c:f>Sheet1!$A$2:$A$3</c:f>
              <c:multiLvlStrCache>
                <c:ptCount val="2"/>
                <c:lvl>
                  <c:pt idx="0">
                    <c:v>SEP-CNN</c:v>
                  </c:pt>
                  <c:pt idx="1">
                    <c:v>ResNet</c:v>
                  </c:pt>
                </c:lvl>
              </c:multiLvlStrCache>
            </c:multiLvlStrRef>
          </c:cat>
          <c:val>
            <c:numRef>
              <c:f>Sheet1!$B$2:$B$3</c:f>
              <c:numCache>
                <c:formatCode>General</c:formatCode>
                <c:ptCount val="2"/>
                <c:pt idx="0">
                  <c:v>0.00228699</c:v>
                </c:pt>
                <c:pt idx="1">
                  <c:v>0.0000559052</c:v>
                </c:pt>
              </c:numCache>
            </c:numRef>
          </c:val>
        </c:ser>
        <c:dLbls>
          <c:numFmt formatCode="#,##0" sourceLinked="0"/>
          <c:txPr>
            <a:bodyPr/>
            <a:lstStyle/>
            <a:p>
              <a:pPr>
                <a:defRPr b="0" i="0" strike="noStrike" sz="1000" u="none">
                  <a:solidFill>
                    <a:schemeClr val="tx1"/>
                  </a:solidFill>
                  <a:latin typeface="+mn-lt"/>
                </a:defRPr>
              </a:pPr>
            </a:p>
          </c:txPr>
          <c:showLegendKey val="0"/>
          <c:showVal val="0"/>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chemeClr val="accent4"/>
                </a:solidFill>
                <a:latin typeface="+mn-lt"/>
              </a:defRPr>
            </a:pPr>
            <a:endParaRPr lang="en-US"/>
          </a:p>
        </c:txPr>
        <c:crossAx val="2094734552"/>
        <c:crosses val="autoZero"/>
        <c:auto val="1"/>
        <c:lblAlgn val="ctr"/>
        <c:noMultiLvlLbl val="1"/>
      </c:catAx>
      <c:valAx>
        <c:axId val="2094734552"/>
        <c:scaling>
          <c:logBase val="10"/>
          <c:orientation val="minMax"/>
          <c:max val="0.01"/>
          <c:min val="0.00001"/>
        </c:scaling>
        <c:delete val="0"/>
        <c:axPos val="l"/>
        <c:majorGridlines>
          <c:spPr>
            <a:ln w="6350" cap="flat">
              <a:solidFill>
                <a:srgbClr val="C9D3DF"/>
              </a:solidFill>
              <a:prstDash val="solid"/>
              <a:round/>
            </a:ln>
          </c:spPr>
        </c:majorGridlines>
        <c:numFmt formatCode="0E+0" sourceLinked="0"/>
        <c:majorTickMark val="out"/>
        <c:minorTickMark val="none"/>
        <c:tickLblPos val="nextTo"/>
        <c:spPr>
          <a:ln w="12700" cap="flat">
            <a:solidFill>
              <a:srgbClr val="888888"/>
            </a:solidFill>
            <a:prstDash val="solid"/>
            <a:round/>
          </a:ln>
        </c:spPr>
        <c:txPr>
          <a:bodyPr/>
          <a:lstStyle/>
          <a:p>
            <a:pPr>
              <a:defRPr sz="900" b="0" i="0" u="none" strike="noStrike">
                <a:solidFill>
                  <a:schemeClr val="accent4"/>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Mean MSE</c:v>
                </c:pt>
              </c:strCache>
            </c:strRef>
          </c:tx>
          <c:spPr>
            <a:solidFill>
              <a:srgbClr val="E4572E"/>
            </a:solidFill>
            <a:effectLst/>
          </c:spPr>
          <c:invertIfNegative val="0"/>
          <c:dLbls>
            <c:numFmt formatCode="0.0000" sourceLinked="0"/>
            <c:txPr>
              <a:bodyPr/>
              <a:lstStyle/>
              <a:p>
                <a:pPr>
                  <a:defRPr b="0" i="0" strike="noStrike" sz="1000" u="none">
                    <a:solidFill>
                      <a:schemeClr val="tx1"/>
                    </a:solidFill>
                    <a:latin typeface="+mn-lt"/>
                  </a:defRPr>
                </a:pPr>
              </a:p>
            </c:txPr>
            <c:showLegendKey val="0"/>
            <c:showVal val="1"/>
            <c:showCatName val="0"/>
            <c:showSerName val="0"/>
            <c:showPercent val="0"/>
            <c:showBubbleSize val="0"/>
            <c:showLeaderLines val="0"/>
          </c:dLbls>
          <c:dPt>
            <c:idx val="0"/>
            <c:invertIfNegative val="0"/>
            <c:bubble3D val="0"/>
            <c:spPr>
              <a:solidFill>
                <a:srgbClr val="E4572E"/>
              </a:solidFill>
              <a:effectLst/>
            </c:spPr>
          </c:dPt>
          <c:dPt>
            <c:idx val="1"/>
            <c:invertIfNegative val="0"/>
            <c:bubble3D val="0"/>
            <c:spPr>
              <a:solidFill>
                <a:srgbClr val="0E9E8E"/>
              </a:solidFill>
              <a:effectLst/>
            </c:spPr>
          </c:dPt>
          <c:cat>
            <c:multiLvlStrRef>
              <c:f>Sheet1!$A$2:$A$3</c:f>
              <c:multiLvlStrCache>
                <c:ptCount val="2"/>
                <c:lvl>
                  <c:pt idx="0">
                    <c:v>SEP-CNN</c:v>
                  </c:pt>
                  <c:pt idx="1">
                    <c:v>ResNet</c:v>
                  </c:pt>
                </c:lvl>
              </c:multiLvlStrCache>
            </c:multiLvlStrRef>
          </c:cat>
          <c:val>
            <c:numRef>
              <c:f>Sheet1!$B$2:$B$3</c:f>
              <c:numCache>
                <c:formatCode>General</c:formatCode>
                <c:ptCount val="2"/>
                <c:pt idx="0">
                  <c:v>0.0207693</c:v>
                </c:pt>
                <c:pt idx="1">
                  <c:v>0.0367186</c:v>
                </c:pt>
              </c:numCache>
            </c:numRef>
          </c:val>
        </c:ser>
        <c:dLbls>
          <c:numFmt formatCode="0.0000" sourceLinked="0"/>
          <c:txPr>
            <a:bodyPr/>
            <a:lstStyle/>
            <a:p>
              <a:pPr>
                <a:defRPr b="0" i="0" strike="noStrike" sz="1000" u="none">
                  <a:solidFill>
                    <a:schemeClr val="tx1"/>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chemeClr val="accent4"/>
                </a:solidFill>
                <a:latin typeface="+mn-lt"/>
              </a:defRPr>
            </a:pPr>
            <a:endParaRPr lang="en-US"/>
          </a:p>
        </c:txPr>
        <c:crossAx val="2094734552"/>
        <c:crosses val="autoZero"/>
        <c:auto val="1"/>
        <c:lblAlgn val="ctr"/>
        <c:noMultiLvlLbl val="1"/>
      </c:catAx>
      <c:valAx>
        <c:axId val="2094734552"/>
        <c:scaling>
          <c:orientation val="minMax"/>
          <c:max val="0.0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chemeClr val="accent4"/>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Pavan
SCRIPT (≤30 s):
Good morning. I'm Pavan, and with Omar Khan we'll show how a 4D-printed part can be designed backwards: start from the shape you want, then let AI find the material layout. We build on Wang et al. 2025 and Jin et al. 2024, and finish with what our own fork of Wang's code does.
TRANSITION: First, what makes 4D printing different.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Pavan
SCRIPT (≤30 s):
3D printing gives you a fixed object. 4D printing adds time. We print a flat strip from two materials that respond differently to a stimulus, like heat or solvent. When triggered, the mismatch makes it bend into a programmed shape. So the real design question is where each material goes.
TRANSITION: People first explored this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Pavan
SCRIPT (≤30 s):
Freehand 4D printing, as in 4Doodle, uses a handheld 3D pen. Extruding plastic stores strain along the path, and heating releases it, so the drawn path programs the bending. It's creative and flexible, but hand paths are imprecise, so the final shape is hard to predict. That's why we need computation.
TRANSITION: Here's why computing the design is hard.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Pavan
SCRIPT (≤30 s):
Four things make design hard: nonlinear behaviour, many layouts giving similar shapes, a huge design space, and slow simulation. The chart shows one published benchmark. Search with finite elements was estimated at 219 days, a learned surrogate cut it to 54 minutes, and a better optimiser reached about two seconds.
TRANSITION: Wang et al. push that speed further.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Pavan
SCRIPT (≤30 s):
Part one: fast reverse design by Wang and colleagues.
TRANSITION: Here's their framework.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Pavan
SCRIPT (≤30 s):
Wang et al. design hydrogel beams made of voxels. Finite-element simulations train a neural network that predicts the bent shape. Then an evolutionary algorithm searches for the layout that matches a target. They report about three seconds per design, across a space of over a million possible layouts.
TRANSITION: Let's look at how the voxels encode the shape.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Pavan
SCRIPT (≤30 s):
Each voxel is either active, coded 1, which swells more, or passive, coded 0, which swells less. The beam is a 2-by-10 grid. In each column, the mismatch between layers sets the local bend, and the sequence of columns sets the overall curve. The model predicts that curve as 200 x-y points.
TRANSITION: Two engines do the work: predict and 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Pavan
SCRIPT (≤30 s):
To predict, SEP-CNN processes each voxel column in its own channel and passes information to the next column, like a sequence. To search, the progressive evolutionary algorithm locks in good columns one at a time instead of guessing all twenty at once. In the repository, the target is a numeric curve read from a CSV file.
TRANSITION: Does it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Pavan
SCRIPT (≤30 s):
Yes. In Wang's example, the predicted shape matches the target within three generations. Over 2,000 reverse designs, progressive search reached 98.7 percent accuracy, compared with 87.65 for a standard evolutionary algorithm. The chart is recreated from the paper's own table. Omar takes over from here.
TRANSITION: Omar: Jin et al. and our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Omar
SCRIPT (≤30 s):
Thanks, Pavan. Jin et al. solve a different problem: arbitrary shapes. They pad any outline into a grid, with 0 for empty, 1 for passive and 2 for active. A ResNet predicts the deformation, and an evolutionary algorithm searches with the settings in the table.
TRANSITION: Their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Omar
SCRIPT (≤30 s):
For a parabola target, the error drops from about 3.7 to 1.8 millimetres over 200 generations, and the optimised shape tracks the target closely. Most relevant to us, they printed a hand-shaped part that opens and closes on heating. That match is shown visually, not as a measured error.
TRANSITION: How do the two papers compare?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Omar
SCRIPT (≤30 s):
Same backbone, different goals. Wang optimises for speed in a small, structured beam. Jin optimises for geometric freedom with arbitrary outlines. Their metrics aren't directly comparable, so we treat them as complementary: Jin's representation with Wang's fast search is a natural next step.
TRANSITION: Part two: what we actually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Omar
SCRIPT (≤30 s):
Part two: what our repository actually does.
TRANSITION: We started by replacing the forward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Omar
SCRIPT (≤30 s):
In our fork, we replaced SEP-CNN with a retrained 2D ResNet. Both take a 2-by-10 layout and predict a 2-by-200 curve. But it wasn't plug-and-play. We needed matching preprocessing, consistent outputs, new trained weights and a separate PEA script. Both models were trained under the same documented setup.
TRANSITION: What did we find?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Omar
SCRIPT (≤30 s):
Three separate results. On held-out test data, ResNet's MSE was about 41 times lower. On two hand-picked designs, the result was mixed. On one shared set of 1,024 candidates, SEP-CNN had lower error on 1,016. All of these are model predictions against the target, not physical validation.
TRANSITION: So where does this lead?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Omar
SCRIPT (≤30 s):
Our vision, which is proposed and not built, goes from a patient's hand scan to a printed orthosis. A drawn or scanned target would first need digitizing, resampling to 200 points, and scaling. Our separate FreiHAND prototype isn't part of this code. Takeaways: representation matters, test the surrogate inside the loop, and validate physically.
TRANSITION: Thank you; questions welcome.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Omar
SCRIPT (≤30 s):
Thank you. Our question for you: which validation step should come first before moving toward orthoses? Is it a finite-element check, a printed measurement, or testing new target shapes?
TRANSITION: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5120640" cy="1737360"/>
          </a:xfrm>
          <a:prstGeom prst="rect">
            <a:avLst/>
          </a:prstGeom>
          <a:noFill/>
          <a:ln/>
        </p:spPr>
        <p:txBody>
          <a:bodyPr wrap="square" rtlCol="0"/>
          <a:lstStyle>
            <a:lvl1pPr algn="l" indent="0" marL="0">
              <a:buNone/>
              <a:defRPr lang="en-US" sz="3000" b="1" dirty="0">
                <a:solidFill>
                  <a:schemeClr val="bg1"/>
                </a:solidFill>
                <a:latin typeface="Georgia" pitchFamily="34" charset="0"/>
                <a:ea typeface="Georgia" pitchFamily="34" charset="-122"/>
                <a:cs typeface="Georgia" pitchFamily="34" charset="-120"/>
              </a:defRPr>
            </a:lvl1pPr>
          </a:lstStyle>
          <a:p>
            <a:pPr algn="l" indent="0" marL="0">
              <a:buNone/>
            </a:pPr>
            <a:endParaRPr lang="en-US" sz="3000" dirty="0"/>
          </a:p>
        </p:txBody>
      </p:sp>
      <p:sp>
        <p:nvSpPr>
          <p:cNvPr id="3" name="Text 0"/>
          <p:cNvSpPr/>
          <p:nvPr>
            <p:ph idx="101" type="body" hasCustomPrompt="1"/>
          </p:nvPr>
        </p:nvSpPr>
        <p:spPr>
          <a:xfrm>
            <a:off x="548640" y="3291840"/>
            <a:ext cx="5120640" cy="822960"/>
          </a:xfrm>
          <a:prstGeom prst="rect">
            <a:avLst/>
          </a:prstGeom>
          <a:noFill/>
          <a:ln/>
        </p:spPr>
        <p:txBody>
          <a:bodyPr wrap="square" rtlCol="0"/>
          <a:lstStyle>
            <a:lvl1pPr algn="l" indent="0" marL="0">
              <a:buNone/>
              <a:defRPr lang="en-US" sz="1500" dirty="0">
                <a:solidFill>
                  <a:schemeClr val="accent5"/>
                </a:solidFill>
                <a:latin typeface="Calibri" pitchFamily="34" charset="0"/>
                <a:ea typeface="Calibri" pitchFamily="34" charset="-122"/>
                <a:cs typeface="Calibri" pitchFamily="34" charset="-120"/>
              </a:defRPr>
            </a:lvl1pPr>
          </a:lstStyle>
          <a:p>
            <a:pPr algn="l" indent="0" marL="0">
              <a:buNone/>
            </a:pPr>
            <a:endParaRPr lang="en-US" sz="15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Shape 0"/>
          <p:cNvSpPr/>
          <p:nvPr/>
        </p:nvSpPr>
        <p:spPr>
          <a:xfrm>
            <a:off x="5074920" y="1600200"/>
            <a:ext cx="329184" cy="329184"/>
          </a:xfrm>
          <a:prstGeom prst="rect">
            <a:avLst/>
          </a:prstGeom>
          <a:solidFill>
            <a:srgbClr val="0E9E8E"/>
          </a:solidFill>
          <a:ln w="12700">
            <a:solidFill>
              <a:srgbClr val="0E9E8E"/>
            </a:solidFill>
            <a:prstDash val="solid"/>
          </a:ln>
        </p:spPr>
      </p:sp>
      <p:sp>
        <p:nvSpPr>
          <p:cNvPr id="3" name="Shape 1"/>
          <p:cNvSpPr/>
          <p:nvPr/>
        </p:nvSpPr>
        <p:spPr>
          <a:xfrm>
            <a:off x="5449824" y="1600200"/>
            <a:ext cx="329184" cy="329184"/>
          </a:xfrm>
          <a:prstGeom prst="rect">
            <a:avLst/>
          </a:prstGeom>
          <a:solidFill>
            <a:srgbClr val="0E9E8E"/>
          </a:solidFill>
          <a:ln w="12700">
            <a:solidFill>
              <a:srgbClr val="0E9E8E"/>
            </a:solidFill>
            <a:prstDash val="solid"/>
          </a:ln>
        </p:spPr>
      </p:sp>
      <p:sp>
        <p:nvSpPr>
          <p:cNvPr id="4" name="Shape 2"/>
          <p:cNvSpPr/>
          <p:nvPr/>
        </p:nvSpPr>
        <p:spPr>
          <a:xfrm>
            <a:off x="5824728" y="1600200"/>
            <a:ext cx="329184" cy="329184"/>
          </a:xfrm>
          <a:prstGeom prst="rect">
            <a:avLst/>
          </a:prstGeom>
          <a:solidFill>
            <a:srgbClr val="22325A"/>
          </a:solidFill>
          <a:ln w="12700">
            <a:solidFill>
              <a:srgbClr val="22325A"/>
            </a:solidFill>
            <a:prstDash val="solid"/>
          </a:ln>
        </p:spPr>
      </p:sp>
      <p:sp>
        <p:nvSpPr>
          <p:cNvPr id="5" name="Shape 3"/>
          <p:cNvSpPr/>
          <p:nvPr/>
        </p:nvSpPr>
        <p:spPr>
          <a:xfrm>
            <a:off x="6199632" y="1600200"/>
            <a:ext cx="329184" cy="329184"/>
          </a:xfrm>
          <a:prstGeom prst="rect">
            <a:avLst/>
          </a:prstGeom>
          <a:solidFill>
            <a:srgbClr val="22325A"/>
          </a:solidFill>
          <a:ln w="12700">
            <a:solidFill>
              <a:srgbClr val="22325A"/>
            </a:solidFill>
            <a:prstDash val="solid"/>
          </a:ln>
        </p:spPr>
      </p:sp>
      <p:sp>
        <p:nvSpPr>
          <p:cNvPr id="6" name="Shape 4"/>
          <p:cNvSpPr/>
          <p:nvPr/>
        </p:nvSpPr>
        <p:spPr>
          <a:xfrm>
            <a:off x="6574536" y="1600200"/>
            <a:ext cx="329184" cy="329184"/>
          </a:xfrm>
          <a:prstGeom prst="rect">
            <a:avLst/>
          </a:prstGeom>
          <a:solidFill>
            <a:srgbClr val="0E9E8E"/>
          </a:solidFill>
          <a:ln w="12700">
            <a:solidFill>
              <a:srgbClr val="0E9E8E"/>
            </a:solidFill>
            <a:prstDash val="solid"/>
          </a:ln>
        </p:spPr>
      </p:sp>
      <p:sp>
        <p:nvSpPr>
          <p:cNvPr id="7" name="Shape 5"/>
          <p:cNvSpPr/>
          <p:nvPr/>
        </p:nvSpPr>
        <p:spPr>
          <a:xfrm>
            <a:off x="6949440" y="1600200"/>
            <a:ext cx="329184" cy="329184"/>
          </a:xfrm>
          <a:prstGeom prst="rect">
            <a:avLst/>
          </a:prstGeom>
          <a:solidFill>
            <a:srgbClr val="0E9E8E"/>
          </a:solidFill>
          <a:ln w="12700">
            <a:solidFill>
              <a:srgbClr val="0E9E8E"/>
            </a:solidFill>
            <a:prstDash val="solid"/>
          </a:ln>
        </p:spPr>
      </p:sp>
      <p:sp>
        <p:nvSpPr>
          <p:cNvPr id="8" name="Shape 6"/>
          <p:cNvSpPr/>
          <p:nvPr/>
        </p:nvSpPr>
        <p:spPr>
          <a:xfrm>
            <a:off x="7324344" y="1600200"/>
            <a:ext cx="329184" cy="329184"/>
          </a:xfrm>
          <a:prstGeom prst="rect">
            <a:avLst/>
          </a:prstGeom>
          <a:solidFill>
            <a:srgbClr val="0E9E8E"/>
          </a:solidFill>
          <a:ln w="12700">
            <a:solidFill>
              <a:srgbClr val="0E9E8E"/>
            </a:solidFill>
            <a:prstDash val="solid"/>
          </a:ln>
        </p:spPr>
      </p:sp>
      <p:sp>
        <p:nvSpPr>
          <p:cNvPr id="9" name="Shape 7"/>
          <p:cNvSpPr/>
          <p:nvPr/>
        </p:nvSpPr>
        <p:spPr>
          <a:xfrm>
            <a:off x="7699248" y="1600200"/>
            <a:ext cx="329184" cy="329184"/>
          </a:xfrm>
          <a:prstGeom prst="rect">
            <a:avLst/>
          </a:prstGeom>
          <a:solidFill>
            <a:srgbClr val="0E9E8E"/>
          </a:solidFill>
          <a:ln w="12700">
            <a:solidFill>
              <a:srgbClr val="0E9E8E"/>
            </a:solidFill>
            <a:prstDash val="solid"/>
          </a:ln>
        </p:spPr>
      </p:sp>
      <p:sp>
        <p:nvSpPr>
          <p:cNvPr id="10" name="Shape 8"/>
          <p:cNvSpPr/>
          <p:nvPr/>
        </p:nvSpPr>
        <p:spPr>
          <a:xfrm>
            <a:off x="8074152" y="1600200"/>
            <a:ext cx="329184" cy="329184"/>
          </a:xfrm>
          <a:prstGeom prst="rect">
            <a:avLst/>
          </a:prstGeom>
          <a:solidFill>
            <a:srgbClr val="0E9E8E"/>
          </a:solidFill>
          <a:ln w="12700">
            <a:solidFill>
              <a:srgbClr val="0E9E8E"/>
            </a:solidFill>
            <a:prstDash val="solid"/>
          </a:ln>
        </p:spPr>
      </p:sp>
      <p:sp>
        <p:nvSpPr>
          <p:cNvPr id="11" name="Shape 9"/>
          <p:cNvSpPr/>
          <p:nvPr/>
        </p:nvSpPr>
        <p:spPr>
          <a:xfrm>
            <a:off x="8449056" y="1600200"/>
            <a:ext cx="329184" cy="329184"/>
          </a:xfrm>
          <a:prstGeom prst="rect">
            <a:avLst/>
          </a:prstGeom>
          <a:solidFill>
            <a:srgbClr val="22325A"/>
          </a:solidFill>
          <a:ln w="12700">
            <a:solidFill>
              <a:srgbClr val="22325A"/>
            </a:solidFill>
            <a:prstDash val="solid"/>
          </a:ln>
        </p:spPr>
      </p:sp>
      <p:sp>
        <p:nvSpPr>
          <p:cNvPr id="12" name="Shape 10"/>
          <p:cNvSpPr/>
          <p:nvPr/>
        </p:nvSpPr>
        <p:spPr>
          <a:xfrm>
            <a:off x="5074920" y="1975104"/>
            <a:ext cx="329184" cy="329184"/>
          </a:xfrm>
          <a:prstGeom prst="rect">
            <a:avLst/>
          </a:prstGeom>
          <a:solidFill>
            <a:srgbClr val="0E9E8E"/>
          </a:solidFill>
          <a:ln w="12700">
            <a:solidFill>
              <a:srgbClr val="0E9E8E"/>
            </a:solidFill>
            <a:prstDash val="solid"/>
          </a:ln>
        </p:spPr>
      </p:sp>
      <p:sp>
        <p:nvSpPr>
          <p:cNvPr id="13" name="Shape 11"/>
          <p:cNvSpPr/>
          <p:nvPr/>
        </p:nvSpPr>
        <p:spPr>
          <a:xfrm>
            <a:off x="5449824" y="1975104"/>
            <a:ext cx="329184" cy="329184"/>
          </a:xfrm>
          <a:prstGeom prst="rect">
            <a:avLst/>
          </a:prstGeom>
          <a:solidFill>
            <a:srgbClr val="0E9E8E"/>
          </a:solidFill>
          <a:ln w="12700">
            <a:solidFill>
              <a:srgbClr val="0E9E8E"/>
            </a:solidFill>
            <a:prstDash val="solid"/>
          </a:ln>
        </p:spPr>
      </p:sp>
      <p:sp>
        <p:nvSpPr>
          <p:cNvPr id="14" name="Shape 12"/>
          <p:cNvSpPr/>
          <p:nvPr/>
        </p:nvSpPr>
        <p:spPr>
          <a:xfrm>
            <a:off x="5824728" y="1975104"/>
            <a:ext cx="329184" cy="329184"/>
          </a:xfrm>
          <a:prstGeom prst="rect">
            <a:avLst/>
          </a:prstGeom>
          <a:solidFill>
            <a:srgbClr val="0E9E8E"/>
          </a:solidFill>
          <a:ln w="12700">
            <a:solidFill>
              <a:srgbClr val="0E9E8E"/>
            </a:solidFill>
            <a:prstDash val="solid"/>
          </a:ln>
        </p:spPr>
      </p:sp>
      <p:sp>
        <p:nvSpPr>
          <p:cNvPr id="15" name="Shape 13"/>
          <p:cNvSpPr/>
          <p:nvPr/>
        </p:nvSpPr>
        <p:spPr>
          <a:xfrm>
            <a:off x="6199632" y="1975104"/>
            <a:ext cx="329184" cy="329184"/>
          </a:xfrm>
          <a:prstGeom prst="rect">
            <a:avLst/>
          </a:prstGeom>
          <a:solidFill>
            <a:srgbClr val="0E9E8E"/>
          </a:solidFill>
          <a:ln w="12700">
            <a:solidFill>
              <a:srgbClr val="0E9E8E"/>
            </a:solidFill>
            <a:prstDash val="solid"/>
          </a:ln>
        </p:spPr>
      </p:sp>
      <p:sp>
        <p:nvSpPr>
          <p:cNvPr id="16" name="Shape 14"/>
          <p:cNvSpPr/>
          <p:nvPr/>
        </p:nvSpPr>
        <p:spPr>
          <a:xfrm>
            <a:off x="6574536" y="1975104"/>
            <a:ext cx="329184" cy="329184"/>
          </a:xfrm>
          <a:prstGeom prst="rect">
            <a:avLst/>
          </a:prstGeom>
          <a:solidFill>
            <a:srgbClr val="22325A"/>
          </a:solidFill>
          <a:ln w="12700">
            <a:solidFill>
              <a:srgbClr val="22325A"/>
            </a:solidFill>
            <a:prstDash val="solid"/>
          </a:ln>
        </p:spPr>
      </p:sp>
      <p:sp>
        <p:nvSpPr>
          <p:cNvPr id="17" name="Shape 15"/>
          <p:cNvSpPr/>
          <p:nvPr/>
        </p:nvSpPr>
        <p:spPr>
          <a:xfrm>
            <a:off x="6949440" y="1975104"/>
            <a:ext cx="329184" cy="329184"/>
          </a:xfrm>
          <a:prstGeom prst="rect">
            <a:avLst/>
          </a:prstGeom>
          <a:solidFill>
            <a:srgbClr val="22325A"/>
          </a:solidFill>
          <a:ln w="12700">
            <a:solidFill>
              <a:srgbClr val="22325A"/>
            </a:solidFill>
            <a:prstDash val="solid"/>
          </a:ln>
        </p:spPr>
      </p:sp>
      <p:sp>
        <p:nvSpPr>
          <p:cNvPr id="18" name="Shape 16"/>
          <p:cNvSpPr/>
          <p:nvPr/>
        </p:nvSpPr>
        <p:spPr>
          <a:xfrm>
            <a:off x="7324344" y="1975104"/>
            <a:ext cx="329184" cy="329184"/>
          </a:xfrm>
          <a:prstGeom prst="rect">
            <a:avLst/>
          </a:prstGeom>
          <a:solidFill>
            <a:srgbClr val="22325A"/>
          </a:solidFill>
          <a:ln w="12700">
            <a:solidFill>
              <a:srgbClr val="22325A"/>
            </a:solidFill>
            <a:prstDash val="solid"/>
          </a:ln>
        </p:spPr>
      </p:sp>
      <p:sp>
        <p:nvSpPr>
          <p:cNvPr id="19" name="Shape 17"/>
          <p:cNvSpPr/>
          <p:nvPr/>
        </p:nvSpPr>
        <p:spPr>
          <a:xfrm>
            <a:off x="7699248" y="1975104"/>
            <a:ext cx="329184" cy="329184"/>
          </a:xfrm>
          <a:prstGeom prst="rect">
            <a:avLst/>
          </a:prstGeom>
          <a:solidFill>
            <a:srgbClr val="22325A"/>
          </a:solidFill>
          <a:ln w="12700">
            <a:solidFill>
              <a:srgbClr val="22325A"/>
            </a:solidFill>
            <a:prstDash val="solid"/>
          </a:ln>
        </p:spPr>
      </p:sp>
      <p:sp>
        <p:nvSpPr>
          <p:cNvPr id="20" name="Shape 18"/>
          <p:cNvSpPr/>
          <p:nvPr/>
        </p:nvSpPr>
        <p:spPr>
          <a:xfrm>
            <a:off x="8074152" y="1975104"/>
            <a:ext cx="329184" cy="329184"/>
          </a:xfrm>
          <a:prstGeom prst="rect">
            <a:avLst/>
          </a:prstGeom>
          <a:solidFill>
            <a:srgbClr val="22325A"/>
          </a:solidFill>
          <a:ln w="12700">
            <a:solidFill>
              <a:srgbClr val="22325A"/>
            </a:solidFill>
            <a:prstDash val="solid"/>
          </a:ln>
        </p:spPr>
      </p:sp>
      <p:sp>
        <p:nvSpPr>
          <p:cNvPr id="21" name="Shape 19"/>
          <p:cNvSpPr/>
          <p:nvPr/>
        </p:nvSpPr>
        <p:spPr>
          <a:xfrm>
            <a:off x="8449056" y="1975104"/>
            <a:ext cx="329184" cy="329184"/>
          </a:xfrm>
          <a:prstGeom prst="rect">
            <a:avLst/>
          </a:prstGeom>
          <a:solidFill>
            <a:srgbClr val="0E9E8E"/>
          </a:solidFill>
          <a:ln w="12700">
            <a:solidFill>
              <a:srgbClr val="0E9E8E"/>
            </a:solidFill>
            <a:prstDash val="solid"/>
          </a:ln>
        </p:spPr>
      </p:sp>
      <p:sp>
        <p:nvSpPr>
          <p:cNvPr id="22" name="Text 20"/>
          <p:cNvSpPr/>
          <p:nvPr>
            <p:ph idx="120" type="body" hasCustomPrompt="1"/>
          </p:nvPr>
        </p:nvSpPr>
        <p:spPr>
          <a:xfrm>
            <a:off x="548640" y="1097280"/>
            <a:ext cx="2743200" cy="914400"/>
          </a:xfrm>
          <a:prstGeom prst="rect">
            <a:avLst/>
          </a:prstGeom>
          <a:noFill/>
          <a:ln/>
        </p:spPr>
        <p:txBody>
          <a:bodyPr wrap="square" rtlCol="0"/>
          <a:lstStyle>
            <a:lvl1pPr algn="l" indent="0" marL="0">
              <a:buNone/>
              <a:defRPr lang="en-US" sz="5400" b="1" dirty="0">
                <a:solidFill>
                  <a:schemeClr val="accent3"/>
                </a:solidFill>
                <a:latin typeface="Georgia" pitchFamily="34" charset="0"/>
                <a:ea typeface="Georgia" pitchFamily="34" charset="-122"/>
                <a:cs typeface="Georgia" pitchFamily="34" charset="-120"/>
              </a:defRPr>
            </a:lvl1pPr>
          </a:lstStyle>
          <a:p>
            <a:pPr algn="l" indent="0" marL="0">
              <a:buNone/>
            </a:pPr>
            <a:endParaRPr lang="en-US" sz="5400" dirty="0"/>
          </a:p>
        </p:txBody>
      </p:sp>
      <p:sp>
        <p:nvSpPr>
          <p:cNvPr id="23" name="Text 20"/>
          <p:cNvSpPr/>
          <p:nvPr>
            <p:ph idx="121" type="title" hasCustomPrompt="1"/>
          </p:nvPr>
        </p:nvSpPr>
        <p:spPr>
          <a:xfrm>
            <a:off x="548640" y="2103120"/>
            <a:ext cx="4297680" cy="1188720"/>
          </a:xfrm>
          <a:prstGeom prst="rect">
            <a:avLst/>
          </a:prstGeom>
          <a:noFill/>
          <a:ln/>
        </p:spPr>
        <p:txBody>
          <a:bodyPr wrap="square" rtlCol="0"/>
          <a:lstStyle>
            <a:lvl1pPr algn="l" indent="0" marL="0">
              <a:buNone/>
              <a:defRPr lang="en-US" sz="3000" b="1" dirty="0">
                <a:solidFill>
                  <a:schemeClr val="bg1"/>
                </a:solidFill>
                <a:latin typeface="Georgia" pitchFamily="34" charset="0"/>
                <a:ea typeface="Georgia" pitchFamily="34" charset="-122"/>
                <a:cs typeface="Georgia" pitchFamily="34" charset="-120"/>
              </a:defRPr>
            </a:lvl1pPr>
          </a:lstStyle>
          <a:p>
            <a:pPr algn="l" indent="0" marL="0">
              <a:buNone/>
            </a:pPr>
            <a:endParaRPr lang="en-US" sz="3000" dirty="0"/>
          </a:p>
        </p:txBody>
      </p:sp>
      <p:sp>
        <p:nvSpPr>
          <p:cNvPr id="24" name="Text 20"/>
          <p:cNvSpPr/>
          <p:nvPr>
            <p:ph idx="122" type="body" hasCustomPrompt="1"/>
          </p:nvPr>
        </p:nvSpPr>
        <p:spPr>
          <a:xfrm>
            <a:off x="548640" y="3383280"/>
            <a:ext cx="4297680" cy="731520"/>
          </a:xfrm>
          <a:prstGeom prst="rect">
            <a:avLst/>
          </a:prstGeom>
          <a:noFill/>
          <a:ln/>
        </p:spPr>
        <p:txBody>
          <a:bodyPr wrap="square" rtlCol="0"/>
          <a:lstStyle>
            <a:lvl1pPr algn="l" indent="0" marL="0">
              <a:buNone/>
              <a:defRPr lang="en-US" sz="1500" dirty="0">
                <a:solidFill>
                  <a:schemeClr val="accent5"/>
                </a:solidFill>
                <a:latin typeface="Calibri" pitchFamily="34" charset="0"/>
                <a:ea typeface="Calibri" pitchFamily="34" charset="-122"/>
                <a:cs typeface="Calibri" pitchFamily="34" charset="-120"/>
              </a:defRPr>
            </a:lvl1pPr>
          </a:lstStyle>
          <a:p>
            <a:pPr algn="l" indent="0" marL="0">
              <a:buNone/>
            </a:pPr>
            <a:endParaRPr lang="en-US" sz="15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chemeClr val="accent1"/>
          </a:solidFill>
          <a:ln/>
        </p:spPr>
      </p:sp>
      <p:sp>
        <p:nvSpPr>
          <p:cNvPr id="3" name="Shape 1"/>
          <p:cNvSpPr/>
          <p:nvPr/>
        </p:nvSpPr>
        <p:spPr>
          <a:xfrm>
            <a:off x="457200" y="4754880"/>
            <a:ext cx="8229600" cy="0"/>
          </a:xfrm>
          <a:prstGeom prst="line">
            <a:avLst/>
          </a:prstGeom>
          <a:noFill/>
          <a:ln w="6350">
            <a:solidFill>
              <a:srgbClr val="C9D3DF"/>
            </a:solidFill>
            <a:prstDash val="solid"/>
          </a:ln>
        </p:spPr>
      </p:sp>
      <p:sp>
        <p:nvSpPr>
          <p:cNvPr id="4" name="Text 2"/>
          <p:cNvSpPr/>
          <p:nvPr>
            <p:ph idx="102" type="body" hasCustomPrompt="1"/>
          </p:nvPr>
        </p:nvSpPr>
        <p:spPr>
          <a:xfrm>
            <a:off x="457200" y="256032"/>
            <a:ext cx="7315200" cy="228600"/>
          </a:xfrm>
          <a:prstGeom prst="rect">
            <a:avLst/>
          </a:prstGeom>
          <a:noFill/>
          <a:ln/>
        </p:spPr>
        <p:txBody>
          <a:bodyPr wrap="square" rtlCol="0"/>
          <a:lstStyle>
            <a:lvl1pPr algn="l" indent="0" marL="0">
              <a:buNone/>
              <a:defRPr lang="en-US" sz="1000" b="1" spc="200" kern="0" dirty="0">
                <a:solidFill>
                  <a:schemeClr val="accent1"/>
                </a:solidFill>
                <a:latin typeface="Calibri" pitchFamily="34" charset="0"/>
                <a:ea typeface="Calibri" pitchFamily="34" charset="-122"/>
                <a:cs typeface="Calibri" pitchFamily="34" charset="-120"/>
              </a:defRPr>
            </a:lvl1pPr>
          </a:lstStyle>
          <a:p>
            <a:pPr algn="l" indent="0" marL="0">
              <a:buNone/>
            </a:pPr>
            <a:endParaRPr lang="en-US" sz="1000" dirty="0"/>
          </a:p>
        </p:txBody>
      </p:sp>
      <p:sp>
        <p:nvSpPr>
          <p:cNvPr id="5" name="Text 2"/>
          <p:cNvSpPr/>
          <p:nvPr>
            <p:ph idx="103" type="title" hasCustomPrompt="1"/>
          </p:nvPr>
        </p:nvSpPr>
        <p:spPr>
          <a:xfrm>
            <a:off x="457200" y="502920"/>
            <a:ext cx="8229600" cy="548640"/>
          </a:xfrm>
          <a:prstGeom prst="rect">
            <a:avLst/>
          </a:prstGeom>
          <a:noFill/>
          <a:ln/>
        </p:spPr>
        <p:txBody>
          <a:bodyPr wrap="square" rtlCol="0"/>
          <a:lstStyle>
            <a:lvl1pPr algn="l" indent="0" marL="0">
              <a:buNone/>
              <a:defRPr lang="en-US" sz="2400" b="1" dirty="0">
                <a:solidFill>
                  <a:schemeClr val="tx2"/>
                </a:solidFill>
                <a:latin typeface="Georgia" pitchFamily="34" charset="0"/>
                <a:ea typeface="Georgia" pitchFamily="34" charset="-122"/>
                <a:cs typeface="Georgia" pitchFamily="34" charset="-120"/>
              </a:defRPr>
            </a:lvl1pPr>
          </a:lstStyle>
          <a:p>
            <a:pPr algn="l" indent="0" marL="0">
              <a:buNone/>
            </a:pPr>
            <a:endParaRPr lang="en-US" sz="24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5B6B82"/>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5B6B82"/>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4.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4.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5" Type="http://schemas.openxmlformats.org/officeDocument/2006/relationships/chart" Target="/ppt/charts/chart1.xml"/><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6" Type="http://schemas.openxmlformats.org/officeDocument/2006/relationships/slideLayout" Target="../slideLayouts/slideLayout4.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4.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9-1.png"/><Relationship Id="rId3" Type="http://schemas.openxmlformats.org/officeDocument/2006/relationships/slideLayout" Target="../slideLayouts/slideLayout4.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4.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4.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3.xml"/><Relationship Id="rId3" Type="http://schemas.openxmlformats.org/officeDocument/2006/relationships/chart" Target="/ppt/charts/chart4.xml"/><Relationship Id="rId2" Type="http://schemas.openxmlformats.org/officeDocument/2006/relationships/image" Target="../media/image-15-1.png"/><Relationship Id="rId4" Type="http://schemas.openxmlformats.org/officeDocument/2006/relationships/image" Target="../media/image-15-2.png"/><Relationship Id="rId5" Type="http://schemas.openxmlformats.org/officeDocument/2006/relationships/slideLayout" Target="../slideLayouts/slideLayout4.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4.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548640"/>
            <a:ext cx="5029200" cy="274320"/>
          </a:xfrm>
          <a:prstGeom prst="rect">
            <a:avLst/>
          </a:prstGeom>
          <a:noFill/>
          <a:ln/>
        </p:spPr>
        <p:txBody>
          <a:bodyPr wrap="square" lIns="0" tIns="0" rIns="0" bIns="0" rtlCol="0" anchor="t"/>
          <a:lstStyle/>
          <a:p>
            <a:pPr indent="0" marL="0">
              <a:buNone/>
            </a:pPr>
            <a:r>
              <a:rPr lang="en-US" sz="1100" b="1" spc="300" kern="0" dirty="0">
                <a:solidFill>
                  <a:schemeClr val="accent3"/>
                </a:solidFill>
                <a:latin typeface="Calibri" pitchFamily="34" charset="0"/>
                <a:ea typeface="Calibri" pitchFamily="34" charset="-122"/>
                <a:cs typeface="Calibri" pitchFamily="34" charset="-120"/>
              </a:rPr>
              <a:t>THE UNIVERSITY OF TEXAS AT DALLAS</a:t>
            </a:r>
            <a:endParaRPr lang="en-US" sz="1100" dirty="0"/>
          </a:p>
        </p:txBody>
      </p:sp>
      <p:sp>
        <p:nvSpPr>
          <p:cNvPr id="3" name="Text 0"/>
          <p:cNvSpPr/>
          <p:nvPr>
            <p:ph idx="100" type="title" hasCustomPrompt="1"/>
          </p:nvPr>
        </p:nvSpPr>
        <p:spPr>
          <a:xfrm>
            <a:off x="548640" y="1417320"/>
            <a:ext cx="5120640" cy="1737360"/>
          </a:xfrm>
          <a:prstGeom prst="rect">
            <a:avLst/>
          </a:prstGeom>
          <a:noFill/>
          <a:ln/>
        </p:spPr>
        <p:txBody>
          <a:bodyPr wrap="square" lIns="0" tIns="0" rIns="0" bIns="0" rtlCol="0" anchor="b"/>
          <a:lstStyle/>
          <a:p>
            <a:pPr algn="l" indent="0" marL="0">
              <a:buNone/>
            </a:pPr>
            <a:r>
              <a:rPr lang="en-US" sz="3000" b="1" dirty="0">
                <a:solidFill>
                  <a:schemeClr val="bg1"/>
                </a:solidFill>
                <a:latin typeface="Georgia" pitchFamily="34" charset="0"/>
                <a:ea typeface="Georgia" pitchFamily="34" charset="-122"/>
                <a:cs typeface="Georgia" pitchFamily="34" charset="-120"/>
              </a:rPr>
              <a:t>From Freehand 4D Printing to AI-Driven Fast Reverse Design</a:t>
            </a:r>
            <a:endParaRPr lang="en-US" sz="3000" dirty="0"/>
          </a:p>
        </p:txBody>
      </p:sp>
      <p:sp>
        <p:nvSpPr>
          <p:cNvPr id="4" name="Text 0"/>
          <p:cNvSpPr/>
          <p:nvPr>
            <p:ph idx="101" type="body" hasCustomPrompt="1"/>
          </p:nvPr>
        </p:nvSpPr>
        <p:spPr>
          <a:xfrm>
            <a:off x="548640" y="3291840"/>
            <a:ext cx="5120640" cy="822960"/>
          </a:xfrm>
          <a:prstGeom prst="rect">
            <a:avLst/>
          </a:prstGeom>
          <a:noFill/>
          <a:ln/>
        </p:spPr>
        <p:txBody>
          <a:bodyPr wrap="square" lIns="0" tIns="0" rIns="0" bIns="0" rtlCol="0" anchor="t"/>
          <a:lstStyle/>
          <a:p>
            <a:pPr algn="l" indent="0" marL="0">
              <a:buNone/>
            </a:pPr>
            <a:r>
              <a:rPr lang="en-US" sz="1500" b="1" dirty="0">
                <a:solidFill>
                  <a:schemeClr val="bg1"/>
                </a:solidFill>
                <a:latin typeface="Calibri" pitchFamily="34" charset="0"/>
                <a:ea typeface="Calibri" pitchFamily="34" charset="-122"/>
                <a:cs typeface="Calibri" pitchFamily="34" charset="-120"/>
              </a:rPr>
              <a:t>Pavan Kailas Patil  ·  Omar Khan</a:t>
            </a:r>
            <a:endParaRPr lang="en-US" sz="1500" dirty="0"/>
          </a:p>
          <a:p>
            <a:pPr algn="l" indent="0" marL="0">
              <a:buNone/>
            </a:pPr>
            <a:r>
              <a:rPr lang="en-US" sz="1200" dirty="0">
                <a:solidFill>
                  <a:schemeClr val="accent5"/>
                </a:solidFill>
                <a:latin typeface="Calibri" pitchFamily="34" charset="0"/>
                <a:ea typeface="Calibri" pitchFamily="34" charset="-122"/>
                <a:cs typeface="Calibri" pitchFamily="34" charset="-120"/>
              </a:rPr>
              <a:t>Based on Wang et al. (2025) and Jin et al. (2024)</a:t>
            </a:r>
            <a:endParaRPr lang="en-US" sz="1500" dirty="0"/>
          </a:p>
        </p:txBody>
      </p:sp>
      <p:pic>
        <p:nvPicPr>
          <p:cNvPr id="5" name="t-flat" descr="img/hero_flat.png">    </p:cNvPr>
          <p:cNvPicPr>
            <a:picLocks noChangeAspect="1"/>
          </p:cNvPicPr>
          <p:nvPr/>
        </p:nvPicPr>
        <p:blipFill>
          <a:blip r:embed="rId1"/>
          <a:stretch>
            <a:fillRect/>
          </a:stretch>
        </p:blipFill>
        <p:spPr>
          <a:xfrm>
            <a:off x="5989320" y="868680"/>
            <a:ext cx="2743200" cy="466344"/>
          </a:xfrm>
          <a:prstGeom prst="rect">
            <a:avLst/>
          </a:prstGeom>
        </p:spPr>
      </p:pic>
      <p:sp>
        <p:nvSpPr>
          <p:cNvPr id="6" name="Text 3"/>
          <p:cNvSpPr txBox="1"/>
          <p:nvPr/>
        </p:nvSpPr>
        <p:spPr>
          <a:xfrm>
            <a:off x="5989320" y="1389888"/>
            <a:ext cx="2743200" cy="228600"/>
          </a:xfrm>
          <a:prstGeom prst="rect">
            <a:avLst/>
          </a:prstGeom>
          <a:noFill/>
          <a:ln/>
        </p:spPr>
        <p:txBody>
          <a:bodyPr wrap="square" lIns="0" tIns="0" rIns="0" bIns="0" rtlCol="0" anchor="t"/>
          <a:lstStyle/>
          <a:p>
            <a:pPr algn="ctr" indent="0" marL="0">
              <a:buNone/>
            </a:pPr>
            <a:r>
              <a:rPr lang="en-US" sz="1000" dirty="0">
                <a:solidFill>
                  <a:schemeClr val="accent5"/>
                </a:solidFill>
                <a:latin typeface="Calibri" pitchFamily="34" charset="0"/>
                <a:ea typeface="Calibri" pitchFamily="34" charset="-122"/>
                <a:cs typeface="Calibri" pitchFamily="34" charset="-120"/>
              </a:rPr>
              <a:t>print flat</a:t>
            </a:r>
            <a:endParaRPr lang="en-US" sz="1000" dirty="0"/>
          </a:p>
        </p:txBody>
      </p:sp>
      <p:sp>
        <p:nvSpPr>
          <p:cNvPr id="7" name="t-arr"/>
          <p:cNvSpPr/>
          <p:nvPr/>
        </p:nvSpPr>
        <p:spPr>
          <a:xfrm>
            <a:off x="7360920" y="1691640"/>
            <a:ext cx="0" cy="502920"/>
          </a:xfrm>
          <a:prstGeom prst="line">
            <a:avLst/>
          </a:prstGeom>
          <a:noFill/>
          <a:ln w="22225">
            <a:solidFill>
              <a:schemeClr val="accent3"/>
            </a:solidFill>
            <a:prstDash val="solid"/>
            <a:tailEnd type="triangle"/>
          </a:ln>
        </p:spPr>
      </p:sp>
      <p:sp>
        <p:nvSpPr>
          <p:cNvPr id="8" name="Text 5"/>
          <p:cNvSpPr txBox="1"/>
          <p:nvPr/>
        </p:nvSpPr>
        <p:spPr>
          <a:xfrm>
            <a:off x="7498080" y="1810512"/>
            <a:ext cx="1097280" cy="274320"/>
          </a:xfrm>
          <a:prstGeom prst="rect">
            <a:avLst/>
          </a:prstGeom>
          <a:noFill/>
          <a:ln/>
        </p:spPr>
        <p:txBody>
          <a:bodyPr wrap="square" lIns="0" tIns="0" rIns="0" bIns="0" rtlCol="0" anchor="t"/>
          <a:lstStyle/>
          <a:p>
            <a:pPr indent="0" marL="0">
              <a:buNone/>
            </a:pPr>
            <a:r>
              <a:rPr lang="en-US" sz="1100" b="1" dirty="0">
                <a:solidFill>
                  <a:schemeClr val="accent3"/>
                </a:solidFill>
                <a:latin typeface="Calibri" pitchFamily="34" charset="0"/>
                <a:ea typeface="Calibri" pitchFamily="34" charset="-122"/>
                <a:cs typeface="Calibri" pitchFamily="34" charset="-120"/>
              </a:rPr>
              <a:t>trigger</a:t>
            </a:r>
            <a:endParaRPr lang="en-US" sz="1100" dirty="0"/>
          </a:p>
        </p:txBody>
      </p:sp>
      <p:pic>
        <p:nvPicPr>
          <p:cNvPr id="9" name="t-bent" descr="img/hero_bent.png">    </p:cNvPr>
          <p:cNvPicPr>
            <a:picLocks noChangeAspect="1"/>
          </p:cNvPicPr>
          <p:nvPr/>
        </p:nvPicPr>
        <p:blipFill>
          <a:blip r:embed="rId2"/>
          <a:stretch>
            <a:fillRect/>
          </a:stretch>
        </p:blipFill>
        <p:spPr>
          <a:xfrm>
            <a:off x="5943600" y="2331720"/>
            <a:ext cx="2834640" cy="1417320"/>
          </a:xfrm>
          <a:prstGeom prst="rect">
            <a:avLst/>
          </a:prstGeom>
        </p:spPr>
      </p:pic>
      <p:sp>
        <p:nvSpPr>
          <p:cNvPr id="10" name="Text 6"/>
          <p:cNvSpPr txBox="1"/>
          <p:nvPr/>
        </p:nvSpPr>
        <p:spPr>
          <a:xfrm>
            <a:off x="5989320" y="3794760"/>
            <a:ext cx="2743200" cy="228600"/>
          </a:xfrm>
          <a:prstGeom prst="rect">
            <a:avLst/>
          </a:prstGeom>
          <a:noFill/>
          <a:ln/>
        </p:spPr>
        <p:txBody>
          <a:bodyPr wrap="square" lIns="0" tIns="0" rIns="0" bIns="0" rtlCol="0" anchor="t"/>
          <a:lstStyle/>
          <a:p>
            <a:pPr algn="ctr" indent="0" marL="0">
              <a:buNone/>
            </a:pPr>
            <a:r>
              <a:rPr lang="en-US" sz="1000" dirty="0">
                <a:solidFill>
                  <a:schemeClr val="accent5"/>
                </a:solidFill>
                <a:latin typeface="Calibri" pitchFamily="34" charset="0"/>
                <a:ea typeface="Calibri" pitchFamily="34" charset="-122"/>
                <a:cs typeface="Calibri" pitchFamily="34" charset="-120"/>
              </a:rPr>
              <a:t>programmed shape</a:t>
            </a:r>
            <a:endParaRPr lang="en-US" sz="1000" dirty="0"/>
          </a:p>
        </p:txBody>
      </p:sp>
      <p:sp>
        <p:nvSpPr>
          <p:cNvPr id="11" name="Text 7"/>
          <p:cNvSpPr txBox="1"/>
          <p:nvPr/>
        </p:nvSpPr>
        <p:spPr>
          <a:xfrm>
            <a:off x="5989320" y="4617720"/>
            <a:ext cx="2743200" cy="201168"/>
          </a:xfrm>
          <a:prstGeom prst="rect">
            <a:avLst/>
          </a:prstGeom>
          <a:noFill/>
          <a:ln/>
        </p:spPr>
        <p:txBody>
          <a:bodyPr wrap="square" lIns="0" tIns="0" rIns="0" bIns="0" rtlCol="0" anchor="t"/>
          <a:lstStyle/>
          <a:p>
            <a:pPr algn="ctr" indent="0" marL="0">
              <a:buNone/>
            </a:pPr>
            <a:r>
              <a:rPr lang="en-US" sz="800" i="1" dirty="0">
                <a:solidFill>
                  <a:schemeClr val="accent4"/>
                </a:solidFill>
                <a:latin typeface="Calibri" pitchFamily="34" charset="0"/>
                <a:ea typeface="Calibri" pitchFamily="34" charset="-122"/>
                <a:cs typeface="Calibri" pitchFamily="34" charset="-120"/>
              </a:rPr>
              <a:t>Schematic illustration</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2" type="body" hasCustomPrompt="1"/>
          </p:nvPr>
        </p:nvSpPr>
        <p:spPr>
          <a:xfrm>
            <a:off x="457200" y="256032"/>
            <a:ext cx="7315200" cy="228600"/>
          </a:xfrm>
          <a:prstGeom prst="rect">
            <a:avLst/>
          </a:prstGeom>
          <a:noFill/>
          <a:ln/>
        </p:spPr>
        <p:txBody>
          <a:bodyPr wrap="square" lIns="0" tIns="0" rIns="0" bIns="0" rtlCol="0" anchor="ctr"/>
          <a:lstStyle/>
          <a:p>
            <a:pPr algn="l" indent="0" marL="0">
              <a:buNone/>
            </a:pPr>
            <a:r>
              <a:rPr lang="en-US" sz="1000" b="1" spc="200" kern="0" dirty="0">
                <a:solidFill>
                  <a:schemeClr val="accent1"/>
                </a:solidFill>
                <a:latin typeface="Calibri" pitchFamily="34" charset="0"/>
                <a:ea typeface="Calibri" pitchFamily="34" charset="-122"/>
                <a:cs typeface="Calibri" pitchFamily="34" charset="-120"/>
              </a:rPr>
              <a:t>THE IDEA</a:t>
            </a:r>
            <a:endParaRPr lang="en-US" sz="1000" dirty="0"/>
          </a:p>
        </p:txBody>
      </p:sp>
      <p:sp>
        <p:nvSpPr>
          <p:cNvPr id="3" name="Text 2"/>
          <p:cNvSpPr/>
          <p:nvPr>
            <p:ph idx="103" type="title" hasCustomPrompt="1"/>
          </p:nvPr>
        </p:nvSpPr>
        <p:spPr>
          <a:xfrm>
            <a:off x="457200" y="502920"/>
            <a:ext cx="8229600" cy="548640"/>
          </a:xfrm>
          <a:prstGeom prst="rect">
            <a:avLst/>
          </a:prstGeom>
          <a:noFill/>
          <a:ln/>
        </p:spPr>
        <p:txBody>
          <a:bodyPr wrap="square" lIns="0" tIns="0" rIns="0" bIns="0" rtlCol="0" anchor="ctr"/>
          <a:lstStyle/>
          <a:p>
            <a:pPr algn="l" indent="0" marL="0">
              <a:buNone/>
            </a:pPr>
            <a:r>
              <a:rPr lang="en-US" sz="2400" b="1" dirty="0">
                <a:solidFill>
                  <a:schemeClr val="tx2"/>
                </a:solidFill>
                <a:latin typeface="Georgia" pitchFamily="34" charset="0"/>
                <a:ea typeface="Georgia" pitchFamily="34" charset="-122"/>
                <a:cs typeface="Georgia" pitchFamily="34" charset="-120"/>
              </a:rPr>
              <a:t>Print it flat. Trigger it. It transforms.</a:t>
            </a:r>
            <a:endParaRPr lang="en-US" sz="2400" dirty="0"/>
          </a:p>
        </p:txBody>
      </p:sp>
      <p:sp>
        <p:nvSpPr>
          <p:cNvPr id="4" name="hk0"/>
          <p:cNvSpPr/>
          <p:nvPr/>
        </p:nvSpPr>
        <p:spPr>
          <a:xfrm>
            <a:off x="457200" y="1234440"/>
            <a:ext cx="2560320" cy="2240280"/>
          </a:xfrm>
          <a:prstGeom prst="roundRect">
            <a:avLst>
              <a:gd name="adj" fmla="val 3265"/>
            </a:avLst>
          </a:prstGeom>
          <a:solidFill>
            <a:schemeClr val="bg2"/>
          </a:solidFill>
          <a:ln w="12700">
            <a:solidFill>
              <a:schemeClr val="bg2"/>
            </a:solidFill>
            <a:prstDash val="solid"/>
          </a:ln>
        </p:spPr>
      </p:sp>
      <p:pic>
        <p:nvPicPr>
          <p:cNvPr id="5" name="hki0" descr="img/strip_flat.png">    </p:cNvPr>
          <p:cNvPicPr>
            <a:picLocks noChangeAspect="1"/>
          </p:cNvPicPr>
          <p:nvPr/>
        </p:nvPicPr>
        <p:blipFill>
          <a:blip r:embed="rId1"/>
          <a:stretch>
            <a:fillRect/>
          </a:stretch>
        </p:blipFill>
        <p:spPr>
          <a:xfrm>
            <a:off x="548640" y="1805940"/>
            <a:ext cx="2377440" cy="411480"/>
          </a:xfrm>
          <a:prstGeom prst="rect">
            <a:avLst/>
          </a:prstGeom>
        </p:spPr>
      </p:pic>
      <p:sp>
        <p:nvSpPr>
          <p:cNvPr id="6" name="Text 3"/>
          <p:cNvSpPr txBox="1"/>
          <p:nvPr/>
        </p:nvSpPr>
        <p:spPr>
          <a:xfrm>
            <a:off x="640080" y="2697480"/>
            <a:ext cx="2194560" cy="320040"/>
          </a:xfrm>
          <a:prstGeom prst="rect">
            <a:avLst/>
          </a:prstGeom>
          <a:noFill/>
          <a:ln/>
        </p:spPr>
        <p:txBody>
          <a:bodyPr wrap="square" lIns="0" tIns="0" rIns="0" bIns="0" rtlCol="0" anchor="t"/>
          <a:lstStyle/>
          <a:p>
            <a:pPr indent="0" marL="0">
              <a:buNone/>
            </a:pPr>
            <a:r>
              <a:rPr lang="en-US" sz="1600" b="1" dirty="0">
                <a:solidFill>
                  <a:schemeClr val="tx2"/>
                </a:solidFill>
                <a:latin typeface="Georgia" pitchFamily="34" charset="0"/>
                <a:ea typeface="Georgia" pitchFamily="34" charset="-122"/>
                <a:cs typeface="Georgia" pitchFamily="34" charset="-120"/>
              </a:rPr>
              <a:t>1  Print</a:t>
            </a:r>
            <a:endParaRPr lang="en-US" sz="1600" dirty="0"/>
          </a:p>
        </p:txBody>
      </p:sp>
      <p:sp>
        <p:nvSpPr>
          <p:cNvPr id="7" name="Text 4"/>
          <p:cNvSpPr txBox="1"/>
          <p:nvPr/>
        </p:nvSpPr>
        <p:spPr>
          <a:xfrm>
            <a:off x="640080" y="3035808"/>
            <a:ext cx="2194560" cy="365760"/>
          </a:xfrm>
          <a:prstGeom prst="rect">
            <a:avLst/>
          </a:prstGeom>
          <a:noFill/>
          <a:ln/>
        </p:spPr>
        <p:txBody>
          <a:bodyPr wrap="square" lIns="0" tIns="0" rIns="0" bIns="0" rtlCol="0" anchor="t"/>
          <a:lstStyle/>
          <a:p>
            <a:pPr indent="0" marL="0">
              <a:buNone/>
            </a:pPr>
            <a:r>
              <a:rPr lang="en-US" sz="1200" dirty="0">
                <a:solidFill>
                  <a:schemeClr val="accent4"/>
                </a:solidFill>
                <a:latin typeface="Calibri" pitchFamily="34" charset="0"/>
                <a:ea typeface="Calibri" pitchFamily="34" charset="-122"/>
                <a:cs typeface="Calibri" pitchFamily="34" charset="-120"/>
              </a:rPr>
              <a:t>two materials in one flat strip</a:t>
            </a:r>
            <a:endParaRPr lang="en-US" sz="1200" dirty="0"/>
          </a:p>
        </p:txBody>
      </p:sp>
      <p:sp>
        <p:nvSpPr>
          <p:cNvPr id="8" name="hka0"/>
          <p:cNvSpPr/>
          <p:nvPr/>
        </p:nvSpPr>
        <p:spPr>
          <a:xfrm>
            <a:off x="3044952" y="2331720"/>
            <a:ext cx="219456" cy="0"/>
          </a:xfrm>
          <a:prstGeom prst="line">
            <a:avLst/>
          </a:prstGeom>
          <a:noFill/>
          <a:ln w="22225">
            <a:solidFill>
              <a:schemeClr val="accent4"/>
            </a:solidFill>
            <a:prstDash val="solid"/>
            <a:tailEnd type="triangle"/>
          </a:ln>
        </p:spPr>
      </p:sp>
      <p:sp>
        <p:nvSpPr>
          <p:cNvPr id="9" name="hk1"/>
          <p:cNvSpPr/>
          <p:nvPr/>
        </p:nvSpPr>
        <p:spPr>
          <a:xfrm>
            <a:off x="3291840" y="1234440"/>
            <a:ext cx="2560320" cy="2240280"/>
          </a:xfrm>
          <a:prstGeom prst="roundRect">
            <a:avLst>
              <a:gd name="adj" fmla="val 3265"/>
            </a:avLst>
          </a:prstGeom>
          <a:solidFill>
            <a:schemeClr val="bg2"/>
          </a:solidFill>
          <a:ln w="12700">
            <a:solidFill>
              <a:schemeClr val="bg2"/>
            </a:solidFill>
            <a:prstDash val="solid"/>
          </a:ln>
        </p:spPr>
      </p:sp>
      <p:sp>
        <p:nvSpPr>
          <p:cNvPr id="10" name="hkc0-c"/>
          <p:cNvSpPr/>
          <p:nvPr/>
        </p:nvSpPr>
        <p:spPr>
          <a:xfrm>
            <a:off x="3639312" y="1737360"/>
            <a:ext cx="502920" cy="502920"/>
          </a:xfrm>
          <a:prstGeom prst="ellipse">
            <a:avLst/>
          </a:prstGeom>
          <a:solidFill>
            <a:schemeClr val="accent2"/>
          </a:solidFill>
          <a:ln w="12700">
            <a:solidFill>
              <a:schemeClr val="accent2"/>
            </a:solidFill>
            <a:prstDash val="solid"/>
          </a:ln>
        </p:spPr>
      </p:sp>
      <p:pic>
        <p:nvPicPr>
          <p:cNvPr id="11" name="hkc0-i" descr="preencoded.png">    </p:cNvPr>
          <p:cNvPicPr>
            <a:picLocks noChangeAspect="1"/>
          </p:cNvPicPr>
          <p:nvPr/>
        </p:nvPicPr>
        <p:blipFill>
          <a:blip r:embed="rId2"/>
          <a:stretch>
            <a:fillRect/>
          </a:stretch>
        </p:blipFill>
        <p:spPr>
          <a:xfrm>
            <a:off x="3770071" y="1868119"/>
            <a:ext cx="241402" cy="241402"/>
          </a:xfrm>
          <a:prstGeom prst="rect">
            <a:avLst/>
          </a:prstGeom>
        </p:spPr>
      </p:pic>
      <p:sp>
        <p:nvSpPr>
          <p:cNvPr id="12" name="hkc1-c"/>
          <p:cNvSpPr/>
          <p:nvPr/>
        </p:nvSpPr>
        <p:spPr>
          <a:xfrm>
            <a:off x="4325112" y="1737360"/>
            <a:ext cx="502920" cy="502920"/>
          </a:xfrm>
          <a:prstGeom prst="ellipse">
            <a:avLst/>
          </a:prstGeom>
          <a:solidFill>
            <a:schemeClr val="accent1"/>
          </a:solidFill>
          <a:ln w="12700">
            <a:solidFill>
              <a:schemeClr val="accent1"/>
            </a:solidFill>
            <a:prstDash val="solid"/>
          </a:ln>
        </p:spPr>
      </p:sp>
      <p:pic>
        <p:nvPicPr>
          <p:cNvPr id="13" name="hkc1-i" descr="preencoded.png">    </p:cNvPr>
          <p:cNvPicPr>
            <a:picLocks noChangeAspect="1"/>
          </p:cNvPicPr>
          <p:nvPr/>
        </p:nvPicPr>
        <p:blipFill>
          <a:blip r:embed="rId3"/>
          <a:stretch>
            <a:fillRect/>
          </a:stretch>
        </p:blipFill>
        <p:spPr>
          <a:xfrm>
            <a:off x="4455871" y="1868119"/>
            <a:ext cx="241402" cy="241402"/>
          </a:xfrm>
          <a:prstGeom prst="rect">
            <a:avLst/>
          </a:prstGeom>
        </p:spPr>
      </p:pic>
      <p:sp>
        <p:nvSpPr>
          <p:cNvPr id="14" name="hkc2-c"/>
          <p:cNvSpPr/>
          <p:nvPr/>
        </p:nvSpPr>
        <p:spPr>
          <a:xfrm>
            <a:off x="5010912" y="1737360"/>
            <a:ext cx="502920" cy="502920"/>
          </a:xfrm>
          <a:prstGeom prst="ellipse">
            <a:avLst/>
          </a:prstGeom>
          <a:solidFill>
            <a:schemeClr val="accent1"/>
          </a:solidFill>
          <a:ln w="12700">
            <a:solidFill>
              <a:schemeClr val="accent1"/>
            </a:solidFill>
            <a:prstDash val="solid"/>
          </a:ln>
        </p:spPr>
      </p:sp>
      <p:pic>
        <p:nvPicPr>
          <p:cNvPr id="15" name="hkc2-i" descr="preencoded.png">    </p:cNvPr>
          <p:cNvPicPr>
            <a:picLocks noChangeAspect="1"/>
          </p:cNvPicPr>
          <p:nvPr/>
        </p:nvPicPr>
        <p:blipFill>
          <a:blip r:embed="rId4"/>
          <a:stretch>
            <a:fillRect/>
          </a:stretch>
        </p:blipFill>
        <p:spPr>
          <a:xfrm>
            <a:off x="5141671" y="1868119"/>
            <a:ext cx="241402" cy="241402"/>
          </a:xfrm>
          <a:prstGeom prst="rect">
            <a:avLst/>
          </a:prstGeom>
        </p:spPr>
      </p:pic>
      <p:sp>
        <p:nvSpPr>
          <p:cNvPr id="16" name="Text 10"/>
          <p:cNvSpPr txBox="1"/>
          <p:nvPr/>
        </p:nvSpPr>
        <p:spPr>
          <a:xfrm>
            <a:off x="3474720" y="2697480"/>
            <a:ext cx="2194560" cy="320040"/>
          </a:xfrm>
          <a:prstGeom prst="rect">
            <a:avLst/>
          </a:prstGeom>
          <a:noFill/>
          <a:ln/>
        </p:spPr>
        <p:txBody>
          <a:bodyPr wrap="square" lIns="0" tIns="0" rIns="0" bIns="0" rtlCol="0" anchor="t"/>
          <a:lstStyle/>
          <a:p>
            <a:pPr indent="0" marL="0">
              <a:buNone/>
            </a:pPr>
            <a:r>
              <a:rPr lang="en-US" sz="1600" b="1" dirty="0">
                <a:solidFill>
                  <a:schemeClr val="tx2"/>
                </a:solidFill>
                <a:latin typeface="Georgia" pitchFamily="34" charset="0"/>
                <a:ea typeface="Georgia" pitchFamily="34" charset="-122"/>
                <a:cs typeface="Georgia" pitchFamily="34" charset="-120"/>
              </a:rPr>
              <a:t>2  Trigger</a:t>
            </a:r>
            <a:endParaRPr lang="en-US" sz="1600" dirty="0"/>
          </a:p>
        </p:txBody>
      </p:sp>
      <p:sp>
        <p:nvSpPr>
          <p:cNvPr id="17" name="Text 11"/>
          <p:cNvSpPr txBox="1"/>
          <p:nvPr/>
        </p:nvSpPr>
        <p:spPr>
          <a:xfrm>
            <a:off x="3474720" y="3035808"/>
            <a:ext cx="2194560" cy="365760"/>
          </a:xfrm>
          <a:prstGeom prst="rect">
            <a:avLst/>
          </a:prstGeom>
          <a:noFill/>
          <a:ln/>
        </p:spPr>
        <p:txBody>
          <a:bodyPr wrap="square" lIns="0" tIns="0" rIns="0" bIns="0" rtlCol="0" anchor="t"/>
          <a:lstStyle/>
          <a:p>
            <a:pPr indent="0" marL="0">
              <a:buNone/>
            </a:pPr>
            <a:r>
              <a:rPr lang="en-US" sz="1200" dirty="0">
                <a:solidFill>
                  <a:schemeClr val="accent4"/>
                </a:solidFill>
                <a:latin typeface="Calibri" pitchFamily="34" charset="0"/>
                <a:ea typeface="Calibri" pitchFamily="34" charset="-122"/>
                <a:cs typeface="Calibri" pitchFamily="34" charset="-120"/>
              </a:rPr>
              <a:t>heat, light, humidity, solvent…</a:t>
            </a:r>
            <a:endParaRPr lang="en-US" sz="1200" dirty="0"/>
          </a:p>
        </p:txBody>
      </p:sp>
      <p:sp>
        <p:nvSpPr>
          <p:cNvPr id="18" name="hka1"/>
          <p:cNvSpPr/>
          <p:nvPr/>
        </p:nvSpPr>
        <p:spPr>
          <a:xfrm>
            <a:off x="5879592" y="2331720"/>
            <a:ext cx="219456" cy="0"/>
          </a:xfrm>
          <a:prstGeom prst="line">
            <a:avLst/>
          </a:prstGeom>
          <a:noFill/>
          <a:ln w="22225">
            <a:solidFill>
              <a:schemeClr val="accent4"/>
            </a:solidFill>
            <a:prstDash val="solid"/>
            <a:tailEnd type="triangle"/>
          </a:ln>
        </p:spPr>
      </p:sp>
      <p:sp>
        <p:nvSpPr>
          <p:cNvPr id="19" name="hk2"/>
          <p:cNvSpPr/>
          <p:nvPr/>
        </p:nvSpPr>
        <p:spPr>
          <a:xfrm>
            <a:off x="6126480" y="1234440"/>
            <a:ext cx="2560320" cy="2240280"/>
          </a:xfrm>
          <a:prstGeom prst="roundRect">
            <a:avLst>
              <a:gd name="adj" fmla="val 3265"/>
            </a:avLst>
          </a:prstGeom>
          <a:solidFill>
            <a:schemeClr val="bg2"/>
          </a:solidFill>
          <a:ln w="12700">
            <a:solidFill>
              <a:schemeClr val="bg2"/>
            </a:solidFill>
            <a:prstDash val="solid"/>
          </a:ln>
        </p:spPr>
      </p:sp>
      <p:pic>
        <p:nvPicPr>
          <p:cNvPr id="20" name="hki2" descr="img/strip_bent.png">    </p:cNvPr>
          <p:cNvPicPr>
            <a:picLocks noChangeAspect="1"/>
          </p:cNvPicPr>
          <p:nvPr/>
        </p:nvPicPr>
        <p:blipFill>
          <a:blip r:embed="rId5"/>
          <a:stretch>
            <a:fillRect/>
          </a:stretch>
        </p:blipFill>
        <p:spPr>
          <a:xfrm>
            <a:off x="6858000" y="1431036"/>
            <a:ext cx="1097280" cy="1161288"/>
          </a:xfrm>
          <a:prstGeom prst="rect">
            <a:avLst/>
          </a:prstGeom>
        </p:spPr>
      </p:pic>
      <p:sp>
        <p:nvSpPr>
          <p:cNvPr id="21" name="Text 14"/>
          <p:cNvSpPr txBox="1"/>
          <p:nvPr/>
        </p:nvSpPr>
        <p:spPr>
          <a:xfrm>
            <a:off x="6309360" y="2697480"/>
            <a:ext cx="2194560" cy="320040"/>
          </a:xfrm>
          <a:prstGeom prst="rect">
            <a:avLst/>
          </a:prstGeom>
          <a:noFill/>
          <a:ln/>
        </p:spPr>
        <p:txBody>
          <a:bodyPr wrap="square" lIns="0" tIns="0" rIns="0" bIns="0" rtlCol="0" anchor="t"/>
          <a:lstStyle/>
          <a:p>
            <a:pPr indent="0" marL="0">
              <a:buNone/>
            </a:pPr>
            <a:r>
              <a:rPr lang="en-US" sz="1600" b="1" dirty="0">
                <a:solidFill>
                  <a:schemeClr val="tx2"/>
                </a:solidFill>
                <a:latin typeface="Georgia" pitchFamily="34" charset="0"/>
                <a:ea typeface="Georgia" pitchFamily="34" charset="-122"/>
                <a:cs typeface="Georgia" pitchFamily="34" charset="-120"/>
              </a:rPr>
              <a:t>3  Transform</a:t>
            </a:r>
            <a:endParaRPr lang="en-US" sz="1600" dirty="0"/>
          </a:p>
        </p:txBody>
      </p:sp>
      <p:sp>
        <p:nvSpPr>
          <p:cNvPr id="22" name="Text 15"/>
          <p:cNvSpPr txBox="1"/>
          <p:nvPr/>
        </p:nvSpPr>
        <p:spPr>
          <a:xfrm>
            <a:off x="6309360" y="3035808"/>
            <a:ext cx="2194560" cy="365760"/>
          </a:xfrm>
          <a:prstGeom prst="rect">
            <a:avLst/>
          </a:prstGeom>
          <a:noFill/>
          <a:ln/>
        </p:spPr>
        <p:txBody>
          <a:bodyPr wrap="square" lIns="0" tIns="0" rIns="0" bIns="0" rtlCol="0" anchor="t"/>
          <a:lstStyle/>
          <a:p>
            <a:pPr indent="0" marL="0">
              <a:buNone/>
            </a:pPr>
            <a:r>
              <a:rPr lang="en-US" sz="1200" dirty="0">
                <a:solidFill>
                  <a:schemeClr val="accent4"/>
                </a:solidFill>
                <a:latin typeface="Calibri" pitchFamily="34" charset="0"/>
                <a:ea typeface="Calibri" pitchFamily="34" charset="-122"/>
                <a:cs typeface="Calibri" pitchFamily="34" charset="-120"/>
              </a:rPr>
              <a:t>mismatch bends it into shape</a:t>
            </a:r>
            <a:endParaRPr lang="en-US" sz="1200" dirty="0"/>
          </a:p>
        </p:txBody>
      </p:sp>
      <p:sp>
        <p:nvSpPr>
          <p:cNvPr id="23" name="hk-q"/>
          <p:cNvSpPr/>
          <p:nvPr/>
        </p:nvSpPr>
        <p:spPr>
          <a:xfrm>
            <a:off x="457200" y="3703320"/>
            <a:ext cx="8229600" cy="868680"/>
          </a:xfrm>
          <a:prstGeom prst="roundRect">
            <a:avLst>
              <a:gd name="adj" fmla="val 8421"/>
            </a:avLst>
          </a:prstGeom>
          <a:solidFill>
            <a:schemeClr val="tx2"/>
          </a:solidFill>
          <a:ln w="12700">
            <a:solidFill>
              <a:schemeClr val="tx2"/>
            </a:solidFill>
            <a:prstDash val="solid"/>
          </a:ln>
        </p:spPr>
      </p:sp>
      <p:sp>
        <p:nvSpPr>
          <p:cNvPr id="24" name="Text 17"/>
          <p:cNvSpPr txBox="1"/>
          <p:nvPr/>
        </p:nvSpPr>
        <p:spPr>
          <a:xfrm>
            <a:off x="685800" y="3703320"/>
            <a:ext cx="7772400" cy="868680"/>
          </a:xfrm>
          <a:prstGeom prst="rect">
            <a:avLst/>
          </a:prstGeom>
          <a:noFill/>
          <a:ln/>
        </p:spPr>
        <p:txBody>
          <a:bodyPr wrap="square" lIns="0" tIns="0" rIns="0" bIns="0" rtlCol="0" anchor="ctr"/>
          <a:lstStyle/>
          <a:p>
            <a:pPr indent="0" marL="0">
              <a:buNone/>
            </a:pPr>
            <a:r>
              <a:rPr lang="en-US" sz="1500" dirty="0">
                <a:solidFill>
                  <a:schemeClr val="accent5"/>
                </a:solidFill>
                <a:latin typeface="Calibri" pitchFamily="34" charset="0"/>
                <a:ea typeface="Calibri" pitchFamily="34" charset="-122"/>
                <a:cs typeface="Calibri" pitchFamily="34" charset="-120"/>
              </a:rPr>
              <a:t>3D printing designs a shape.  </a:t>
            </a:r>
            <a:pPr indent="0" marL="0">
              <a:buNone/>
            </a:pPr>
            <a:r>
              <a:rPr lang="en-US" sz="1500" b="1" dirty="0">
                <a:solidFill>
                  <a:schemeClr val="bg1"/>
                </a:solidFill>
                <a:latin typeface="Calibri" pitchFamily="34" charset="0"/>
                <a:ea typeface="Calibri" pitchFamily="34" charset="-122"/>
                <a:cs typeface="Calibri" pitchFamily="34" charset="-120"/>
              </a:rPr>
              <a:t>4D printing designs how it changes.</a:t>
            </a:r>
            <a:pPr indent="0" marL="0">
              <a:buNone/>
            </a:pPr>
            <a:r>
              <a:rPr lang="en-US" sz="1500" b="1" dirty="0">
                <a:solidFill>
                  <a:schemeClr val="accent3"/>
                </a:solidFill>
                <a:latin typeface="Calibri" pitchFamily="34" charset="0"/>
                <a:ea typeface="Calibri" pitchFamily="34" charset="-122"/>
                <a:cs typeface="Calibri" pitchFamily="34" charset="-120"/>
              </a:rPr>
              <a:t>  The question: where should each material go?</a:t>
            </a:r>
            <a:endParaRPr lang="en-US" sz="1500" dirty="0"/>
          </a:p>
        </p:txBody>
      </p:sp>
      <p:sp>
        <p:nvSpPr>
          <p:cNvPr id="25" name="Text 18"/>
          <p:cNvSpPr txBox="1"/>
          <p:nvPr/>
        </p:nvSpPr>
        <p:spPr>
          <a:xfrm>
            <a:off x="457200" y="4818888"/>
            <a:ext cx="7498080" cy="201168"/>
          </a:xfrm>
          <a:prstGeom prst="rect">
            <a:avLst/>
          </a:prstGeom>
          <a:noFill/>
          <a:ln/>
        </p:spPr>
        <p:txBody>
          <a:bodyPr wrap="square" lIns="0" tIns="0" rIns="0" bIns="0" rtlCol="0" anchor="t"/>
          <a:lstStyle/>
          <a:p>
            <a:pPr indent="0" marL="0">
              <a:buNone/>
            </a:pPr>
            <a:r>
              <a:rPr lang="en-US" sz="800" dirty="0">
                <a:solidFill>
                  <a:schemeClr val="accent4"/>
                </a:solidFill>
                <a:latin typeface="Calibri" pitchFamily="34" charset="0"/>
                <a:ea typeface="Calibri" pitchFamily="34" charset="-122"/>
                <a:cs typeface="Calibri" pitchFamily="34" charset="-120"/>
              </a:rPr>
              <a:t>Stimuli as reviewed in Jin et al. 2024 [2]. Strip graphics are schematic.</a:t>
            </a:r>
            <a:endParaRPr lang="en-US" sz="8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5B6B82"/>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2" type="body" hasCustomPrompt="1"/>
          </p:nvPr>
        </p:nvSpPr>
        <p:spPr>
          <a:xfrm>
            <a:off x="457200" y="256032"/>
            <a:ext cx="7315200" cy="228600"/>
          </a:xfrm>
          <a:prstGeom prst="rect">
            <a:avLst/>
          </a:prstGeom>
          <a:noFill/>
          <a:ln/>
        </p:spPr>
        <p:txBody>
          <a:bodyPr wrap="square" lIns="0" tIns="0" rIns="0" bIns="0" rtlCol="0" anchor="ctr"/>
          <a:lstStyle/>
          <a:p>
            <a:pPr algn="l" indent="0" marL="0">
              <a:buNone/>
            </a:pPr>
            <a:r>
              <a:rPr lang="en-US" sz="1000" b="1" spc="200" kern="0" dirty="0">
                <a:solidFill>
                  <a:schemeClr val="accent1"/>
                </a:solidFill>
                <a:latin typeface="Calibri" pitchFamily="34" charset="0"/>
                <a:ea typeface="Calibri" pitchFamily="34" charset="-122"/>
                <a:cs typeface="Calibri" pitchFamily="34" charset="-120"/>
              </a:rPr>
              <a:t>WHERE IT STARTED</a:t>
            </a:r>
            <a:endParaRPr lang="en-US" sz="1000" dirty="0"/>
          </a:p>
        </p:txBody>
      </p:sp>
      <p:sp>
        <p:nvSpPr>
          <p:cNvPr id="3" name="Text 2"/>
          <p:cNvSpPr/>
          <p:nvPr>
            <p:ph idx="103" type="title" hasCustomPrompt="1"/>
          </p:nvPr>
        </p:nvSpPr>
        <p:spPr>
          <a:xfrm>
            <a:off x="457200" y="502920"/>
            <a:ext cx="8229600" cy="548640"/>
          </a:xfrm>
          <a:prstGeom prst="rect">
            <a:avLst/>
          </a:prstGeom>
          <a:noFill/>
          <a:ln/>
        </p:spPr>
        <p:txBody>
          <a:bodyPr wrap="square" lIns="0" tIns="0" rIns="0" bIns="0" rtlCol="0" anchor="ctr"/>
          <a:lstStyle/>
          <a:p>
            <a:pPr algn="l" indent="0" marL="0">
              <a:buNone/>
            </a:pPr>
            <a:r>
              <a:rPr lang="en-US" sz="2400" b="1" dirty="0">
                <a:solidFill>
                  <a:schemeClr val="tx2"/>
                </a:solidFill>
                <a:latin typeface="Georgia" pitchFamily="34" charset="0"/>
                <a:ea typeface="Georgia" pitchFamily="34" charset="-122"/>
                <a:cs typeface="Georgia" pitchFamily="34" charset="-120"/>
              </a:rPr>
              <a:t>Freehand 4D: the pen path is the program</a:t>
            </a:r>
            <a:endParaRPr lang="en-US" sz="2400" dirty="0"/>
          </a:p>
        </p:txBody>
      </p:sp>
      <p:sp>
        <p:nvSpPr>
          <p:cNvPr id="4" name="fh0-c"/>
          <p:cNvSpPr/>
          <p:nvPr/>
        </p:nvSpPr>
        <p:spPr>
          <a:xfrm>
            <a:off x="960120" y="1325880"/>
            <a:ext cx="685800" cy="685800"/>
          </a:xfrm>
          <a:prstGeom prst="ellipse">
            <a:avLst/>
          </a:prstGeom>
          <a:solidFill>
            <a:schemeClr val="accent1"/>
          </a:solidFill>
          <a:ln w="12700">
            <a:solidFill>
              <a:schemeClr val="accent1"/>
            </a:solidFill>
            <a:prstDash val="solid"/>
          </a:ln>
        </p:spPr>
      </p:sp>
      <p:pic>
        <p:nvPicPr>
          <p:cNvPr id="5" name="fh0-i" descr="preencoded.png">    </p:cNvPr>
          <p:cNvPicPr>
            <a:picLocks noChangeAspect="1"/>
          </p:cNvPicPr>
          <p:nvPr/>
        </p:nvPicPr>
        <p:blipFill>
          <a:blip r:embed="rId1"/>
          <a:stretch>
            <a:fillRect/>
          </a:stretch>
        </p:blipFill>
        <p:spPr>
          <a:xfrm>
            <a:off x="1138428" y="1504188"/>
            <a:ext cx="329184" cy="329184"/>
          </a:xfrm>
          <a:prstGeom prst="rect">
            <a:avLst/>
          </a:prstGeom>
        </p:spPr>
      </p:pic>
      <p:sp>
        <p:nvSpPr>
          <p:cNvPr id="6" name="Text 3"/>
          <p:cNvSpPr txBox="1"/>
          <p:nvPr/>
        </p:nvSpPr>
        <p:spPr>
          <a:xfrm>
            <a:off x="457200" y="2121408"/>
            <a:ext cx="1691640" cy="320040"/>
          </a:xfrm>
          <a:prstGeom prst="rect">
            <a:avLst/>
          </a:prstGeom>
          <a:noFill/>
          <a:ln/>
        </p:spPr>
        <p:txBody>
          <a:bodyPr wrap="square" lIns="0" tIns="0" rIns="0" bIns="0" rtlCol="0" anchor="t"/>
          <a:lstStyle/>
          <a:p>
            <a:pPr algn="ctr" indent="0" marL="0">
              <a:buNone/>
            </a:pPr>
            <a:r>
              <a:rPr lang="en-US" sz="1600" b="1" dirty="0">
                <a:solidFill>
                  <a:schemeClr val="tx2"/>
                </a:solidFill>
                <a:latin typeface="Georgia" pitchFamily="34" charset="0"/>
                <a:ea typeface="Georgia" pitchFamily="34" charset="-122"/>
                <a:cs typeface="Georgia" pitchFamily="34" charset="-120"/>
              </a:rPr>
              <a:t>Draw</a:t>
            </a:r>
            <a:endParaRPr lang="en-US" sz="1600" dirty="0"/>
          </a:p>
        </p:txBody>
      </p:sp>
      <p:sp>
        <p:nvSpPr>
          <p:cNvPr id="7" name="Text 4"/>
          <p:cNvSpPr txBox="1"/>
          <p:nvPr/>
        </p:nvSpPr>
        <p:spPr>
          <a:xfrm>
            <a:off x="502920" y="2468880"/>
            <a:ext cx="1600200" cy="731520"/>
          </a:xfrm>
          <a:prstGeom prst="rect">
            <a:avLst/>
          </a:prstGeom>
          <a:noFill/>
          <a:ln/>
        </p:spPr>
        <p:txBody>
          <a:bodyPr wrap="square" lIns="0" tIns="0" rIns="0" bIns="0" rtlCol="0" anchor="t"/>
          <a:lstStyle/>
          <a:p>
            <a:pPr algn="ctr" indent="0" marL="0">
              <a:buNone/>
            </a:pPr>
            <a:r>
              <a:rPr lang="en-US" sz="1200" dirty="0">
                <a:solidFill>
                  <a:schemeClr val="accent4"/>
                </a:solidFill>
                <a:latin typeface="Calibri" pitchFamily="34" charset="0"/>
                <a:ea typeface="Calibri" pitchFamily="34" charset="-122"/>
                <a:cs typeface="Calibri" pitchFamily="34" charset="-120"/>
              </a:rPr>
              <a:t>3D pen extrudes plastic along a hand-drawn path</a:t>
            </a:r>
            <a:endParaRPr lang="en-US" sz="1200" dirty="0"/>
          </a:p>
        </p:txBody>
      </p:sp>
      <p:sp>
        <p:nvSpPr>
          <p:cNvPr id="8" name="fha0"/>
          <p:cNvSpPr/>
          <p:nvPr/>
        </p:nvSpPr>
        <p:spPr>
          <a:xfrm>
            <a:off x="1783080" y="1673352"/>
            <a:ext cx="457200" cy="0"/>
          </a:xfrm>
          <a:prstGeom prst="line">
            <a:avLst/>
          </a:prstGeom>
          <a:noFill/>
          <a:ln w="22225">
            <a:solidFill>
              <a:schemeClr val="accent4"/>
            </a:solidFill>
            <a:prstDash val="solid"/>
            <a:tailEnd type="triangle"/>
          </a:ln>
        </p:spPr>
      </p:sp>
      <p:sp>
        <p:nvSpPr>
          <p:cNvPr id="9" name="fh1-c"/>
          <p:cNvSpPr/>
          <p:nvPr/>
        </p:nvSpPr>
        <p:spPr>
          <a:xfrm>
            <a:off x="2788920" y="1325880"/>
            <a:ext cx="685800" cy="685800"/>
          </a:xfrm>
          <a:prstGeom prst="ellipse">
            <a:avLst/>
          </a:prstGeom>
          <a:solidFill>
            <a:schemeClr val="accent1"/>
          </a:solidFill>
          <a:ln w="12700">
            <a:solidFill>
              <a:schemeClr val="accent1"/>
            </a:solidFill>
            <a:prstDash val="solid"/>
          </a:ln>
        </p:spPr>
      </p:sp>
      <p:pic>
        <p:nvPicPr>
          <p:cNvPr id="10" name="fh1-i" descr="preencoded.png">    </p:cNvPr>
          <p:cNvPicPr>
            <a:picLocks noChangeAspect="1"/>
          </p:cNvPicPr>
          <p:nvPr/>
        </p:nvPicPr>
        <p:blipFill>
          <a:blip r:embed="rId2"/>
          <a:stretch>
            <a:fillRect/>
          </a:stretch>
        </p:blipFill>
        <p:spPr>
          <a:xfrm>
            <a:off x="2967228" y="1504188"/>
            <a:ext cx="329184" cy="329184"/>
          </a:xfrm>
          <a:prstGeom prst="rect">
            <a:avLst/>
          </a:prstGeom>
        </p:spPr>
      </p:pic>
      <p:sp>
        <p:nvSpPr>
          <p:cNvPr id="11" name="Text 7"/>
          <p:cNvSpPr txBox="1"/>
          <p:nvPr/>
        </p:nvSpPr>
        <p:spPr>
          <a:xfrm>
            <a:off x="2286000" y="2121408"/>
            <a:ext cx="1691640" cy="320040"/>
          </a:xfrm>
          <a:prstGeom prst="rect">
            <a:avLst/>
          </a:prstGeom>
          <a:noFill/>
          <a:ln/>
        </p:spPr>
        <p:txBody>
          <a:bodyPr wrap="square" lIns="0" tIns="0" rIns="0" bIns="0" rtlCol="0" anchor="t"/>
          <a:lstStyle/>
          <a:p>
            <a:pPr algn="ctr" indent="0" marL="0">
              <a:buNone/>
            </a:pPr>
            <a:r>
              <a:rPr lang="en-US" sz="1600" b="1" dirty="0">
                <a:solidFill>
                  <a:schemeClr val="tx2"/>
                </a:solidFill>
                <a:latin typeface="Georgia" pitchFamily="34" charset="0"/>
                <a:ea typeface="Georgia" pitchFamily="34" charset="-122"/>
                <a:cs typeface="Georgia" pitchFamily="34" charset="-120"/>
              </a:rPr>
              <a:t>Store</a:t>
            </a:r>
            <a:endParaRPr lang="en-US" sz="1600" dirty="0"/>
          </a:p>
        </p:txBody>
      </p:sp>
      <p:sp>
        <p:nvSpPr>
          <p:cNvPr id="12" name="Text 8"/>
          <p:cNvSpPr txBox="1"/>
          <p:nvPr/>
        </p:nvSpPr>
        <p:spPr>
          <a:xfrm>
            <a:off x="2331720" y="2468880"/>
            <a:ext cx="1600200" cy="731520"/>
          </a:xfrm>
          <a:prstGeom prst="rect">
            <a:avLst/>
          </a:prstGeom>
          <a:noFill/>
          <a:ln/>
        </p:spPr>
        <p:txBody>
          <a:bodyPr wrap="square" lIns="0" tIns="0" rIns="0" bIns="0" rtlCol="0" anchor="t"/>
          <a:lstStyle/>
          <a:p>
            <a:pPr algn="ctr" indent="0" marL="0">
              <a:buNone/>
            </a:pPr>
            <a:r>
              <a:rPr lang="en-US" sz="1200" dirty="0">
                <a:solidFill>
                  <a:schemeClr val="accent4"/>
                </a:solidFill>
                <a:latin typeface="Calibri" pitchFamily="34" charset="0"/>
                <a:ea typeface="Calibri" pitchFamily="34" charset="-122"/>
                <a:cs typeface="Calibri" pitchFamily="34" charset="-120"/>
              </a:rPr>
              <a:t>stretching freezes strain into the path</a:t>
            </a:r>
            <a:endParaRPr lang="en-US" sz="1200" dirty="0"/>
          </a:p>
        </p:txBody>
      </p:sp>
      <p:sp>
        <p:nvSpPr>
          <p:cNvPr id="13" name="fha1"/>
          <p:cNvSpPr/>
          <p:nvPr/>
        </p:nvSpPr>
        <p:spPr>
          <a:xfrm>
            <a:off x="3611880" y="1673352"/>
            <a:ext cx="457200" cy="0"/>
          </a:xfrm>
          <a:prstGeom prst="line">
            <a:avLst/>
          </a:prstGeom>
          <a:noFill/>
          <a:ln w="22225">
            <a:solidFill>
              <a:schemeClr val="accent4"/>
            </a:solidFill>
            <a:prstDash val="solid"/>
            <a:tailEnd type="triangle"/>
          </a:ln>
        </p:spPr>
      </p:sp>
      <p:sp>
        <p:nvSpPr>
          <p:cNvPr id="14" name="fh2-c"/>
          <p:cNvSpPr/>
          <p:nvPr/>
        </p:nvSpPr>
        <p:spPr>
          <a:xfrm>
            <a:off x="4617720" y="1325880"/>
            <a:ext cx="685800" cy="685800"/>
          </a:xfrm>
          <a:prstGeom prst="ellipse">
            <a:avLst/>
          </a:prstGeom>
          <a:solidFill>
            <a:schemeClr val="accent2"/>
          </a:solidFill>
          <a:ln w="12700">
            <a:solidFill>
              <a:schemeClr val="accent2"/>
            </a:solidFill>
            <a:prstDash val="solid"/>
          </a:ln>
        </p:spPr>
      </p:sp>
      <p:pic>
        <p:nvPicPr>
          <p:cNvPr id="15" name="fh2-i" descr="preencoded.png">    </p:cNvPr>
          <p:cNvPicPr>
            <a:picLocks noChangeAspect="1"/>
          </p:cNvPicPr>
          <p:nvPr/>
        </p:nvPicPr>
        <p:blipFill>
          <a:blip r:embed="rId3"/>
          <a:stretch>
            <a:fillRect/>
          </a:stretch>
        </p:blipFill>
        <p:spPr>
          <a:xfrm>
            <a:off x="4796028" y="1504188"/>
            <a:ext cx="329184" cy="329184"/>
          </a:xfrm>
          <a:prstGeom prst="rect">
            <a:avLst/>
          </a:prstGeom>
        </p:spPr>
      </p:pic>
      <p:sp>
        <p:nvSpPr>
          <p:cNvPr id="16" name="Text 11"/>
          <p:cNvSpPr txBox="1"/>
          <p:nvPr/>
        </p:nvSpPr>
        <p:spPr>
          <a:xfrm>
            <a:off x="4114800" y="2121408"/>
            <a:ext cx="1691640" cy="320040"/>
          </a:xfrm>
          <a:prstGeom prst="rect">
            <a:avLst/>
          </a:prstGeom>
          <a:noFill/>
          <a:ln/>
        </p:spPr>
        <p:txBody>
          <a:bodyPr wrap="square" lIns="0" tIns="0" rIns="0" bIns="0" rtlCol="0" anchor="t"/>
          <a:lstStyle/>
          <a:p>
            <a:pPr algn="ctr" indent="0" marL="0">
              <a:buNone/>
            </a:pPr>
            <a:r>
              <a:rPr lang="en-US" sz="1600" b="1" dirty="0">
                <a:solidFill>
                  <a:schemeClr val="tx2"/>
                </a:solidFill>
                <a:latin typeface="Georgia" pitchFamily="34" charset="0"/>
                <a:ea typeface="Georgia" pitchFamily="34" charset="-122"/>
                <a:cs typeface="Georgia" pitchFamily="34" charset="-120"/>
              </a:rPr>
              <a:t>Heat</a:t>
            </a:r>
            <a:endParaRPr lang="en-US" sz="1600" dirty="0"/>
          </a:p>
        </p:txBody>
      </p:sp>
      <p:sp>
        <p:nvSpPr>
          <p:cNvPr id="17" name="Text 12"/>
          <p:cNvSpPr txBox="1"/>
          <p:nvPr/>
        </p:nvSpPr>
        <p:spPr>
          <a:xfrm>
            <a:off x="4160520" y="2468880"/>
            <a:ext cx="1600200" cy="731520"/>
          </a:xfrm>
          <a:prstGeom prst="rect">
            <a:avLst/>
          </a:prstGeom>
          <a:noFill/>
          <a:ln/>
        </p:spPr>
        <p:txBody>
          <a:bodyPr wrap="square" lIns="0" tIns="0" rIns="0" bIns="0" rtlCol="0" anchor="t"/>
          <a:lstStyle/>
          <a:p>
            <a:pPr algn="ctr" indent="0" marL="0">
              <a:buNone/>
            </a:pPr>
            <a:r>
              <a:rPr lang="en-US" sz="1200" dirty="0">
                <a:solidFill>
                  <a:schemeClr val="accent4"/>
                </a:solidFill>
                <a:latin typeface="Calibri" pitchFamily="34" charset="0"/>
                <a:ea typeface="Calibri" pitchFamily="34" charset="-122"/>
                <a:cs typeface="Calibri" pitchFamily="34" charset="-120"/>
              </a:rPr>
              <a:t>strain releases; path shrinks and bends</a:t>
            </a:r>
            <a:endParaRPr lang="en-US" sz="1200" dirty="0"/>
          </a:p>
        </p:txBody>
      </p:sp>
      <p:sp>
        <p:nvSpPr>
          <p:cNvPr id="18" name="fh-plus"/>
          <p:cNvSpPr/>
          <p:nvPr/>
        </p:nvSpPr>
        <p:spPr>
          <a:xfrm>
            <a:off x="457200" y="3383280"/>
            <a:ext cx="5349240" cy="1234440"/>
          </a:xfrm>
          <a:prstGeom prst="roundRect">
            <a:avLst>
              <a:gd name="adj" fmla="val 5926"/>
            </a:avLst>
          </a:prstGeom>
          <a:solidFill>
            <a:schemeClr val="bg2"/>
          </a:solidFill>
          <a:ln w="12700">
            <a:solidFill>
              <a:schemeClr val="bg2"/>
            </a:solidFill>
            <a:prstDash val="solid"/>
          </a:ln>
        </p:spPr>
      </p:sp>
      <p:sp>
        <p:nvSpPr>
          <p:cNvPr id="19" name="Text 14"/>
          <p:cNvSpPr txBox="1"/>
          <p:nvPr/>
        </p:nvSpPr>
        <p:spPr>
          <a:xfrm>
            <a:off x="640080" y="3429000"/>
            <a:ext cx="5029200" cy="1143000"/>
          </a:xfrm>
          <a:prstGeom prst="rect">
            <a:avLst/>
          </a:prstGeom>
          <a:noFill/>
          <a:ln/>
        </p:spPr>
        <p:txBody>
          <a:bodyPr wrap="square" lIns="0" tIns="0" rIns="0" bIns="0" rtlCol="0" anchor="ctr"/>
          <a:lstStyle/>
          <a:p>
            <a:pPr indent="0" marL="0">
              <a:buNone/>
            </a:pPr>
            <a:r>
              <a:rPr lang="en-US" sz="2000" b="1" dirty="0">
                <a:solidFill>
                  <a:schemeClr val="accent1"/>
                </a:solidFill>
                <a:latin typeface="Calibri" pitchFamily="34" charset="0"/>
                <a:ea typeface="Calibri" pitchFamily="34" charset="-122"/>
                <a:cs typeface="Calibri" pitchFamily="34" charset="-120"/>
              </a:rPr>
              <a:t>+  </a:t>
            </a:r>
            <a:pPr indent="0" marL="0">
              <a:buNone/>
            </a:pPr>
            <a:r>
              <a:rPr lang="en-US" sz="1300" b="1" dirty="0">
                <a:solidFill>
                  <a:schemeClr val="tx2"/>
                </a:solidFill>
                <a:latin typeface="Calibri" pitchFamily="34" charset="0"/>
                <a:ea typeface="Calibri" pitchFamily="34" charset="-122"/>
                <a:cs typeface="Calibri" pitchFamily="34" charset="-120"/>
              </a:rPr>
              <a:t>Huge geometric freedom: </a:t>
            </a:r>
            <a:pPr indent="0" marL="0">
              <a:buNone/>
            </a:pPr>
            <a:r>
              <a:rPr lang="en-US" sz="1300" dirty="0">
                <a:solidFill>
                  <a:schemeClr val="tx1"/>
                </a:solidFill>
                <a:latin typeface="Calibri" pitchFamily="34" charset="0"/>
                <a:ea typeface="Calibri" pitchFamily="34" charset="-122"/>
                <a:cs typeface="Calibri" pitchFamily="34" charset="-120"/>
              </a:rPr>
              <a:t>draw on curved surfaces, low-cost, interactive.</a:t>
            </a:r>
            <a:endParaRPr lang="en-US" sz="1300" dirty="0"/>
          </a:p>
          <a:p>
            <a:pPr indent="0" marL="0">
              <a:buNone/>
            </a:pPr>
            <a:r>
              <a:rPr lang="en-US" sz="2000" b="1" dirty="0">
                <a:solidFill>
                  <a:schemeClr val="accent2"/>
                </a:solidFill>
                <a:latin typeface="Calibri" pitchFamily="34" charset="0"/>
                <a:ea typeface="Calibri" pitchFamily="34" charset="-122"/>
                <a:cs typeface="Calibri" pitchFamily="34" charset="-120"/>
              </a:rPr>
              <a:t>–  </a:t>
            </a:r>
            <a:pPr indent="0" marL="0">
              <a:buNone/>
            </a:pPr>
            <a:r>
              <a:rPr lang="en-US" sz="1300" b="1" dirty="0">
                <a:solidFill>
                  <a:schemeClr val="tx2"/>
                </a:solidFill>
                <a:latin typeface="Calibri" pitchFamily="34" charset="0"/>
                <a:ea typeface="Calibri" pitchFamily="34" charset="-122"/>
                <a:cs typeface="Calibri" pitchFamily="34" charset="-120"/>
              </a:rPr>
              <a:t>Imprecise: </a:t>
            </a:r>
            <a:pPr indent="0" marL="0">
              <a:buNone/>
            </a:pPr>
            <a:r>
              <a:rPr lang="en-US" sz="1300" dirty="0">
                <a:solidFill>
                  <a:schemeClr val="tx1"/>
                </a:solidFill>
                <a:latin typeface="Calibri" pitchFamily="34" charset="0"/>
                <a:ea typeface="Calibri" pitchFamily="34" charset="-122"/>
                <a:cs typeface="Calibri" pitchFamily="34" charset="-120"/>
              </a:rPr>
              <a:t>hand paths vary, so the final shape is hard to predict.</a:t>
            </a:r>
            <a:endParaRPr lang="en-US" sz="1300" dirty="0"/>
          </a:p>
        </p:txBody>
      </p:sp>
      <p:sp>
        <p:nvSpPr>
          <p:cNvPr id="20" name="fh-turn"/>
          <p:cNvSpPr/>
          <p:nvPr/>
        </p:nvSpPr>
        <p:spPr>
          <a:xfrm>
            <a:off x="6080760" y="1234440"/>
            <a:ext cx="2606040" cy="3383280"/>
          </a:xfrm>
          <a:prstGeom prst="roundRect">
            <a:avLst>
              <a:gd name="adj" fmla="val 2807"/>
            </a:avLst>
          </a:prstGeom>
          <a:solidFill>
            <a:schemeClr val="tx2"/>
          </a:solidFill>
          <a:ln w="12700">
            <a:solidFill>
              <a:schemeClr val="tx2"/>
            </a:solidFill>
            <a:prstDash val="solid"/>
          </a:ln>
        </p:spPr>
      </p:sp>
      <p:sp>
        <p:nvSpPr>
          <p:cNvPr id="21" name="fh-b-c"/>
          <p:cNvSpPr/>
          <p:nvPr/>
        </p:nvSpPr>
        <p:spPr>
          <a:xfrm>
            <a:off x="6995160" y="1463040"/>
            <a:ext cx="731520" cy="731520"/>
          </a:xfrm>
          <a:prstGeom prst="ellipse">
            <a:avLst/>
          </a:prstGeom>
          <a:solidFill>
            <a:schemeClr val="accent3"/>
          </a:solidFill>
          <a:ln w="12700">
            <a:solidFill>
              <a:schemeClr val="accent3"/>
            </a:solidFill>
            <a:prstDash val="solid"/>
          </a:ln>
        </p:spPr>
      </p:sp>
      <p:pic>
        <p:nvPicPr>
          <p:cNvPr id="22" name="fh-b-i" descr="preencoded.png">    </p:cNvPr>
          <p:cNvPicPr>
            <a:picLocks noChangeAspect="1"/>
          </p:cNvPicPr>
          <p:nvPr/>
        </p:nvPicPr>
        <p:blipFill>
          <a:blip r:embed="rId4"/>
          <a:stretch>
            <a:fillRect/>
          </a:stretch>
        </p:blipFill>
        <p:spPr>
          <a:xfrm>
            <a:off x="7185355" y="1653235"/>
            <a:ext cx="351130" cy="351130"/>
          </a:xfrm>
          <a:prstGeom prst="rect">
            <a:avLst/>
          </a:prstGeom>
        </p:spPr>
      </p:pic>
      <p:sp>
        <p:nvSpPr>
          <p:cNvPr id="23" name="Text 17"/>
          <p:cNvSpPr txBox="1"/>
          <p:nvPr/>
        </p:nvSpPr>
        <p:spPr>
          <a:xfrm>
            <a:off x="6263640" y="2331720"/>
            <a:ext cx="2240280" cy="365760"/>
          </a:xfrm>
          <a:prstGeom prst="rect">
            <a:avLst/>
          </a:prstGeom>
          <a:noFill/>
          <a:ln/>
        </p:spPr>
        <p:txBody>
          <a:bodyPr wrap="square" lIns="0" tIns="0" rIns="0" bIns="0" rtlCol="0" anchor="t"/>
          <a:lstStyle/>
          <a:p>
            <a:pPr algn="ctr" indent="0" marL="0">
              <a:buNone/>
            </a:pPr>
            <a:r>
              <a:rPr lang="en-US" sz="1800" b="1" dirty="0">
                <a:solidFill>
                  <a:schemeClr val="bg1"/>
                </a:solidFill>
                <a:latin typeface="Georgia" pitchFamily="34" charset="0"/>
                <a:ea typeface="Georgia" pitchFamily="34" charset="-122"/>
                <a:cs typeface="Georgia" pitchFamily="34" charset="-120"/>
              </a:rPr>
              <a:t>The turn</a:t>
            </a:r>
            <a:endParaRPr lang="en-US" sz="1800" dirty="0"/>
          </a:p>
        </p:txBody>
      </p:sp>
      <p:sp>
        <p:nvSpPr>
          <p:cNvPr id="24" name="Text 18"/>
          <p:cNvSpPr txBox="1"/>
          <p:nvPr/>
        </p:nvSpPr>
        <p:spPr>
          <a:xfrm>
            <a:off x="6309360" y="2743200"/>
            <a:ext cx="2148840" cy="1463040"/>
          </a:xfrm>
          <a:prstGeom prst="rect">
            <a:avLst/>
          </a:prstGeom>
          <a:noFill/>
          <a:ln/>
        </p:spPr>
        <p:txBody>
          <a:bodyPr wrap="square" lIns="0" tIns="0" rIns="0" bIns="0" rtlCol="0" anchor="t"/>
          <a:lstStyle/>
          <a:p>
            <a:pPr algn="ctr" indent="0" marL="0">
              <a:buNone/>
            </a:pPr>
            <a:r>
              <a:rPr lang="en-US" sz="1300" dirty="0">
                <a:solidFill>
                  <a:schemeClr val="accent5"/>
                </a:solidFill>
                <a:latin typeface="Calibri" pitchFamily="34" charset="0"/>
                <a:ea typeface="Calibri" pitchFamily="34" charset="-122"/>
                <a:cs typeface="Calibri" pitchFamily="34" charset="-120"/>
              </a:rPr>
              <a:t>Instead of guessing a path and hoping, start from the target shape and compute the material layout.</a:t>
            </a:r>
            <a:endParaRPr lang="en-US" sz="1300" dirty="0"/>
          </a:p>
        </p:txBody>
      </p:sp>
      <p:sp>
        <p:nvSpPr>
          <p:cNvPr id="25" name="Text 19"/>
          <p:cNvSpPr txBox="1"/>
          <p:nvPr/>
        </p:nvSpPr>
        <p:spPr>
          <a:xfrm>
            <a:off x="457200" y="4818888"/>
            <a:ext cx="7498080" cy="201168"/>
          </a:xfrm>
          <a:prstGeom prst="rect">
            <a:avLst/>
          </a:prstGeom>
          <a:noFill/>
          <a:ln/>
        </p:spPr>
        <p:txBody>
          <a:bodyPr wrap="square" lIns="0" tIns="0" rIns="0" bIns="0" rtlCol="0" anchor="t"/>
          <a:lstStyle/>
          <a:p>
            <a:pPr indent="0" marL="0">
              <a:buNone/>
            </a:pPr>
            <a:r>
              <a:rPr lang="en-US" sz="800" dirty="0">
                <a:solidFill>
                  <a:schemeClr val="accent4"/>
                </a:solidFill>
                <a:latin typeface="Calibri" pitchFamily="34" charset="0"/>
                <a:ea typeface="Calibri" pitchFamily="34" charset="-122"/>
                <a:cs typeface="Calibri" pitchFamily="34" charset="-120"/>
              </a:rPr>
              <a:t>4Doodle, Proc. CHI ’23, doi:10.1145/3544548.3581321 [3]; shrinkage modelling: Jin et al. 2024, Sec. 3.1 [2]. Diagram is schematic.</a:t>
            </a:r>
            <a:endParaRPr lang="en-US" sz="8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5B6B82"/>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2" type="body" hasCustomPrompt="1"/>
          </p:nvPr>
        </p:nvSpPr>
        <p:spPr>
          <a:xfrm>
            <a:off x="457200" y="256032"/>
            <a:ext cx="7315200" cy="228600"/>
          </a:xfrm>
          <a:prstGeom prst="rect">
            <a:avLst/>
          </a:prstGeom>
          <a:noFill/>
          <a:ln/>
        </p:spPr>
        <p:txBody>
          <a:bodyPr wrap="square" lIns="0" tIns="0" rIns="0" bIns="0" rtlCol="0" anchor="ctr"/>
          <a:lstStyle/>
          <a:p>
            <a:pPr algn="l" indent="0" marL="0">
              <a:buNone/>
            </a:pPr>
            <a:r>
              <a:rPr lang="en-US" sz="1000" b="1" spc="200" kern="0" dirty="0">
                <a:solidFill>
                  <a:schemeClr val="accent1"/>
                </a:solidFill>
                <a:latin typeface="Calibri" pitchFamily="34" charset="0"/>
                <a:ea typeface="Calibri" pitchFamily="34" charset="-122"/>
                <a:cs typeface="Calibri" pitchFamily="34" charset="-120"/>
              </a:rPr>
              <a:t>THE PROBLEM</a:t>
            </a:r>
            <a:endParaRPr lang="en-US" sz="1000" dirty="0"/>
          </a:p>
        </p:txBody>
      </p:sp>
      <p:sp>
        <p:nvSpPr>
          <p:cNvPr id="3" name="Text 2"/>
          <p:cNvSpPr/>
          <p:nvPr>
            <p:ph idx="103" type="title" hasCustomPrompt="1"/>
          </p:nvPr>
        </p:nvSpPr>
        <p:spPr>
          <a:xfrm>
            <a:off x="457200" y="502920"/>
            <a:ext cx="8229600" cy="548640"/>
          </a:xfrm>
          <a:prstGeom prst="rect">
            <a:avLst/>
          </a:prstGeom>
          <a:noFill/>
          <a:ln/>
        </p:spPr>
        <p:txBody>
          <a:bodyPr wrap="square" lIns="0" tIns="0" rIns="0" bIns="0" rtlCol="0" anchor="ctr"/>
          <a:lstStyle/>
          <a:p>
            <a:pPr algn="l" indent="0" marL="0">
              <a:buNone/>
            </a:pPr>
            <a:r>
              <a:rPr lang="en-US" sz="2400" b="1" dirty="0">
                <a:solidFill>
                  <a:schemeClr val="tx2"/>
                </a:solidFill>
                <a:latin typeface="Georgia" pitchFamily="34" charset="0"/>
                <a:ea typeface="Georgia" pitchFamily="34" charset="-122"/>
                <a:cs typeface="Georgia" pitchFamily="34" charset="-120"/>
              </a:rPr>
              <a:t>Why computing the design is hard</a:t>
            </a:r>
            <a:endParaRPr lang="en-US" sz="2400" dirty="0"/>
          </a:p>
        </p:txBody>
      </p:sp>
      <p:sp>
        <p:nvSpPr>
          <p:cNvPr id="4" name="ch0"/>
          <p:cNvSpPr/>
          <p:nvPr/>
        </p:nvSpPr>
        <p:spPr>
          <a:xfrm>
            <a:off x="457200" y="1234440"/>
            <a:ext cx="2103120" cy="1554480"/>
          </a:xfrm>
          <a:prstGeom prst="roundRect">
            <a:avLst>
              <a:gd name="adj" fmla="val 4706"/>
            </a:avLst>
          </a:prstGeom>
          <a:solidFill>
            <a:schemeClr val="bg2"/>
          </a:solidFill>
          <a:ln w="12700">
            <a:solidFill>
              <a:schemeClr val="bg2"/>
            </a:solidFill>
            <a:prstDash val="solid"/>
          </a:ln>
        </p:spPr>
      </p:sp>
      <p:sp>
        <p:nvSpPr>
          <p:cNvPr id="5" name="chc0-c"/>
          <p:cNvSpPr/>
          <p:nvPr/>
        </p:nvSpPr>
        <p:spPr>
          <a:xfrm>
            <a:off x="640080" y="1417320"/>
            <a:ext cx="502920" cy="502920"/>
          </a:xfrm>
          <a:prstGeom prst="ellipse">
            <a:avLst/>
          </a:prstGeom>
          <a:solidFill>
            <a:schemeClr val="accent1"/>
          </a:solidFill>
          <a:ln w="12700">
            <a:solidFill>
              <a:schemeClr val="accent1"/>
            </a:solidFill>
            <a:prstDash val="solid"/>
          </a:ln>
        </p:spPr>
      </p:sp>
      <p:pic>
        <p:nvPicPr>
          <p:cNvPr id="6" name="chc0-i" descr="preencoded.png">    </p:cNvPr>
          <p:cNvPicPr>
            <a:picLocks noChangeAspect="1"/>
          </p:cNvPicPr>
          <p:nvPr/>
        </p:nvPicPr>
        <p:blipFill>
          <a:blip r:embed="rId1"/>
          <a:stretch>
            <a:fillRect/>
          </a:stretch>
        </p:blipFill>
        <p:spPr>
          <a:xfrm>
            <a:off x="770839" y="1548079"/>
            <a:ext cx="241402" cy="241402"/>
          </a:xfrm>
          <a:prstGeom prst="rect">
            <a:avLst/>
          </a:prstGeom>
        </p:spPr>
      </p:pic>
      <p:sp>
        <p:nvSpPr>
          <p:cNvPr id="7" name="Text 4"/>
          <p:cNvSpPr txBox="1"/>
          <p:nvPr/>
        </p:nvSpPr>
        <p:spPr>
          <a:xfrm>
            <a:off x="640080" y="2011680"/>
            <a:ext cx="1783080" cy="320040"/>
          </a:xfrm>
          <a:prstGeom prst="rect">
            <a:avLst/>
          </a:prstGeom>
          <a:noFill/>
          <a:ln/>
        </p:spPr>
        <p:txBody>
          <a:bodyPr wrap="square" lIns="0" tIns="0" rIns="0" bIns="0" rtlCol="0" anchor="t"/>
          <a:lstStyle/>
          <a:p>
            <a:pPr indent="0" marL="0">
              <a:buNone/>
            </a:pPr>
            <a:r>
              <a:rPr lang="en-US" sz="1500" b="1" dirty="0">
                <a:solidFill>
                  <a:schemeClr val="tx2"/>
                </a:solidFill>
                <a:latin typeface="Georgia" pitchFamily="34" charset="0"/>
                <a:ea typeface="Georgia" pitchFamily="34" charset="-122"/>
                <a:cs typeface="Georgia" pitchFamily="34" charset="-120"/>
              </a:rPr>
              <a:t>Nonlinear</a:t>
            </a:r>
            <a:endParaRPr lang="en-US" sz="1500" dirty="0"/>
          </a:p>
        </p:txBody>
      </p:sp>
      <p:sp>
        <p:nvSpPr>
          <p:cNvPr id="8" name="Text 5"/>
          <p:cNvSpPr txBox="1"/>
          <p:nvPr/>
        </p:nvSpPr>
        <p:spPr>
          <a:xfrm>
            <a:off x="640080" y="2331720"/>
            <a:ext cx="1783080" cy="411480"/>
          </a:xfrm>
          <a:prstGeom prst="rect">
            <a:avLst/>
          </a:prstGeom>
          <a:noFill/>
          <a:ln/>
        </p:spPr>
        <p:txBody>
          <a:bodyPr wrap="square" lIns="0" tIns="0" rIns="0" bIns="0" rtlCol="0" anchor="t"/>
          <a:lstStyle/>
          <a:p>
            <a:pPr indent="0" marL="0">
              <a:buNone/>
            </a:pPr>
            <a:r>
              <a:rPr lang="en-US" sz="1100" dirty="0">
                <a:solidFill>
                  <a:schemeClr val="accent4"/>
                </a:solidFill>
                <a:latin typeface="Calibri" pitchFamily="34" charset="0"/>
                <a:ea typeface="Calibri" pitchFamily="34" charset="-122"/>
                <a:cs typeface="Calibri" pitchFamily="34" charset="-120"/>
              </a:rPr>
              <a:t>big bends, swelling, temperature effects</a:t>
            </a:r>
            <a:endParaRPr lang="en-US" sz="1100" dirty="0"/>
          </a:p>
        </p:txBody>
      </p:sp>
      <p:sp>
        <p:nvSpPr>
          <p:cNvPr id="9" name="ch1"/>
          <p:cNvSpPr/>
          <p:nvPr/>
        </p:nvSpPr>
        <p:spPr>
          <a:xfrm>
            <a:off x="2697480" y="1234440"/>
            <a:ext cx="2103120" cy="1554480"/>
          </a:xfrm>
          <a:prstGeom prst="roundRect">
            <a:avLst>
              <a:gd name="adj" fmla="val 4706"/>
            </a:avLst>
          </a:prstGeom>
          <a:solidFill>
            <a:schemeClr val="bg2"/>
          </a:solidFill>
          <a:ln w="12700">
            <a:solidFill>
              <a:schemeClr val="bg2"/>
            </a:solidFill>
            <a:prstDash val="solid"/>
          </a:ln>
        </p:spPr>
      </p:sp>
      <p:sp>
        <p:nvSpPr>
          <p:cNvPr id="10" name="chc1-c"/>
          <p:cNvSpPr/>
          <p:nvPr/>
        </p:nvSpPr>
        <p:spPr>
          <a:xfrm>
            <a:off x="2880360" y="1417320"/>
            <a:ext cx="502920" cy="502920"/>
          </a:xfrm>
          <a:prstGeom prst="ellipse">
            <a:avLst/>
          </a:prstGeom>
          <a:solidFill>
            <a:schemeClr val="accent1"/>
          </a:solidFill>
          <a:ln w="12700">
            <a:solidFill>
              <a:schemeClr val="accent1"/>
            </a:solidFill>
            <a:prstDash val="solid"/>
          </a:ln>
        </p:spPr>
      </p:sp>
      <p:pic>
        <p:nvPicPr>
          <p:cNvPr id="11" name="chc1-i" descr="preencoded.png">    </p:cNvPr>
          <p:cNvPicPr>
            <a:picLocks noChangeAspect="1"/>
          </p:cNvPicPr>
          <p:nvPr/>
        </p:nvPicPr>
        <p:blipFill>
          <a:blip r:embed="rId2"/>
          <a:stretch>
            <a:fillRect/>
          </a:stretch>
        </p:blipFill>
        <p:spPr>
          <a:xfrm>
            <a:off x="3011119" y="1548079"/>
            <a:ext cx="241402" cy="241402"/>
          </a:xfrm>
          <a:prstGeom prst="rect">
            <a:avLst/>
          </a:prstGeom>
        </p:spPr>
      </p:pic>
      <p:sp>
        <p:nvSpPr>
          <p:cNvPr id="12" name="Text 8"/>
          <p:cNvSpPr txBox="1"/>
          <p:nvPr/>
        </p:nvSpPr>
        <p:spPr>
          <a:xfrm>
            <a:off x="2880360" y="2011680"/>
            <a:ext cx="1783080" cy="320040"/>
          </a:xfrm>
          <a:prstGeom prst="rect">
            <a:avLst/>
          </a:prstGeom>
          <a:noFill/>
          <a:ln/>
        </p:spPr>
        <p:txBody>
          <a:bodyPr wrap="square" lIns="0" tIns="0" rIns="0" bIns="0" rtlCol="0" anchor="t"/>
          <a:lstStyle/>
          <a:p>
            <a:pPr indent="0" marL="0">
              <a:buNone/>
            </a:pPr>
            <a:r>
              <a:rPr lang="en-US" sz="1500" b="1" dirty="0">
                <a:solidFill>
                  <a:schemeClr val="tx2"/>
                </a:solidFill>
                <a:latin typeface="Georgia" pitchFamily="34" charset="0"/>
                <a:ea typeface="Georgia" pitchFamily="34" charset="-122"/>
                <a:cs typeface="Georgia" pitchFamily="34" charset="-120"/>
              </a:rPr>
              <a:t>Non-unique</a:t>
            </a:r>
            <a:endParaRPr lang="en-US" sz="1500" dirty="0"/>
          </a:p>
        </p:txBody>
      </p:sp>
      <p:sp>
        <p:nvSpPr>
          <p:cNvPr id="13" name="Text 9"/>
          <p:cNvSpPr txBox="1"/>
          <p:nvPr/>
        </p:nvSpPr>
        <p:spPr>
          <a:xfrm>
            <a:off x="2880360" y="2331720"/>
            <a:ext cx="1783080" cy="411480"/>
          </a:xfrm>
          <a:prstGeom prst="rect">
            <a:avLst/>
          </a:prstGeom>
          <a:noFill/>
          <a:ln/>
        </p:spPr>
        <p:txBody>
          <a:bodyPr wrap="square" lIns="0" tIns="0" rIns="0" bIns="0" rtlCol="0" anchor="t"/>
          <a:lstStyle/>
          <a:p>
            <a:pPr indent="0" marL="0">
              <a:buNone/>
            </a:pPr>
            <a:r>
              <a:rPr lang="en-US" sz="1100" dirty="0">
                <a:solidFill>
                  <a:schemeClr val="accent4"/>
                </a:solidFill>
                <a:latin typeface="Calibri" pitchFamily="34" charset="0"/>
                <a:ea typeface="Calibri" pitchFamily="34" charset="-122"/>
                <a:cs typeface="Calibri" pitchFamily="34" charset="-120"/>
              </a:rPr>
              <a:t>many layouts → similar shapes</a:t>
            </a:r>
            <a:endParaRPr lang="en-US" sz="1100" dirty="0"/>
          </a:p>
        </p:txBody>
      </p:sp>
      <p:sp>
        <p:nvSpPr>
          <p:cNvPr id="14" name="ch2"/>
          <p:cNvSpPr/>
          <p:nvPr/>
        </p:nvSpPr>
        <p:spPr>
          <a:xfrm>
            <a:off x="457200" y="2926080"/>
            <a:ext cx="2103120" cy="1554480"/>
          </a:xfrm>
          <a:prstGeom prst="roundRect">
            <a:avLst>
              <a:gd name="adj" fmla="val 4706"/>
            </a:avLst>
          </a:prstGeom>
          <a:solidFill>
            <a:schemeClr val="bg2"/>
          </a:solidFill>
          <a:ln w="12700">
            <a:solidFill>
              <a:schemeClr val="bg2"/>
            </a:solidFill>
            <a:prstDash val="solid"/>
          </a:ln>
        </p:spPr>
      </p:sp>
      <p:sp>
        <p:nvSpPr>
          <p:cNvPr id="15" name="chc2-c"/>
          <p:cNvSpPr/>
          <p:nvPr/>
        </p:nvSpPr>
        <p:spPr>
          <a:xfrm>
            <a:off x="640080" y="3108960"/>
            <a:ext cx="502920" cy="502920"/>
          </a:xfrm>
          <a:prstGeom prst="ellipse">
            <a:avLst/>
          </a:prstGeom>
          <a:solidFill>
            <a:schemeClr val="accent1"/>
          </a:solidFill>
          <a:ln w="12700">
            <a:solidFill>
              <a:schemeClr val="accent1"/>
            </a:solidFill>
            <a:prstDash val="solid"/>
          </a:ln>
        </p:spPr>
      </p:sp>
      <p:pic>
        <p:nvPicPr>
          <p:cNvPr id="16" name="chc2-i" descr="preencoded.png">    </p:cNvPr>
          <p:cNvPicPr>
            <a:picLocks noChangeAspect="1"/>
          </p:cNvPicPr>
          <p:nvPr/>
        </p:nvPicPr>
        <p:blipFill>
          <a:blip r:embed="rId3"/>
          <a:stretch>
            <a:fillRect/>
          </a:stretch>
        </p:blipFill>
        <p:spPr>
          <a:xfrm>
            <a:off x="770839" y="3239719"/>
            <a:ext cx="241402" cy="241402"/>
          </a:xfrm>
          <a:prstGeom prst="rect">
            <a:avLst/>
          </a:prstGeom>
        </p:spPr>
      </p:pic>
      <p:sp>
        <p:nvSpPr>
          <p:cNvPr id="17" name="Text 12"/>
          <p:cNvSpPr txBox="1"/>
          <p:nvPr/>
        </p:nvSpPr>
        <p:spPr>
          <a:xfrm>
            <a:off x="640080" y="3703320"/>
            <a:ext cx="1783080" cy="320040"/>
          </a:xfrm>
          <a:prstGeom prst="rect">
            <a:avLst/>
          </a:prstGeom>
          <a:noFill/>
          <a:ln/>
        </p:spPr>
        <p:txBody>
          <a:bodyPr wrap="square" lIns="0" tIns="0" rIns="0" bIns="0" rtlCol="0" anchor="t"/>
          <a:lstStyle/>
          <a:p>
            <a:pPr indent="0" marL="0">
              <a:buNone/>
            </a:pPr>
            <a:r>
              <a:rPr lang="en-US" sz="1500" b="1" dirty="0">
                <a:solidFill>
                  <a:schemeClr val="tx2"/>
                </a:solidFill>
                <a:latin typeface="Georgia" pitchFamily="34" charset="0"/>
                <a:ea typeface="Georgia" pitchFamily="34" charset="-122"/>
                <a:cs typeface="Georgia" pitchFamily="34" charset="-120"/>
              </a:rPr>
              <a:t>Huge space</a:t>
            </a:r>
            <a:endParaRPr lang="en-US" sz="1500" dirty="0"/>
          </a:p>
        </p:txBody>
      </p:sp>
      <p:sp>
        <p:nvSpPr>
          <p:cNvPr id="18" name="Text 13"/>
          <p:cNvSpPr txBox="1"/>
          <p:nvPr/>
        </p:nvSpPr>
        <p:spPr>
          <a:xfrm>
            <a:off x="640080" y="4023360"/>
            <a:ext cx="1783080" cy="411480"/>
          </a:xfrm>
          <a:prstGeom prst="rect">
            <a:avLst/>
          </a:prstGeom>
          <a:noFill/>
          <a:ln/>
        </p:spPr>
        <p:txBody>
          <a:bodyPr wrap="square" lIns="0" tIns="0" rIns="0" bIns="0" rtlCol="0" anchor="t"/>
          <a:lstStyle/>
          <a:p>
            <a:pPr indent="0" marL="0">
              <a:buNone/>
            </a:pPr>
            <a:r>
              <a:rPr lang="en-US" sz="1100" dirty="0">
                <a:solidFill>
                  <a:schemeClr val="accent4"/>
                </a:solidFill>
                <a:latin typeface="Calibri" pitchFamily="34" charset="0"/>
                <a:ea typeface="Calibri" pitchFamily="34" charset="-122"/>
                <a:cs typeface="Calibri" pitchFamily="34" charset="-120"/>
              </a:rPr>
              <a:t>2 × 10 beam = 1,048,576 layouts</a:t>
            </a:r>
            <a:endParaRPr lang="en-US" sz="1100" dirty="0"/>
          </a:p>
        </p:txBody>
      </p:sp>
      <p:sp>
        <p:nvSpPr>
          <p:cNvPr id="19" name="ch3"/>
          <p:cNvSpPr/>
          <p:nvPr/>
        </p:nvSpPr>
        <p:spPr>
          <a:xfrm>
            <a:off x="2697480" y="2926080"/>
            <a:ext cx="2103120" cy="1554480"/>
          </a:xfrm>
          <a:prstGeom prst="roundRect">
            <a:avLst>
              <a:gd name="adj" fmla="val 4706"/>
            </a:avLst>
          </a:prstGeom>
          <a:solidFill>
            <a:schemeClr val="bg2"/>
          </a:solidFill>
          <a:ln w="12700">
            <a:solidFill>
              <a:schemeClr val="bg2"/>
            </a:solidFill>
            <a:prstDash val="solid"/>
          </a:ln>
        </p:spPr>
      </p:sp>
      <p:sp>
        <p:nvSpPr>
          <p:cNvPr id="20" name="chc3-c"/>
          <p:cNvSpPr/>
          <p:nvPr/>
        </p:nvSpPr>
        <p:spPr>
          <a:xfrm>
            <a:off x="2880360" y="3108960"/>
            <a:ext cx="502920" cy="502920"/>
          </a:xfrm>
          <a:prstGeom prst="ellipse">
            <a:avLst/>
          </a:prstGeom>
          <a:solidFill>
            <a:schemeClr val="accent2"/>
          </a:solidFill>
          <a:ln w="12700">
            <a:solidFill>
              <a:schemeClr val="accent2"/>
            </a:solidFill>
            <a:prstDash val="solid"/>
          </a:ln>
        </p:spPr>
      </p:sp>
      <p:pic>
        <p:nvPicPr>
          <p:cNvPr id="21" name="chc3-i" descr="preencoded.png">    </p:cNvPr>
          <p:cNvPicPr>
            <a:picLocks noChangeAspect="1"/>
          </p:cNvPicPr>
          <p:nvPr/>
        </p:nvPicPr>
        <p:blipFill>
          <a:blip r:embed="rId4"/>
          <a:stretch>
            <a:fillRect/>
          </a:stretch>
        </p:blipFill>
        <p:spPr>
          <a:xfrm>
            <a:off x="3011119" y="3239719"/>
            <a:ext cx="241402" cy="241402"/>
          </a:xfrm>
          <a:prstGeom prst="rect">
            <a:avLst/>
          </a:prstGeom>
        </p:spPr>
      </p:pic>
      <p:sp>
        <p:nvSpPr>
          <p:cNvPr id="22" name="Text 16"/>
          <p:cNvSpPr txBox="1"/>
          <p:nvPr/>
        </p:nvSpPr>
        <p:spPr>
          <a:xfrm>
            <a:off x="2880360" y="3703320"/>
            <a:ext cx="1783080" cy="320040"/>
          </a:xfrm>
          <a:prstGeom prst="rect">
            <a:avLst/>
          </a:prstGeom>
          <a:noFill/>
          <a:ln/>
        </p:spPr>
        <p:txBody>
          <a:bodyPr wrap="square" lIns="0" tIns="0" rIns="0" bIns="0" rtlCol="0" anchor="t"/>
          <a:lstStyle/>
          <a:p>
            <a:pPr indent="0" marL="0">
              <a:buNone/>
            </a:pPr>
            <a:r>
              <a:rPr lang="en-US" sz="1500" b="1" dirty="0">
                <a:solidFill>
                  <a:schemeClr val="tx2"/>
                </a:solidFill>
                <a:latin typeface="Georgia" pitchFamily="34" charset="0"/>
                <a:ea typeface="Georgia" pitchFamily="34" charset="-122"/>
                <a:cs typeface="Georgia" pitchFamily="34" charset="-120"/>
              </a:rPr>
              <a:t>Slow to simulate</a:t>
            </a:r>
            <a:endParaRPr lang="en-US" sz="1500" dirty="0"/>
          </a:p>
        </p:txBody>
      </p:sp>
      <p:sp>
        <p:nvSpPr>
          <p:cNvPr id="23" name="Text 17"/>
          <p:cNvSpPr txBox="1"/>
          <p:nvPr/>
        </p:nvSpPr>
        <p:spPr>
          <a:xfrm>
            <a:off x="2880360" y="4023360"/>
            <a:ext cx="1783080" cy="411480"/>
          </a:xfrm>
          <a:prstGeom prst="rect">
            <a:avLst/>
          </a:prstGeom>
          <a:noFill/>
          <a:ln/>
        </p:spPr>
        <p:txBody>
          <a:bodyPr wrap="square" lIns="0" tIns="0" rIns="0" bIns="0" rtlCol="0" anchor="t"/>
          <a:lstStyle/>
          <a:p>
            <a:pPr indent="0" marL="0">
              <a:buNone/>
            </a:pPr>
            <a:r>
              <a:rPr lang="en-US" sz="1100" dirty="0">
                <a:solidFill>
                  <a:schemeClr val="accent4"/>
                </a:solidFill>
                <a:latin typeface="Calibri" pitchFamily="34" charset="0"/>
                <a:ea typeface="Calibri" pitchFamily="34" charset="-122"/>
                <a:cs typeface="Calibri" pitchFamily="34" charset="-120"/>
              </a:rPr>
              <a:t>each FE run is costly</a:t>
            </a:r>
            <a:endParaRPr lang="en-US" sz="1100" dirty="0"/>
          </a:p>
        </p:txBody>
      </p:sp>
      <p:graphicFrame>
        <p:nvGraphicFramePr>
          <p:cNvPr id="24" name="Chart 0" descr=""/>
          <p:cNvGraphicFramePr/>
          <p:nvPr/>
        </p:nvGraphicFramePr>
        <p:xfrm>
          <a:off x="5029200" y="1188720"/>
          <a:ext cx="3657600" cy="2651760"/>
        </p:xfrm>
        <a:graphic xmlns:a="http://schemas.openxmlformats.org/drawingml/2006/main">
          <a:graphicData uri="http://schemas.openxmlformats.org/drawingml/2006/chart">
            <c:chart xmlns:c="http://schemas.openxmlformats.org/drawingml/2006/chart" r:id="rId5"/>
          </a:graphicData>
        </a:graphic>
      </p:graphicFrame>
      <p:sp>
        <p:nvSpPr>
          <p:cNvPr id="25" name="Text 18"/>
          <p:cNvSpPr txBox="1"/>
          <p:nvPr/>
        </p:nvSpPr>
        <p:spPr>
          <a:xfrm>
            <a:off x="5120640" y="3931920"/>
            <a:ext cx="1188720" cy="411480"/>
          </a:xfrm>
          <a:prstGeom prst="rect">
            <a:avLst/>
          </a:prstGeom>
          <a:noFill/>
          <a:ln/>
        </p:spPr>
        <p:txBody>
          <a:bodyPr wrap="square" lIns="0" tIns="0" rIns="0" bIns="0" rtlCol="0" anchor="t"/>
          <a:lstStyle/>
          <a:p>
            <a:pPr algn="ctr" indent="0" marL="0">
              <a:buNone/>
            </a:pPr>
            <a:r>
              <a:rPr lang="en-US" sz="1500" b="1" dirty="0">
                <a:solidFill>
                  <a:schemeClr val="accent4"/>
                </a:solidFill>
                <a:latin typeface="Georgia" pitchFamily="34" charset="0"/>
                <a:ea typeface="Georgia" pitchFamily="34" charset="-122"/>
                <a:cs typeface="Georgia" pitchFamily="34" charset="-120"/>
              </a:rPr>
              <a:t>≈219 days</a:t>
            </a:r>
            <a:endParaRPr lang="en-US" sz="1500" dirty="0"/>
          </a:p>
        </p:txBody>
      </p:sp>
      <p:sp>
        <p:nvSpPr>
          <p:cNvPr id="26" name="Text 19"/>
          <p:cNvSpPr txBox="1"/>
          <p:nvPr/>
        </p:nvSpPr>
        <p:spPr>
          <a:xfrm>
            <a:off x="6309360" y="3931920"/>
            <a:ext cx="1188720" cy="411480"/>
          </a:xfrm>
          <a:prstGeom prst="rect">
            <a:avLst/>
          </a:prstGeom>
          <a:noFill/>
          <a:ln/>
        </p:spPr>
        <p:txBody>
          <a:bodyPr wrap="square" lIns="0" tIns="0" rIns="0" bIns="0" rtlCol="0" anchor="t"/>
          <a:lstStyle/>
          <a:p>
            <a:pPr algn="ctr" indent="0" marL="0">
              <a:buNone/>
            </a:pPr>
            <a:r>
              <a:rPr lang="en-US" sz="1500" b="1" dirty="0">
                <a:solidFill>
                  <a:schemeClr val="accent1"/>
                </a:solidFill>
                <a:latin typeface="Georgia" pitchFamily="34" charset="0"/>
                <a:ea typeface="Georgia" pitchFamily="34" charset="-122"/>
                <a:cs typeface="Georgia" pitchFamily="34" charset="-120"/>
              </a:rPr>
              <a:t>54 min</a:t>
            </a:r>
            <a:endParaRPr lang="en-US" sz="1500" dirty="0"/>
          </a:p>
        </p:txBody>
      </p:sp>
      <p:sp>
        <p:nvSpPr>
          <p:cNvPr id="27" name="Text 20"/>
          <p:cNvSpPr txBox="1"/>
          <p:nvPr/>
        </p:nvSpPr>
        <p:spPr>
          <a:xfrm>
            <a:off x="7498080" y="3931920"/>
            <a:ext cx="1188720" cy="411480"/>
          </a:xfrm>
          <a:prstGeom prst="rect">
            <a:avLst/>
          </a:prstGeom>
          <a:noFill/>
          <a:ln/>
        </p:spPr>
        <p:txBody>
          <a:bodyPr wrap="square" lIns="0" tIns="0" rIns="0" bIns="0" rtlCol="0" anchor="t"/>
          <a:lstStyle/>
          <a:p>
            <a:pPr algn="ctr" indent="0" marL="0">
              <a:buNone/>
            </a:pPr>
            <a:r>
              <a:rPr lang="en-US" sz="1500" b="1" dirty="0">
                <a:solidFill>
                  <a:schemeClr val="accent2"/>
                </a:solidFill>
                <a:latin typeface="Georgia" pitchFamily="34" charset="0"/>
                <a:ea typeface="Georgia" pitchFamily="34" charset="-122"/>
                <a:cs typeface="Georgia" pitchFamily="34" charset="-120"/>
              </a:rPr>
              <a:t>1.97 s</a:t>
            </a:r>
            <a:endParaRPr lang="en-US" sz="1500" dirty="0"/>
          </a:p>
        </p:txBody>
      </p:sp>
      <p:sp>
        <p:nvSpPr>
          <p:cNvPr id="28" name="Text 21"/>
          <p:cNvSpPr txBox="1"/>
          <p:nvPr/>
        </p:nvSpPr>
        <p:spPr>
          <a:xfrm>
            <a:off x="5029200" y="4370832"/>
            <a:ext cx="3657600" cy="274320"/>
          </a:xfrm>
          <a:prstGeom prst="rect">
            <a:avLst/>
          </a:prstGeom>
          <a:noFill/>
          <a:ln/>
        </p:spPr>
        <p:txBody>
          <a:bodyPr wrap="square" lIns="0" tIns="0" rIns="0" bIns="0" rtlCol="0" anchor="t"/>
          <a:lstStyle/>
          <a:p>
            <a:pPr algn="ctr" indent="0" marL="0">
              <a:buNone/>
            </a:pPr>
            <a:r>
              <a:rPr lang="en-US" sz="1100" i="1" dirty="0">
                <a:solidFill>
                  <a:schemeClr val="accent4"/>
                </a:solidFill>
                <a:latin typeface="Calibri" pitchFamily="34" charset="0"/>
                <a:ea typeface="Calibri" pitchFamily="34" charset="-122"/>
                <a:cs typeface="Calibri" pitchFamily="34" charset="-120"/>
              </a:rPr>
              <a:t>learned surrogates make search practical</a:t>
            </a:r>
            <a:endParaRPr lang="en-US" sz="1100" dirty="0"/>
          </a:p>
        </p:txBody>
      </p:sp>
      <p:sp>
        <p:nvSpPr>
          <p:cNvPr id="29" name="Text 22"/>
          <p:cNvSpPr txBox="1"/>
          <p:nvPr/>
        </p:nvSpPr>
        <p:spPr>
          <a:xfrm>
            <a:off x="457200" y="4818888"/>
            <a:ext cx="7498080" cy="201168"/>
          </a:xfrm>
          <a:prstGeom prst="rect">
            <a:avLst/>
          </a:prstGeom>
          <a:noFill/>
          <a:ln/>
        </p:spPr>
        <p:txBody>
          <a:bodyPr wrap="square" lIns="0" tIns="0" rIns="0" bIns="0" rtlCol="0" anchor="t"/>
          <a:lstStyle/>
          <a:p>
            <a:pPr indent="0" marL="0">
              <a:buNone/>
            </a:pPr>
            <a:r>
              <a:rPr lang="en-US" sz="800" dirty="0">
                <a:solidFill>
                  <a:schemeClr val="accent4"/>
                </a:solidFill>
                <a:latin typeface="Calibri" pitchFamily="34" charset="0"/>
                <a:ea typeface="Calibri" pitchFamily="34" charset="-122"/>
                <a:cs typeface="Calibri" pitchFamily="34" charset="-120"/>
              </a:rPr>
              <a:t>Chart: Sun et al., J. Mech. Phys. Solids 2024 [5] (FE + EA time is their estimate). Layout count from Wang et al. encoding [1].</a:t>
            </a:r>
            <a:endParaRPr lang="en-US" sz="8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5B6B82"/>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0"/>
          <p:cNvSpPr/>
          <p:nvPr>
            <p:ph idx="120" type="body" hasCustomPrompt="1"/>
          </p:nvPr>
        </p:nvSpPr>
        <p:spPr>
          <a:xfrm>
            <a:off x="548640" y="1097280"/>
            <a:ext cx="2743200" cy="914400"/>
          </a:xfrm>
          <a:prstGeom prst="rect">
            <a:avLst/>
          </a:prstGeom>
          <a:noFill/>
          <a:ln/>
        </p:spPr>
        <p:txBody>
          <a:bodyPr wrap="square" lIns="0" tIns="0" rIns="0" bIns="0" rtlCol="0" anchor="b"/>
          <a:lstStyle/>
          <a:p>
            <a:pPr algn="l" indent="0" marL="0">
              <a:buNone/>
            </a:pPr>
            <a:r>
              <a:rPr lang="en-US" sz="5400" b="1" dirty="0">
                <a:solidFill>
                  <a:schemeClr val="accent3"/>
                </a:solidFill>
                <a:latin typeface="Georgia" pitchFamily="34" charset="0"/>
                <a:ea typeface="Georgia" pitchFamily="34" charset="-122"/>
                <a:cs typeface="Georgia" pitchFamily="34" charset="-120"/>
              </a:rPr>
              <a:t>01</a:t>
            </a:r>
            <a:endParaRPr lang="en-US" sz="5400" dirty="0"/>
          </a:p>
        </p:txBody>
      </p:sp>
      <p:sp>
        <p:nvSpPr>
          <p:cNvPr id="3" name="Text 20"/>
          <p:cNvSpPr/>
          <p:nvPr>
            <p:ph idx="121" type="title" hasCustomPrompt="1"/>
          </p:nvPr>
        </p:nvSpPr>
        <p:spPr>
          <a:xfrm>
            <a:off x="548640" y="2103120"/>
            <a:ext cx="4297680" cy="1188720"/>
          </a:xfrm>
          <a:prstGeom prst="rect">
            <a:avLst/>
          </a:prstGeom>
          <a:noFill/>
          <a:ln/>
        </p:spPr>
        <p:txBody>
          <a:bodyPr wrap="square" lIns="0" tIns="0" rIns="0" bIns="0" rtlCol="0" anchor="t"/>
          <a:lstStyle/>
          <a:p>
            <a:pPr algn="l" indent="0" marL="0">
              <a:buNone/>
            </a:pPr>
            <a:r>
              <a:rPr lang="en-US" sz="3000" b="1" dirty="0">
                <a:solidFill>
                  <a:schemeClr val="bg1"/>
                </a:solidFill>
                <a:latin typeface="Georgia" pitchFamily="34" charset="0"/>
                <a:ea typeface="Georgia" pitchFamily="34" charset="-122"/>
                <a:cs typeface="Georgia" pitchFamily="34" charset="-120"/>
              </a:rPr>
              <a:t>Fast reverse design</a:t>
            </a:r>
            <a:endParaRPr lang="en-US" sz="3000" dirty="0"/>
          </a:p>
        </p:txBody>
      </p:sp>
      <p:sp>
        <p:nvSpPr>
          <p:cNvPr id="4" name="Text 20"/>
          <p:cNvSpPr/>
          <p:nvPr>
            <p:ph idx="122" type="body" hasCustomPrompt="1"/>
          </p:nvPr>
        </p:nvSpPr>
        <p:spPr>
          <a:xfrm>
            <a:off x="548640" y="3383280"/>
            <a:ext cx="4297680" cy="731520"/>
          </a:xfrm>
          <a:prstGeom prst="rect">
            <a:avLst/>
          </a:prstGeom>
          <a:noFill/>
          <a:ln/>
        </p:spPr>
        <p:txBody>
          <a:bodyPr wrap="square" lIns="0" tIns="0" rIns="0" bIns="0" rtlCol="0" anchor="t"/>
          <a:lstStyle/>
          <a:p>
            <a:pPr algn="l" indent="0" marL="0">
              <a:buNone/>
            </a:pPr>
            <a:r>
              <a:rPr lang="en-US" sz="1500" dirty="0">
                <a:solidFill>
                  <a:schemeClr val="accent5"/>
                </a:solidFill>
                <a:latin typeface="Calibri" pitchFamily="34" charset="0"/>
                <a:ea typeface="Calibri" pitchFamily="34" charset="-122"/>
                <a:cs typeface="Calibri" pitchFamily="34" charset="-120"/>
              </a:rPr>
              <a:t>Wang et al., Advanced Science, 2025</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2" type="body" hasCustomPrompt="1"/>
          </p:nvPr>
        </p:nvSpPr>
        <p:spPr>
          <a:xfrm>
            <a:off x="457200" y="256032"/>
            <a:ext cx="7315200" cy="228600"/>
          </a:xfrm>
          <a:prstGeom prst="rect">
            <a:avLst/>
          </a:prstGeom>
          <a:noFill/>
          <a:ln/>
        </p:spPr>
        <p:txBody>
          <a:bodyPr wrap="square" lIns="0" tIns="0" rIns="0" bIns="0" rtlCol="0" anchor="ctr"/>
          <a:lstStyle/>
          <a:p>
            <a:pPr algn="l" indent="0" marL="0">
              <a:buNone/>
            </a:pPr>
            <a:r>
              <a:rPr lang="en-US" sz="1000" b="1" spc="200" kern="0" dirty="0">
                <a:solidFill>
                  <a:schemeClr val="accent1"/>
                </a:solidFill>
                <a:latin typeface="Calibri" pitchFamily="34" charset="0"/>
                <a:ea typeface="Calibri" pitchFamily="34" charset="-122"/>
                <a:cs typeface="Calibri" pitchFamily="34" charset="-120"/>
              </a:rPr>
              <a:t>WANG ET AL. (2025)</a:t>
            </a:r>
            <a:endParaRPr lang="en-US" sz="1000" dirty="0"/>
          </a:p>
        </p:txBody>
      </p:sp>
      <p:sp>
        <p:nvSpPr>
          <p:cNvPr id="3" name="Text 2"/>
          <p:cNvSpPr/>
          <p:nvPr>
            <p:ph idx="103" type="title" hasCustomPrompt="1"/>
          </p:nvPr>
        </p:nvSpPr>
        <p:spPr>
          <a:xfrm>
            <a:off x="457200" y="502920"/>
            <a:ext cx="8229600" cy="548640"/>
          </a:xfrm>
          <a:prstGeom prst="rect">
            <a:avLst/>
          </a:prstGeom>
          <a:noFill/>
          <a:ln/>
        </p:spPr>
        <p:txBody>
          <a:bodyPr wrap="square" lIns="0" tIns="0" rIns="0" bIns="0" rtlCol="0" anchor="ctr"/>
          <a:lstStyle/>
          <a:p>
            <a:pPr algn="l" indent="0" marL="0">
              <a:buNone/>
            </a:pPr>
            <a:r>
              <a:rPr lang="en-US" sz="2400" b="1" dirty="0">
                <a:solidFill>
                  <a:schemeClr val="tx2"/>
                </a:solidFill>
                <a:latin typeface="Georgia" pitchFamily="34" charset="0"/>
                <a:ea typeface="Georgia" pitchFamily="34" charset="-122"/>
                <a:cs typeface="Georgia" pitchFamily="34" charset="-120"/>
              </a:rPr>
              <a:t>Simulate once, then design in seconds</a:t>
            </a:r>
            <a:endParaRPr lang="en-US" sz="2400" dirty="0"/>
          </a:p>
        </p:txBody>
      </p:sp>
      <p:pic>
        <p:nvPicPr>
          <p:cNvPr id="4" name="w1" descr="img/wang_fig1.png">    </p:cNvPr>
          <p:cNvPicPr>
            <a:picLocks noChangeAspect="1"/>
          </p:cNvPicPr>
          <p:nvPr/>
        </p:nvPicPr>
        <p:blipFill>
          <a:blip r:embed="rId1"/>
          <a:stretch>
            <a:fillRect/>
          </a:stretch>
        </p:blipFill>
        <p:spPr>
          <a:xfrm>
            <a:off x="457200" y="1188720"/>
            <a:ext cx="5486400" cy="2688336"/>
          </a:xfrm>
          <a:prstGeom prst="rect">
            <a:avLst/>
          </a:prstGeom>
        </p:spPr>
      </p:pic>
      <p:sp>
        <p:nvSpPr>
          <p:cNvPr id="5" name="Text 2"/>
          <p:cNvSpPr txBox="1"/>
          <p:nvPr/>
        </p:nvSpPr>
        <p:spPr>
          <a:xfrm>
            <a:off x="457200" y="3913632"/>
            <a:ext cx="5486400" cy="228600"/>
          </a:xfrm>
          <a:prstGeom prst="rect">
            <a:avLst/>
          </a:prstGeom>
          <a:noFill/>
          <a:ln/>
        </p:spPr>
        <p:txBody>
          <a:bodyPr wrap="square" lIns="0" tIns="0" rIns="0" bIns="0" rtlCol="0" anchor="t"/>
          <a:lstStyle/>
          <a:p>
            <a:pPr indent="0" marL="0">
              <a:buNone/>
            </a:pPr>
            <a:r>
              <a:rPr lang="en-US" sz="950" i="1" dirty="0">
                <a:solidFill>
                  <a:schemeClr val="accent4"/>
                </a:solidFill>
                <a:latin typeface="Calibri" pitchFamily="34" charset="0"/>
                <a:ea typeface="Calibri" pitchFamily="34" charset="-122"/>
                <a:cs typeface="Calibri" pitchFamily="34" charset="-120"/>
              </a:rPr>
              <a:t>Wang et al. 2025, Fig. 1: overall framework</a:t>
            </a:r>
            <a:endParaRPr lang="en-US" sz="950" dirty="0"/>
          </a:p>
        </p:txBody>
      </p:sp>
      <p:sp>
        <p:nvSpPr>
          <p:cNvPr id="6" name="Text 3"/>
          <p:cNvSpPr txBox="1"/>
          <p:nvPr/>
        </p:nvSpPr>
        <p:spPr>
          <a:xfrm>
            <a:off x="457200" y="4206240"/>
            <a:ext cx="5486400" cy="41148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Solvent-responsive hydrogel beam  ·  FE data → neural network → evolutionary search</a:t>
            </a:r>
            <a:endParaRPr lang="en-US" sz="1200" dirty="0"/>
          </a:p>
        </p:txBody>
      </p:sp>
      <p:sp>
        <p:nvSpPr>
          <p:cNvPr id="7" name="ws0"/>
          <p:cNvSpPr/>
          <p:nvPr/>
        </p:nvSpPr>
        <p:spPr>
          <a:xfrm>
            <a:off x="6217920" y="1188720"/>
            <a:ext cx="2468880" cy="1024128"/>
          </a:xfrm>
          <a:prstGeom prst="roundRect">
            <a:avLst>
              <a:gd name="adj" fmla="val 7143"/>
            </a:avLst>
          </a:prstGeom>
          <a:solidFill>
            <a:schemeClr val="bg2"/>
          </a:solidFill>
          <a:ln w="12700">
            <a:solidFill>
              <a:schemeClr val="bg2"/>
            </a:solidFill>
            <a:prstDash val="solid"/>
          </a:ln>
        </p:spPr>
      </p:sp>
      <p:sp>
        <p:nvSpPr>
          <p:cNvPr id="8" name="Text 5"/>
          <p:cNvSpPr txBox="1"/>
          <p:nvPr/>
        </p:nvSpPr>
        <p:spPr>
          <a:xfrm>
            <a:off x="6400800" y="1261872"/>
            <a:ext cx="2148840" cy="502920"/>
          </a:xfrm>
          <a:prstGeom prst="rect">
            <a:avLst/>
          </a:prstGeom>
          <a:noFill/>
          <a:ln/>
        </p:spPr>
        <p:txBody>
          <a:bodyPr wrap="square" lIns="0" tIns="0" rIns="0" bIns="0" rtlCol="0" anchor="t"/>
          <a:lstStyle/>
          <a:p>
            <a:pPr indent="0" marL="0">
              <a:buNone/>
            </a:pPr>
            <a:r>
              <a:rPr lang="en-US" sz="2800" b="1" dirty="0">
                <a:solidFill>
                  <a:schemeClr val="accent2"/>
                </a:solidFill>
                <a:latin typeface="Georgia" pitchFamily="34" charset="0"/>
                <a:ea typeface="Georgia" pitchFamily="34" charset="-122"/>
                <a:cs typeface="Georgia" pitchFamily="34" charset="-120"/>
              </a:rPr>
              <a:t>≈3 s</a:t>
            </a:r>
            <a:endParaRPr lang="en-US" sz="2800" dirty="0"/>
          </a:p>
        </p:txBody>
      </p:sp>
      <p:sp>
        <p:nvSpPr>
          <p:cNvPr id="9" name="Text 6"/>
          <p:cNvSpPr txBox="1"/>
          <p:nvPr/>
        </p:nvSpPr>
        <p:spPr>
          <a:xfrm>
            <a:off x="6400800" y="1783080"/>
            <a:ext cx="2148840" cy="365760"/>
          </a:xfrm>
          <a:prstGeom prst="rect">
            <a:avLst/>
          </a:prstGeom>
          <a:noFill/>
          <a:ln/>
        </p:spPr>
        <p:txBody>
          <a:bodyPr wrap="square" lIns="0" tIns="0" rIns="0" bIns="0" rtlCol="0" anchor="t"/>
          <a:lstStyle/>
          <a:p>
            <a:pPr indent="0" marL="0">
              <a:buNone/>
            </a:pPr>
            <a:r>
              <a:rPr lang="en-US" sz="1100" dirty="0">
                <a:solidFill>
                  <a:schemeClr val="accent4"/>
                </a:solidFill>
                <a:latin typeface="Calibri" pitchFamily="34" charset="0"/>
                <a:ea typeface="Calibri" pitchFamily="34" charset="-122"/>
                <a:cs typeface="Calibri" pitchFamily="34" charset="-120"/>
              </a:rPr>
              <a:t>average time per design</a:t>
            </a:r>
            <a:endParaRPr lang="en-US" sz="1100" dirty="0"/>
          </a:p>
        </p:txBody>
      </p:sp>
      <p:sp>
        <p:nvSpPr>
          <p:cNvPr id="10" name="ws1"/>
          <p:cNvSpPr/>
          <p:nvPr/>
        </p:nvSpPr>
        <p:spPr>
          <a:xfrm>
            <a:off x="6217920" y="2350008"/>
            <a:ext cx="2468880" cy="1024128"/>
          </a:xfrm>
          <a:prstGeom prst="roundRect">
            <a:avLst>
              <a:gd name="adj" fmla="val 7143"/>
            </a:avLst>
          </a:prstGeom>
          <a:solidFill>
            <a:schemeClr val="bg2"/>
          </a:solidFill>
          <a:ln w="12700">
            <a:solidFill>
              <a:schemeClr val="bg2"/>
            </a:solidFill>
            <a:prstDash val="solid"/>
          </a:ln>
        </p:spPr>
      </p:sp>
      <p:sp>
        <p:nvSpPr>
          <p:cNvPr id="11" name="Text 8"/>
          <p:cNvSpPr txBox="1"/>
          <p:nvPr/>
        </p:nvSpPr>
        <p:spPr>
          <a:xfrm>
            <a:off x="6400800" y="2423160"/>
            <a:ext cx="2148840" cy="502920"/>
          </a:xfrm>
          <a:prstGeom prst="rect">
            <a:avLst/>
          </a:prstGeom>
          <a:noFill/>
          <a:ln/>
        </p:spPr>
        <p:txBody>
          <a:bodyPr wrap="square" lIns="0" tIns="0" rIns="0" bIns="0" rtlCol="0" anchor="t"/>
          <a:lstStyle/>
          <a:p>
            <a:pPr indent="0" marL="0">
              <a:buNone/>
            </a:pPr>
            <a:r>
              <a:rPr lang="en-US" sz="2800" b="1" dirty="0">
                <a:solidFill>
                  <a:schemeClr val="tx2"/>
                </a:solidFill>
                <a:latin typeface="Georgia" pitchFamily="34" charset="0"/>
                <a:ea typeface="Georgia" pitchFamily="34" charset="-122"/>
                <a:cs typeface="Georgia" pitchFamily="34" charset="-120"/>
              </a:rPr>
              <a:t>2²⁰</a:t>
            </a:r>
            <a:endParaRPr lang="en-US" sz="2800" dirty="0"/>
          </a:p>
        </p:txBody>
      </p:sp>
      <p:sp>
        <p:nvSpPr>
          <p:cNvPr id="12" name="Text 9"/>
          <p:cNvSpPr txBox="1"/>
          <p:nvPr/>
        </p:nvSpPr>
        <p:spPr>
          <a:xfrm>
            <a:off x="6400800" y="2944368"/>
            <a:ext cx="2148840" cy="365760"/>
          </a:xfrm>
          <a:prstGeom prst="rect">
            <a:avLst/>
          </a:prstGeom>
          <a:noFill/>
          <a:ln/>
        </p:spPr>
        <p:txBody>
          <a:bodyPr wrap="square" lIns="0" tIns="0" rIns="0" bIns="0" rtlCol="0" anchor="t"/>
          <a:lstStyle/>
          <a:p>
            <a:pPr indent="0" marL="0">
              <a:buNone/>
            </a:pPr>
            <a:r>
              <a:rPr lang="en-US" sz="1100" dirty="0">
                <a:solidFill>
                  <a:schemeClr val="accent4"/>
                </a:solidFill>
                <a:latin typeface="Calibri" pitchFamily="34" charset="0"/>
                <a:ea typeface="Calibri" pitchFamily="34" charset="-122"/>
                <a:cs typeface="Calibri" pitchFamily="34" charset="-120"/>
              </a:rPr>
              <a:t>≈1 million possible layouts</a:t>
            </a:r>
            <a:endParaRPr lang="en-US" sz="1100" dirty="0"/>
          </a:p>
        </p:txBody>
      </p:sp>
      <p:sp>
        <p:nvSpPr>
          <p:cNvPr id="13" name="ws2"/>
          <p:cNvSpPr/>
          <p:nvPr/>
        </p:nvSpPr>
        <p:spPr>
          <a:xfrm>
            <a:off x="6217920" y="3511296"/>
            <a:ext cx="2468880" cy="1024128"/>
          </a:xfrm>
          <a:prstGeom prst="roundRect">
            <a:avLst>
              <a:gd name="adj" fmla="val 7143"/>
            </a:avLst>
          </a:prstGeom>
          <a:solidFill>
            <a:schemeClr val="bg2"/>
          </a:solidFill>
          <a:ln w="12700">
            <a:solidFill>
              <a:schemeClr val="bg2"/>
            </a:solidFill>
            <a:prstDash val="solid"/>
          </a:ln>
        </p:spPr>
      </p:sp>
      <p:sp>
        <p:nvSpPr>
          <p:cNvPr id="14" name="Text 11"/>
          <p:cNvSpPr txBox="1"/>
          <p:nvPr/>
        </p:nvSpPr>
        <p:spPr>
          <a:xfrm>
            <a:off x="6400800" y="3584448"/>
            <a:ext cx="2148840" cy="502920"/>
          </a:xfrm>
          <a:prstGeom prst="rect">
            <a:avLst/>
          </a:prstGeom>
          <a:noFill/>
          <a:ln/>
        </p:spPr>
        <p:txBody>
          <a:bodyPr wrap="square" lIns="0" tIns="0" rIns="0" bIns="0" rtlCol="0" anchor="t"/>
          <a:lstStyle/>
          <a:p>
            <a:pPr indent="0" marL="0">
              <a:buNone/>
            </a:pPr>
            <a:r>
              <a:rPr lang="en-US" sz="2800" b="1" dirty="0">
                <a:solidFill>
                  <a:schemeClr val="accent1"/>
                </a:solidFill>
                <a:latin typeface="Georgia" pitchFamily="34" charset="0"/>
                <a:ea typeface="Georgia" pitchFamily="34" charset="-122"/>
                <a:cs typeface="Georgia" pitchFamily="34" charset="-120"/>
              </a:rPr>
              <a:t>6,000</a:t>
            </a:r>
            <a:endParaRPr lang="en-US" sz="2800" dirty="0"/>
          </a:p>
        </p:txBody>
      </p:sp>
      <p:sp>
        <p:nvSpPr>
          <p:cNvPr id="15" name="Text 12"/>
          <p:cNvSpPr txBox="1"/>
          <p:nvPr/>
        </p:nvSpPr>
        <p:spPr>
          <a:xfrm>
            <a:off x="6400800" y="4105656"/>
            <a:ext cx="2148840" cy="365760"/>
          </a:xfrm>
          <a:prstGeom prst="rect">
            <a:avLst/>
          </a:prstGeom>
          <a:noFill/>
          <a:ln/>
        </p:spPr>
        <p:txBody>
          <a:bodyPr wrap="square" lIns="0" tIns="0" rIns="0" bIns="0" rtlCol="0" anchor="t"/>
          <a:lstStyle/>
          <a:p>
            <a:pPr indent="0" marL="0">
              <a:buNone/>
            </a:pPr>
            <a:r>
              <a:rPr lang="en-US" sz="1100" dirty="0">
                <a:solidFill>
                  <a:schemeClr val="accent4"/>
                </a:solidFill>
                <a:latin typeface="Calibri" pitchFamily="34" charset="0"/>
                <a:ea typeface="Calibri" pitchFamily="34" charset="-122"/>
                <a:cs typeface="Calibri" pitchFamily="34" charset="-120"/>
              </a:rPr>
              <a:t>FE samples was the best training-set size</a:t>
            </a:r>
            <a:endParaRPr lang="en-US" sz="1100" dirty="0"/>
          </a:p>
        </p:txBody>
      </p:sp>
      <p:sp>
        <p:nvSpPr>
          <p:cNvPr id="16" name="Text 13"/>
          <p:cNvSpPr txBox="1"/>
          <p:nvPr/>
        </p:nvSpPr>
        <p:spPr>
          <a:xfrm>
            <a:off x="457200" y="4818888"/>
            <a:ext cx="7498080" cy="201168"/>
          </a:xfrm>
          <a:prstGeom prst="rect">
            <a:avLst/>
          </a:prstGeom>
          <a:noFill/>
          <a:ln/>
        </p:spPr>
        <p:txBody>
          <a:bodyPr wrap="square" lIns="0" tIns="0" rIns="0" bIns="0" rtlCol="0" anchor="t"/>
          <a:lstStyle/>
          <a:p>
            <a:pPr indent="0" marL="0">
              <a:buNone/>
            </a:pPr>
            <a:r>
              <a:rPr lang="en-US" sz="800" dirty="0">
                <a:solidFill>
                  <a:schemeClr val="accent4"/>
                </a:solidFill>
                <a:latin typeface="Calibri" pitchFamily="34" charset="0"/>
                <a:ea typeface="Calibri" pitchFamily="34" charset="-122"/>
                <a:cs typeface="Calibri" pitchFamily="34" charset="-120"/>
              </a:rPr>
              <a:t>Wang et al., Adv. Sci. 12(12), 2407825 (2025): abstract, Fig. 1, Fig. 4a [1].</a:t>
            </a:r>
            <a:endParaRPr lang="en-US" sz="8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5B6B82"/>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2" type="body" hasCustomPrompt="1"/>
          </p:nvPr>
        </p:nvSpPr>
        <p:spPr>
          <a:xfrm>
            <a:off x="457200" y="256032"/>
            <a:ext cx="7315200" cy="228600"/>
          </a:xfrm>
          <a:prstGeom prst="rect">
            <a:avLst/>
          </a:prstGeom>
          <a:noFill/>
          <a:ln/>
        </p:spPr>
        <p:txBody>
          <a:bodyPr wrap="square" lIns="0" tIns="0" rIns="0" bIns="0" rtlCol="0" anchor="ctr"/>
          <a:lstStyle/>
          <a:p>
            <a:pPr algn="l" indent="0" marL="0">
              <a:buNone/>
            </a:pPr>
            <a:r>
              <a:rPr lang="en-US" sz="1000" b="1" spc="200" kern="0" dirty="0">
                <a:solidFill>
                  <a:schemeClr val="accent1"/>
                </a:solidFill>
                <a:latin typeface="Calibri" pitchFamily="34" charset="0"/>
                <a:ea typeface="Calibri" pitchFamily="34" charset="-122"/>
                <a:cs typeface="Calibri" pitchFamily="34" charset="-120"/>
              </a:rPr>
              <a:t>WANG ET AL. (2025)</a:t>
            </a:r>
            <a:endParaRPr lang="en-US" sz="1000" dirty="0"/>
          </a:p>
        </p:txBody>
      </p:sp>
      <p:sp>
        <p:nvSpPr>
          <p:cNvPr id="3" name="Text 2"/>
          <p:cNvSpPr/>
          <p:nvPr>
            <p:ph idx="103" type="title" hasCustomPrompt="1"/>
          </p:nvPr>
        </p:nvSpPr>
        <p:spPr>
          <a:xfrm>
            <a:off x="457200" y="502920"/>
            <a:ext cx="8229600" cy="548640"/>
          </a:xfrm>
          <a:prstGeom prst="rect">
            <a:avLst/>
          </a:prstGeom>
          <a:noFill/>
          <a:ln/>
        </p:spPr>
        <p:txBody>
          <a:bodyPr wrap="square" lIns="0" tIns="0" rIns="0" bIns="0" rtlCol="0" anchor="ctr"/>
          <a:lstStyle/>
          <a:p>
            <a:pPr algn="l" indent="0" marL="0">
              <a:buNone/>
            </a:pPr>
            <a:r>
              <a:rPr lang="en-US" sz="2400" b="1" dirty="0">
                <a:solidFill>
                  <a:schemeClr val="tx2"/>
                </a:solidFill>
                <a:latin typeface="Georgia" pitchFamily="34" charset="0"/>
                <a:ea typeface="Georgia" pitchFamily="34" charset="-122"/>
                <a:cs typeface="Georgia" pitchFamily="34" charset="-120"/>
              </a:rPr>
              <a:t>Voxels are the design language</a:t>
            </a:r>
            <a:endParaRPr lang="en-US" sz="2400" dirty="0"/>
          </a:p>
        </p:txBody>
      </p:sp>
      <p:sp>
        <p:nvSpPr>
          <p:cNvPr id="4" name="v00"/>
          <p:cNvSpPr/>
          <p:nvPr/>
        </p:nvSpPr>
        <p:spPr>
          <a:xfrm>
            <a:off x="685800" y="1508760"/>
            <a:ext cx="420624" cy="420624"/>
          </a:xfrm>
          <a:prstGeom prst="rect">
            <a:avLst/>
          </a:prstGeom>
          <a:solidFill>
            <a:schemeClr val="accent1"/>
          </a:solidFill>
          <a:ln w="12700">
            <a:solidFill>
              <a:schemeClr val="bg1"/>
            </a:solidFill>
            <a:prstDash val="solid"/>
          </a:ln>
        </p:spPr>
      </p:sp>
      <p:sp>
        <p:nvSpPr>
          <p:cNvPr id="5" name="Text 3"/>
          <p:cNvSpPr txBox="1"/>
          <p:nvPr/>
        </p:nvSpPr>
        <p:spPr>
          <a:xfrm>
            <a:off x="685800" y="15087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6" name="v01"/>
          <p:cNvSpPr/>
          <p:nvPr/>
        </p:nvSpPr>
        <p:spPr>
          <a:xfrm>
            <a:off x="1143000" y="1508760"/>
            <a:ext cx="420624" cy="420624"/>
          </a:xfrm>
          <a:prstGeom prst="rect">
            <a:avLst/>
          </a:prstGeom>
          <a:solidFill>
            <a:schemeClr val="accent1"/>
          </a:solidFill>
          <a:ln w="12700">
            <a:solidFill>
              <a:schemeClr val="bg1"/>
            </a:solidFill>
            <a:prstDash val="solid"/>
          </a:ln>
        </p:spPr>
      </p:sp>
      <p:sp>
        <p:nvSpPr>
          <p:cNvPr id="7" name="Text 5"/>
          <p:cNvSpPr txBox="1"/>
          <p:nvPr/>
        </p:nvSpPr>
        <p:spPr>
          <a:xfrm>
            <a:off x="1143000" y="15087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8" name="v02"/>
          <p:cNvSpPr/>
          <p:nvPr/>
        </p:nvSpPr>
        <p:spPr>
          <a:xfrm>
            <a:off x="1600200" y="1508760"/>
            <a:ext cx="420624" cy="420624"/>
          </a:xfrm>
          <a:prstGeom prst="rect">
            <a:avLst/>
          </a:prstGeom>
          <a:solidFill>
            <a:schemeClr val="accent6"/>
          </a:solidFill>
          <a:ln w="12700">
            <a:solidFill>
              <a:schemeClr val="bg1"/>
            </a:solidFill>
            <a:prstDash val="solid"/>
          </a:ln>
        </p:spPr>
      </p:sp>
      <p:sp>
        <p:nvSpPr>
          <p:cNvPr id="9" name="Text 7"/>
          <p:cNvSpPr txBox="1"/>
          <p:nvPr/>
        </p:nvSpPr>
        <p:spPr>
          <a:xfrm>
            <a:off x="1600200" y="1508760"/>
            <a:ext cx="420624" cy="420624"/>
          </a:xfrm>
          <a:prstGeom prst="rect">
            <a:avLst/>
          </a:prstGeom>
          <a:noFill/>
          <a:ln/>
        </p:spPr>
        <p:txBody>
          <a:bodyPr wrap="square" lIns="0" tIns="0" rIns="0" bIns="0" rtlCol="0" anchor="ctr"/>
          <a:lstStyle/>
          <a:p>
            <a:pPr algn="ctr" indent="0" marL="0">
              <a:buNone/>
            </a:pPr>
            <a:r>
              <a:rPr lang="en-US" sz="1400" b="1" dirty="0">
                <a:solidFill>
                  <a:schemeClr val="tx2"/>
                </a:solidFill>
                <a:latin typeface="Calibri" pitchFamily="34" charset="0"/>
                <a:ea typeface="Calibri" pitchFamily="34" charset="-122"/>
                <a:cs typeface="Calibri" pitchFamily="34" charset="-120"/>
              </a:rPr>
              <a:t>0</a:t>
            </a:r>
            <a:endParaRPr lang="en-US" sz="1400" dirty="0"/>
          </a:p>
        </p:txBody>
      </p:sp>
      <p:sp>
        <p:nvSpPr>
          <p:cNvPr id="10" name="v03"/>
          <p:cNvSpPr/>
          <p:nvPr/>
        </p:nvSpPr>
        <p:spPr>
          <a:xfrm>
            <a:off x="2057400" y="1508760"/>
            <a:ext cx="420624" cy="420624"/>
          </a:xfrm>
          <a:prstGeom prst="rect">
            <a:avLst/>
          </a:prstGeom>
          <a:solidFill>
            <a:schemeClr val="accent6"/>
          </a:solidFill>
          <a:ln w="12700">
            <a:solidFill>
              <a:schemeClr val="bg1"/>
            </a:solidFill>
            <a:prstDash val="solid"/>
          </a:ln>
        </p:spPr>
      </p:sp>
      <p:sp>
        <p:nvSpPr>
          <p:cNvPr id="11" name="Text 9"/>
          <p:cNvSpPr txBox="1"/>
          <p:nvPr/>
        </p:nvSpPr>
        <p:spPr>
          <a:xfrm>
            <a:off x="2057400" y="1508760"/>
            <a:ext cx="420624" cy="420624"/>
          </a:xfrm>
          <a:prstGeom prst="rect">
            <a:avLst/>
          </a:prstGeom>
          <a:noFill/>
          <a:ln/>
        </p:spPr>
        <p:txBody>
          <a:bodyPr wrap="square" lIns="0" tIns="0" rIns="0" bIns="0" rtlCol="0" anchor="ctr"/>
          <a:lstStyle/>
          <a:p>
            <a:pPr algn="ctr" indent="0" marL="0">
              <a:buNone/>
            </a:pPr>
            <a:r>
              <a:rPr lang="en-US" sz="1400" b="1" dirty="0">
                <a:solidFill>
                  <a:schemeClr val="tx2"/>
                </a:solidFill>
                <a:latin typeface="Calibri" pitchFamily="34" charset="0"/>
                <a:ea typeface="Calibri" pitchFamily="34" charset="-122"/>
                <a:cs typeface="Calibri" pitchFamily="34" charset="-120"/>
              </a:rPr>
              <a:t>0</a:t>
            </a:r>
            <a:endParaRPr lang="en-US" sz="1400" dirty="0"/>
          </a:p>
        </p:txBody>
      </p:sp>
      <p:sp>
        <p:nvSpPr>
          <p:cNvPr id="12" name="v04"/>
          <p:cNvSpPr/>
          <p:nvPr/>
        </p:nvSpPr>
        <p:spPr>
          <a:xfrm>
            <a:off x="2514600" y="1508760"/>
            <a:ext cx="420624" cy="420624"/>
          </a:xfrm>
          <a:prstGeom prst="rect">
            <a:avLst/>
          </a:prstGeom>
          <a:solidFill>
            <a:schemeClr val="accent1"/>
          </a:solidFill>
          <a:ln w="12700">
            <a:solidFill>
              <a:schemeClr val="bg1"/>
            </a:solidFill>
            <a:prstDash val="solid"/>
          </a:ln>
        </p:spPr>
      </p:sp>
      <p:sp>
        <p:nvSpPr>
          <p:cNvPr id="13" name="Text 11"/>
          <p:cNvSpPr txBox="1"/>
          <p:nvPr/>
        </p:nvSpPr>
        <p:spPr>
          <a:xfrm>
            <a:off x="2514600" y="15087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14" name="v05"/>
          <p:cNvSpPr/>
          <p:nvPr/>
        </p:nvSpPr>
        <p:spPr>
          <a:xfrm>
            <a:off x="2971800" y="1508760"/>
            <a:ext cx="420624" cy="420624"/>
          </a:xfrm>
          <a:prstGeom prst="rect">
            <a:avLst/>
          </a:prstGeom>
          <a:solidFill>
            <a:schemeClr val="accent1"/>
          </a:solidFill>
          <a:ln w="12700">
            <a:solidFill>
              <a:schemeClr val="bg1"/>
            </a:solidFill>
            <a:prstDash val="solid"/>
          </a:ln>
        </p:spPr>
      </p:sp>
      <p:sp>
        <p:nvSpPr>
          <p:cNvPr id="15" name="Text 13"/>
          <p:cNvSpPr txBox="1"/>
          <p:nvPr/>
        </p:nvSpPr>
        <p:spPr>
          <a:xfrm>
            <a:off x="2971800" y="15087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16" name="v06"/>
          <p:cNvSpPr/>
          <p:nvPr/>
        </p:nvSpPr>
        <p:spPr>
          <a:xfrm>
            <a:off x="3429000" y="1508760"/>
            <a:ext cx="420624" cy="420624"/>
          </a:xfrm>
          <a:prstGeom prst="rect">
            <a:avLst/>
          </a:prstGeom>
          <a:solidFill>
            <a:schemeClr val="accent1"/>
          </a:solidFill>
          <a:ln w="12700">
            <a:solidFill>
              <a:schemeClr val="bg1"/>
            </a:solidFill>
            <a:prstDash val="solid"/>
          </a:ln>
        </p:spPr>
      </p:sp>
      <p:sp>
        <p:nvSpPr>
          <p:cNvPr id="17" name="Text 15"/>
          <p:cNvSpPr txBox="1"/>
          <p:nvPr/>
        </p:nvSpPr>
        <p:spPr>
          <a:xfrm>
            <a:off x="3429000" y="15087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18" name="v07"/>
          <p:cNvSpPr/>
          <p:nvPr/>
        </p:nvSpPr>
        <p:spPr>
          <a:xfrm>
            <a:off x="3886200" y="1508760"/>
            <a:ext cx="420624" cy="420624"/>
          </a:xfrm>
          <a:prstGeom prst="rect">
            <a:avLst/>
          </a:prstGeom>
          <a:solidFill>
            <a:schemeClr val="accent1"/>
          </a:solidFill>
          <a:ln w="12700">
            <a:solidFill>
              <a:schemeClr val="bg1"/>
            </a:solidFill>
            <a:prstDash val="solid"/>
          </a:ln>
        </p:spPr>
      </p:sp>
      <p:sp>
        <p:nvSpPr>
          <p:cNvPr id="19" name="Text 17"/>
          <p:cNvSpPr txBox="1"/>
          <p:nvPr/>
        </p:nvSpPr>
        <p:spPr>
          <a:xfrm>
            <a:off x="3886200" y="15087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20" name="v08"/>
          <p:cNvSpPr/>
          <p:nvPr/>
        </p:nvSpPr>
        <p:spPr>
          <a:xfrm>
            <a:off x="4343400" y="1508760"/>
            <a:ext cx="420624" cy="420624"/>
          </a:xfrm>
          <a:prstGeom prst="rect">
            <a:avLst/>
          </a:prstGeom>
          <a:solidFill>
            <a:schemeClr val="accent1"/>
          </a:solidFill>
          <a:ln w="12700">
            <a:solidFill>
              <a:schemeClr val="bg1"/>
            </a:solidFill>
            <a:prstDash val="solid"/>
          </a:ln>
        </p:spPr>
      </p:sp>
      <p:sp>
        <p:nvSpPr>
          <p:cNvPr id="21" name="Text 19"/>
          <p:cNvSpPr txBox="1"/>
          <p:nvPr/>
        </p:nvSpPr>
        <p:spPr>
          <a:xfrm>
            <a:off x="4343400" y="15087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22" name="v09"/>
          <p:cNvSpPr/>
          <p:nvPr/>
        </p:nvSpPr>
        <p:spPr>
          <a:xfrm>
            <a:off x="4800600" y="1508760"/>
            <a:ext cx="420624" cy="420624"/>
          </a:xfrm>
          <a:prstGeom prst="rect">
            <a:avLst/>
          </a:prstGeom>
          <a:solidFill>
            <a:schemeClr val="accent6"/>
          </a:solidFill>
          <a:ln w="12700">
            <a:solidFill>
              <a:schemeClr val="bg1"/>
            </a:solidFill>
            <a:prstDash val="solid"/>
          </a:ln>
        </p:spPr>
      </p:sp>
      <p:sp>
        <p:nvSpPr>
          <p:cNvPr id="23" name="Text 21"/>
          <p:cNvSpPr txBox="1"/>
          <p:nvPr/>
        </p:nvSpPr>
        <p:spPr>
          <a:xfrm>
            <a:off x="4800600" y="1508760"/>
            <a:ext cx="420624" cy="420624"/>
          </a:xfrm>
          <a:prstGeom prst="rect">
            <a:avLst/>
          </a:prstGeom>
          <a:noFill/>
          <a:ln/>
        </p:spPr>
        <p:txBody>
          <a:bodyPr wrap="square" lIns="0" tIns="0" rIns="0" bIns="0" rtlCol="0" anchor="ctr"/>
          <a:lstStyle/>
          <a:p>
            <a:pPr algn="ctr" indent="0" marL="0">
              <a:buNone/>
            </a:pPr>
            <a:r>
              <a:rPr lang="en-US" sz="1400" b="1" dirty="0">
                <a:solidFill>
                  <a:schemeClr val="tx2"/>
                </a:solidFill>
                <a:latin typeface="Calibri" pitchFamily="34" charset="0"/>
                <a:ea typeface="Calibri" pitchFamily="34" charset="-122"/>
                <a:cs typeface="Calibri" pitchFamily="34" charset="-120"/>
              </a:rPr>
              <a:t>0</a:t>
            </a:r>
            <a:endParaRPr lang="en-US" sz="1400" dirty="0"/>
          </a:p>
        </p:txBody>
      </p:sp>
      <p:sp>
        <p:nvSpPr>
          <p:cNvPr id="24" name="v10"/>
          <p:cNvSpPr/>
          <p:nvPr/>
        </p:nvSpPr>
        <p:spPr>
          <a:xfrm>
            <a:off x="685800" y="1965960"/>
            <a:ext cx="420624" cy="420624"/>
          </a:xfrm>
          <a:prstGeom prst="rect">
            <a:avLst/>
          </a:prstGeom>
          <a:solidFill>
            <a:schemeClr val="accent1"/>
          </a:solidFill>
          <a:ln w="12700">
            <a:solidFill>
              <a:schemeClr val="bg1"/>
            </a:solidFill>
            <a:prstDash val="solid"/>
          </a:ln>
        </p:spPr>
      </p:sp>
      <p:sp>
        <p:nvSpPr>
          <p:cNvPr id="25" name="Text 23"/>
          <p:cNvSpPr txBox="1"/>
          <p:nvPr/>
        </p:nvSpPr>
        <p:spPr>
          <a:xfrm>
            <a:off x="685800" y="19659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26" name="v11"/>
          <p:cNvSpPr/>
          <p:nvPr/>
        </p:nvSpPr>
        <p:spPr>
          <a:xfrm>
            <a:off x="1143000" y="1965960"/>
            <a:ext cx="420624" cy="420624"/>
          </a:xfrm>
          <a:prstGeom prst="rect">
            <a:avLst/>
          </a:prstGeom>
          <a:solidFill>
            <a:schemeClr val="accent1"/>
          </a:solidFill>
          <a:ln w="12700">
            <a:solidFill>
              <a:schemeClr val="bg1"/>
            </a:solidFill>
            <a:prstDash val="solid"/>
          </a:ln>
        </p:spPr>
      </p:sp>
      <p:sp>
        <p:nvSpPr>
          <p:cNvPr id="27" name="Text 25"/>
          <p:cNvSpPr txBox="1"/>
          <p:nvPr/>
        </p:nvSpPr>
        <p:spPr>
          <a:xfrm>
            <a:off x="1143000" y="19659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28" name="v12"/>
          <p:cNvSpPr/>
          <p:nvPr/>
        </p:nvSpPr>
        <p:spPr>
          <a:xfrm>
            <a:off x="1600200" y="1965960"/>
            <a:ext cx="420624" cy="420624"/>
          </a:xfrm>
          <a:prstGeom prst="rect">
            <a:avLst/>
          </a:prstGeom>
          <a:solidFill>
            <a:schemeClr val="accent1"/>
          </a:solidFill>
          <a:ln w="12700">
            <a:solidFill>
              <a:schemeClr val="bg1"/>
            </a:solidFill>
            <a:prstDash val="solid"/>
          </a:ln>
        </p:spPr>
      </p:sp>
      <p:sp>
        <p:nvSpPr>
          <p:cNvPr id="29" name="Text 27"/>
          <p:cNvSpPr txBox="1"/>
          <p:nvPr/>
        </p:nvSpPr>
        <p:spPr>
          <a:xfrm>
            <a:off x="1600200" y="19659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30" name="v13"/>
          <p:cNvSpPr/>
          <p:nvPr/>
        </p:nvSpPr>
        <p:spPr>
          <a:xfrm>
            <a:off x="2057400" y="1965960"/>
            <a:ext cx="420624" cy="420624"/>
          </a:xfrm>
          <a:prstGeom prst="rect">
            <a:avLst/>
          </a:prstGeom>
          <a:solidFill>
            <a:schemeClr val="accent1"/>
          </a:solidFill>
          <a:ln w="12700">
            <a:solidFill>
              <a:schemeClr val="bg1"/>
            </a:solidFill>
            <a:prstDash val="solid"/>
          </a:ln>
        </p:spPr>
      </p:sp>
      <p:sp>
        <p:nvSpPr>
          <p:cNvPr id="31" name="Text 29"/>
          <p:cNvSpPr txBox="1"/>
          <p:nvPr/>
        </p:nvSpPr>
        <p:spPr>
          <a:xfrm>
            <a:off x="2057400" y="19659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32" name="v14"/>
          <p:cNvSpPr/>
          <p:nvPr/>
        </p:nvSpPr>
        <p:spPr>
          <a:xfrm>
            <a:off x="2514600" y="1965960"/>
            <a:ext cx="420624" cy="420624"/>
          </a:xfrm>
          <a:prstGeom prst="rect">
            <a:avLst/>
          </a:prstGeom>
          <a:solidFill>
            <a:schemeClr val="accent6"/>
          </a:solidFill>
          <a:ln w="12700">
            <a:solidFill>
              <a:schemeClr val="bg1"/>
            </a:solidFill>
            <a:prstDash val="solid"/>
          </a:ln>
        </p:spPr>
      </p:sp>
      <p:sp>
        <p:nvSpPr>
          <p:cNvPr id="33" name="Text 31"/>
          <p:cNvSpPr txBox="1"/>
          <p:nvPr/>
        </p:nvSpPr>
        <p:spPr>
          <a:xfrm>
            <a:off x="2514600" y="1965960"/>
            <a:ext cx="420624" cy="420624"/>
          </a:xfrm>
          <a:prstGeom prst="rect">
            <a:avLst/>
          </a:prstGeom>
          <a:noFill/>
          <a:ln/>
        </p:spPr>
        <p:txBody>
          <a:bodyPr wrap="square" lIns="0" tIns="0" rIns="0" bIns="0" rtlCol="0" anchor="ctr"/>
          <a:lstStyle/>
          <a:p>
            <a:pPr algn="ctr" indent="0" marL="0">
              <a:buNone/>
            </a:pPr>
            <a:r>
              <a:rPr lang="en-US" sz="1400" b="1" dirty="0">
                <a:solidFill>
                  <a:schemeClr val="tx2"/>
                </a:solidFill>
                <a:latin typeface="Calibri" pitchFamily="34" charset="0"/>
                <a:ea typeface="Calibri" pitchFamily="34" charset="-122"/>
                <a:cs typeface="Calibri" pitchFamily="34" charset="-120"/>
              </a:rPr>
              <a:t>0</a:t>
            </a:r>
            <a:endParaRPr lang="en-US" sz="1400" dirty="0"/>
          </a:p>
        </p:txBody>
      </p:sp>
      <p:sp>
        <p:nvSpPr>
          <p:cNvPr id="34" name="v15"/>
          <p:cNvSpPr/>
          <p:nvPr/>
        </p:nvSpPr>
        <p:spPr>
          <a:xfrm>
            <a:off x="2971800" y="1965960"/>
            <a:ext cx="420624" cy="420624"/>
          </a:xfrm>
          <a:prstGeom prst="rect">
            <a:avLst/>
          </a:prstGeom>
          <a:solidFill>
            <a:schemeClr val="accent6"/>
          </a:solidFill>
          <a:ln w="12700">
            <a:solidFill>
              <a:schemeClr val="bg1"/>
            </a:solidFill>
            <a:prstDash val="solid"/>
          </a:ln>
        </p:spPr>
      </p:sp>
      <p:sp>
        <p:nvSpPr>
          <p:cNvPr id="35" name="Text 33"/>
          <p:cNvSpPr txBox="1"/>
          <p:nvPr/>
        </p:nvSpPr>
        <p:spPr>
          <a:xfrm>
            <a:off x="2971800" y="1965960"/>
            <a:ext cx="420624" cy="420624"/>
          </a:xfrm>
          <a:prstGeom prst="rect">
            <a:avLst/>
          </a:prstGeom>
          <a:noFill/>
          <a:ln/>
        </p:spPr>
        <p:txBody>
          <a:bodyPr wrap="square" lIns="0" tIns="0" rIns="0" bIns="0" rtlCol="0" anchor="ctr"/>
          <a:lstStyle/>
          <a:p>
            <a:pPr algn="ctr" indent="0" marL="0">
              <a:buNone/>
            </a:pPr>
            <a:r>
              <a:rPr lang="en-US" sz="1400" b="1" dirty="0">
                <a:solidFill>
                  <a:schemeClr val="tx2"/>
                </a:solidFill>
                <a:latin typeface="Calibri" pitchFamily="34" charset="0"/>
                <a:ea typeface="Calibri" pitchFamily="34" charset="-122"/>
                <a:cs typeface="Calibri" pitchFamily="34" charset="-120"/>
              </a:rPr>
              <a:t>0</a:t>
            </a:r>
            <a:endParaRPr lang="en-US" sz="1400" dirty="0"/>
          </a:p>
        </p:txBody>
      </p:sp>
      <p:sp>
        <p:nvSpPr>
          <p:cNvPr id="36" name="v16"/>
          <p:cNvSpPr/>
          <p:nvPr/>
        </p:nvSpPr>
        <p:spPr>
          <a:xfrm>
            <a:off x="3429000" y="1965960"/>
            <a:ext cx="420624" cy="420624"/>
          </a:xfrm>
          <a:prstGeom prst="rect">
            <a:avLst/>
          </a:prstGeom>
          <a:solidFill>
            <a:schemeClr val="accent6"/>
          </a:solidFill>
          <a:ln w="12700">
            <a:solidFill>
              <a:schemeClr val="bg1"/>
            </a:solidFill>
            <a:prstDash val="solid"/>
          </a:ln>
        </p:spPr>
      </p:sp>
      <p:sp>
        <p:nvSpPr>
          <p:cNvPr id="37" name="Text 35"/>
          <p:cNvSpPr txBox="1"/>
          <p:nvPr/>
        </p:nvSpPr>
        <p:spPr>
          <a:xfrm>
            <a:off x="3429000" y="1965960"/>
            <a:ext cx="420624" cy="420624"/>
          </a:xfrm>
          <a:prstGeom prst="rect">
            <a:avLst/>
          </a:prstGeom>
          <a:noFill/>
          <a:ln/>
        </p:spPr>
        <p:txBody>
          <a:bodyPr wrap="square" lIns="0" tIns="0" rIns="0" bIns="0" rtlCol="0" anchor="ctr"/>
          <a:lstStyle/>
          <a:p>
            <a:pPr algn="ctr" indent="0" marL="0">
              <a:buNone/>
            </a:pPr>
            <a:r>
              <a:rPr lang="en-US" sz="1400" b="1" dirty="0">
                <a:solidFill>
                  <a:schemeClr val="tx2"/>
                </a:solidFill>
                <a:latin typeface="Calibri" pitchFamily="34" charset="0"/>
                <a:ea typeface="Calibri" pitchFamily="34" charset="-122"/>
                <a:cs typeface="Calibri" pitchFamily="34" charset="-120"/>
              </a:rPr>
              <a:t>0</a:t>
            </a:r>
            <a:endParaRPr lang="en-US" sz="1400" dirty="0"/>
          </a:p>
        </p:txBody>
      </p:sp>
      <p:sp>
        <p:nvSpPr>
          <p:cNvPr id="38" name="v17"/>
          <p:cNvSpPr/>
          <p:nvPr/>
        </p:nvSpPr>
        <p:spPr>
          <a:xfrm>
            <a:off x="3886200" y="1965960"/>
            <a:ext cx="420624" cy="420624"/>
          </a:xfrm>
          <a:prstGeom prst="rect">
            <a:avLst/>
          </a:prstGeom>
          <a:solidFill>
            <a:schemeClr val="accent6"/>
          </a:solidFill>
          <a:ln w="12700">
            <a:solidFill>
              <a:schemeClr val="bg1"/>
            </a:solidFill>
            <a:prstDash val="solid"/>
          </a:ln>
        </p:spPr>
      </p:sp>
      <p:sp>
        <p:nvSpPr>
          <p:cNvPr id="39" name="Text 37"/>
          <p:cNvSpPr txBox="1"/>
          <p:nvPr/>
        </p:nvSpPr>
        <p:spPr>
          <a:xfrm>
            <a:off x="3886200" y="1965960"/>
            <a:ext cx="420624" cy="420624"/>
          </a:xfrm>
          <a:prstGeom prst="rect">
            <a:avLst/>
          </a:prstGeom>
          <a:noFill/>
          <a:ln/>
        </p:spPr>
        <p:txBody>
          <a:bodyPr wrap="square" lIns="0" tIns="0" rIns="0" bIns="0" rtlCol="0" anchor="ctr"/>
          <a:lstStyle/>
          <a:p>
            <a:pPr algn="ctr" indent="0" marL="0">
              <a:buNone/>
            </a:pPr>
            <a:r>
              <a:rPr lang="en-US" sz="1400" b="1" dirty="0">
                <a:solidFill>
                  <a:schemeClr val="tx2"/>
                </a:solidFill>
                <a:latin typeface="Calibri" pitchFamily="34" charset="0"/>
                <a:ea typeface="Calibri" pitchFamily="34" charset="-122"/>
                <a:cs typeface="Calibri" pitchFamily="34" charset="-120"/>
              </a:rPr>
              <a:t>0</a:t>
            </a:r>
            <a:endParaRPr lang="en-US" sz="1400" dirty="0"/>
          </a:p>
        </p:txBody>
      </p:sp>
      <p:sp>
        <p:nvSpPr>
          <p:cNvPr id="40" name="v18"/>
          <p:cNvSpPr/>
          <p:nvPr/>
        </p:nvSpPr>
        <p:spPr>
          <a:xfrm>
            <a:off x="4343400" y="1965960"/>
            <a:ext cx="420624" cy="420624"/>
          </a:xfrm>
          <a:prstGeom prst="rect">
            <a:avLst/>
          </a:prstGeom>
          <a:solidFill>
            <a:schemeClr val="accent6"/>
          </a:solidFill>
          <a:ln w="12700">
            <a:solidFill>
              <a:schemeClr val="bg1"/>
            </a:solidFill>
            <a:prstDash val="solid"/>
          </a:ln>
        </p:spPr>
      </p:sp>
      <p:sp>
        <p:nvSpPr>
          <p:cNvPr id="41" name="Text 39"/>
          <p:cNvSpPr txBox="1"/>
          <p:nvPr/>
        </p:nvSpPr>
        <p:spPr>
          <a:xfrm>
            <a:off x="4343400" y="1965960"/>
            <a:ext cx="420624" cy="420624"/>
          </a:xfrm>
          <a:prstGeom prst="rect">
            <a:avLst/>
          </a:prstGeom>
          <a:noFill/>
          <a:ln/>
        </p:spPr>
        <p:txBody>
          <a:bodyPr wrap="square" lIns="0" tIns="0" rIns="0" bIns="0" rtlCol="0" anchor="ctr"/>
          <a:lstStyle/>
          <a:p>
            <a:pPr algn="ctr" indent="0" marL="0">
              <a:buNone/>
            </a:pPr>
            <a:r>
              <a:rPr lang="en-US" sz="1400" b="1" dirty="0">
                <a:solidFill>
                  <a:schemeClr val="tx2"/>
                </a:solidFill>
                <a:latin typeface="Calibri" pitchFamily="34" charset="0"/>
                <a:ea typeface="Calibri" pitchFamily="34" charset="-122"/>
                <a:cs typeface="Calibri" pitchFamily="34" charset="-120"/>
              </a:rPr>
              <a:t>0</a:t>
            </a:r>
            <a:endParaRPr lang="en-US" sz="1400" dirty="0"/>
          </a:p>
        </p:txBody>
      </p:sp>
      <p:sp>
        <p:nvSpPr>
          <p:cNvPr id="42" name="v19"/>
          <p:cNvSpPr/>
          <p:nvPr/>
        </p:nvSpPr>
        <p:spPr>
          <a:xfrm>
            <a:off x="4800600" y="1965960"/>
            <a:ext cx="420624" cy="420624"/>
          </a:xfrm>
          <a:prstGeom prst="rect">
            <a:avLst/>
          </a:prstGeom>
          <a:solidFill>
            <a:schemeClr val="accent1"/>
          </a:solidFill>
          <a:ln w="12700">
            <a:solidFill>
              <a:schemeClr val="bg1"/>
            </a:solidFill>
            <a:prstDash val="solid"/>
          </a:ln>
        </p:spPr>
      </p:sp>
      <p:sp>
        <p:nvSpPr>
          <p:cNvPr id="43" name="Text 41"/>
          <p:cNvSpPr txBox="1"/>
          <p:nvPr/>
        </p:nvSpPr>
        <p:spPr>
          <a:xfrm>
            <a:off x="4800600" y="19659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44" name="Text 42"/>
          <p:cNvSpPr txBox="1"/>
          <p:nvPr/>
        </p:nvSpPr>
        <p:spPr>
          <a:xfrm>
            <a:off x="685800" y="1207008"/>
            <a:ext cx="3657600" cy="274320"/>
          </a:xfrm>
          <a:prstGeom prst="rect">
            <a:avLst/>
          </a:prstGeom>
          <a:noFill/>
          <a:ln/>
        </p:spPr>
        <p:txBody>
          <a:bodyPr wrap="square" lIns="0" tIns="0" rIns="0" bIns="0" rtlCol="0" anchor="t"/>
          <a:lstStyle/>
          <a:p>
            <a:pPr indent="0" marL="0">
              <a:buNone/>
            </a:pPr>
            <a:r>
              <a:rPr lang="en-US" sz="1100" b="1" dirty="0">
                <a:solidFill>
                  <a:schemeClr val="accent4"/>
                </a:solidFill>
                <a:latin typeface="Calibri" pitchFamily="34" charset="0"/>
                <a:ea typeface="Calibri" pitchFamily="34" charset="-122"/>
                <a:cs typeface="Calibri" pitchFamily="34" charset="-120"/>
              </a:rPr>
              <a:t>2 × 10 layout (example)</a:t>
            </a:r>
            <a:endParaRPr lang="en-US" sz="1100" dirty="0"/>
          </a:p>
        </p:txBody>
      </p:sp>
      <p:sp>
        <p:nvSpPr>
          <p:cNvPr id="45" name="v-arr"/>
          <p:cNvSpPr/>
          <p:nvPr/>
        </p:nvSpPr>
        <p:spPr>
          <a:xfrm>
            <a:off x="2926080" y="2487168"/>
            <a:ext cx="0" cy="320040"/>
          </a:xfrm>
          <a:prstGeom prst="line">
            <a:avLst/>
          </a:prstGeom>
          <a:noFill/>
          <a:ln w="22225">
            <a:solidFill>
              <a:schemeClr val="accent4"/>
            </a:solidFill>
            <a:prstDash val="solid"/>
            <a:tailEnd type="triangle"/>
          </a:ln>
        </p:spPr>
      </p:sp>
      <p:sp>
        <p:nvSpPr>
          <p:cNvPr id="46" name="Text 44"/>
          <p:cNvSpPr txBox="1"/>
          <p:nvPr/>
        </p:nvSpPr>
        <p:spPr>
          <a:xfrm>
            <a:off x="3063240" y="2487168"/>
            <a:ext cx="1097280" cy="274320"/>
          </a:xfrm>
          <a:prstGeom prst="rect">
            <a:avLst/>
          </a:prstGeom>
          <a:noFill/>
          <a:ln/>
        </p:spPr>
        <p:txBody>
          <a:bodyPr wrap="square" lIns="0" tIns="0" rIns="0" bIns="0" rtlCol="0" anchor="t"/>
          <a:lstStyle/>
          <a:p>
            <a:pPr indent="0" marL="0">
              <a:buNone/>
            </a:pPr>
            <a:r>
              <a:rPr lang="en-US" sz="1000" i="1" dirty="0">
                <a:solidFill>
                  <a:schemeClr val="accent4"/>
                </a:solidFill>
                <a:latin typeface="Calibri" pitchFamily="34" charset="0"/>
                <a:ea typeface="Calibri" pitchFamily="34" charset="-122"/>
                <a:cs typeface="Calibri" pitchFamily="34" charset="-120"/>
              </a:rPr>
              <a:t>swells</a:t>
            </a:r>
            <a:endParaRPr lang="en-US" sz="1000" dirty="0"/>
          </a:p>
        </p:txBody>
      </p:sp>
      <p:pic>
        <p:nvPicPr>
          <p:cNvPr id="47" name="v-bent" descr="img/hero_bent.png">    </p:cNvPr>
          <p:cNvPicPr>
            <a:picLocks noChangeAspect="1"/>
          </p:cNvPicPr>
          <p:nvPr/>
        </p:nvPicPr>
        <p:blipFill>
          <a:blip r:embed="rId1"/>
          <a:stretch>
            <a:fillRect/>
          </a:stretch>
        </p:blipFill>
        <p:spPr>
          <a:xfrm>
            <a:off x="1325880" y="2880360"/>
            <a:ext cx="3383280" cy="1691640"/>
          </a:xfrm>
          <a:prstGeom prst="rect">
            <a:avLst/>
          </a:prstGeom>
        </p:spPr>
      </p:pic>
      <p:sp>
        <p:nvSpPr>
          <p:cNvPr id="48" name="vp0"/>
          <p:cNvSpPr/>
          <p:nvPr/>
        </p:nvSpPr>
        <p:spPr>
          <a:xfrm>
            <a:off x="5486400" y="1234440"/>
            <a:ext cx="548640" cy="548640"/>
          </a:xfrm>
          <a:prstGeom prst="ellipse">
            <a:avLst/>
          </a:prstGeom>
          <a:solidFill>
            <a:schemeClr val="accent1"/>
          </a:solidFill>
          <a:ln w="12700">
            <a:solidFill>
              <a:schemeClr val="accent1"/>
            </a:solidFill>
            <a:prstDash val="solid"/>
          </a:ln>
        </p:spPr>
      </p:sp>
      <p:sp>
        <p:nvSpPr>
          <p:cNvPr id="49" name="Text 46"/>
          <p:cNvSpPr txBox="1"/>
          <p:nvPr/>
        </p:nvSpPr>
        <p:spPr>
          <a:xfrm>
            <a:off x="5486400" y="12344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1</a:t>
            </a:r>
            <a:endParaRPr lang="en-US" sz="1800" dirty="0"/>
          </a:p>
        </p:txBody>
      </p:sp>
      <p:sp>
        <p:nvSpPr>
          <p:cNvPr id="50" name="Text 47"/>
          <p:cNvSpPr txBox="1"/>
          <p:nvPr/>
        </p:nvSpPr>
        <p:spPr>
          <a:xfrm>
            <a:off x="6172200" y="1234440"/>
            <a:ext cx="2514600" cy="548640"/>
          </a:xfrm>
          <a:prstGeom prst="rect">
            <a:avLst/>
          </a:prstGeom>
          <a:noFill/>
          <a:ln/>
        </p:spPr>
        <p:txBody>
          <a:bodyPr wrap="square" lIns="0" tIns="0" rIns="0" bIns="0" rtlCol="0" anchor="ctr"/>
          <a:lstStyle/>
          <a:p>
            <a:pPr indent="0" marL="0">
              <a:buNone/>
            </a:pPr>
            <a:r>
              <a:rPr lang="en-US" sz="1300" dirty="0">
                <a:solidFill>
                  <a:schemeClr val="tx2"/>
                </a:solidFill>
                <a:latin typeface="Calibri" pitchFamily="34" charset="0"/>
                <a:ea typeface="Calibri" pitchFamily="34" charset="-122"/>
                <a:cs typeface="Calibri" pitchFamily="34" charset="-120"/>
              </a:rPr>
              <a:t>active voxel: swells more</a:t>
            </a:r>
            <a:endParaRPr lang="en-US" sz="1300" dirty="0"/>
          </a:p>
        </p:txBody>
      </p:sp>
      <p:sp>
        <p:nvSpPr>
          <p:cNvPr id="51" name="vp1"/>
          <p:cNvSpPr/>
          <p:nvPr/>
        </p:nvSpPr>
        <p:spPr>
          <a:xfrm>
            <a:off x="5486400" y="2075688"/>
            <a:ext cx="548640" cy="548640"/>
          </a:xfrm>
          <a:prstGeom prst="ellipse">
            <a:avLst/>
          </a:prstGeom>
          <a:solidFill>
            <a:schemeClr val="accent4"/>
          </a:solidFill>
          <a:ln w="12700">
            <a:solidFill>
              <a:schemeClr val="accent4"/>
            </a:solidFill>
            <a:prstDash val="solid"/>
          </a:ln>
        </p:spPr>
      </p:sp>
      <p:sp>
        <p:nvSpPr>
          <p:cNvPr id="52" name="Text 49"/>
          <p:cNvSpPr txBox="1"/>
          <p:nvPr/>
        </p:nvSpPr>
        <p:spPr>
          <a:xfrm>
            <a:off x="5486400" y="2075688"/>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0</a:t>
            </a:r>
            <a:endParaRPr lang="en-US" sz="1800" dirty="0"/>
          </a:p>
        </p:txBody>
      </p:sp>
      <p:sp>
        <p:nvSpPr>
          <p:cNvPr id="53" name="Text 50"/>
          <p:cNvSpPr txBox="1"/>
          <p:nvPr/>
        </p:nvSpPr>
        <p:spPr>
          <a:xfrm>
            <a:off x="6172200" y="2075688"/>
            <a:ext cx="2514600" cy="548640"/>
          </a:xfrm>
          <a:prstGeom prst="rect">
            <a:avLst/>
          </a:prstGeom>
          <a:noFill/>
          <a:ln/>
        </p:spPr>
        <p:txBody>
          <a:bodyPr wrap="square" lIns="0" tIns="0" rIns="0" bIns="0" rtlCol="0" anchor="ctr"/>
          <a:lstStyle/>
          <a:p>
            <a:pPr indent="0" marL="0">
              <a:buNone/>
            </a:pPr>
            <a:r>
              <a:rPr lang="en-US" sz="1300" dirty="0">
                <a:solidFill>
                  <a:schemeClr val="tx2"/>
                </a:solidFill>
                <a:latin typeface="Calibri" pitchFamily="34" charset="0"/>
                <a:ea typeface="Calibri" pitchFamily="34" charset="-122"/>
                <a:cs typeface="Calibri" pitchFamily="34" charset="-120"/>
              </a:rPr>
              <a:t>passive voxel: swells less</a:t>
            </a:r>
            <a:endParaRPr lang="en-US" sz="1300" dirty="0"/>
          </a:p>
        </p:txBody>
      </p:sp>
      <p:sp>
        <p:nvSpPr>
          <p:cNvPr id="54" name="vp2"/>
          <p:cNvSpPr/>
          <p:nvPr/>
        </p:nvSpPr>
        <p:spPr>
          <a:xfrm>
            <a:off x="5486400" y="2916936"/>
            <a:ext cx="548640" cy="548640"/>
          </a:xfrm>
          <a:prstGeom prst="ellipse">
            <a:avLst/>
          </a:prstGeom>
          <a:solidFill>
            <a:schemeClr val="accent2"/>
          </a:solidFill>
          <a:ln w="12700">
            <a:solidFill>
              <a:schemeClr val="accent2"/>
            </a:solidFill>
            <a:prstDash val="solid"/>
          </a:ln>
        </p:spPr>
      </p:sp>
      <p:sp>
        <p:nvSpPr>
          <p:cNvPr id="55" name="Text 52"/>
          <p:cNvSpPr txBox="1"/>
          <p:nvPr/>
        </p:nvSpPr>
        <p:spPr>
          <a:xfrm>
            <a:off x="5486400" y="2916936"/>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a:t>
            </a:r>
            <a:endParaRPr lang="en-US" sz="1800" dirty="0"/>
          </a:p>
        </p:txBody>
      </p:sp>
      <p:sp>
        <p:nvSpPr>
          <p:cNvPr id="56" name="Text 53"/>
          <p:cNvSpPr txBox="1"/>
          <p:nvPr/>
        </p:nvSpPr>
        <p:spPr>
          <a:xfrm>
            <a:off x="6172200" y="2916936"/>
            <a:ext cx="2514600" cy="548640"/>
          </a:xfrm>
          <a:prstGeom prst="rect">
            <a:avLst/>
          </a:prstGeom>
          <a:noFill/>
          <a:ln/>
        </p:spPr>
        <p:txBody>
          <a:bodyPr wrap="square" lIns="0" tIns="0" rIns="0" bIns="0" rtlCol="0" anchor="ctr"/>
          <a:lstStyle/>
          <a:p>
            <a:pPr indent="0" marL="0">
              <a:buNone/>
            </a:pPr>
            <a:r>
              <a:rPr lang="en-US" sz="1300" dirty="0">
                <a:solidFill>
                  <a:schemeClr val="tx2"/>
                </a:solidFill>
                <a:latin typeface="Calibri" pitchFamily="34" charset="0"/>
                <a:ea typeface="Calibri" pitchFamily="34" charset="-122"/>
                <a:cs typeface="Calibri" pitchFamily="34" charset="-120"/>
              </a:rPr>
              <a:t>each column's mismatch sets its local bend</a:t>
            </a:r>
            <a:endParaRPr lang="en-US" sz="1300" dirty="0"/>
          </a:p>
        </p:txBody>
      </p:sp>
      <p:sp>
        <p:nvSpPr>
          <p:cNvPr id="57" name="vp3"/>
          <p:cNvSpPr/>
          <p:nvPr/>
        </p:nvSpPr>
        <p:spPr>
          <a:xfrm>
            <a:off x="5486400" y="3758184"/>
            <a:ext cx="548640" cy="548640"/>
          </a:xfrm>
          <a:prstGeom prst="ellipse">
            <a:avLst/>
          </a:prstGeom>
          <a:solidFill>
            <a:schemeClr val="tx2"/>
          </a:solidFill>
          <a:ln w="12700">
            <a:solidFill>
              <a:schemeClr val="tx2"/>
            </a:solidFill>
            <a:prstDash val="solid"/>
          </a:ln>
        </p:spPr>
      </p:sp>
      <p:sp>
        <p:nvSpPr>
          <p:cNvPr id="58" name="Text 55"/>
          <p:cNvSpPr txBox="1"/>
          <p:nvPr/>
        </p:nvSpPr>
        <p:spPr>
          <a:xfrm>
            <a:off x="5486400" y="3758184"/>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a:t>
            </a:r>
            <a:endParaRPr lang="en-US" sz="1800" dirty="0"/>
          </a:p>
        </p:txBody>
      </p:sp>
      <p:sp>
        <p:nvSpPr>
          <p:cNvPr id="59" name="Text 56"/>
          <p:cNvSpPr txBox="1"/>
          <p:nvPr/>
        </p:nvSpPr>
        <p:spPr>
          <a:xfrm>
            <a:off x="6172200" y="3758184"/>
            <a:ext cx="2514600" cy="548640"/>
          </a:xfrm>
          <a:prstGeom prst="rect">
            <a:avLst/>
          </a:prstGeom>
          <a:noFill/>
          <a:ln/>
        </p:spPr>
        <p:txBody>
          <a:bodyPr wrap="square" lIns="0" tIns="0" rIns="0" bIns="0" rtlCol="0" anchor="ctr"/>
          <a:lstStyle/>
          <a:p>
            <a:pPr indent="0" marL="0">
              <a:buNone/>
            </a:pPr>
            <a:r>
              <a:rPr lang="en-US" sz="1300" dirty="0">
                <a:solidFill>
                  <a:schemeClr val="tx2"/>
                </a:solidFill>
                <a:latin typeface="Calibri" pitchFamily="34" charset="0"/>
                <a:ea typeface="Calibri" pitchFamily="34" charset="-122"/>
                <a:cs typeface="Calibri" pitchFamily="34" charset="-120"/>
              </a:rPr>
              <a:t>the column sequence sets the whole curve: 200 (x, y) points</a:t>
            </a:r>
            <a:endParaRPr lang="en-US" sz="1300" dirty="0"/>
          </a:p>
        </p:txBody>
      </p:sp>
      <p:sp>
        <p:nvSpPr>
          <p:cNvPr id="60" name="Text 57"/>
          <p:cNvSpPr txBox="1"/>
          <p:nvPr/>
        </p:nvSpPr>
        <p:spPr>
          <a:xfrm>
            <a:off x="457200" y="4818888"/>
            <a:ext cx="7498080" cy="201168"/>
          </a:xfrm>
          <a:prstGeom prst="rect">
            <a:avLst/>
          </a:prstGeom>
          <a:noFill/>
          <a:ln/>
        </p:spPr>
        <p:txBody>
          <a:bodyPr wrap="square" lIns="0" tIns="0" rIns="0" bIns="0" rtlCol="0" anchor="t"/>
          <a:lstStyle/>
          <a:p>
            <a:pPr indent="0" marL="0">
              <a:buNone/>
            </a:pPr>
            <a:r>
              <a:rPr lang="en-US" sz="800" dirty="0">
                <a:solidFill>
                  <a:schemeClr val="accent4"/>
                </a:solidFill>
                <a:latin typeface="Calibri" pitchFamily="34" charset="0"/>
                <a:ea typeface="Calibri" pitchFamily="34" charset="-122"/>
                <a:cs typeface="Calibri" pitchFamily="34" charset="-120"/>
              </a:rPr>
              <a:t>Wang et al. 2025, Fig. 1–2 captions, Sec. 2.2 [1]; (batch, 2, 10) → (batch, 2, 200) per repo Documentation.md [6]. Bent strip is schematic.</a:t>
            </a:r>
            <a:endParaRPr lang="en-US" sz="8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5B6B82"/>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2" type="body" hasCustomPrompt="1"/>
          </p:nvPr>
        </p:nvSpPr>
        <p:spPr>
          <a:xfrm>
            <a:off x="457200" y="256032"/>
            <a:ext cx="7315200" cy="228600"/>
          </a:xfrm>
          <a:prstGeom prst="rect">
            <a:avLst/>
          </a:prstGeom>
          <a:noFill/>
          <a:ln/>
        </p:spPr>
        <p:txBody>
          <a:bodyPr wrap="square" lIns="0" tIns="0" rIns="0" bIns="0" rtlCol="0" anchor="ctr"/>
          <a:lstStyle/>
          <a:p>
            <a:pPr algn="l" indent="0" marL="0">
              <a:buNone/>
            </a:pPr>
            <a:r>
              <a:rPr lang="en-US" sz="1000" b="1" spc="200" kern="0" dirty="0">
                <a:solidFill>
                  <a:schemeClr val="accent1"/>
                </a:solidFill>
                <a:latin typeface="Calibri" pitchFamily="34" charset="0"/>
                <a:ea typeface="Calibri" pitchFamily="34" charset="-122"/>
                <a:cs typeface="Calibri" pitchFamily="34" charset="-120"/>
              </a:rPr>
              <a:t>WANG ET AL. (2025)</a:t>
            </a:r>
            <a:endParaRPr lang="en-US" sz="1000" dirty="0"/>
          </a:p>
        </p:txBody>
      </p:sp>
      <p:sp>
        <p:nvSpPr>
          <p:cNvPr id="3" name="Text 2"/>
          <p:cNvSpPr/>
          <p:nvPr>
            <p:ph idx="103" type="title" hasCustomPrompt="1"/>
          </p:nvPr>
        </p:nvSpPr>
        <p:spPr>
          <a:xfrm>
            <a:off x="457200" y="502920"/>
            <a:ext cx="8229600" cy="548640"/>
          </a:xfrm>
          <a:prstGeom prst="rect">
            <a:avLst/>
          </a:prstGeom>
          <a:noFill/>
          <a:ln/>
        </p:spPr>
        <p:txBody>
          <a:bodyPr wrap="square" lIns="0" tIns="0" rIns="0" bIns="0" rtlCol="0" anchor="ctr"/>
          <a:lstStyle/>
          <a:p>
            <a:pPr algn="l" indent="0" marL="0">
              <a:buNone/>
            </a:pPr>
            <a:r>
              <a:rPr lang="en-US" sz="2400" b="1" dirty="0">
                <a:solidFill>
                  <a:schemeClr val="tx2"/>
                </a:solidFill>
                <a:latin typeface="Georgia" pitchFamily="34" charset="0"/>
                <a:ea typeface="Georgia" pitchFamily="34" charset="-122"/>
                <a:cs typeface="Georgia" pitchFamily="34" charset="-120"/>
              </a:rPr>
              <a:t>Two engines: predict fast, search smart</a:t>
            </a:r>
            <a:endParaRPr lang="en-US" sz="2400" dirty="0"/>
          </a:p>
        </p:txBody>
      </p:sp>
      <p:sp>
        <p:nvSpPr>
          <p:cNvPr id="4" name="pred"/>
          <p:cNvSpPr/>
          <p:nvPr/>
        </p:nvSpPr>
        <p:spPr>
          <a:xfrm>
            <a:off x="457200" y="1188720"/>
            <a:ext cx="4023360" cy="3429000"/>
          </a:xfrm>
          <a:prstGeom prst="roundRect">
            <a:avLst>
              <a:gd name="adj" fmla="val 2133"/>
            </a:avLst>
          </a:prstGeom>
          <a:solidFill>
            <a:schemeClr val="bg2"/>
          </a:solidFill>
          <a:ln w="12700">
            <a:solidFill>
              <a:schemeClr val="bg2"/>
            </a:solidFill>
            <a:prstDash val="solid"/>
          </a:ln>
        </p:spPr>
      </p:sp>
      <p:sp>
        <p:nvSpPr>
          <p:cNvPr id="5" name="pr-c"/>
          <p:cNvSpPr/>
          <p:nvPr/>
        </p:nvSpPr>
        <p:spPr>
          <a:xfrm>
            <a:off x="640080" y="1325880"/>
            <a:ext cx="502920" cy="502920"/>
          </a:xfrm>
          <a:prstGeom prst="ellipse">
            <a:avLst/>
          </a:prstGeom>
          <a:solidFill>
            <a:schemeClr val="accent1"/>
          </a:solidFill>
          <a:ln w="12700">
            <a:solidFill>
              <a:schemeClr val="accent1"/>
            </a:solidFill>
            <a:prstDash val="solid"/>
          </a:ln>
        </p:spPr>
      </p:sp>
      <p:pic>
        <p:nvPicPr>
          <p:cNvPr id="6" name="pr-i" descr="preencoded.png">    </p:cNvPr>
          <p:cNvPicPr>
            <a:picLocks noChangeAspect="1"/>
          </p:cNvPicPr>
          <p:nvPr/>
        </p:nvPicPr>
        <p:blipFill>
          <a:blip r:embed="rId1"/>
          <a:stretch>
            <a:fillRect/>
          </a:stretch>
        </p:blipFill>
        <p:spPr>
          <a:xfrm>
            <a:off x="770839" y="1456639"/>
            <a:ext cx="241402" cy="241402"/>
          </a:xfrm>
          <a:prstGeom prst="rect">
            <a:avLst/>
          </a:prstGeom>
        </p:spPr>
      </p:pic>
      <p:sp>
        <p:nvSpPr>
          <p:cNvPr id="7" name="Text 4"/>
          <p:cNvSpPr txBox="1"/>
          <p:nvPr/>
        </p:nvSpPr>
        <p:spPr>
          <a:xfrm>
            <a:off x="1234440" y="1371600"/>
            <a:ext cx="3108960" cy="411480"/>
          </a:xfrm>
          <a:prstGeom prst="rect">
            <a:avLst/>
          </a:prstGeom>
          <a:noFill/>
          <a:ln/>
        </p:spPr>
        <p:txBody>
          <a:bodyPr wrap="square" lIns="0" tIns="0" rIns="0" bIns="0" rtlCol="0" anchor="ctr"/>
          <a:lstStyle/>
          <a:p>
            <a:pPr indent="0" marL="0">
              <a:buNone/>
            </a:pPr>
            <a:r>
              <a:rPr lang="en-US" sz="1500" b="1" dirty="0">
                <a:solidFill>
                  <a:schemeClr val="tx2"/>
                </a:solidFill>
                <a:latin typeface="Georgia" pitchFamily="34" charset="0"/>
                <a:ea typeface="Georgia" pitchFamily="34" charset="-122"/>
                <a:cs typeface="Georgia" pitchFamily="34" charset="-120"/>
              </a:rPr>
              <a:t>PREDICT  ·  SEP-CNN</a:t>
            </a:r>
            <a:endParaRPr lang="en-US" sz="1500" dirty="0"/>
          </a:p>
        </p:txBody>
      </p:sp>
      <p:pic>
        <p:nvPicPr>
          <p:cNvPr id="8" name="p-fig" descr="img/wang_fig3.png">    </p:cNvPr>
          <p:cNvPicPr>
            <a:picLocks noChangeAspect="1"/>
          </p:cNvPicPr>
          <p:nvPr/>
        </p:nvPicPr>
        <p:blipFill>
          <a:blip r:embed="rId2"/>
          <a:stretch>
            <a:fillRect/>
          </a:stretch>
        </p:blipFill>
        <p:spPr>
          <a:xfrm>
            <a:off x="594360" y="1920240"/>
            <a:ext cx="3749040" cy="1563624"/>
          </a:xfrm>
          <a:prstGeom prst="rect">
            <a:avLst/>
          </a:prstGeom>
        </p:spPr>
      </p:pic>
      <p:sp>
        <p:nvSpPr>
          <p:cNvPr id="9" name="Text 5"/>
          <p:cNvSpPr txBox="1"/>
          <p:nvPr/>
        </p:nvSpPr>
        <p:spPr>
          <a:xfrm>
            <a:off x="640080" y="3611880"/>
            <a:ext cx="3657600" cy="685800"/>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Each voxel column gets its own channel and passes information to the next, like a sequence.</a:t>
            </a:r>
            <a:endParaRPr lang="en-US" sz="1200" dirty="0"/>
          </a:p>
        </p:txBody>
      </p:sp>
      <p:sp>
        <p:nvSpPr>
          <p:cNvPr id="10" name="Text 6"/>
          <p:cNvSpPr txBox="1"/>
          <p:nvPr/>
        </p:nvSpPr>
        <p:spPr>
          <a:xfrm>
            <a:off x="640080" y="4315968"/>
            <a:ext cx="3657600" cy="201168"/>
          </a:xfrm>
          <a:prstGeom prst="rect">
            <a:avLst/>
          </a:prstGeom>
          <a:noFill/>
          <a:ln/>
        </p:spPr>
        <p:txBody>
          <a:bodyPr wrap="square" lIns="0" tIns="0" rIns="0" bIns="0" rtlCol="0" anchor="t"/>
          <a:lstStyle/>
          <a:p>
            <a:pPr indent="0" marL="0">
              <a:buNone/>
            </a:pPr>
            <a:r>
              <a:rPr lang="en-US" sz="900" i="1" dirty="0">
                <a:solidFill>
                  <a:schemeClr val="accent4"/>
                </a:solidFill>
                <a:latin typeface="Calibri" pitchFamily="34" charset="0"/>
                <a:ea typeface="Calibri" pitchFamily="34" charset="-122"/>
                <a:cs typeface="Calibri" pitchFamily="34" charset="-120"/>
              </a:rPr>
              <a:t>Wang et al. 2025, Fig. 3</a:t>
            </a:r>
            <a:endParaRPr lang="en-US" sz="900" dirty="0"/>
          </a:p>
        </p:txBody>
      </p:sp>
      <p:sp>
        <p:nvSpPr>
          <p:cNvPr id="11" name="srch"/>
          <p:cNvSpPr/>
          <p:nvPr/>
        </p:nvSpPr>
        <p:spPr>
          <a:xfrm>
            <a:off x="4663440" y="1188720"/>
            <a:ext cx="4023360" cy="3429000"/>
          </a:xfrm>
          <a:prstGeom prst="roundRect">
            <a:avLst>
              <a:gd name="adj" fmla="val 2133"/>
            </a:avLst>
          </a:prstGeom>
          <a:solidFill>
            <a:schemeClr val="tx2"/>
          </a:solidFill>
          <a:ln w="12700">
            <a:solidFill>
              <a:schemeClr val="tx2"/>
            </a:solidFill>
            <a:prstDash val="solid"/>
          </a:ln>
        </p:spPr>
      </p:sp>
      <p:sp>
        <p:nvSpPr>
          <p:cNvPr id="12" name="sr-c"/>
          <p:cNvSpPr/>
          <p:nvPr/>
        </p:nvSpPr>
        <p:spPr>
          <a:xfrm>
            <a:off x="4846320" y="1325880"/>
            <a:ext cx="502920" cy="502920"/>
          </a:xfrm>
          <a:prstGeom prst="ellipse">
            <a:avLst/>
          </a:prstGeom>
          <a:solidFill>
            <a:schemeClr val="accent2"/>
          </a:solidFill>
          <a:ln w="12700">
            <a:solidFill>
              <a:schemeClr val="accent2"/>
            </a:solidFill>
            <a:prstDash val="solid"/>
          </a:ln>
        </p:spPr>
      </p:sp>
      <p:pic>
        <p:nvPicPr>
          <p:cNvPr id="13" name="sr-i" descr="preencoded.png">    </p:cNvPr>
          <p:cNvPicPr>
            <a:picLocks noChangeAspect="1"/>
          </p:cNvPicPr>
          <p:nvPr/>
        </p:nvPicPr>
        <p:blipFill>
          <a:blip r:embed="rId3"/>
          <a:stretch>
            <a:fillRect/>
          </a:stretch>
        </p:blipFill>
        <p:spPr>
          <a:xfrm>
            <a:off x="4977079" y="1456639"/>
            <a:ext cx="241402" cy="241402"/>
          </a:xfrm>
          <a:prstGeom prst="rect">
            <a:avLst/>
          </a:prstGeom>
        </p:spPr>
      </p:pic>
      <p:sp>
        <p:nvSpPr>
          <p:cNvPr id="14" name="Text 9"/>
          <p:cNvSpPr txBox="1"/>
          <p:nvPr/>
        </p:nvSpPr>
        <p:spPr>
          <a:xfrm>
            <a:off x="5440680" y="1371600"/>
            <a:ext cx="3108960" cy="411480"/>
          </a:xfrm>
          <a:prstGeom prst="rect">
            <a:avLst/>
          </a:prstGeom>
          <a:noFill/>
          <a:ln/>
        </p:spPr>
        <p:txBody>
          <a:bodyPr wrap="square" lIns="0" tIns="0" rIns="0" bIns="0" rtlCol="0" anchor="ctr"/>
          <a:lstStyle/>
          <a:p>
            <a:pPr indent="0" marL="0">
              <a:buNone/>
            </a:pPr>
            <a:r>
              <a:rPr lang="en-US" sz="1500" b="1" dirty="0">
                <a:solidFill>
                  <a:schemeClr val="bg1"/>
                </a:solidFill>
                <a:latin typeface="Georgia" pitchFamily="34" charset="0"/>
                <a:ea typeface="Georgia" pitchFamily="34" charset="-122"/>
                <a:cs typeface="Georgia" pitchFamily="34" charset="-120"/>
              </a:rPr>
              <a:t>SEARCH  ·  Progressive EA</a:t>
            </a:r>
            <a:endParaRPr lang="en-US" sz="1500" dirty="0"/>
          </a:p>
        </p:txBody>
      </p:sp>
      <p:sp>
        <p:nvSpPr>
          <p:cNvPr id="15" name="Text 10"/>
          <p:cNvSpPr txBox="1"/>
          <p:nvPr/>
        </p:nvSpPr>
        <p:spPr>
          <a:xfrm>
            <a:off x="4846320" y="1965960"/>
            <a:ext cx="640080" cy="365760"/>
          </a:xfrm>
          <a:prstGeom prst="rect">
            <a:avLst/>
          </a:prstGeom>
          <a:noFill/>
          <a:ln/>
        </p:spPr>
        <p:txBody>
          <a:bodyPr wrap="square" lIns="0" tIns="0" rIns="0" bIns="0" rtlCol="0" anchor="ctr"/>
          <a:lstStyle/>
          <a:p>
            <a:pPr indent="0" marL="0">
              <a:buNone/>
            </a:pPr>
            <a:r>
              <a:rPr lang="en-US" sz="900" dirty="0">
                <a:solidFill>
                  <a:schemeClr val="accent5"/>
                </a:solidFill>
                <a:latin typeface="Calibri" pitchFamily="34" charset="0"/>
                <a:ea typeface="Calibri" pitchFamily="34" charset="-122"/>
                <a:cs typeface="Calibri" pitchFamily="34" charset="-120"/>
              </a:rPr>
              <a:t>early</a:t>
            </a:r>
            <a:endParaRPr lang="en-US" sz="900" dirty="0"/>
          </a:p>
        </p:txBody>
      </p:sp>
      <p:sp>
        <p:nvSpPr>
          <p:cNvPr id="16" name="ps00"/>
          <p:cNvSpPr/>
          <p:nvPr/>
        </p:nvSpPr>
        <p:spPr>
          <a:xfrm>
            <a:off x="5532120" y="2002536"/>
            <a:ext cx="256032" cy="292608"/>
          </a:xfrm>
          <a:prstGeom prst="rect">
            <a:avLst/>
          </a:prstGeom>
          <a:solidFill>
            <a:schemeClr val="accent1"/>
          </a:solidFill>
          <a:ln w="12700">
            <a:solidFill>
              <a:schemeClr val="accent1"/>
            </a:solidFill>
            <a:prstDash val="solid"/>
          </a:ln>
        </p:spPr>
      </p:sp>
      <p:sp>
        <p:nvSpPr>
          <p:cNvPr id="17" name="ps01"/>
          <p:cNvSpPr/>
          <p:nvPr/>
        </p:nvSpPr>
        <p:spPr>
          <a:xfrm>
            <a:off x="5824728" y="2002536"/>
            <a:ext cx="256032" cy="292608"/>
          </a:xfrm>
          <a:prstGeom prst="rect">
            <a:avLst/>
          </a:prstGeom>
          <a:solidFill>
            <a:schemeClr val="accent1"/>
          </a:solidFill>
          <a:ln w="12700">
            <a:solidFill>
              <a:schemeClr val="accent1"/>
            </a:solidFill>
            <a:prstDash val="solid"/>
          </a:ln>
        </p:spPr>
      </p:sp>
      <p:sp>
        <p:nvSpPr>
          <p:cNvPr id="18" name="ps02"/>
          <p:cNvSpPr/>
          <p:nvPr/>
        </p:nvSpPr>
        <p:spPr>
          <a:xfrm>
            <a:off x="6117336" y="2002536"/>
            <a:ext cx="256032" cy="292608"/>
          </a:xfrm>
          <a:prstGeom prst="rect">
            <a:avLst/>
          </a:prstGeom>
          <a:solidFill>
            <a:schemeClr val="accent1"/>
          </a:solidFill>
          <a:ln w="12700">
            <a:solidFill>
              <a:schemeClr val="accent1"/>
            </a:solidFill>
            <a:prstDash val="solid"/>
          </a:ln>
        </p:spPr>
      </p:sp>
      <p:sp>
        <p:nvSpPr>
          <p:cNvPr id="19" name="ps03"/>
          <p:cNvSpPr/>
          <p:nvPr/>
        </p:nvSpPr>
        <p:spPr>
          <a:xfrm>
            <a:off x="6409944" y="2002536"/>
            <a:ext cx="256032" cy="292608"/>
          </a:xfrm>
          <a:prstGeom prst="rect">
            <a:avLst/>
          </a:prstGeom>
          <a:solidFill>
            <a:srgbClr val="34466E"/>
          </a:solidFill>
          <a:ln w="12700">
            <a:solidFill>
              <a:srgbClr val="34466E"/>
            </a:solidFill>
            <a:prstDash val="solid"/>
          </a:ln>
        </p:spPr>
      </p:sp>
      <p:sp>
        <p:nvSpPr>
          <p:cNvPr id="20" name="ps04"/>
          <p:cNvSpPr/>
          <p:nvPr/>
        </p:nvSpPr>
        <p:spPr>
          <a:xfrm>
            <a:off x="6702552" y="2002536"/>
            <a:ext cx="256032" cy="292608"/>
          </a:xfrm>
          <a:prstGeom prst="rect">
            <a:avLst/>
          </a:prstGeom>
          <a:solidFill>
            <a:srgbClr val="34466E"/>
          </a:solidFill>
          <a:ln w="12700">
            <a:solidFill>
              <a:srgbClr val="34466E"/>
            </a:solidFill>
            <a:prstDash val="solid"/>
          </a:ln>
        </p:spPr>
      </p:sp>
      <p:sp>
        <p:nvSpPr>
          <p:cNvPr id="21" name="ps05"/>
          <p:cNvSpPr/>
          <p:nvPr/>
        </p:nvSpPr>
        <p:spPr>
          <a:xfrm>
            <a:off x="6995160" y="2002536"/>
            <a:ext cx="256032" cy="292608"/>
          </a:xfrm>
          <a:prstGeom prst="rect">
            <a:avLst/>
          </a:prstGeom>
          <a:solidFill>
            <a:srgbClr val="34466E"/>
          </a:solidFill>
          <a:ln w="12700">
            <a:solidFill>
              <a:srgbClr val="34466E"/>
            </a:solidFill>
            <a:prstDash val="solid"/>
          </a:ln>
        </p:spPr>
      </p:sp>
      <p:sp>
        <p:nvSpPr>
          <p:cNvPr id="22" name="ps06"/>
          <p:cNvSpPr/>
          <p:nvPr/>
        </p:nvSpPr>
        <p:spPr>
          <a:xfrm>
            <a:off x="7287768" y="2002536"/>
            <a:ext cx="256032" cy="292608"/>
          </a:xfrm>
          <a:prstGeom prst="rect">
            <a:avLst/>
          </a:prstGeom>
          <a:solidFill>
            <a:srgbClr val="34466E"/>
          </a:solidFill>
          <a:ln w="12700">
            <a:solidFill>
              <a:srgbClr val="34466E"/>
            </a:solidFill>
            <a:prstDash val="solid"/>
          </a:ln>
        </p:spPr>
      </p:sp>
      <p:sp>
        <p:nvSpPr>
          <p:cNvPr id="23" name="ps07"/>
          <p:cNvSpPr/>
          <p:nvPr/>
        </p:nvSpPr>
        <p:spPr>
          <a:xfrm>
            <a:off x="7580376" y="2002536"/>
            <a:ext cx="256032" cy="292608"/>
          </a:xfrm>
          <a:prstGeom prst="rect">
            <a:avLst/>
          </a:prstGeom>
          <a:solidFill>
            <a:srgbClr val="34466E"/>
          </a:solidFill>
          <a:ln w="12700">
            <a:solidFill>
              <a:srgbClr val="34466E"/>
            </a:solidFill>
            <a:prstDash val="solid"/>
          </a:ln>
        </p:spPr>
      </p:sp>
      <p:sp>
        <p:nvSpPr>
          <p:cNvPr id="24" name="ps08"/>
          <p:cNvSpPr/>
          <p:nvPr/>
        </p:nvSpPr>
        <p:spPr>
          <a:xfrm>
            <a:off x="7872984" y="2002536"/>
            <a:ext cx="256032" cy="292608"/>
          </a:xfrm>
          <a:prstGeom prst="rect">
            <a:avLst/>
          </a:prstGeom>
          <a:solidFill>
            <a:srgbClr val="34466E"/>
          </a:solidFill>
          <a:ln w="12700">
            <a:solidFill>
              <a:srgbClr val="34466E"/>
            </a:solidFill>
            <a:prstDash val="solid"/>
          </a:ln>
        </p:spPr>
      </p:sp>
      <p:sp>
        <p:nvSpPr>
          <p:cNvPr id="25" name="ps09"/>
          <p:cNvSpPr/>
          <p:nvPr/>
        </p:nvSpPr>
        <p:spPr>
          <a:xfrm>
            <a:off x="8165592" y="2002536"/>
            <a:ext cx="256032" cy="292608"/>
          </a:xfrm>
          <a:prstGeom prst="rect">
            <a:avLst/>
          </a:prstGeom>
          <a:solidFill>
            <a:srgbClr val="34466E"/>
          </a:solidFill>
          <a:ln w="12700">
            <a:solidFill>
              <a:srgbClr val="34466E"/>
            </a:solidFill>
            <a:prstDash val="solid"/>
          </a:ln>
        </p:spPr>
      </p:sp>
      <p:sp>
        <p:nvSpPr>
          <p:cNvPr id="26" name="Text 21"/>
          <p:cNvSpPr txBox="1"/>
          <p:nvPr/>
        </p:nvSpPr>
        <p:spPr>
          <a:xfrm>
            <a:off x="4846320" y="2468880"/>
            <a:ext cx="640080" cy="365760"/>
          </a:xfrm>
          <a:prstGeom prst="rect">
            <a:avLst/>
          </a:prstGeom>
          <a:noFill/>
          <a:ln/>
        </p:spPr>
        <p:txBody>
          <a:bodyPr wrap="square" lIns="0" tIns="0" rIns="0" bIns="0" rtlCol="0" anchor="ctr"/>
          <a:lstStyle/>
          <a:p>
            <a:pPr indent="0" marL="0">
              <a:buNone/>
            </a:pPr>
            <a:r>
              <a:rPr lang="en-US" sz="900" dirty="0">
                <a:solidFill>
                  <a:schemeClr val="accent5"/>
                </a:solidFill>
                <a:latin typeface="Calibri" pitchFamily="34" charset="0"/>
                <a:ea typeface="Calibri" pitchFamily="34" charset="-122"/>
                <a:cs typeface="Calibri" pitchFamily="34" charset="-120"/>
              </a:rPr>
              <a:t>middle</a:t>
            </a:r>
            <a:endParaRPr lang="en-US" sz="900" dirty="0"/>
          </a:p>
        </p:txBody>
      </p:sp>
      <p:sp>
        <p:nvSpPr>
          <p:cNvPr id="27" name="ps10"/>
          <p:cNvSpPr/>
          <p:nvPr/>
        </p:nvSpPr>
        <p:spPr>
          <a:xfrm>
            <a:off x="5532120" y="2505456"/>
            <a:ext cx="256032" cy="292608"/>
          </a:xfrm>
          <a:prstGeom prst="rect">
            <a:avLst/>
          </a:prstGeom>
          <a:solidFill>
            <a:schemeClr val="accent1"/>
          </a:solidFill>
          <a:ln w="12700">
            <a:solidFill>
              <a:schemeClr val="accent1"/>
            </a:solidFill>
            <a:prstDash val="solid"/>
          </a:ln>
        </p:spPr>
      </p:sp>
      <p:sp>
        <p:nvSpPr>
          <p:cNvPr id="28" name="ps11"/>
          <p:cNvSpPr/>
          <p:nvPr/>
        </p:nvSpPr>
        <p:spPr>
          <a:xfrm>
            <a:off x="5824728" y="2505456"/>
            <a:ext cx="256032" cy="292608"/>
          </a:xfrm>
          <a:prstGeom prst="rect">
            <a:avLst/>
          </a:prstGeom>
          <a:solidFill>
            <a:schemeClr val="accent1"/>
          </a:solidFill>
          <a:ln w="12700">
            <a:solidFill>
              <a:schemeClr val="accent1"/>
            </a:solidFill>
            <a:prstDash val="solid"/>
          </a:ln>
        </p:spPr>
      </p:sp>
      <p:sp>
        <p:nvSpPr>
          <p:cNvPr id="29" name="ps12"/>
          <p:cNvSpPr/>
          <p:nvPr/>
        </p:nvSpPr>
        <p:spPr>
          <a:xfrm>
            <a:off x="6117336" y="2505456"/>
            <a:ext cx="256032" cy="292608"/>
          </a:xfrm>
          <a:prstGeom prst="rect">
            <a:avLst/>
          </a:prstGeom>
          <a:solidFill>
            <a:schemeClr val="accent1"/>
          </a:solidFill>
          <a:ln w="12700">
            <a:solidFill>
              <a:schemeClr val="accent1"/>
            </a:solidFill>
            <a:prstDash val="solid"/>
          </a:ln>
        </p:spPr>
      </p:sp>
      <p:sp>
        <p:nvSpPr>
          <p:cNvPr id="30" name="ps13"/>
          <p:cNvSpPr/>
          <p:nvPr/>
        </p:nvSpPr>
        <p:spPr>
          <a:xfrm>
            <a:off x="6409944" y="2505456"/>
            <a:ext cx="256032" cy="292608"/>
          </a:xfrm>
          <a:prstGeom prst="rect">
            <a:avLst/>
          </a:prstGeom>
          <a:solidFill>
            <a:schemeClr val="accent1"/>
          </a:solidFill>
          <a:ln w="12700">
            <a:solidFill>
              <a:schemeClr val="accent1"/>
            </a:solidFill>
            <a:prstDash val="solid"/>
          </a:ln>
        </p:spPr>
      </p:sp>
      <p:sp>
        <p:nvSpPr>
          <p:cNvPr id="31" name="ps14"/>
          <p:cNvSpPr/>
          <p:nvPr/>
        </p:nvSpPr>
        <p:spPr>
          <a:xfrm>
            <a:off x="6702552" y="2505456"/>
            <a:ext cx="256032" cy="292608"/>
          </a:xfrm>
          <a:prstGeom prst="rect">
            <a:avLst/>
          </a:prstGeom>
          <a:solidFill>
            <a:schemeClr val="accent1"/>
          </a:solidFill>
          <a:ln w="12700">
            <a:solidFill>
              <a:schemeClr val="accent1"/>
            </a:solidFill>
            <a:prstDash val="solid"/>
          </a:ln>
        </p:spPr>
      </p:sp>
      <p:sp>
        <p:nvSpPr>
          <p:cNvPr id="32" name="ps15"/>
          <p:cNvSpPr/>
          <p:nvPr/>
        </p:nvSpPr>
        <p:spPr>
          <a:xfrm>
            <a:off x="6995160" y="2505456"/>
            <a:ext cx="256032" cy="292608"/>
          </a:xfrm>
          <a:prstGeom prst="rect">
            <a:avLst/>
          </a:prstGeom>
          <a:solidFill>
            <a:schemeClr val="accent1"/>
          </a:solidFill>
          <a:ln w="12700">
            <a:solidFill>
              <a:schemeClr val="accent1"/>
            </a:solidFill>
            <a:prstDash val="solid"/>
          </a:ln>
        </p:spPr>
      </p:sp>
      <p:sp>
        <p:nvSpPr>
          <p:cNvPr id="33" name="ps16"/>
          <p:cNvSpPr/>
          <p:nvPr/>
        </p:nvSpPr>
        <p:spPr>
          <a:xfrm>
            <a:off x="7287768" y="2505456"/>
            <a:ext cx="256032" cy="292608"/>
          </a:xfrm>
          <a:prstGeom prst="rect">
            <a:avLst/>
          </a:prstGeom>
          <a:solidFill>
            <a:srgbClr val="34466E"/>
          </a:solidFill>
          <a:ln w="12700">
            <a:solidFill>
              <a:srgbClr val="34466E"/>
            </a:solidFill>
            <a:prstDash val="solid"/>
          </a:ln>
        </p:spPr>
      </p:sp>
      <p:sp>
        <p:nvSpPr>
          <p:cNvPr id="34" name="ps17"/>
          <p:cNvSpPr/>
          <p:nvPr/>
        </p:nvSpPr>
        <p:spPr>
          <a:xfrm>
            <a:off x="7580376" y="2505456"/>
            <a:ext cx="256032" cy="292608"/>
          </a:xfrm>
          <a:prstGeom prst="rect">
            <a:avLst/>
          </a:prstGeom>
          <a:solidFill>
            <a:srgbClr val="34466E"/>
          </a:solidFill>
          <a:ln w="12700">
            <a:solidFill>
              <a:srgbClr val="34466E"/>
            </a:solidFill>
            <a:prstDash val="solid"/>
          </a:ln>
        </p:spPr>
      </p:sp>
      <p:sp>
        <p:nvSpPr>
          <p:cNvPr id="35" name="ps18"/>
          <p:cNvSpPr/>
          <p:nvPr/>
        </p:nvSpPr>
        <p:spPr>
          <a:xfrm>
            <a:off x="7872984" y="2505456"/>
            <a:ext cx="256032" cy="292608"/>
          </a:xfrm>
          <a:prstGeom prst="rect">
            <a:avLst/>
          </a:prstGeom>
          <a:solidFill>
            <a:srgbClr val="34466E"/>
          </a:solidFill>
          <a:ln w="12700">
            <a:solidFill>
              <a:srgbClr val="34466E"/>
            </a:solidFill>
            <a:prstDash val="solid"/>
          </a:ln>
        </p:spPr>
      </p:sp>
      <p:sp>
        <p:nvSpPr>
          <p:cNvPr id="36" name="ps19"/>
          <p:cNvSpPr/>
          <p:nvPr/>
        </p:nvSpPr>
        <p:spPr>
          <a:xfrm>
            <a:off x="8165592" y="2505456"/>
            <a:ext cx="256032" cy="292608"/>
          </a:xfrm>
          <a:prstGeom prst="rect">
            <a:avLst/>
          </a:prstGeom>
          <a:solidFill>
            <a:srgbClr val="34466E"/>
          </a:solidFill>
          <a:ln w="12700">
            <a:solidFill>
              <a:srgbClr val="34466E"/>
            </a:solidFill>
            <a:prstDash val="solid"/>
          </a:ln>
        </p:spPr>
      </p:sp>
      <p:sp>
        <p:nvSpPr>
          <p:cNvPr id="37" name="Text 32"/>
          <p:cNvSpPr txBox="1"/>
          <p:nvPr/>
        </p:nvSpPr>
        <p:spPr>
          <a:xfrm>
            <a:off x="4846320" y="2971800"/>
            <a:ext cx="640080" cy="365760"/>
          </a:xfrm>
          <a:prstGeom prst="rect">
            <a:avLst/>
          </a:prstGeom>
          <a:noFill/>
          <a:ln/>
        </p:spPr>
        <p:txBody>
          <a:bodyPr wrap="square" lIns="0" tIns="0" rIns="0" bIns="0" rtlCol="0" anchor="ctr"/>
          <a:lstStyle/>
          <a:p>
            <a:pPr indent="0" marL="0">
              <a:buNone/>
            </a:pPr>
            <a:r>
              <a:rPr lang="en-US" sz="900" dirty="0">
                <a:solidFill>
                  <a:schemeClr val="accent5"/>
                </a:solidFill>
                <a:latin typeface="Calibri" pitchFamily="34" charset="0"/>
                <a:ea typeface="Calibri" pitchFamily="34" charset="-122"/>
                <a:cs typeface="Calibri" pitchFamily="34" charset="-120"/>
              </a:rPr>
              <a:t>final</a:t>
            </a:r>
            <a:endParaRPr lang="en-US" sz="900" dirty="0"/>
          </a:p>
        </p:txBody>
      </p:sp>
      <p:sp>
        <p:nvSpPr>
          <p:cNvPr id="38" name="ps20"/>
          <p:cNvSpPr/>
          <p:nvPr/>
        </p:nvSpPr>
        <p:spPr>
          <a:xfrm>
            <a:off x="5532120" y="3008376"/>
            <a:ext cx="256032" cy="292608"/>
          </a:xfrm>
          <a:prstGeom prst="rect">
            <a:avLst/>
          </a:prstGeom>
          <a:solidFill>
            <a:schemeClr val="accent1"/>
          </a:solidFill>
          <a:ln w="12700">
            <a:solidFill>
              <a:schemeClr val="accent1"/>
            </a:solidFill>
            <a:prstDash val="solid"/>
          </a:ln>
        </p:spPr>
      </p:sp>
      <p:sp>
        <p:nvSpPr>
          <p:cNvPr id="39" name="ps21"/>
          <p:cNvSpPr/>
          <p:nvPr/>
        </p:nvSpPr>
        <p:spPr>
          <a:xfrm>
            <a:off x="5824728" y="3008376"/>
            <a:ext cx="256032" cy="292608"/>
          </a:xfrm>
          <a:prstGeom prst="rect">
            <a:avLst/>
          </a:prstGeom>
          <a:solidFill>
            <a:schemeClr val="accent1"/>
          </a:solidFill>
          <a:ln w="12700">
            <a:solidFill>
              <a:schemeClr val="accent1"/>
            </a:solidFill>
            <a:prstDash val="solid"/>
          </a:ln>
        </p:spPr>
      </p:sp>
      <p:sp>
        <p:nvSpPr>
          <p:cNvPr id="40" name="ps22"/>
          <p:cNvSpPr/>
          <p:nvPr/>
        </p:nvSpPr>
        <p:spPr>
          <a:xfrm>
            <a:off x="6117336" y="3008376"/>
            <a:ext cx="256032" cy="292608"/>
          </a:xfrm>
          <a:prstGeom prst="rect">
            <a:avLst/>
          </a:prstGeom>
          <a:solidFill>
            <a:schemeClr val="accent1"/>
          </a:solidFill>
          <a:ln w="12700">
            <a:solidFill>
              <a:schemeClr val="accent1"/>
            </a:solidFill>
            <a:prstDash val="solid"/>
          </a:ln>
        </p:spPr>
      </p:sp>
      <p:sp>
        <p:nvSpPr>
          <p:cNvPr id="41" name="ps23"/>
          <p:cNvSpPr/>
          <p:nvPr/>
        </p:nvSpPr>
        <p:spPr>
          <a:xfrm>
            <a:off x="6409944" y="3008376"/>
            <a:ext cx="256032" cy="292608"/>
          </a:xfrm>
          <a:prstGeom prst="rect">
            <a:avLst/>
          </a:prstGeom>
          <a:solidFill>
            <a:schemeClr val="accent1"/>
          </a:solidFill>
          <a:ln w="12700">
            <a:solidFill>
              <a:schemeClr val="accent1"/>
            </a:solidFill>
            <a:prstDash val="solid"/>
          </a:ln>
        </p:spPr>
      </p:sp>
      <p:sp>
        <p:nvSpPr>
          <p:cNvPr id="42" name="ps24"/>
          <p:cNvSpPr/>
          <p:nvPr/>
        </p:nvSpPr>
        <p:spPr>
          <a:xfrm>
            <a:off x="6702552" y="3008376"/>
            <a:ext cx="256032" cy="292608"/>
          </a:xfrm>
          <a:prstGeom prst="rect">
            <a:avLst/>
          </a:prstGeom>
          <a:solidFill>
            <a:schemeClr val="accent1"/>
          </a:solidFill>
          <a:ln w="12700">
            <a:solidFill>
              <a:schemeClr val="accent1"/>
            </a:solidFill>
            <a:prstDash val="solid"/>
          </a:ln>
        </p:spPr>
      </p:sp>
      <p:sp>
        <p:nvSpPr>
          <p:cNvPr id="43" name="ps25"/>
          <p:cNvSpPr/>
          <p:nvPr/>
        </p:nvSpPr>
        <p:spPr>
          <a:xfrm>
            <a:off x="6995160" y="3008376"/>
            <a:ext cx="256032" cy="292608"/>
          </a:xfrm>
          <a:prstGeom prst="rect">
            <a:avLst/>
          </a:prstGeom>
          <a:solidFill>
            <a:schemeClr val="accent1"/>
          </a:solidFill>
          <a:ln w="12700">
            <a:solidFill>
              <a:schemeClr val="accent1"/>
            </a:solidFill>
            <a:prstDash val="solid"/>
          </a:ln>
        </p:spPr>
      </p:sp>
      <p:sp>
        <p:nvSpPr>
          <p:cNvPr id="44" name="ps26"/>
          <p:cNvSpPr/>
          <p:nvPr/>
        </p:nvSpPr>
        <p:spPr>
          <a:xfrm>
            <a:off x="7287768" y="3008376"/>
            <a:ext cx="256032" cy="292608"/>
          </a:xfrm>
          <a:prstGeom prst="rect">
            <a:avLst/>
          </a:prstGeom>
          <a:solidFill>
            <a:schemeClr val="accent1"/>
          </a:solidFill>
          <a:ln w="12700">
            <a:solidFill>
              <a:schemeClr val="accent1"/>
            </a:solidFill>
            <a:prstDash val="solid"/>
          </a:ln>
        </p:spPr>
      </p:sp>
      <p:sp>
        <p:nvSpPr>
          <p:cNvPr id="45" name="ps27"/>
          <p:cNvSpPr/>
          <p:nvPr/>
        </p:nvSpPr>
        <p:spPr>
          <a:xfrm>
            <a:off x="7580376" y="3008376"/>
            <a:ext cx="256032" cy="292608"/>
          </a:xfrm>
          <a:prstGeom prst="rect">
            <a:avLst/>
          </a:prstGeom>
          <a:solidFill>
            <a:schemeClr val="accent1"/>
          </a:solidFill>
          <a:ln w="12700">
            <a:solidFill>
              <a:schemeClr val="accent1"/>
            </a:solidFill>
            <a:prstDash val="solid"/>
          </a:ln>
        </p:spPr>
      </p:sp>
      <p:sp>
        <p:nvSpPr>
          <p:cNvPr id="46" name="ps28"/>
          <p:cNvSpPr/>
          <p:nvPr/>
        </p:nvSpPr>
        <p:spPr>
          <a:xfrm>
            <a:off x="7872984" y="3008376"/>
            <a:ext cx="256032" cy="292608"/>
          </a:xfrm>
          <a:prstGeom prst="rect">
            <a:avLst/>
          </a:prstGeom>
          <a:solidFill>
            <a:schemeClr val="accent1"/>
          </a:solidFill>
          <a:ln w="12700">
            <a:solidFill>
              <a:schemeClr val="accent1"/>
            </a:solidFill>
            <a:prstDash val="solid"/>
          </a:ln>
        </p:spPr>
      </p:sp>
      <p:sp>
        <p:nvSpPr>
          <p:cNvPr id="47" name="ps29"/>
          <p:cNvSpPr/>
          <p:nvPr/>
        </p:nvSpPr>
        <p:spPr>
          <a:xfrm>
            <a:off x="8165592" y="3008376"/>
            <a:ext cx="256032" cy="292608"/>
          </a:xfrm>
          <a:prstGeom prst="rect">
            <a:avLst/>
          </a:prstGeom>
          <a:solidFill>
            <a:schemeClr val="accent1"/>
          </a:solidFill>
          <a:ln w="12700">
            <a:solidFill>
              <a:schemeClr val="accent1"/>
            </a:solidFill>
            <a:prstDash val="solid"/>
          </a:ln>
        </p:spPr>
      </p:sp>
      <p:sp>
        <p:nvSpPr>
          <p:cNvPr id="48" name="Text 43"/>
          <p:cNvSpPr txBox="1"/>
          <p:nvPr/>
        </p:nvSpPr>
        <p:spPr>
          <a:xfrm>
            <a:off x="4846320" y="3520440"/>
            <a:ext cx="3657600" cy="548640"/>
          </a:xfrm>
          <a:prstGeom prst="rect">
            <a:avLst/>
          </a:prstGeom>
          <a:noFill/>
          <a:ln/>
        </p:spPr>
        <p:txBody>
          <a:bodyPr wrap="square" lIns="0" tIns="0" rIns="0" bIns="0" rtlCol="0" anchor="t"/>
          <a:lstStyle/>
          <a:p>
            <a:pPr indent="0" marL="0">
              <a:buNone/>
            </a:pPr>
            <a:r>
              <a:rPr lang="en-US" sz="1200" dirty="0">
                <a:solidFill>
                  <a:schemeClr val="bg1"/>
                </a:solidFill>
                <a:latin typeface="Calibri" pitchFamily="34" charset="0"/>
                <a:ea typeface="Calibri" pitchFamily="34" charset="-122"/>
                <a:cs typeface="Calibri" pitchFamily="34" charset="-120"/>
              </a:rPr>
              <a:t>Locks in good columns one by one instead of guessing all 20 genes at once.</a:t>
            </a:r>
            <a:endParaRPr lang="en-US" sz="1200" dirty="0"/>
          </a:p>
        </p:txBody>
      </p:sp>
      <p:sp>
        <p:nvSpPr>
          <p:cNvPr id="49" name="Text 44"/>
          <p:cNvSpPr txBox="1"/>
          <p:nvPr/>
        </p:nvSpPr>
        <p:spPr>
          <a:xfrm>
            <a:off x="4846320" y="4114800"/>
            <a:ext cx="3657600" cy="365760"/>
          </a:xfrm>
          <a:prstGeom prst="rect">
            <a:avLst/>
          </a:prstGeom>
          <a:noFill/>
          <a:ln/>
        </p:spPr>
        <p:txBody>
          <a:bodyPr wrap="square" lIns="0" tIns="0" rIns="0" bIns="0" rtlCol="0" anchor="t"/>
          <a:lstStyle/>
          <a:p>
            <a:pPr indent="0" marL="0">
              <a:buNone/>
            </a:pPr>
            <a:r>
              <a:rPr lang="en-US" sz="1050" b="1" dirty="0">
                <a:solidFill>
                  <a:schemeClr val="accent3"/>
                </a:solidFill>
                <a:latin typeface="Calibri" pitchFamily="34" charset="0"/>
                <a:ea typeface="Calibri" pitchFamily="34" charset="-122"/>
                <a:cs typeface="Calibri" pitchFamily="34" charset="-120"/>
              </a:rPr>
              <a:t>Repo: </a:t>
            </a:r>
            <a:pPr indent="0" marL="0">
              <a:buNone/>
            </a:pPr>
            <a:r>
              <a:rPr lang="en-US" sz="1050" dirty="0">
                <a:solidFill>
                  <a:schemeClr val="accent5"/>
                </a:solidFill>
                <a:latin typeface="Calibri" pitchFamily="34" charset="0"/>
                <a:ea typeface="Calibri" pitchFamily="34" charset="-122"/>
                <a:cs typeface="Calibri" pitchFamily="34" charset="-120"/>
              </a:rPr>
              <a:t>target read as a numeric curve from target_test.csv</a:t>
            </a:r>
            <a:endParaRPr lang="en-US" sz="1050" dirty="0"/>
          </a:p>
        </p:txBody>
      </p:sp>
      <p:sp>
        <p:nvSpPr>
          <p:cNvPr id="50" name="Text 45"/>
          <p:cNvSpPr txBox="1"/>
          <p:nvPr/>
        </p:nvSpPr>
        <p:spPr>
          <a:xfrm>
            <a:off x="457200" y="4818888"/>
            <a:ext cx="7498080" cy="201168"/>
          </a:xfrm>
          <a:prstGeom prst="rect">
            <a:avLst/>
          </a:prstGeom>
          <a:noFill/>
          <a:ln/>
        </p:spPr>
        <p:txBody>
          <a:bodyPr wrap="square" lIns="0" tIns="0" rIns="0" bIns="0" rtlCol="0" anchor="t"/>
          <a:lstStyle/>
          <a:p>
            <a:pPr indent="0" marL="0">
              <a:buNone/>
            </a:pPr>
            <a:r>
              <a:rPr lang="en-US" sz="800" dirty="0">
                <a:solidFill>
                  <a:schemeClr val="accent4"/>
                </a:solidFill>
                <a:latin typeface="Calibri" pitchFamily="34" charset="0"/>
                <a:ea typeface="Calibri" pitchFamily="34" charset="-122"/>
                <a:cs typeface="Calibri" pitchFamily="34" charset="-120"/>
              </a:rPr>
              <a:t>Wang et al. 2025, Fig. 3 and PEA description [1]; repository PEA_for_reverse_design.py [6]. Column-locking graphic is schematic.</a:t>
            </a:r>
            <a:endParaRPr lang="en-US" sz="8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5B6B82"/>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2" type="body" hasCustomPrompt="1"/>
          </p:nvPr>
        </p:nvSpPr>
        <p:spPr>
          <a:xfrm>
            <a:off x="457200" y="256032"/>
            <a:ext cx="7315200" cy="228600"/>
          </a:xfrm>
          <a:prstGeom prst="rect">
            <a:avLst/>
          </a:prstGeom>
          <a:noFill/>
          <a:ln/>
        </p:spPr>
        <p:txBody>
          <a:bodyPr wrap="square" lIns="0" tIns="0" rIns="0" bIns="0" rtlCol="0" anchor="ctr"/>
          <a:lstStyle/>
          <a:p>
            <a:pPr algn="l" indent="0" marL="0">
              <a:buNone/>
            </a:pPr>
            <a:r>
              <a:rPr lang="en-US" sz="1000" b="1" spc="200" kern="0" dirty="0">
                <a:solidFill>
                  <a:schemeClr val="accent1"/>
                </a:solidFill>
                <a:latin typeface="Calibri" pitchFamily="34" charset="0"/>
                <a:ea typeface="Calibri" pitchFamily="34" charset="-122"/>
                <a:cs typeface="Calibri" pitchFamily="34" charset="-120"/>
              </a:rPr>
              <a:t>WANG ET AL. (2025)</a:t>
            </a:r>
            <a:endParaRPr lang="en-US" sz="1000" dirty="0"/>
          </a:p>
        </p:txBody>
      </p:sp>
      <p:sp>
        <p:nvSpPr>
          <p:cNvPr id="3" name="Text 2"/>
          <p:cNvSpPr/>
          <p:nvPr>
            <p:ph idx="103" type="title" hasCustomPrompt="1"/>
          </p:nvPr>
        </p:nvSpPr>
        <p:spPr>
          <a:xfrm>
            <a:off x="457200" y="502920"/>
            <a:ext cx="8229600" cy="548640"/>
          </a:xfrm>
          <a:prstGeom prst="rect">
            <a:avLst/>
          </a:prstGeom>
          <a:noFill/>
          <a:ln/>
        </p:spPr>
        <p:txBody>
          <a:bodyPr wrap="square" lIns="0" tIns="0" rIns="0" bIns="0" rtlCol="0" anchor="ctr"/>
          <a:lstStyle/>
          <a:p>
            <a:pPr algn="l" indent="0" marL="0">
              <a:buNone/>
            </a:pPr>
            <a:r>
              <a:rPr lang="en-US" sz="2400" b="1" dirty="0">
                <a:solidFill>
                  <a:schemeClr val="tx2"/>
                </a:solidFill>
                <a:latin typeface="Georgia" pitchFamily="34" charset="0"/>
                <a:ea typeface="Georgia" pitchFamily="34" charset="-122"/>
                <a:cs typeface="Georgia" pitchFamily="34" charset="-120"/>
              </a:rPr>
              <a:t>Result: on target within three generations</a:t>
            </a:r>
            <a:endParaRPr lang="en-US" sz="2400" dirty="0"/>
          </a:p>
        </p:txBody>
      </p:sp>
      <p:pic>
        <p:nvPicPr>
          <p:cNvPr id="4" name="wr-h" descr="img/wang_h.png">    </p:cNvPr>
          <p:cNvPicPr>
            <a:picLocks noChangeAspect="1"/>
          </p:cNvPicPr>
          <p:nvPr/>
        </p:nvPicPr>
        <p:blipFill>
          <a:blip r:embed="rId1"/>
          <a:stretch>
            <a:fillRect/>
          </a:stretch>
        </p:blipFill>
        <p:spPr>
          <a:xfrm>
            <a:off x="457200" y="1188720"/>
            <a:ext cx="5120640" cy="1362456"/>
          </a:xfrm>
          <a:prstGeom prst="rect">
            <a:avLst/>
          </a:prstGeom>
        </p:spPr>
      </p:pic>
      <p:sp>
        <p:nvSpPr>
          <p:cNvPr id="5" name="Text 2"/>
          <p:cNvSpPr txBox="1"/>
          <p:nvPr/>
        </p:nvSpPr>
        <p:spPr>
          <a:xfrm>
            <a:off x="457200" y="2587752"/>
            <a:ext cx="5120640" cy="228600"/>
          </a:xfrm>
          <a:prstGeom prst="rect">
            <a:avLst/>
          </a:prstGeom>
          <a:noFill/>
          <a:ln/>
        </p:spPr>
        <p:txBody>
          <a:bodyPr wrap="square" lIns="0" tIns="0" rIns="0" bIns="0" rtlCol="0" anchor="t"/>
          <a:lstStyle/>
          <a:p>
            <a:pPr indent="0" marL="0">
              <a:buNone/>
            </a:pPr>
            <a:r>
              <a:rPr lang="en-US" sz="950" i="1" dirty="0">
                <a:solidFill>
                  <a:schemeClr val="accent4"/>
                </a:solidFill>
                <a:latin typeface="Calibri" pitchFamily="34" charset="0"/>
                <a:ea typeface="Calibri" pitchFamily="34" charset="-122"/>
                <a:cs typeface="Calibri" pitchFamily="34" charset="-120"/>
              </a:rPr>
              <a:t>Target (red) vs. predicted optimal shape (blue), generations 0 → 3</a:t>
            </a:r>
            <a:endParaRPr lang="en-US" sz="950" dirty="0"/>
          </a:p>
        </p:txBody>
      </p:sp>
      <p:graphicFrame>
        <p:nvGraphicFramePr>
          <p:cNvPr id="6" name="Chart 0" descr=""/>
          <p:cNvGraphicFramePr/>
          <p:nvPr/>
        </p:nvGraphicFramePr>
        <p:xfrm>
          <a:off x="457200" y="2880360"/>
          <a:ext cx="5120640" cy="1783080"/>
        </p:xfrm>
        <a:graphic xmlns:a="http://schemas.openxmlformats.org/drawingml/2006/main">
          <a:graphicData uri="http://schemas.openxmlformats.org/drawingml/2006/chart">
            <c:chart xmlns:c="http://schemas.openxmlformats.org/drawingml/2006/chart" r:id="rId2"/>
          </a:graphicData>
        </a:graphic>
      </p:graphicFrame>
      <p:sp>
        <p:nvSpPr>
          <p:cNvPr id="7" name="wr-big"/>
          <p:cNvSpPr/>
          <p:nvPr/>
        </p:nvSpPr>
        <p:spPr>
          <a:xfrm>
            <a:off x="5852160" y="1188720"/>
            <a:ext cx="2834640" cy="3429000"/>
          </a:xfrm>
          <a:prstGeom prst="roundRect">
            <a:avLst>
              <a:gd name="adj" fmla="val 2581"/>
            </a:avLst>
          </a:prstGeom>
          <a:solidFill>
            <a:schemeClr val="tx2"/>
          </a:solidFill>
          <a:ln w="12700">
            <a:solidFill>
              <a:schemeClr val="tx2"/>
            </a:solidFill>
            <a:prstDash val="solid"/>
          </a:ln>
        </p:spPr>
      </p:sp>
      <p:sp>
        <p:nvSpPr>
          <p:cNvPr id="8" name="Text 4"/>
          <p:cNvSpPr txBox="1"/>
          <p:nvPr/>
        </p:nvSpPr>
        <p:spPr>
          <a:xfrm>
            <a:off x="5989320" y="1463040"/>
            <a:ext cx="2560320" cy="822960"/>
          </a:xfrm>
          <a:prstGeom prst="rect">
            <a:avLst/>
          </a:prstGeom>
          <a:noFill/>
          <a:ln/>
        </p:spPr>
        <p:txBody>
          <a:bodyPr wrap="square" lIns="0" tIns="0" rIns="0" bIns="0" rtlCol="0" anchor="t"/>
          <a:lstStyle/>
          <a:p>
            <a:pPr algn="ctr" indent="0" marL="0">
              <a:buNone/>
            </a:pPr>
            <a:r>
              <a:rPr lang="en-US" sz="4400" b="1" dirty="0">
                <a:solidFill>
                  <a:schemeClr val="accent3"/>
                </a:solidFill>
                <a:latin typeface="Georgia" pitchFamily="34" charset="0"/>
                <a:ea typeface="Georgia" pitchFamily="34" charset="-122"/>
                <a:cs typeface="Georgia" pitchFamily="34" charset="-120"/>
              </a:rPr>
              <a:t>98.7%</a:t>
            </a:r>
            <a:endParaRPr lang="en-US" sz="4400" dirty="0"/>
          </a:p>
        </p:txBody>
      </p:sp>
      <p:sp>
        <p:nvSpPr>
          <p:cNvPr id="9" name="Text 5"/>
          <p:cNvSpPr txBox="1"/>
          <p:nvPr/>
        </p:nvSpPr>
        <p:spPr>
          <a:xfrm>
            <a:off x="6035040" y="2286000"/>
            <a:ext cx="2468880" cy="365760"/>
          </a:xfrm>
          <a:prstGeom prst="rect">
            <a:avLst/>
          </a:prstGeom>
          <a:noFill/>
          <a:ln/>
        </p:spPr>
        <p:txBody>
          <a:bodyPr wrap="square" lIns="0" tIns="0" rIns="0" bIns="0" rtlCol="0" anchor="t"/>
          <a:lstStyle/>
          <a:p>
            <a:pPr algn="ctr" indent="0" marL="0">
              <a:buNone/>
            </a:pPr>
            <a:r>
              <a:rPr lang="en-US" sz="1200" dirty="0">
                <a:solidFill>
                  <a:schemeClr val="bg1"/>
                </a:solidFill>
                <a:latin typeface="Calibri" pitchFamily="34" charset="0"/>
                <a:ea typeface="Calibri" pitchFamily="34" charset="-122"/>
                <a:cs typeface="Calibri" pitchFamily="34" charset="-120"/>
              </a:rPr>
              <a:t>accuracy with progressive search</a:t>
            </a:r>
            <a:endParaRPr lang="en-US" sz="1200" dirty="0"/>
          </a:p>
        </p:txBody>
      </p:sp>
      <p:sp>
        <p:nvSpPr>
          <p:cNvPr id="10" name="wr-l"/>
          <p:cNvSpPr/>
          <p:nvPr/>
        </p:nvSpPr>
        <p:spPr>
          <a:xfrm>
            <a:off x="6309360" y="2834640"/>
            <a:ext cx="1920240" cy="0"/>
          </a:xfrm>
          <a:prstGeom prst="line">
            <a:avLst/>
          </a:prstGeom>
          <a:noFill/>
          <a:ln w="12700">
            <a:solidFill>
              <a:srgbClr val="34466E"/>
            </a:solidFill>
            <a:prstDash val="solid"/>
          </a:ln>
        </p:spPr>
      </p:sp>
      <p:sp>
        <p:nvSpPr>
          <p:cNvPr id="11" name="Text 7"/>
          <p:cNvSpPr txBox="1"/>
          <p:nvPr/>
        </p:nvSpPr>
        <p:spPr>
          <a:xfrm>
            <a:off x="5989320" y="2971800"/>
            <a:ext cx="2560320" cy="502920"/>
          </a:xfrm>
          <a:prstGeom prst="rect">
            <a:avLst/>
          </a:prstGeom>
          <a:noFill/>
          <a:ln/>
        </p:spPr>
        <p:txBody>
          <a:bodyPr wrap="square" lIns="0" tIns="0" rIns="0" bIns="0" rtlCol="0" anchor="t"/>
          <a:lstStyle/>
          <a:p>
            <a:pPr algn="ctr" indent="0" marL="0">
              <a:buNone/>
            </a:pPr>
            <a:r>
              <a:rPr lang="en-US" sz="2400" b="1" dirty="0">
                <a:solidFill>
                  <a:schemeClr val="accent5"/>
                </a:solidFill>
                <a:latin typeface="Georgia" pitchFamily="34" charset="0"/>
                <a:ea typeface="Georgia" pitchFamily="34" charset="-122"/>
                <a:cs typeface="Georgia" pitchFamily="34" charset="-120"/>
              </a:rPr>
              <a:t>vs 87.65%</a:t>
            </a:r>
            <a:endParaRPr lang="en-US" sz="2400" dirty="0"/>
          </a:p>
        </p:txBody>
      </p:sp>
      <p:sp>
        <p:nvSpPr>
          <p:cNvPr id="12" name="Text 8"/>
          <p:cNvSpPr txBox="1"/>
          <p:nvPr/>
        </p:nvSpPr>
        <p:spPr>
          <a:xfrm>
            <a:off x="6035040" y="3474720"/>
            <a:ext cx="2468880" cy="457200"/>
          </a:xfrm>
          <a:prstGeom prst="rect">
            <a:avLst/>
          </a:prstGeom>
          <a:noFill/>
          <a:ln/>
        </p:spPr>
        <p:txBody>
          <a:bodyPr wrap="square" lIns="0" tIns="0" rIns="0" bIns="0" rtlCol="0" anchor="t"/>
          <a:lstStyle/>
          <a:p>
            <a:pPr algn="ctr" indent="0" marL="0">
              <a:buNone/>
            </a:pPr>
            <a:r>
              <a:rPr lang="en-US" sz="1200" dirty="0">
                <a:solidFill>
                  <a:schemeClr val="bg1"/>
                </a:solidFill>
                <a:latin typeface="Calibri" pitchFamily="34" charset="0"/>
                <a:ea typeface="Calibri" pitchFamily="34" charset="-122"/>
                <a:cs typeface="Calibri" pitchFamily="34" charset="-120"/>
              </a:rPr>
              <a:t>with a standard evolutionary algorithm</a:t>
            </a:r>
            <a:endParaRPr lang="en-US" sz="1200" dirty="0"/>
          </a:p>
        </p:txBody>
      </p:sp>
      <p:sp>
        <p:nvSpPr>
          <p:cNvPr id="13" name="Text 9"/>
          <p:cNvSpPr txBox="1"/>
          <p:nvPr/>
        </p:nvSpPr>
        <p:spPr>
          <a:xfrm>
            <a:off x="457200" y="4818888"/>
            <a:ext cx="7498080" cy="201168"/>
          </a:xfrm>
          <a:prstGeom prst="rect">
            <a:avLst/>
          </a:prstGeom>
          <a:noFill/>
          <a:ln/>
        </p:spPr>
        <p:txBody>
          <a:bodyPr wrap="square" lIns="0" tIns="0" rIns="0" bIns="0" rtlCol="0" anchor="t"/>
          <a:lstStyle/>
          <a:p>
            <a:pPr indent="0" marL="0">
              <a:buNone/>
            </a:pPr>
            <a:r>
              <a:rPr lang="en-US" sz="800" dirty="0">
                <a:solidFill>
                  <a:schemeClr val="accent4"/>
                </a:solidFill>
                <a:latin typeface="Calibri" pitchFamily="34" charset="0"/>
                <a:ea typeface="Calibri" pitchFamily="34" charset="-122"/>
                <a:cs typeface="Calibri" pitchFamily="34" charset="-120"/>
              </a:rPr>
              <a:t>Wang et al. 2025, PEA results figure, panels h–i [1]; bar chart recreated from the published table values.</a:t>
            </a:r>
            <a:endParaRPr lang="en-US" sz="8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5B6B82"/>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2" type="body" hasCustomPrompt="1"/>
          </p:nvPr>
        </p:nvSpPr>
        <p:spPr>
          <a:xfrm>
            <a:off x="457200" y="256032"/>
            <a:ext cx="7315200" cy="228600"/>
          </a:xfrm>
          <a:prstGeom prst="rect">
            <a:avLst/>
          </a:prstGeom>
          <a:noFill/>
          <a:ln/>
        </p:spPr>
        <p:txBody>
          <a:bodyPr wrap="square" lIns="0" tIns="0" rIns="0" bIns="0" rtlCol="0" anchor="ctr"/>
          <a:lstStyle/>
          <a:p>
            <a:pPr algn="l" indent="0" marL="0">
              <a:buNone/>
            </a:pPr>
            <a:r>
              <a:rPr lang="en-US" sz="1000" b="1" spc="200" kern="0" dirty="0">
                <a:solidFill>
                  <a:schemeClr val="accent1"/>
                </a:solidFill>
                <a:latin typeface="Calibri" pitchFamily="34" charset="0"/>
                <a:ea typeface="Calibri" pitchFamily="34" charset="-122"/>
                <a:cs typeface="Calibri" pitchFamily="34" charset="-120"/>
              </a:rPr>
              <a:t>JIN ET AL. (2024)</a:t>
            </a:r>
            <a:endParaRPr lang="en-US" sz="1000" dirty="0"/>
          </a:p>
        </p:txBody>
      </p:sp>
      <p:sp>
        <p:nvSpPr>
          <p:cNvPr id="3" name="Text 2"/>
          <p:cNvSpPr/>
          <p:nvPr>
            <p:ph idx="103" type="title" hasCustomPrompt="1"/>
          </p:nvPr>
        </p:nvSpPr>
        <p:spPr>
          <a:xfrm>
            <a:off x="457200" y="502920"/>
            <a:ext cx="8229600" cy="548640"/>
          </a:xfrm>
          <a:prstGeom prst="rect">
            <a:avLst/>
          </a:prstGeom>
          <a:noFill/>
          <a:ln/>
        </p:spPr>
        <p:txBody>
          <a:bodyPr wrap="square" lIns="0" tIns="0" rIns="0" bIns="0" rtlCol="0" anchor="ctr"/>
          <a:lstStyle/>
          <a:p>
            <a:pPr algn="l" indent="0" marL="0">
              <a:buNone/>
            </a:pPr>
            <a:r>
              <a:rPr lang="en-US" sz="2400" b="1" dirty="0">
                <a:solidFill>
                  <a:schemeClr val="tx2"/>
                </a:solidFill>
                <a:latin typeface="Georgia" pitchFamily="34" charset="0"/>
                <a:ea typeface="Georgia" pitchFamily="34" charset="-122"/>
                <a:cs typeface="Georgia" pitchFamily="34" charset="-120"/>
              </a:rPr>
              <a:t>Any outline: pad it into a grid</a:t>
            </a:r>
            <a:endParaRPr lang="en-US" sz="2400" dirty="0"/>
          </a:p>
        </p:txBody>
      </p:sp>
      <p:sp>
        <p:nvSpPr>
          <p:cNvPr id="4" name="g00"/>
          <p:cNvSpPr/>
          <p:nvPr/>
        </p:nvSpPr>
        <p:spPr>
          <a:xfrm>
            <a:off x="548640" y="1280160"/>
            <a:ext cx="457200" cy="457200"/>
          </a:xfrm>
          <a:prstGeom prst="rect">
            <a:avLst/>
          </a:prstGeom>
          <a:solidFill>
            <a:schemeClr val="bg2"/>
          </a:solidFill>
          <a:ln w="6350">
            <a:solidFill>
              <a:schemeClr val="accent6"/>
            </a:solidFill>
            <a:prstDash val="solid"/>
          </a:ln>
        </p:spPr>
      </p:sp>
      <p:sp>
        <p:nvSpPr>
          <p:cNvPr id="5" name="Text 3"/>
          <p:cNvSpPr txBox="1"/>
          <p:nvPr/>
        </p:nvSpPr>
        <p:spPr>
          <a:xfrm>
            <a:off x="548640" y="1280160"/>
            <a:ext cx="457200" cy="457200"/>
          </a:xfrm>
          <a:prstGeom prst="rect">
            <a:avLst/>
          </a:prstGeom>
          <a:noFill/>
          <a:ln/>
        </p:spPr>
        <p:txBody>
          <a:bodyPr wrap="square" lIns="0" tIns="0" rIns="0" bIns="0" rtlCol="0" anchor="ctr"/>
          <a:lstStyle/>
          <a:p>
            <a:pPr algn="ctr" indent="0" marL="0">
              <a:buNone/>
            </a:pPr>
            <a:r>
              <a:rPr lang="en-US" sz="1300" b="1" dirty="0">
                <a:solidFill>
                  <a:schemeClr val="accent4"/>
                </a:solidFill>
                <a:latin typeface="Calibri" pitchFamily="34" charset="0"/>
                <a:ea typeface="Calibri" pitchFamily="34" charset="-122"/>
                <a:cs typeface="Calibri" pitchFamily="34" charset="-120"/>
              </a:rPr>
              <a:t>0</a:t>
            </a:r>
            <a:endParaRPr lang="en-US" sz="1300" dirty="0"/>
          </a:p>
        </p:txBody>
      </p:sp>
      <p:sp>
        <p:nvSpPr>
          <p:cNvPr id="6" name="g01"/>
          <p:cNvSpPr/>
          <p:nvPr/>
        </p:nvSpPr>
        <p:spPr>
          <a:xfrm>
            <a:off x="1051560" y="1280160"/>
            <a:ext cx="457200" cy="457200"/>
          </a:xfrm>
          <a:prstGeom prst="rect">
            <a:avLst/>
          </a:prstGeom>
          <a:solidFill>
            <a:schemeClr val="bg2"/>
          </a:solidFill>
          <a:ln w="6350">
            <a:solidFill>
              <a:schemeClr val="accent6"/>
            </a:solidFill>
            <a:prstDash val="solid"/>
          </a:ln>
        </p:spPr>
      </p:sp>
      <p:sp>
        <p:nvSpPr>
          <p:cNvPr id="7" name="Text 5"/>
          <p:cNvSpPr txBox="1"/>
          <p:nvPr/>
        </p:nvSpPr>
        <p:spPr>
          <a:xfrm>
            <a:off x="1051560" y="1280160"/>
            <a:ext cx="457200" cy="457200"/>
          </a:xfrm>
          <a:prstGeom prst="rect">
            <a:avLst/>
          </a:prstGeom>
          <a:noFill/>
          <a:ln/>
        </p:spPr>
        <p:txBody>
          <a:bodyPr wrap="square" lIns="0" tIns="0" rIns="0" bIns="0" rtlCol="0" anchor="ctr"/>
          <a:lstStyle/>
          <a:p>
            <a:pPr algn="ctr" indent="0" marL="0">
              <a:buNone/>
            </a:pPr>
            <a:r>
              <a:rPr lang="en-US" sz="1300" b="1" dirty="0">
                <a:solidFill>
                  <a:schemeClr val="accent4"/>
                </a:solidFill>
                <a:latin typeface="Calibri" pitchFamily="34" charset="0"/>
                <a:ea typeface="Calibri" pitchFamily="34" charset="-122"/>
                <a:cs typeface="Calibri" pitchFamily="34" charset="-120"/>
              </a:rPr>
              <a:t>0</a:t>
            </a:r>
            <a:endParaRPr lang="en-US" sz="1300" dirty="0"/>
          </a:p>
        </p:txBody>
      </p:sp>
      <p:sp>
        <p:nvSpPr>
          <p:cNvPr id="8" name="g02"/>
          <p:cNvSpPr/>
          <p:nvPr/>
        </p:nvSpPr>
        <p:spPr>
          <a:xfrm>
            <a:off x="1554480" y="1280160"/>
            <a:ext cx="457200" cy="457200"/>
          </a:xfrm>
          <a:prstGeom prst="rect">
            <a:avLst/>
          </a:prstGeom>
          <a:solidFill>
            <a:schemeClr val="accent2"/>
          </a:solidFill>
          <a:ln w="6350">
            <a:solidFill>
              <a:schemeClr val="accent6"/>
            </a:solidFill>
            <a:prstDash val="solid"/>
          </a:ln>
        </p:spPr>
      </p:sp>
      <p:sp>
        <p:nvSpPr>
          <p:cNvPr id="9" name="Text 7"/>
          <p:cNvSpPr txBox="1"/>
          <p:nvPr/>
        </p:nvSpPr>
        <p:spPr>
          <a:xfrm>
            <a:off x="1554480" y="128016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2</a:t>
            </a:r>
            <a:endParaRPr lang="en-US" sz="1300" dirty="0"/>
          </a:p>
        </p:txBody>
      </p:sp>
      <p:sp>
        <p:nvSpPr>
          <p:cNvPr id="10" name="g03"/>
          <p:cNvSpPr/>
          <p:nvPr/>
        </p:nvSpPr>
        <p:spPr>
          <a:xfrm>
            <a:off x="2057400" y="1280160"/>
            <a:ext cx="457200" cy="457200"/>
          </a:xfrm>
          <a:prstGeom prst="rect">
            <a:avLst/>
          </a:prstGeom>
          <a:solidFill>
            <a:schemeClr val="accent2"/>
          </a:solidFill>
          <a:ln w="6350">
            <a:solidFill>
              <a:schemeClr val="accent6"/>
            </a:solidFill>
            <a:prstDash val="solid"/>
          </a:ln>
        </p:spPr>
      </p:sp>
      <p:sp>
        <p:nvSpPr>
          <p:cNvPr id="11" name="Text 9"/>
          <p:cNvSpPr txBox="1"/>
          <p:nvPr/>
        </p:nvSpPr>
        <p:spPr>
          <a:xfrm>
            <a:off x="2057400" y="128016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2</a:t>
            </a:r>
            <a:endParaRPr lang="en-US" sz="1300" dirty="0"/>
          </a:p>
        </p:txBody>
      </p:sp>
      <p:sp>
        <p:nvSpPr>
          <p:cNvPr id="12" name="g04"/>
          <p:cNvSpPr/>
          <p:nvPr/>
        </p:nvSpPr>
        <p:spPr>
          <a:xfrm>
            <a:off x="2560320" y="1280160"/>
            <a:ext cx="457200" cy="457200"/>
          </a:xfrm>
          <a:prstGeom prst="rect">
            <a:avLst/>
          </a:prstGeom>
          <a:solidFill>
            <a:schemeClr val="bg2"/>
          </a:solidFill>
          <a:ln w="6350">
            <a:solidFill>
              <a:schemeClr val="accent6"/>
            </a:solidFill>
            <a:prstDash val="solid"/>
          </a:ln>
        </p:spPr>
      </p:sp>
      <p:sp>
        <p:nvSpPr>
          <p:cNvPr id="13" name="Text 11"/>
          <p:cNvSpPr txBox="1"/>
          <p:nvPr/>
        </p:nvSpPr>
        <p:spPr>
          <a:xfrm>
            <a:off x="2560320" y="1280160"/>
            <a:ext cx="457200" cy="457200"/>
          </a:xfrm>
          <a:prstGeom prst="rect">
            <a:avLst/>
          </a:prstGeom>
          <a:noFill/>
          <a:ln/>
        </p:spPr>
        <p:txBody>
          <a:bodyPr wrap="square" lIns="0" tIns="0" rIns="0" bIns="0" rtlCol="0" anchor="ctr"/>
          <a:lstStyle/>
          <a:p>
            <a:pPr algn="ctr" indent="0" marL="0">
              <a:buNone/>
            </a:pPr>
            <a:r>
              <a:rPr lang="en-US" sz="1300" b="1" dirty="0">
                <a:solidFill>
                  <a:schemeClr val="accent4"/>
                </a:solidFill>
                <a:latin typeface="Calibri" pitchFamily="34" charset="0"/>
                <a:ea typeface="Calibri" pitchFamily="34" charset="-122"/>
                <a:cs typeface="Calibri" pitchFamily="34" charset="-120"/>
              </a:rPr>
              <a:t>0</a:t>
            </a:r>
            <a:endParaRPr lang="en-US" sz="1300" dirty="0"/>
          </a:p>
        </p:txBody>
      </p:sp>
      <p:sp>
        <p:nvSpPr>
          <p:cNvPr id="14" name="g05"/>
          <p:cNvSpPr/>
          <p:nvPr/>
        </p:nvSpPr>
        <p:spPr>
          <a:xfrm>
            <a:off x="3063240" y="1280160"/>
            <a:ext cx="457200" cy="457200"/>
          </a:xfrm>
          <a:prstGeom prst="rect">
            <a:avLst/>
          </a:prstGeom>
          <a:solidFill>
            <a:schemeClr val="bg2"/>
          </a:solidFill>
          <a:ln w="6350">
            <a:solidFill>
              <a:schemeClr val="accent6"/>
            </a:solidFill>
            <a:prstDash val="solid"/>
          </a:ln>
        </p:spPr>
      </p:sp>
      <p:sp>
        <p:nvSpPr>
          <p:cNvPr id="15" name="Text 13"/>
          <p:cNvSpPr txBox="1"/>
          <p:nvPr/>
        </p:nvSpPr>
        <p:spPr>
          <a:xfrm>
            <a:off x="3063240" y="1280160"/>
            <a:ext cx="457200" cy="457200"/>
          </a:xfrm>
          <a:prstGeom prst="rect">
            <a:avLst/>
          </a:prstGeom>
          <a:noFill/>
          <a:ln/>
        </p:spPr>
        <p:txBody>
          <a:bodyPr wrap="square" lIns="0" tIns="0" rIns="0" bIns="0" rtlCol="0" anchor="ctr"/>
          <a:lstStyle/>
          <a:p>
            <a:pPr algn="ctr" indent="0" marL="0">
              <a:buNone/>
            </a:pPr>
            <a:r>
              <a:rPr lang="en-US" sz="1300" b="1" dirty="0">
                <a:solidFill>
                  <a:schemeClr val="accent4"/>
                </a:solidFill>
                <a:latin typeface="Calibri" pitchFamily="34" charset="0"/>
                <a:ea typeface="Calibri" pitchFamily="34" charset="-122"/>
                <a:cs typeface="Calibri" pitchFamily="34" charset="-120"/>
              </a:rPr>
              <a:t>0</a:t>
            </a:r>
            <a:endParaRPr lang="en-US" sz="1300" dirty="0"/>
          </a:p>
        </p:txBody>
      </p:sp>
      <p:sp>
        <p:nvSpPr>
          <p:cNvPr id="16" name="g10"/>
          <p:cNvSpPr/>
          <p:nvPr/>
        </p:nvSpPr>
        <p:spPr>
          <a:xfrm>
            <a:off x="548640" y="1783080"/>
            <a:ext cx="457200" cy="457200"/>
          </a:xfrm>
          <a:prstGeom prst="rect">
            <a:avLst/>
          </a:prstGeom>
          <a:solidFill>
            <a:schemeClr val="bg2"/>
          </a:solidFill>
          <a:ln w="6350">
            <a:solidFill>
              <a:schemeClr val="accent6"/>
            </a:solidFill>
            <a:prstDash val="solid"/>
          </a:ln>
        </p:spPr>
      </p:sp>
      <p:sp>
        <p:nvSpPr>
          <p:cNvPr id="17" name="Text 15"/>
          <p:cNvSpPr txBox="1"/>
          <p:nvPr/>
        </p:nvSpPr>
        <p:spPr>
          <a:xfrm>
            <a:off x="548640" y="1783080"/>
            <a:ext cx="457200" cy="457200"/>
          </a:xfrm>
          <a:prstGeom prst="rect">
            <a:avLst/>
          </a:prstGeom>
          <a:noFill/>
          <a:ln/>
        </p:spPr>
        <p:txBody>
          <a:bodyPr wrap="square" lIns="0" tIns="0" rIns="0" bIns="0" rtlCol="0" anchor="ctr"/>
          <a:lstStyle/>
          <a:p>
            <a:pPr algn="ctr" indent="0" marL="0">
              <a:buNone/>
            </a:pPr>
            <a:r>
              <a:rPr lang="en-US" sz="1300" b="1" dirty="0">
                <a:solidFill>
                  <a:schemeClr val="accent4"/>
                </a:solidFill>
                <a:latin typeface="Calibri" pitchFamily="34" charset="0"/>
                <a:ea typeface="Calibri" pitchFamily="34" charset="-122"/>
                <a:cs typeface="Calibri" pitchFamily="34" charset="-120"/>
              </a:rPr>
              <a:t>0</a:t>
            </a:r>
            <a:endParaRPr lang="en-US" sz="1300" dirty="0"/>
          </a:p>
        </p:txBody>
      </p:sp>
      <p:sp>
        <p:nvSpPr>
          <p:cNvPr id="18" name="g11"/>
          <p:cNvSpPr/>
          <p:nvPr/>
        </p:nvSpPr>
        <p:spPr>
          <a:xfrm>
            <a:off x="1051560" y="1783080"/>
            <a:ext cx="457200" cy="457200"/>
          </a:xfrm>
          <a:prstGeom prst="rect">
            <a:avLst/>
          </a:prstGeom>
          <a:solidFill>
            <a:schemeClr val="accent2"/>
          </a:solidFill>
          <a:ln w="6350">
            <a:solidFill>
              <a:schemeClr val="accent6"/>
            </a:solidFill>
            <a:prstDash val="solid"/>
          </a:ln>
        </p:spPr>
      </p:sp>
      <p:sp>
        <p:nvSpPr>
          <p:cNvPr id="19" name="Text 17"/>
          <p:cNvSpPr txBox="1"/>
          <p:nvPr/>
        </p:nvSpPr>
        <p:spPr>
          <a:xfrm>
            <a:off x="1051560" y="178308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2</a:t>
            </a:r>
            <a:endParaRPr lang="en-US" sz="1300" dirty="0"/>
          </a:p>
        </p:txBody>
      </p:sp>
      <p:sp>
        <p:nvSpPr>
          <p:cNvPr id="20" name="g12"/>
          <p:cNvSpPr/>
          <p:nvPr/>
        </p:nvSpPr>
        <p:spPr>
          <a:xfrm>
            <a:off x="1554480" y="1783080"/>
            <a:ext cx="457200" cy="457200"/>
          </a:xfrm>
          <a:prstGeom prst="rect">
            <a:avLst/>
          </a:prstGeom>
          <a:solidFill>
            <a:schemeClr val="accent1"/>
          </a:solidFill>
          <a:ln w="6350">
            <a:solidFill>
              <a:schemeClr val="accent6"/>
            </a:solidFill>
            <a:prstDash val="solid"/>
          </a:ln>
        </p:spPr>
      </p:sp>
      <p:sp>
        <p:nvSpPr>
          <p:cNvPr id="21" name="Text 19"/>
          <p:cNvSpPr txBox="1"/>
          <p:nvPr/>
        </p:nvSpPr>
        <p:spPr>
          <a:xfrm>
            <a:off x="1554480" y="178308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1</a:t>
            </a:r>
            <a:endParaRPr lang="en-US" sz="1300" dirty="0"/>
          </a:p>
        </p:txBody>
      </p:sp>
      <p:sp>
        <p:nvSpPr>
          <p:cNvPr id="22" name="g13"/>
          <p:cNvSpPr/>
          <p:nvPr/>
        </p:nvSpPr>
        <p:spPr>
          <a:xfrm>
            <a:off x="2057400" y="1783080"/>
            <a:ext cx="457200" cy="457200"/>
          </a:xfrm>
          <a:prstGeom prst="rect">
            <a:avLst/>
          </a:prstGeom>
          <a:solidFill>
            <a:schemeClr val="accent1"/>
          </a:solidFill>
          <a:ln w="6350">
            <a:solidFill>
              <a:schemeClr val="accent6"/>
            </a:solidFill>
            <a:prstDash val="solid"/>
          </a:ln>
        </p:spPr>
      </p:sp>
      <p:sp>
        <p:nvSpPr>
          <p:cNvPr id="23" name="Text 21"/>
          <p:cNvSpPr txBox="1"/>
          <p:nvPr/>
        </p:nvSpPr>
        <p:spPr>
          <a:xfrm>
            <a:off x="2057400" y="178308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1</a:t>
            </a:r>
            <a:endParaRPr lang="en-US" sz="1300" dirty="0"/>
          </a:p>
        </p:txBody>
      </p:sp>
      <p:sp>
        <p:nvSpPr>
          <p:cNvPr id="24" name="g14"/>
          <p:cNvSpPr/>
          <p:nvPr/>
        </p:nvSpPr>
        <p:spPr>
          <a:xfrm>
            <a:off x="2560320" y="1783080"/>
            <a:ext cx="457200" cy="457200"/>
          </a:xfrm>
          <a:prstGeom prst="rect">
            <a:avLst/>
          </a:prstGeom>
          <a:solidFill>
            <a:schemeClr val="accent2"/>
          </a:solidFill>
          <a:ln w="6350">
            <a:solidFill>
              <a:schemeClr val="accent6"/>
            </a:solidFill>
            <a:prstDash val="solid"/>
          </a:ln>
        </p:spPr>
      </p:sp>
      <p:sp>
        <p:nvSpPr>
          <p:cNvPr id="25" name="Text 23"/>
          <p:cNvSpPr txBox="1"/>
          <p:nvPr/>
        </p:nvSpPr>
        <p:spPr>
          <a:xfrm>
            <a:off x="2560320" y="178308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2</a:t>
            </a:r>
            <a:endParaRPr lang="en-US" sz="1300" dirty="0"/>
          </a:p>
        </p:txBody>
      </p:sp>
      <p:sp>
        <p:nvSpPr>
          <p:cNvPr id="26" name="g15"/>
          <p:cNvSpPr/>
          <p:nvPr/>
        </p:nvSpPr>
        <p:spPr>
          <a:xfrm>
            <a:off x="3063240" y="1783080"/>
            <a:ext cx="457200" cy="457200"/>
          </a:xfrm>
          <a:prstGeom prst="rect">
            <a:avLst/>
          </a:prstGeom>
          <a:solidFill>
            <a:schemeClr val="bg2"/>
          </a:solidFill>
          <a:ln w="6350">
            <a:solidFill>
              <a:schemeClr val="accent6"/>
            </a:solidFill>
            <a:prstDash val="solid"/>
          </a:ln>
        </p:spPr>
      </p:sp>
      <p:sp>
        <p:nvSpPr>
          <p:cNvPr id="27" name="Text 25"/>
          <p:cNvSpPr txBox="1"/>
          <p:nvPr/>
        </p:nvSpPr>
        <p:spPr>
          <a:xfrm>
            <a:off x="3063240" y="1783080"/>
            <a:ext cx="457200" cy="457200"/>
          </a:xfrm>
          <a:prstGeom prst="rect">
            <a:avLst/>
          </a:prstGeom>
          <a:noFill/>
          <a:ln/>
        </p:spPr>
        <p:txBody>
          <a:bodyPr wrap="square" lIns="0" tIns="0" rIns="0" bIns="0" rtlCol="0" anchor="ctr"/>
          <a:lstStyle/>
          <a:p>
            <a:pPr algn="ctr" indent="0" marL="0">
              <a:buNone/>
            </a:pPr>
            <a:r>
              <a:rPr lang="en-US" sz="1300" b="1" dirty="0">
                <a:solidFill>
                  <a:schemeClr val="accent4"/>
                </a:solidFill>
                <a:latin typeface="Calibri" pitchFamily="34" charset="0"/>
                <a:ea typeface="Calibri" pitchFamily="34" charset="-122"/>
                <a:cs typeface="Calibri" pitchFamily="34" charset="-120"/>
              </a:rPr>
              <a:t>0</a:t>
            </a:r>
            <a:endParaRPr lang="en-US" sz="1300" dirty="0"/>
          </a:p>
        </p:txBody>
      </p:sp>
      <p:sp>
        <p:nvSpPr>
          <p:cNvPr id="28" name="g20"/>
          <p:cNvSpPr/>
          <p:nvPr/>
        </p:nvSpPr>
        <p:spPr>
          <a:xfrm>
            <a:off x="548640" y="2286000"/>
            <a:ext cx="457200" cy="457200"/>
          </a:xfrm>
          <a:prstGeom prst="rect">
            <a:avLst/>
          </a:prstGeom>
          <a:solidFill>
            <a:schemeClr val="accent2"/>
          </a:solidFill>
          <a:ln w="6350">
            <a:solidFill>
              <a:schemeClr val="accent6"/>
            </a:solidFill>
            <a:prstDash val="solid"/>
          </a:ln>
        </p:spPr>
      </p:sp>
      <p:sp>
        <p:nvSpPr>
          <p:cNvPr id="29" name="Text 27"/>
          <p:cNvSpPr txBox="1"/>
          <p:nvPr/>
        </p:nvSpPr>
        <p:spPr>
          <a:xfrm>
            <a:off x="548640" y="228600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2</a:t>
            </a:r>
            <a:endParaRPr lang="en-US" sz="1300" dirty="0"/>
          </a:p>
        </p:txBody>
      </p:sp>
      <p:sp>
        <p:nvSpPr>
          <p:cNvPr id="30" name="g21"/>
          <p:cNvSpPr/>
          <p:nvPr/>
        </p:nvSpPr>
        <p:spPr>
          <a:xfrm>
            <a:off x="1051560" y="2286000"/>
            <a:ext cx="457200" cy="457200"/>
          </a:xfrm>
          <a:prstGeom prst="rect">
            <a:avLst/>
          </a:prstGeom>
          <a:solidFill>
            <a:schemeClr val="accent1"/>
          </a:solidFill>
          <a:ln w="6350">
            <a:solidFill>
              <a:schemeClr val="accent6"/>
            </a:solidFill>
            <a:prstDash val="solid"/>
          </a:ln>
        </p:spPr>
      </p:sp>
      <p:sp>
        <p:nvSpPr>
          <p:cNvPr id="31" name="Text 29"/>
          <p:cNvSpPr txBox="1"/>
          <p:nvPr/>
        </p:nvSpPr>
        <p:spPr>
          <a:xfrm>
            <a:off x="1051560" y="228600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1</a:t>
            </a:r>
            <a:endParaRPr lang="en-US" sz="1300" dirty="0"/>
          </a:p>
        </p:txBody>
      </p:sp>
      <p:sp>
        <p:nvSpPr>
          <p:cNvPr id="32" name="g22"/>
          <p:cNvSpPr/>
          <p:nvPr/>
        </p:nvSpPr>
        <p:spPr>
          <a:xfrm>
            <a:off x="1554480" y="2286000"/>
            <a:ext cx="457200" cy="457200"/>
          </a:xfrm>
          <a:prstGeom prst="rect">
            <a:avLst/>
          </a:prstGeom>
          <a:solidFill>
            <a:schemeClr val="accent1"/>
          </a:solidFill>
          <a:ln w="6350">
            <a:solidFill>
              <a:schemeClr val="accent6"/>
            </a:solidFill>
            <a:prstDash val="solid"/>
          </a:ln>
        </p:spPr>
      </p:sp>
      <p:sp>
        <p:nvSpPr>
          <p:cNvPr id="33" name="Text 31"/>
          <p:cNvSpPr txBox="1"/>
          <p:nvPr/>
        </p:nvSpPr>
        <p:spPr>
          <a:xfrm>
            <a:off x="1554480" y="228600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1</a:t>
            </a:r>
            <a:endParaRPr lang="en-US" sz="1300" dirty="0"/>
          </a:p>
        </p:txBody>
      </p:sp>
      <p:sp>
        <p:nvSpPr>
          <p:cNvPr id="34" name="g23"/>
          <p:cNvSpPr/>
          <p:nvPr/>
        </p:nvSpPr>
        <p:spPr>
          <a:xfrm>
            <a:off x="2057400" y="2286000"/>
            <a:ext cx="457200" cy="457200"/>
          </a:xfrm>
          <a:prstGeom prst="rect">
            <a:avLst/>
          </a:prstGeom>
          <a:solidFill>
            <a:schemeClr val="accent2"/>
          </a:solidFill>
          <a:ln w="6350">
            <a:solidFill>
              <a:schemeClr val="accent6"/>
            </a:solidFill>
            <a:prstDash val="solid"/>
          </a:ln>
        </p:spPr>
      </p:sp>
      <p:sp>
        <p:nvSpPr>
          <p:cNvPr id="35" name="Text 33"/>
          <p:cNvSpPr txBox="1"/>
          <p:nvPr/>
        </p:nvSpPr>
        <p:spPr>
          <a:xfrm>
            <a:off x="2057400" y="228600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2</a:t>
            </a:r>
            <a:endParaRPr lang="en-US" sz="1300" dirty="0"/>
          </a:p>
        </p:txBody>
      </p:sp>
      <p:sp>
        <p:nvSpPr>
          <p:cNvPr id="36" name="g24"/>
          <p:cNvSpPr/>
          <p:nvPr/>
        </p:nvSpPr>
        <p:spPr>
          <a:xfrm>
            <a:off x="2560320" y="2286000"/>
            <a:ext cx="457200" cy="457200"/>
          </a:xfrm>
          <a:prstGeom prst="rect">
            <a:avLst/>
          </a:prstGeom>
          <a:solidFill>
            <a:schemeClr val="accent1"/>
          </a:solidFill>
          <a:ln w="6350">
            <a:solidFill>
              <a:schemeClr val="accent6"/>
            </a:solidFill>
            <a:prstDash val="solid"/>
          </a:ln>
        </p:spPr>
      </p:sp>
      <p:sp>
        <p:nvSpPr>
          <p:cNvPr id="37" name="Text 35"/>
          <p:cNvSpPr txBox="1"/>
          <p:nvPr/>
        </p:nvSpPr>
        <p:spPr>
          <a:xfrm>
            <a:off x="2560320" y="228600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1</a:t>
            </a:r>
            <a:endParaRPr lang="en-US" sz="1300" dirty="0"/>
          </a:p>
        </p:txBody>
      </p:sp>
      <p:sp>
        <p:nvSpPr>
          <p:cNvPr id="38" name="g25"/>
          <p:cNvSpPr/>
          <p:nvPr/>
        </p:nvSpPr>
        <p:spPr>
          <a:xfrm>
            <a:off x="3063240" y="2286000"/>
            <a:ext cx="457200" cy="457200"/>
          </a:xfrm>
          <a:prstGeom prst="rect">
            <a:avLst/>
          </a:prstGeom>
          <a:solidFill>
            <a:schemeClr val="accent2"/>
          </a:solidFill>
          <a:ln w="6350">
            <a:solidFill>
              <a:schemeClr val="accent6"/>
            </a:solidFill>
            <a:prstDash val="solid"/>
          </a:ln>
        </p:spPr>
      </p:sp>
      <p:sp>
        <p:nvSpPr>
          <p:cNvPr id="39" name="Text 37"/>
          <p:cNvSpPr txBox="1"/>
          <p:nvPr/>
        </p:nvSpPr>
        <p:spPr>
          <a:xfrm>
            <a:off x="3063240" y="228600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2</a:t>
            </a:r>
            <a:endParaRPr lang="en-US" sz="1300" dirty="0"/>
          </a:p>
        </p:txBody>
      </p:sp>
      <p:sp>
        <p:nvSpPr>
          <p:cNvPr id="40" name="g30"/>
          <p:cNvSpPr/>
          <p:nvPr/>
        </p:nvSpPr>
        <p:spPr>
          <a:xfrm>
            <a:off x="548640" y="2788920"/>
            <a:ext cx="457200" cy="457200"/>
          </a:xfrm>
          <a:prstGeom prst="rect">
            <a:avLst/>
          </a:prstGeom>
          <a:solidFill>
            <a:schemeClr val="bg2"/>
          </a:solidFill>
          <a:ln w="6350">
            <a:solidFill>
              <a:schemeClr val="accent6"/>
            </a:solidFill>
            <a:prstDash val="solid"/>
          </a:ln>
        </p:spPr>
      </p:sp>
      <p:sp>
        <p:nvSpPr>
          <p:cNvPr id="41" name="Text 39"/>
          <p:cNvSpPr txBox="1"/>
          <p:nvPr/>
        </p:nvSpPr>
        <p:spPr>
          <a:xfrm>
            <a:off x="548640" y="2788920"/>
            <a:ext cx="457200" cy="457200"/>
          </a:xfrm>
          <a:prstGeom prst="rect">
            <a:avLst/>
          </a:prstGeom>
          <a:noFill/>
          <a:ln/>
        </p:spPr>
        <p:txBody>
          <a:bodyPr wrap="square" lIns="0" tIns="0" rIns="0" bIns="0" rtlCol="0" anchor="ctr"/>
          <a:lstStyle/>
          <a:p>
            <a:pPr algn="ctr" indent="0" marL="0">
              <a:buNone/>
            </a:pPr>
            <a:r>
              <a:rPr lang="en-US" sz="1300" b="1" dirty="0">
                <a:solidFill>
                  <a:schemeClr val="accent4"/>
                </a:solidFill>
                <a:latin typeface="Calibri" pitchFamily="34" charset="0"/>
                <a:ea typeface="Calibri" pitchFamily="34" charset="-122"/>
                <a:cs typeface="Calibri" pitchFamily="34" charset="-120"/>
              </a:rPr>
              <a:t>0</a:t>
            </a:r>
            <a:endParaRPr lang="en-US" sz="1300" dirty="0"/>
          </a:p>
        </p:txBody>
      </p:sp>
      <p:sp>
        <p:nvSpPr>
          <p:cNvPr id="42" name="g31"/>
          <p:cNvSpPr/>
          <p:nvPr/>
        </p:nvSpPr>
        <p:spPr>
          <a:xfrm>
            <a:off x="1051560" y="2788920"/>
            <a:ext cx="457200" cy="457200"/>
          </a:xfrm>
          <a:prstGeom prst="rect">
            <a:avLst/>
          </a:prstGeom>
          <a:solidFill>
            <a:schemeClr val="accent1"/>
          </a:solidFill>
          <a:ln w="6350">
            <a:solidFill>
              <a:schemeClr val="accent6"/>
            </a:solidFill>
            <a:prstDash val="solid"/>
          </a:ln>
        </p:spPr>
      </p:sp>
      <p:sp>
        <p:nvSpPr>
          <p:cNvPr id="43" name="Text 41"/>
          <p:cNvSpPr txBox="1"/>
          <p:nvPr/>
        </p:nvSpPr>
        <p:spPr>
          <a:xfrm>
            <a:off x="1051560" y="278892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1</a:t>
            </a:r>
            <a:endParaRPr lang="en-US" sz="1300" dirty="0"/>
          </a:p>
        </p:txBody>
      </p:sp>
      <p:sp>
        <p:nvSpPr>
          <p:cNvPr id="44" name="g32"/>
          <p:cNvSpPr/>
          <p:nvPr/>
        </p:nvSpPr>
        <p:spPr>
          <a:xfrm>
            <a:off x="1554480" y="2788920"/>
            <a:ext cx="457200" cy="457200"/>
          </a:xfrm>
          <a:prstGeom prst="rect">
            <a:avLst/>
          </a:prstGeom>
          <a:solidFill>
            <a:schemeClr val="accent2"/>
          </a:solidFill>
          <a:ln w="6350">
            <a:solidFill>
              <a:schemeClr val="accent6"/>
            </a:solidFill>
            <a:prstDash val="solid"/>
          </a:ln>
        </p:spPr>
      </p:sp>
      <p:sp>
        <p:nvSpPr>
          <p:cNvPr id="45" name="Text 43"/>
          <p:cNvSpPr txBox="1"/>
          <p:nvPr/>
        </p:nvSpPr>
        <p:spPr>
          <a:xfrm>
            <a:off x="1554480" y="278892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2</a:t>
            </a:r>
            <a:endParaRPr lang="en-US" sz="1300" dirty="0"/>
          </a:p>
        </p:txBody>
      </p:sp>
      <p:sp>
        <p:nvSpPr>
          <p:cNvPr id="46" name="g33"/>
          <p:cNvSpPr/>
          <p:nvPr/>
        </p:nvSpPr>
        <p:spPr>
          <a:xfrm>
            <a:off x="2057400" y="2788920"/>
            <a:ext cx="457200" cy="457200"/>
          </a:xfrm>
          <a:prstGeom prst="rect">
            <a:avLst/>
          </a:prstGeom>
          <a:solidFill>
            <a:schemeClr val="accent2"/>
          </a:solidFill>
          <a:ln w="6350">
            <a:solidFill>
              <a:schemeClr val="accent6"/>
            </a:solidFill>
            <a:prstDash val="solid"/>
          </a:ln>
        </p:spPr>
      </p:sp>
      <p:sp>
        <p:nvSpPr>
          <p:cNvPr id="47" name="Text 45"/>
          <p:cNvSpPr txBox="1"/>
          <p:nvPr/>
        </p:nvSpPr>
        <p:spPr>
          <a:xfrm>
            <a:off x="2057400" y="278892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2</a:t>
            </a:r>
            <a:endParaRPr lang="en-US" sz="1300" dirty="0"/>
          </a:p>
        </p:txBody>
      </p:sp>
      <p:sp>
        <p:nvSpPr>
          <p:cNvPr id="48" name="g34"/>
          <p:cNvSpPr/>
          <p:nvPr/>
        </p:nvSpPr>
        <p:spPr>
          <a:xfrm>
            <a:off x="2560320" y="2788920"/>
            <a:ext cx="457200" cy="457200"/>
          </a:xfrm>
          <a:prstGeom prst="rect">
            <a:avLst/>
          </a:prstGeom>
          <a:solidFill>
            <a:schemeClr val="accent1"/>
          </a:solidFill>
          <a:ln w="6350">
            <a:solidFill>
              <a:schemeClr val="accent6"/>
            </a:solidFill>
            <a:prstDash val="solid"/>
          </a:ln>
        </p:spPr>
      </p:sp>
      <p:sp>
        <p:nvSpPr>
          <p:cNvPr id="49" name="Text 47"/>
          <p:cNvSpPr txBox="1"/>
          <p:nvPr/>
        </p:nvSpPr>
        <p:spPr>
          <a:xfrm>
            <a:off x="2560320" y="278892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1</a:t>
            </a:r>
            <a:endParaRPr lang="en-US" sz="1300" dirty="0"/>
          </a:p>
        </p:txBody>
      </p:sp>
      <p:sp>
        <p:nvSpPr>
          <p:cNvPr id="50" name="g35"/>
          <p:cNvSpPr/>
          <p:nvPr/>
        </p:nvSpPr>
        <p:spPr>
          <a:xfrm>
            <a:off x="3063240" y="2788920"/>
            <a:ext cx="457200" cy="457200"/>
          </a:xfrm>
          <a:prstGeom prst="rect">
            <a:avLst/>
          </a:prstGeom>
          <a:solidFill>
            <a:schemeClr val="bg2"/>
          </a:solidFill>
          <a:ln w="6350">
            <a:solidFill>
              <a:schemeClr val="accent6"/>
            </a:solidFill>
            <a:prstDash val="solid"/>
          </a:ln>
        </p:spPr>
      </p:sp>
      <p:sp>
        <p:nvSpPr>
          <p:cNvPr id="51" name="Text 49"/>
          <p:cNvSpPr txBox="1"/>
          <p:nvPr/>
        </p:nvSpPr>
        <p:spPr>
          <a:xfrm>
            <a:off x="3063240" y="2788920"/>
            <a:ext cx="457200" cy="457200"/>
          </a:xfrm>
          <a:prstGeom prst="rect">
            <a:avLst/>
          </a:prstGeom>
          <a:noFill/>
          <a:ln/>
        </p:spPr>
        <p:txBody>
          <a:bodyPr wrap="square" lIns="0" tIns="0" rIns="0" bIns="0" rtlCol="0" anchor="ctr"/>
          <a:lstStyle/>
          <a:p>
            <a:pPr algn="ctr" indent="0" marL="0">
              <a:buNone/>
            </a:pPr>
            <a:r>
              <a:rPr lang="en-US" sz="1300" b="1" dirty="0">
                <a:solidFill>
                  <a:schemeClr val="accent4"/>
                </a:solidFill>
                <a:latin typeface="Calibri" pitchFamily="34" charset="0"/>
                <a:ea typeface="Calibri" pitchFamily="34" charset="-122"/>
                <a:cs typeface="Calibri" pitchFamily="34" charset="-120"/>
              </a:rPr>
              <a:t>0</a:t>
            </a:r>
            <a:endParaRPr lang="en-US" sz="1300" dirty="0"/>
          </a:p>
        </p:txBody>
      </p:sp>
      <p:sp>
        <p:nvSpPr>
          <p:cNvPr id="52" name="Text 50"/>
          <p:cNvSpPr txBox="1"/>
          <p:nvPr/>
        </p:nvSpPr>
        <p:spPr>
          <a:xfrm>
            <a:off x="457200" y="3383280"/>
            <a:ext cx="3566160" cy="274320"/>
          </a:xfrm>
          <a:prstGeom prst="rect">
            <a:avLst/>
          </a:prstGeom>
          <a:noFill/>
          <a:ln/>
        </p:spPr>
        <p:txBody>
          <a:bodyPr wrap="square" lIns="0" tIns="0" rIns="0" bIns="0" rtlCol="0" anchor="t"/>
          <a:lstStyle/>
          <a:p>
            <a:pPr indent="0" marL="0">
              <a:buNone/>
            </a:pPr>
            <a:r>
              <a:rPr lang="en-US" sz="1100" b="1" dirty="0">
                <a:solidFill>
                  <a:schemeClr val="accent4"/>
                </a:solidFill>
                <a:latin typeface="Calibri" pitchFamily="34" charset="0"/>
                <a:ea typeface="Calibri" pitchFamily="34" charset="-122"/>
                <a:cs typeface="Calibri" pitchFamily="34" charset="-120"/>
              </a:rPr>
              <a:t>0 </a:t>
            </a:r>
            <a:pPr indent="0" marL="0">
              <a:buNone/>
            </a:pPr>
            <a:r>
              <a:rPr lang="en-US" sz="1100" dirty="0">
                <a:solidFill>
                  <a:schemeClr val="tx2"/>
                </a:solidFill>
                <a:latin typeface="Calibri" pitchFamily="34" charset="0"/>
                <a:ea typeface="Calibri" pitchFamily="34" charset="-122"/>
                <a:cs typeface="Calibri" pitchFamily="34" charset="-120"/>
              </a:rPr>
              <a:t>empty   </a:t>
            </a:r>
            <a:pPr indent="0" marL="0">
              <a:buNone/>
            </a:pPr>
            <a:r>
              <a:rPr lang="en-US" sz="1100" b="1" dirty="0">
                <a:solidFill>
                  <a:schemeClr val="accent1"/>
                </a:solidFill>
                <a:latin typeface="Calibri" pitchFamily="34" charset="0"/>
                <a:ea typeface="Calibri" pitchFamily="34" charset="-122"/>
                <a:cs typeface="Calibri" pitchFamily="34" charset="-120"/>
              </a:rPr>
              <a:t>1 </a:t>
            </a:r>
            <a:pPr indent="0" marL="0">
              <a:buNone/>
            </a:pPr>
            <a:r>
              <a:rPr lang="en-US" sz="1100" dirty="0">
                <a:solidFill>
                  <a:schemeClr val="tx2"/>
                </a:solidFill>
                <a:latin typeface="Calibri" pitchFamily="34" charset="0"/>
                <a:ea typeface="Calibri" pitchFamily="34" charset="-122"/>
                <a:cs typeface="Calibri" pitchFamily="34" charset="-120"/>
              </a:rPr>
              <a:t>passive (TPU)   </a:t>
            </a:r>
            <a:pPr indent="0" marL="0">
              <a:buNone/>
            </a:pPr>
            <a:r>
              <a:rPr lang="en-US" sz="1100" b="1" dirty="0">
                <a:solidFill>
                  <a:schemeClr val="accent2"/>
                </a:solidFill>
                <a:latin typeface="Calibri" pitchFamily="34" charset="0"/>
                <a:ea typeface="Calibri" pitchFamily="34" charset="-122"/>
                <a:cs typeface="Calibri" pitchFamily="34" charset="-120"/>
              </a:rPr>
              <a:t>2 </a:t>
            </a:r>
            <a:pPr indent="0" marL="0">
              <a:buNone/>
            </a:pPr>
            <a:r>
              <a:rPr lang="en-US" sz="1100" dirty="0">
                <a:solidFill>
                  <a:schemeClr val="tx2"/>
                </a:solidFill>
                <a:latin typeface="Calibri" pitchFamily="34" charset="0"/>
                <a:ea typeface="Calibri" pitchFamily="34" charset="-122"/>
                <a:cs typeface="Calibri" pitchFamily="34" charset="-120"/>
              </a:rPr>
              <a:t>active (SMP)</a:t>
            </a:r>
            <a:endParaRPr lang="en-US" sz="1100" dirty="0"/>
          </a:p>
        </p:txBody>
      </p:sp>
      <p:sp>
        <p:nvSpPr>
          <p:cNvPr id="53" name="Text 51"/>
          <p:cNvSpPr txBox="1"/>
          <p:nvPr/>
        </p:nvSpPr>
        <p:spPr>
          <a:xfrm>
            <a:off x="457200" y="3794760"/>
            <a:ext cx="3566160" cy="54864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Grid → ResNet (5 residual blocks) → predicted deformation</a:t>
            </a:r>
            <a:endParaRPr lang="en-US" sz="1200" dirty="0"/>
          </a:p>
        </p:txBody>
      </p:sp>
      <p:sp>
        <p:nvSpPr>
          <p:cNvPr id="54" name="Text 52"/>
          <p:cNvSpPr txBox="1"/>
          <p:nvPr/>
        </p:nvSpPr>
        <p:spPr>
          <a:xfrm>
            <a:off x="457200" y="4389120"/>
            <a:ext cx="3566160" cy="201168"/>
          </a:xfrm>
          <a:prstGeom prst="rect">
            <a:avLst/>
          </a:prstGeom>
          <a:noFill/>
          <a:ln/>
        </p:spPr>
        <p:txBody>
          <a:bodyPr wrap="square" lIns="0" tIns="0" rIns="0" bIns="0" rtlCol="0" anchor="t"/>
          <a:lstStyle/>
          <a:p>
            <a:pPr indent="0" marL="0">
              <a:buNone/>
            </a:pPr>
            <a:r>
              <a:rPr lang="en-US" sz="900" i="1" dirty="0">
                <a:solidFill>
                  <a:schemeClr val="accent4"/>
                </a:solidFill>
                <a:latin typeface="Calibri" pitchFamily="34" charset="0"/>
                <a:ea typeface="Calibri" pitchFamily="34" charset="-122"/>
                <a:cs typeface="Calibri" pitchFamily="34" charset="-120"/>
              </a:rPr>
              <a:t>Illustrative grid</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297680" y="1234440"/>
          <a:ext cx="4389120" cy="914400"/>
        </p:xfrm>
        <a:graphic>
          <a:graphicData uri="http://schemas.openxmlformats.org/drawingml/2006/table">
            <a:tbl>
              <a:tblPr/>
              <a:tblGrid>
                <a:gridCol w="1188720"/>
                <a:gridCol w="3200400"/>
              </a:tblGrid>
              <a:tr h="384048">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Search step</a:t>
                      </a:r>
                      <a:endParaRPr lang="en-US" sz="1200" dirty="0">
                        <a:latin typeface="Calibri" charset="0"/>
                        <a:ea typeface="Calibri" charset="0"/>
                        <a:cs typeface="Calibri" charset="0"/>
                      </a:endParaRPr>
                    </a:p>
                  </a:txBody>
                  <a:tcPr marL="91440" marR="91440" marT="27432" marB="2743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Jin et al. setting</a:t>
                      </a:r>
                      <a:endParaRPr lang="en-US" sz="1200" dirty="0">
                        <a:latin typeface="Calibri" charset="0"/>
                        <a:ea typeface="Calibri" charset="0"/>
                        <a:cs typeface="Calibri" charset="0"/>
                      </a:endParaRPr>
                    </a:p>
                  </a:txBody>
                  <a:tcPr marL="91440" marR="91440" marT="27432" marB="2743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tx2"/>
                    </a:solidFill>
                  </a:tcPr>
                </a:tc>
              </a:tr>
              <a:tr h="384048">
                <a:tc>
                  <a:txBody>
                    <a:bodyPr/>
                    <a:lstStyle/>
                    <a:p>
                      <a:pPr indent="0" marL="0">
                        <a:buNone/>
                      </a:pPr>
                      <a:r>
                        <a:rPr lang="en-US" sz="1200" b="1" dirty="0">
                          <a:solidFill>
                            <a:schemeClr val="accent1"/>
                          </a:solidFill>
                          <a:latin typeface="Calibri" pitchFamily="34" charset="0"/>
                          <a:ea typeface="Calibri" pitchFamily="34" charset="-122"/>
                          <a:cs typeface="Calibri" pitchFamily="34" charset="-120"/>
                        </a:rPr>
                        <a:t>Start</a:t>
                      </a:r>
                      <a:endParaRPr lang="en-US" sz="1200" dirty="0">
                        <a:latin typeface="Calibri" charset="0"/>
                        <a:ea typeface="Calibri" charset="0"/>
                        <a:cs typeface="Calibri" charset="0"/>
                      </a:endParaRPr>
                    </a:p>
                  </a:txBody>
                  <a:tcPr marL="91440" marR="91440" marT="27432" marB="2743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5,000 random layouts</a:t>
                      </a:r>
                      <a:endParaRPr lang="en-US" sz="1200" dirty="0">
                        <a:latin typeface="Calibri" charset="0"/>
                        <a:ea typeface="Calibri" charset="0"/>
                        <a:cs typeface="Calibri" charset="0"/>
                      </a:endParaRPr>
                    </a:p>
                  </a:txBody>
                  <a:tcPr marL="91440" marR="91440" marT="27432" marB="2743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bg1"/>
                    </a:solidFill>
                  </a:tcPr>
                </a:tc>
              </a:tr>
              <a:tr h="384048">
                <a:tc>
                  <a:txBody>
                    <a:bodyPr/>
                    <a:lstStyle/>
                    <a:p>
                      <a:pPr indent="0" marL="0">
                        <a:buNone/>
                      </a:pPr>
                      <a:r>
                        <a:rPr lang="en-US" sz="1200" b="1" dirty="0">
                          <a:solidFill>
                            <a:schemeClr val="accent1"/>
                          </a:solidFill>
                          <a:latin typeface="Calibri" pitchFamily="34" charset="0"/>
                          <a:ea typeface="Calibri" pitchFamily="34" charset="-122"/>
                          <a:cs typeface="Calibri" pitchFamily="34" charset="-120"/>
                        </a:rPr>
                        <a:t>Score</a:t>
                      </a:r>
                      <a:endParaRPr lang="en-US" sz="1200" dirty="0">
                        <a:latin typeface="Calibri" charset="0"/>
                        <a:ea typeface="Calibri" charset="0"/>
                        <a:cs typeface="Calibri" charset="0"/>
                      </a:endParaRPr>
                    </a:p>
                  </a:txBody>
                  <a:tcPr marL="91440" marR="91440" marT="27432" marB="2743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RMSE: predicted vs. target coordinates</a:t>
                      </a:r>
                      <a:endParaRPr lang="en-US" sz="1200" dirty="0">
                        <a:latin typeface="Calibri" charset="0"/>
                        <a:ea typeface="Calibri" charset="0"/>
                        <a:cs typeface="Calibri" charset="0"/>
                      </a:endParaRPr>
                    </a:p>
                  </a:txBody>
                  <a:tcPr marL="91440" marR="91440" marT="27432" marB="2743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bg2"/>
                    </a:solidFill>
                  </a:tcPr>
                </a:tc>
              </a:tr>
              <a:tr h="384048">
                <a:tc>
                  <a:txBody>
                    <a:bodyPr/>
                    <a:lstStyle/>
                    <a:p>
                      <a:pPr indent="0" marL="0">
                        <a:buNone/>
                      </a:pPr>
                      <a:r>
                        <a:rPr lang="en-US" sz="1200" b="1" dirty="0">
                          <a:solidFill>
                            <a:schemeClr val="accent1"/>
                          </a:solidFill>
                          <a:latin typeface="Calibri" pitchFamily="34" charset="0"/>
                          <a:ea typeface="Calibri" pitchFamily="34" charset="-122"/>
                          <a:cs typeface="Calibri" pitchFamily="34" charset="-120"/>
                        </a:rPr>
                        <a:t>Keep</a:t>
                      </a:r>
                      <a:endParaRPr lang="en-US" sz="1200" dirty="0">
                        <a:latin typeface="Calibri" charset="0"/>
                        <a:ea typeface="Calibri" charset="0"/>
                        <a:cs typeface="Calibri" charset="0"/>
                      </a:endParaRPr>
                    </a:p>
                  </a:txBody>
                  <a:tcPr marL="91440" marR="91440" marT="27432" marB="2743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top 10% (elites)</a:t>
                      </a:r>
                      <a:endParaRPr lang="en-US" sz="1200" dirty="0">
                        <a:latin typeface="Calibri" charset="0"/>
                        <a:ea typeface="Calibri" charset="0"/>
                        <a:cs typeface="Calibri" charset="0"/>
                      </a:endParaRPr>
                    </a:p>
                  </a:txBody>
                  <a:tcPr marL="91440" marR="91440" marT="27432" marB="2743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bg1"/>
                    </a:solidFill>
                  </a:tcPr>
                </a:tc>
              </a:tr>
              <a:tr h="384048">
                <a:tc>
                  <a:txBody>
                    <a:bodyPr/>
                    <a:lstStyle/>
                    <a:p>
                      <a:pPr indent="0" marL="0">
                        <a:buNone/>
                      </a:pPr>
                      <a:r>
                        <a:rPr lang="en-US" sz="1200" b="1" dirty="0">
                          <a:solidFill>
                            <a:schemeClr val="accent1"/>
                          </a:solidFill>
                          <a:latin typeface="Calibri" pitchFamily="34" charset="0"/>
                          <a:ea typeface="Calibri" pitchFamily="34" charset="-122"/>
                          <a:cs typeface="Calibri" pitchFamily="34" charset="-120"/>
                        </a:rPr>
                        <a:t>Mix</a:t>
                      </a:r>
                      <a:endParaRPr lang="en-US" sz="1200" dirty="0">
                        <a:latin typeface="Calibri" charset="0"/>
                        <a:ea typeface="Calibri" charset="0"/>
                        <a:cs typeface="Calibri" charset="0"/>
                      </a:endParaRPr>
                    </a:p>
                  </a:txBody>
                  <a:tcPr marL="91440" marR="91440" marT="27432" marB="2743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70% two-point column crossover</a:t>
                      </a:r>
                      <a:endParaRPr lang="en-US" sz="1200" dirty="0">
                        <a:latin typeface="Calibri" charset="0"/>
                        <a:ea typeface="Calibri" charset="0"/>
                        <a:cs typeface="Calibri" charset="0"/>
                      </a:endParaRPr>
                    </a:p>
                  </a:txBody>
                  <a:tcPr marL="91440" marR="91440" marT="27432" marB="2743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bg2"/>
                    </a:solidFill>
                  </a:tcPr>
                </a:tc>
              </a:tr>
              <a:tr h="384048">
                <a:tc>
                  <a:txBody>
                    <a:bodyPr/>
                    <a:lstStyle/>
                    <a:p>
                      <a:pPr indent="0" marL="0">
                        <a:buNone/>
                      </a:pPr>
                      <a:r>
                        <a:rPr lang="en-US" sz="1200" b="1" dirty="0">
                          <a:solidFill>
                            <a:schemeClr val="accent1"/>
                          </a:solidFill>
                          <a:latin typeface="Calibri" pitchFamily="34" charset="0"/>
                          <a:ea typeface="Calibri" pitchFamily="34" charset="-122"/>
                          <a:cs typeface="Calibri" pitchFamily="34" charset="-120"/>
                        </a:rPr>
                        <a:t>Mutate</a:t>
                      </a:r>
                      <a:endParaRPr lang="en-US" sz="1200" dirty="0">
                        <a:latin typeface="Calibri" charset="0"/>
                        <a:ea typeface="Calibri" charset="0"/>
                        <a:cs typeface="Calibri" charset="0"/>
                      </a:endParaRPr>
                    </a:p>
                  </a:txBody>
                  <a:tcPr marL="91440" marR="91440" marT="27432" marB="2743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20% random column flip (1 ↔ 2)</a:t>
                      </a:r>
                      <a:endParaRPr lang="en-US" sz="1200" dirty="0">
                        <a:latin typeface="Calibri" charset="0"/>
                        <a:ea typeface="Calibri" charset="0"/>
                        <a:cs typeface="Calibri" charset="0"/>
                      </a:endParaRPr>
                    </a:p>
                  </a:txBody>
                  <a:tcPr marL="91440" marR="91440" marT="27432" marB="2743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bg1"/>
                    </a:solidFill>
                  </a:tcPr>
                </a:tc>
              </a:tr>
            </a:tbl>
          </a:graphicData>
        </a:graphic>
      </p:graphicFrame>
      <p:sp>
        <p:nvSpPr>
          <p:cNvPr id="56" name="jin-why"/>
          <p:cNvSpPr/>
          <p:nvPr/>
        </p:nvSpPr>
        <p:spPr>
          <a:xfrm>
            <a:off x="4297680" y="3749040"/>
            <a:ext cx="4389120" cy="868680"/>
          </a:xfrm>
          <a:prstGeom prst="roundRect">
            <a:avLst>
              <a:gd name="adj" fmla="val 8421"/>
            </a:avLst>
          </a:prstGeom>
          <a:solidFill>
            <a:schemeClr val="bg2"/>
          </a:solidFill>
          <a:ln w="12700">
            <a:solidFill>
              <a:schemeClr val="bg2"/>
            </a:solidFill>
            <a:prstDash val="solid"/>
          </a:ln>
        </p:spPr>
      </p:sp>
      <p:sp>
        <p:nvSpPr>
          <p:cNvPr id="57" name="Text 54"/>
          <p:cNvSpPr txBox="1"/>
          <p:nvPr/>
        </p:nvSpPr>
        <p:spPr>
          <a:xfrm>
            <a:off x="4480560" y="3749040"/>
            <a:ext cx="4023360" cy="868680"/>
          </a:xfrm>
          <a:prstGeom prst="rect">
            <a:avLst/>
          </a:prstGeom>
          <a:noFill/>
          <a:ln/>
        </p:spPr>
        <p:txBody>
          <a:bodyPr wrap="square" lIns="0" tIns="0" rIns="0" bIns="0" rtlCol="0" anchor="ctr"/>
          <a:lstStyle/>
          <a:p>
            <a:pPr indent="0" marL="0">
              <a:buNone/>
            </a:pPr>
            <a:r>
              <a:rPr lang="en-US" sz="1250" b="1" dirty="0">
                <a:solidFill>
                  <a:schemeClr val="tx2"/>
                </a:solidFill>
                <a:latin typeface="Calibri" pitchFamily="34" charset="0"/>
                <a:ea typeface="Calibri" pitchFamily="34" charset="-122"/>
                <a:cs typeface="Calibri" pitchFamily="34" charset="-120"/>
              </a:rPr>
              <a:t>Why it matters: </a:t>
            </a:r>
            <a:pPr indent="0" marL="0">
              <a:buNone/>
            </a:pPr>
            <a:r>
              <a:rPr lang="en-US" sz="1250" dirty="0">
                <a:solidFill>
                  <a:schemeClr val="tx1"/>
                </a:solidFill>
                <a:latin typeface="Calibri" pitchFamily="34" charset="0"/>
                <a:ea typeface="Calibri" pitchFamily="34" charset="-122"/>
                <a:cs typeface="Calibri" pitchFamily="34" charset="-120"/>
              </a:rPr>
              <a:t>padding turns irregular shapes into fixed-size inputs a CNN can read.</a:t>
            </a:r>
            <a:endParaRPr lang="en-US" sz="1250" dirty="0"/>
          </a:p>
        </p:txBody>
      </p:sp>
      <p:sp>
        <p:nvSpPr>
          <p:cNvPr id="58" name="Text 55"/>
          <p:cNvSpPr txBox="1"/>
          <p:nvPr/>
        </p:nvSpPr>
        <p:spPr>
          <a:xfrm>
            <a:off x="457200" y="4818888"/>
            <a:ext cx="7498080" cy="201168"/>
          </a:xfrm>
          <a:prstGeom prst="rect">
            <a:avLst/>
          </a:prstGeom>
          <a:noFill/>
          <a:ln/>
        </p:spPr>
        <p:txBody>
          <a:bodyPr wrap="square" lIns="0" tIns="0" rIns="0" bIns="0" rtlCol="0" anchor="t"/>
          <a:lstStyle/>
          <a:p>
            <a:pPr indent="0" marL="0">
              <a:buNone/>
            </a:pPr>
            <a:r>
              <a:rPr lang="en-US" sz="800" dirty="0">
                <a:solidFill>
                  <a:schemeClr val="accent4"/>
                </a:solidFill>
                <a:latin typeface="Calibri" pitchFamily="34" charset="0"/>
                <a:ea typeface="Calibri" pitchFamily="34" charset="-122"/>
                <a:cs typeface="Calibri" pitchFamily="34" charset="-120"/>
              </a:rPr>
              <a:t>Jin et al., Appl. Mater. Today 40, 102373 (2024), Secs. 2–4 [2].</a:t>
            </a:r>
            <a:endParaRPr lang="en-US" sz="8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5B6B82"/>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p:nvPr>
            <p:ph idx="102" type="body" hasCustomPrompt="1"/>
          </p:nvPr>
        </p:nvSpPr>
        <p:spPr>
          <a:xfrm>
            <a:off x="457200" y="256032"/>
            <a:ext cx="7315200" cy="228600"/>
          </a:xfrm>
          <a:prstGeom prst="rect">
            <a:avLst/>
          </a:prstGeom>
          <a:noFill/>
          <a:ln/>
        </p:spPr>
        <p:txBody>
          <a:bodyPr wrap="square" lIns="0" tIns="0" rIns="0" bIns="0" rtlCol="0" anchor="ctr"/>
          <a:lstStyle/>
          <a:p>
            <a:pPr algn="l" indent="0" marL="0">
              <a:buNone/>
            </a:pPr>
            <a:r>
              <a:rPr lang="en-US" sz="1000" b="1" spc="200" kern="0" dirty="0">
                <a:solidFill>
                  <a:schemeClr val="accent1"/>
                </a:solidFill>
                <a:latin typeface="Calibri" pitchFamily="34" charset="0"/>
                <a:ea typeface="Calibri" pitchFamily="34" charset="-122"/>
                <a:cs typeface="Calibri" pitchFamily="34" charset="-120"/>
              </a:rPr>
              <a:t>JIN ET AL. (2024)</a:t>
            </a:r>
            <a:endParaRPr lang="en-US" sz="1000" dirty="0"/>
          </a:p>
        </p:txBody>
      </p:sp>
      <p:sp>
        <p:nvSpPr>
          <p:cNvPr id="3" name="Text 2"/>
          <p:cNvSpPr/>
          <p:nvPr>
            <p:ph idx="103" type="title" hasCustomPrompt="1"/>
          </p:nvPr>
        </p:nvSpPr>
        <p:spPr>
          <a:xfrm>
            <a:off x="457200" y="502920"/>
            <a:ext cx="8229600" cy="548640"/>
          </a:xfrm>
          <a:prstGeom prst="rect">
            <a:avLst/>
          </a:prstGeom>
          <a:noFill/>
          <a:ln/>
        </p:spPr>
        <p:txBody>
          <a:bodyPr wrap="square" lIns="0" tIns="0" rIns="0" bIns="0" rtlCol="0" anchor="ctr"/>
          <a:lstStyle/>
          <a:p>
            <a:pPr algn="l" indent="0" marL="0">
              <a:buNone/>
            </a:pPr>
            <a:r>
              <a:rPr lang="en-US" sz="2400" b="1" dirty="0">
                <a:solidFill>
                  <a:schemeClr val="tx2"/>
                </a:solidFill>
                <a:latin typeface="Georgia" pitchFamily="34" charset="0"/>
                <a:ea typeface="Georgia" pitchFamily="34" charset="-122"/>
                <a:cs typeface="Georgia" pitchFamily="34" charset="-120"/>
              </a:rPr>
              <a:t>Result: curves matched, and a printed hand</a:t>
            </a:r>
            <a:endParaRPr lang="en-US" sz="2400" dirty="0"/>
          </a:p>
        </p:txBody>
      </p:sp>
      <p:pic>
        <p:nvPicPr>
          <p:cNvPr id="4" name="j6a" descr="img/jin_fig6a.png">    </p:cNvPr>
          <p:cNvPicPr>
            <a:picLocks noChangeAspect="1"/>
          </p:cNvPicPr>
          <p:nvPr/>
        </p:nvPicPr>
        <p:blipFill>
          <a:blip r:embed="rId1"/>
          <a:stretch>
            <a:fillRect/>
          </a:stretch>
        </p:blipFill>
        <p:spPr>
          <a:xfrm>
            <a:off x="457200" y="1143000"/>
            <a:ext cx="3840480" cy="1463040"/>
          </a:xfrm>
          <a:prstGeom prst="rect">
            <a:avLst/>
          </a:prstGeom>
        </p:spPr>
      </p:pic>
      <p:pic>
        <p:nvPicPr>
          <p:cNvPr id="5" name="j6c" descr="img/jin_fig6c.png">    </p:cNvPr>
          <p:cNvPicPr>
            <a:picLocks noChangeAspect="1"/>
          </p:cNvPicPr>
          <p:nvPr/>
        </p:nvPicPr>
        <p:blipFill>
          <a:blip r:embed="rId2"/>
          <a:stretch>
            <a:fillRect/>
          </a:stretch>
        </p:blipFill>
        <p:spPr>
          <a:xfrm>
            <a:off x="457200" y="2743200"/>
            <a:ext cx="2148840" cy="1636776"/>
          </a:xfrm>
          <a:prstGeom prst="rect">
            <a:avLst/>
          </a:prstGeom>
        </p:spPr>
      </p:pic>
      <p:pic>
        <p:nvPicPr>
          <p:cNvPr id="6" name="j6d" descr="img/jin_fig6d.png">    </p:cNvPr>
          <p:cNvPicPr>
            <a:picLocks noChangeAspect="1"/>
          </p:cNvPicPr>
          <p:nvPr/>
        </p:nvPicPr>
        <p:blipFill>
          <a:blip r:embed="rId3"/>
          <a:stretch>
            <a:fillRect/>
          </a:stretch>
        </p:blipFill>
        <p:spPr>
          <a:xfrm>
            <a:off x="2743200" y="2743200"/>
            <a:ext cx="2194560" cy="1636776"/>
          </a:xfrm>
          <a:prstGeom prst="rect">
            <a:avLst/>
          </a:prstGeom>
        </p:spPr>
      </p:pic>
      <p:sp>
        <p:nvSpPr>
          <p:cNvPr id="7" name="Text 2"/>
          <p:cNvSpPr txBox="1"/>
          <p:nvPr/>
        </p:nvSpPr>
        <p:spPr>
          <a:xfrm>
            <a:off x="457200" y="4434840"/>
            <a:ext cx="4572000" cy="228600"/>
          </a:xfrm>
          <a:prstGeom prst="rect">
            <a:avLst/>
          </a:prstGeom>
          <a:noFill/>
          <a:ln/>
        </p:spPr>
        <p:txBody>
          <a:bodyPr wrap="square" lIns="0" tIns="0" rIns="0" bIns="0" rtlCol="0" anchor="t"/>
          <a:lstStyle/>
          <a:p>
            <a:pPr indent="0" marL="0">
              <a:buNone/>
            </a:pPr>
            <a:r>
              <a:rPr lang="en-US" sz="900" i="1" dirty="0">
                <a:solidFill>
                  <a:schemeClr val="accent4"/>
                </a:solidFill>
                <a:latin typeface="Calibri" pitchFamily="34" charset="0"/>
                <a:ea typeface="Calibri" pitchFamily="34" charset="-122"/>
                <a:cs typeface="Calibri" pitchFamily="34" charset="-120"/>
              </a:rPr>
              <a:t>Fig. 6: (a) optimised layout &amp; FE result · (c) error vs. generation · (d) target vs. optimised</a:t>
            </a:r>
            <a:endParaRPr lang="en-US" sz="900" dirty="0"/>
          </a:p>
        </p:txBody>
      </p:sp>
      <p:sp>
        <p:nvSpPr>
          <p:cNvPr id="8" name="jr1"/>
          <p:cNvSpPr/>
          <p:nvPr/>
        </p:nvSpPr>
        <p:spPr>
          <a:xfrm>
            <a:off x="5257800" y="1188720"/>
            <a:ext cx="3429000" cy="1325880"/>
          </a:xfrm>
          <a:prstGeom prst="roundRect">
            <a:avLst>
              <a:gd name="adj" fmla="val 5517"/>
            </a:avLst>
          </a:prstGeom>
          <a:solidFill>
            <a:schemeClr val="bg2"/>
          </a:solidFill>
          <a:ln w="12700">
            <a:solidFill>
              <a:schemeClr val="bg2"/>
            </a:solidFill>
            <a:prstDash val="solid"/>
          </a:ln>
        </p:spPr>
      </p:sp>
      <p:sp>
        <p:nvSpPr>
          <p:cNvPr id="9" name="Text 4"/>
          <p:cNvSpPr txBox="1"/>
          <p:nvPr/>
        </p:nvSpPr>
        <p:spPr>
          <a:xfrm>
            <a:off x="5440680" y="1280160"/>
            <a:ext cx="3108960" cy="548640"/>
          </a:xfrm>
          <a:prstGeom prst="rect">
            <a:avLst/>
          </a:prstGeom>
          <a:noFill/>
          <a:ln/>
        </p:spPr>
        <p:txBody>
          <a:bodyPr wrap="square" lIns="0" tIns="0" rIns="0" bIns="0" rtlCol="0" anchor="t"/>
          <a:lstStyle/>
          <a:p>
            <a:pPr indent="0" marL="0">
              <a:buNone/>
            </a:pPr>
            <a:r>
              <a:rPr lang="en-US" sz="2600" b="1" dirty="0">
                <a:solidFill>
                  <a:schemeClr val="accent1"/>
                </a:solidFill>
                <a:latin typeface="Georgia" pitchFamily="34" charset="0"/>
                <a:ea typeface="Georgia" pitchFamily="34" charset="-122"/>
                <a:cs typeface="Georgia" pitchFamily="34" charset="-120"/>
              </a:rPr>
              <a:t>3.7 → 1.8 mm</a:t>
            </a:r>
            <a:endParaRPr lang="en-US" sz="2600" dirty="0"/>
          </a:p>
        </p:txBody>
      </p:sp>
      <p:sp>
        <p:nvSpPr>
          <p:cNvPr id="10" name="Text 5"/>
          <p:cNvSpPr txBox="1"/>
          <p:nvPr/>
        </p:nvSpPr>
        <p:spPr>
          <a:xfrm>
            <a:off x="5440680" y="1874520"/>
            <a:ext cx="3108960" cy="54864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best RMSE over 200 generations (read from Fig. 6c)</a:t>
            </a:r>
            <a:endParaRPr lang="en-US" sz="1200" dirty="0"/>
          </a:p>
        </p:txBody>
      </p:sp>
      <p:sp>
        <p:nvSpPr>
          <p:cNvPr id="11" name="jr2"/>
          <p:cNvSpPr/>
          <p:nvPr/>
        </p:nvSpPr>
        <p:spPr>
          <a:xfrm>
            <a:off x="5257800" y="2697480"/>
            <a:ext cx="3429000" cy="1920240"/>
          </a:xfrm>
          <a:prstGeom prst="roundRect">
            <a:avLst>
              <a:gd name="adj" fmla="val 3810"/>
            </a:avLst>
          </a:prstGeom>
          <a:solidFill>
            <a:schemeClr val="tx2"/>
          </a:solidFill>
          <a:ln w="12700">
            <a:solidFill>
              <a:schemeClr val="tx2"/>
            </a:solidFill>
            <a:prstDash val="solid"/>
          </a:ln>
        </p:spPr>
      </p:sp>
      <p:sp>
        <p:nvSpPr>
          <p:cNvPr id="12" name="jrh-c"/>
          <p:cNvSpPr/>
          <p:nvPr/>
        </p:nvSpPr>
        <p:spPr>
          <a:xfrm>
            <a:off x="5440680" y="2834640"/>
            <a:ext cx="548640" cy="548640"/>
          </a:xfrm>
          <a:prstGeom prst="ellipse">
            <a:avLst/>
          </a:prstGeom>
          <a:solidFill>
            <a:schemeClr val="accent2"/>
          </a:solidFill>
          <a:ln w="12700">
            <a:solidFill>
              <a:schemeClr val="accent2"/>
            </a:solidFill>
            <a:prstDash val="solid"/>
          </a:ln>
        </p:spPr>
      </p:sp>
      <p:pic>
        <p:nvPicPr>
          <p:cNvPr id="13" name="jrh-i" descr="preencoded.png">    </p:cNvPr>
          <p:cNvPicPr>
            <a:picLocks noChangeAspect="1"/>
          </p:cNvPicPr>
          <p:nvPr/>
        </p:nvPicPr>
        <p:blipFill>
          <a:blip r:embed="rId4"/>
          <a:stretch>
            <a:fillRect/>
          </a:stretch>
        </p:blipFill>
        <p:spPr>
          <a:xfrm>
            <a:off x="5583326" y="2977286"/>
            <a:ext cx="263347" cy="263347"/>
          </a:xfrm>
          <a:prstGeom prst="rect">
            <a:avLst/>
          </a:prstGeom>
        </p:spPr>
      </p:pic>
      <p:sp>
        <p:nvSpPr>
          <p:cNvPr id="14" name="Text 8"/>
          <p:cNvSpPr txBox="1"/>
          <p:nvPr/>
        </p:nvSpPr>
        <p:spPr>
          <a:xfrm>
            <a:off x="6126480" y="2834640"/>
            <a:ext cx="2468880" cy="548640"/>
          </a:xfrm>
          <a:prstGeom prst="rect">
            <a:avLst/>
          </a:prstGeom>
          <a:noFill/>
          <a:ln/>
        </p:spPr>
        <p:txBody>
          <a:bodyPr wrap="square" lIns="0" tIns="0" rIns="0" bIns="0" rtlCol="0" anchor="ctr"/>
          <a:lstStyle/>
          <a:p>
            <a:pPr indent="0" marL="0">
              <a:buNone/>
            </a:pPr>
            <a:r>
              <a:rPr lang="en-US" sz="1600" b="1" dirty="0">
                <a:solidFill>
                  <a:schemeClr val="bg1"/>
                </a:solidFill>
                <a:latin typeface="Georgia" pitchFamily="34" charset="0"/>
                <a:ea typeface="Georgia" pitchFamily="34" charset="-122"/>
                <a:cs typeface="Georgia" pitchFamily="34" charset="-120"/>
              </a:rPr>
              <a:t>Printed hand shape</a:t>
            </a:r>
            <a:endParaRPr lang="en-US" sz="1600" dirty="0"/>
          </a:p>
        </p:txBody>
      </p:sp>
      <p:sp>
        <p:nvSpPr>
          <p:cNvPr id="15" name="Text 9"/>
          <p:cNvSpPr txBox="1"/>
          <p:nvPr/>
        </p:nvSpPr>
        <p:spPr>
          <a:xfrm>
            <a:off x="5440680" y="3474720"/>
            <a:ext cx="3108960" cy="1051560"/>
          </a:xfrm>
          <a:prstGeom prst="rect">
            <a:avLst/>
          </a:prstGeom>
          <a:noFill/>
          <a:ln/>
        </p:spPr>
        <p:txBody>
          <a:bodyPr wrap="square" lIns="0" tIns="0" rIns="0" bIns="0" rtlCol="0" anchor="t"/>
          <a:lstStyle/>
          <a:p>
            <a:pPr indent="0" marL="0">
              <a:buNone/>
            </a:pPr>
            <a:r>
              <a:rPr lang="en-US" sz="1200" dirty="0">
                <a:solidFill>
                  <a:schemeClr val="accent5"/>
                </a:solidFill>
                <a:latin typeface="Calibri" pitchFamily="34" charset="0"/>
                <a:ea typeface="Calibri" pitchFamily="34" charset="-122"/>
                <a:cs typeface="Calibri" pitchFamily="34" charset="-120"/>
              </a:rPr>
              <a:t>SMP/TPU part opens and closes on heating, like the target hand motion. Agreement is shown visually; no numeric printed error is reported.</a:t>
            </a:r>
            <a:endParaRPr lang="en-US" sz="1200" dirty="0"/>
          </a:p>
        </p:txBody>
      </p:sp>
      <p:sp>
        <p:nvSpPr>
          <p:cNvPr id="16" name="Text 10"/>
          <p:cNvSpPr txBox="1"/>
          <p:nvPr/>
        </p:nvSpPr>
        <p:spPr>
          <a:xfrm>
            <a:off x="457200" y="4818888"/>
            <a:ext cx="7498080" cy="201168"/>
          </a:xfrm>
          <a:prstGeom prst="rect">
            <a:avLst/>
          </a:prstGeom>
          <a:noFill/>
          <a:ln/>
        </p:spPr>
        <p:txBody>
          <a:bodyPr wrap="square" lIns="0" tIns="0" rIns="0" bIns="0" rtlCol="0" anchor="t"/>
          <a:lstStyle/>
          <a:p>
            <a:pPr indent="0" marL="0">
              <a:buNone/>
            </a:pPr>
            <a:r>
              <a:rPr lang="en-US" sz="800" dirty="0">
                <a:solidFill>
                  <a:schemeClr val="accent4"/>
                </a:solidFill>
                <a:latin typeface="Calibri" pitchFamily="34" charset="0"/>
                <a:ea typeface="Calibri" pitchFamily="34" charset="-122"/>
                <a:cs typeface="Calibri" pitchFamily="34" charset="-120"/>
              </a:rPr>
              <a:t>Jin et al. 2024, Fig. 6 and Fig. 7 [2]. Fig. 6 panels cleaned of a caption overlay from our source copy.</a:t>
            </a:r>
            <a:endParaRPr lang="en-US" sz="8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5B6B82"/>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p:nvPr>
            <p:ph idx="102" type="body" hasCustomPrompt="1"/>
          </p:nvPr>
        </p:nvSpPr>
        <p:spPr>
          <a:xfrm>
            <a:off x="457200" y="256032"/>
            <a:ext cx="7315200" cy="228600"/>
          </a:xfrm>
          <a:prstGeom prst="rect">
            <a:avLst/>
          </a:prstGeom>
          <a:noFill/>
          <a:ln/>
        </p:spPr>
        <p:txBody>
          <a:bodyPr wrap="square" lIns="0" tIns="0" rIns="0" bIns="0" rtlCol="0" anchor="ctr"/>
          <a:lstStyle/>
          <a:p>
            <a:pPr algn="l" indent="0" marL="0">
              <a:buNone/>
            </a:pPr>
            <a:r>
              <a:rPr lang="en-US" sz="1000" b="1" spc="200" kern="0" dirty="0">
                <a:solidFill>
                  <a:schemeClr val="accent1"/>
                </a:solidFill>
                <a:latin typeface="Calibri" pitchFamily="34" charset="0"/>
                <a:ea typeface="Calibri" pitchFamily="34" charset="-122"/>
                <a:cs typeface="Calibri" pitchFamily="34" charset="-120"/>
              </a:rPr>
              <a:t>COMPARISON</a:t>
            </a:r>
            <a:endParaRPr lang="en-US" sz="1000" dirty="0"/>
          </a:p>
        </p:txBody>
      </p:sp>
      <p:sp>
        <p:nvSpPr>
          <p:cNvPr id="3" name="Text 2"/>
          <p:cNvSpPr/>
          <p:nvPr>
            <p:ph idx="103" type="title" hasCustomPrompt="1"/>
          </p:nvPr>
        </p:nvSpPr>
        <p:spPr>
          <a:xfrm>
            <a:off x="457200" y="502920"/>
            <a:ext cx="8229600" cy="548640"/>
          </a:xfrm>
          <a:prstGeom prst="rect">
            <a:avLst/>
          </a:prstGeom>
          <a:noFill/>
          <a:ln/>
        </p:spPr>
        <p:txBody>
          <a:bodyPr wrap="square" lIns="0" tIns="0" rIns="0" bIns="0" rtlCol="0" anchor="ctr"/>
          <a:lstStyle/>
          <a:p>
            <a:pPr algn="l" indent="0" marL="0">
              <a:buNone/>
            </a:pPr>
            <a:r>
              <a:rPr lang="en-US" sz="2400" b="1" dirty="0">
                <a:solidFill>
                  <a:schemeClr val="tx2"/>
                </a:solidFill>
                <a:latin typeface="Georgia" pitchFamily="34" charset="0"/>
                <a:ea typeface="Georgia" pitchFamily="34" charset="-122"/>
                <a:cs typeface="Georgia" pitchFamily="34" charset="-120"/>
              </a:rPr>
              <a:t>Same backbone, different goals</a:t>
            </a:r>
            <a:endParaRPr lang="en-US" sz="2400" dirty="0"/>
          </a:p>
        </p:txBody>
      </p:sp>
      <p:sp>
        <p:nvSpPr>
          <p:cNvPr id="4" name="hw"/>
          <p:cNvSpPr/>
          <p:nvPr/>
        </p:nvSpPr>
        <p:spPr>
          <a:xfrm>
            <a:off x="457200" y="1188720"/>
            <a:ext cx="3246120" cy="3429000"/>
          </a:xfrm>
          <a:prstGeom prst="roundRect">
            <a:avLst>
              <a:gd name="adj" fmla="val 2254"/>
            </a:avLst>
          </a:prstGeom>
          <a:solidFill>
            <a:schemeClr val="bg2"/>
          </a:solidFill>
          <a:ln w="12700">
            <a:solidFill>
              <a:schemeClr val="bg2"/>
            </a:solidFill>
            <a:prstDash val="solid"/>
          </a:ln>
        </p:spPr>
      </p:sp>
      <p:sp>
        <p:nvSpPr>
          <p:cNvPr id="5" name="hj"/>
          <p:cNvSpPr/>
          <p:nvPr/>
        </p:nvSpPr>
        <p:spPr>
          <a:xfrm>
            <a:off x="5440680" y="1188720"/>
            <a:ext cx="3246120" cy="3429000"/>
          </a:xfrm>
          <a:prstGeom prst="roundRect">
            <a:avLst>
              <a:gd name="adj" fmla="val 2254"/>
            </a:avLst>
          </a:prstGeom>
          <a:solidFill>
            <a:schemeClr val="bg2"/>
          </a:solidFill>
          <a:ln w="12700">
            <a:solidFill>
              <a:schemeClr val="bg2"/>
            </a:solidFill>
            <a:prstDash val="solid"/>
          </a:ln>
        </p:spPr>
      </p:sp>
      <p:sp>
        <p:nvSpPr>
          <p:cNvPr id="6" name="Text 4"/>
          <p:cNvSpPr txBox="1"/>
          <p:nvPr/>
        </p:nvSpPr>
        <p:spPr>
          <a:xfrm>
            <a:off x="640080" y="1280160"/>
            <a:ext cx="2880360" cy="411480"/>
          </a:xfrm>
          <a:prstGeom prst="rect">
            <a:avLst/>
          </a:prstGeom>
          <a:noFill/>
          <a:ln/>
        </p:spPr>
        <p:txBody>
          <a:bodyPr wrap="square" lIns="0" tIns="0" rIns="0" bIns="0" rtlCol="0" anchor="t"/>
          <a:lstStyle/>
          <a:p>
            <a:pPr algn="ctr" indent="0" marL="0">
              <a:buNone/>
            </a:pPr>
            <a:r>
              <a:rPr lang="en-US" sz="1800" b="1" dirty="0">
                <a:solidFill>
                  <a:schemeClr val="accent2"/>
                </a:solidFill>
                <a:latin typeface="Georgia" pitchFamily="34" charset="0"/>
                <a:ea typeface="Georgia" pitchFamily="34" charset="-122"/>
                <a:cs typeface="Georgia" pitchFamily="34" charset="-120"/>
              </a:rPr>
              <a:t>Wang et al.</a:t>
            </a:r>
            <a:endParaRPr lang="en-US" sz="1800" dirty="0"/>
          </a:p>
        </p:txBody>
      </p:sp>
      <p:sp>
        <p:nvSpPr>
          <p:cNvPr id="7" name="Text 5"/>
          <p:cNvSpPr txBox="1"/>
          <p:nvPr/>
        </p:nvSpPr>
        <p:spPr>
          <a:xfrm>
            <a:off x="5623560" y="1280160"/>
            <a:ext cx="2880360" cy="411480"/>
          </a:xfrm>
          <a:prstGeom prst="rect">
            <a:avLst/>
          </a:prstGeom>
          <a:noFill/>
          <a:ln/>
        </p:spPr>
        <p:txBody>
          <a:bodyPr wrap="square" lIns="0" tIns="0" rIns="0" bIns="0" rtlCol="0" anchor="t"/>
          <a:lstStyle/>
          <a:p>
            <a:pPr algn="ctr" indent="0" marL="0">
              <a:buNone/>
            </a:pPr>
            <a:r>
              <a:rPr lang="en-US" sz="1800" b="1" dirty="0">
                <a:solidFill>
                  <a:schemeClr val="accent1"/>
                </a:solidFill>
                <a:latin typeface="Georgia" pitchFamily="34" charset="0"/>
                <a:ea typeface="Georgia" pitchFamily="34" charset="-122"/>
                <a:cs typeface="Georgia" pitchFamily="34" charset="-120"/>
              </a:rPr>
              <a:t>Jin et al.</a:t>
            </a:r>
            <a:endParaRPr lang="en-US" sz="1800" dirty="0"/>
          </a:p>
        </p:txBody>
      </p:sp>
      <p:sp>
        <p:nvSpPr>
          <p:cNvPr id="8" name="Text 6"/>
          <p:cNvSpPr txBox="1"/>
          <p:nvPr/>
        </p:nvSpPr>
        <p:spPr>
          <a:xfrm>
            <a:off x="640080" y="1783080"/>
            <a:ext cx="2880360" cy="384048"/>
          </a:xfrm>
          <a:prstGeom prst="rect">
            <a:avLst/>
          </a:prstGeom>
          <a:noFill/>
          <a:ln/>
        </p:spPr>
        <p:txBody>
          <a:bodyPr wrap="square" lIns="0" tIns="0" rIns="0" bIns="0" rtlCol="0" anchor="ctr"/>
          <a:lstStyle/>
          <a:p>
            <a:pPr algn="ctr" indent="0" marL="0">
              <a:buNone/>
            </a:pPr>
            <a:r>
              <a:rPr lang="en-US" sz="1300" dirty="0">
                <a:solidFill>
                  <a:schemeClr val="tx2"/>
                </a:solidFill>
                <a:latin typeface="Calibri" pitchFamily="34" charset="0"/>
                <a:ea typeface="Calibri" pitchFamily="34" charset="-122"/>
                <a:cs typeface="Calibri" pitchFamily="34" charset="-120"/>
              </a:rPr>
              <a:t>Speed</a:t>
            </a:r>
            <a:endParaRPr lang="en-US" sz="1300" dirty="0"/>
          </a:p>
        </p:txBody>
      </p:sp>
      <p:sp>
        <p:nvSpPr>
          <p:cNvPr id="9" name="hl0"/>
          <p:cNvSpPr/>
          <p:nvPr/>
        </p:nvSpPr>
        <p:spPr>
          <a:xfrm>
            <a:off x="3886200" y="1810512"/>
            <a:ext cx="1371600" cy="329184"/>
          </a:xfrm>
          <a:prstGeom prst="roundRect">
            <a:avLst>
              <a:gd name="adj" fmla="val 22222"/>
            </a:avLst>
          </a:prstGeom>
          <a:solidFill>
            <a:schemeClr val="tx2"/>
          </a:solidFill>
          <a:ln w="12700">
            <a:solidFill>
              <a:schemeClr val="tx2"/>
            </a:solidFill>
            <a:prstDash val="solid"/>
          </a:ln>
        </p:spPr>
      </p:sp>
      <p:sp>
        <p:nvSpPr>
          <p:cNvPr id="10" name="Text 8"/>
          <p:cNvSpPr txBox="1"/>
          <p:nvPr/>
        </p:nvSpPr>
        <p:spPr>
          <a:xfrm>
            <a:off x="3886200" y="1810512"/>
            <a:ext cx="1371600" cy="329184"/>
          </a:xfrm>
          <a:prstGeom prst="rect">
            <a:avLst/>
          </a:prstGeom>
          <a:noFill/>
          <a:ln/>
        </p:spPr>
        <p:txBody>
          <a:bodyPr wrap="square" lIns="0" tIns="0" rIns="0" bIns="0"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Goal</a:t>
            </a:r>
            <a:endParaRPr lang="en-US" sz="1100" dirty="0"/>
          </a:p>
        </p:txBody>
      </p:sp>
      <p:sp>
        <p:nvSpPr>
          <p:cNvPr id="11" name="Text 9"/>
          <p:cNvSpPr txBox="1"/>
          <p:nvPr/>
        </p:nvSpPr>
        <p:spPr>
          <a:xfrm>
            <a:off x="5623560" y="1783080"/>
            <a:ext cx="2880360" cy="384048"/>
          </a:xfrm>
          <a:prstGeom prst="rect">
            <a:avLst/>
          </a:prstGeom>
          <a:noFill/>
          <a:ln/>
        </p:spPr>
        <p:txBody>
          <a:bodyPr wrap="square" lIns="0" tIns="0" rIns="0" bIns="0" rtlCol="0" anchor="ctr"/>
          <a:lstStyle/>
          <a:p>
            <a:pPr algn="ctr" indent="0" marL="0">
              <a:buNone/>
            </a:pPr>
            <a:r>
              <a:rPr lang="en-US" sz="1300" dirty="0">
                <a:solidFill>
                  <a:schemeClr val="tx2"/>
                </a:solidFill>
                <a:latin typeface="Calibri" pitchFamily="34" charset="0"/>
                <a:ea typeface="Calibri" pitchFamily="34" charset="-122"/>
                <a:cs typeface="Calibri" pitchFamily="34" charset="-120"/>
              </a:rPr>
              <a:t>Shape freedom</a:t>
            </a:r>
            <a:endParaRPr lang="en-US" sz="1300" dirty="0"/>
          </a:p>
        </p:txBody>
      </p:sp>
      <p:sp>
        <p:nvSpPr>
          <p:cNvPr id="12" name="Text 10"/>
          <p:cNvSpPr txBox="1"/>
          <p:nvPr/>
        </p:nvSpPr>
        <p:spPr>
          <a:xfrm>
            <a:off x="640080" y="2240280"/>
            <a:ext cx="2880360" cy="384048"/>
          </a:xfrm>
          <a:prstGeom prst="rect">
            <a:avLst/>
          </a:prstGeom>
          <a:noFill/>
          <a:ln/>
        </p:spPr>
        <p:txBody>
          <a:bodyPr wrap="square" lIns="0" tIns="0" rIns="0" bIns="0" rtlCol="0" anchor="ctr"/>
          <a:lstStyle/>
          <a:p>
            <a:pPr algn="ctr" indent="0" marL="0">
              <a:buNone/>
            </a:pPr>
            <a:r>
              <a:rPr lang="en-US" sz="1300" dirty="0">
                <a:solidFill>
                  <a:schemeClr val="tx2"/>
                </a:solidFill>
                <a:latin typeface="Calibri" pitchFamily="34" charset="0"/>
                <a:ea typeface="Calibri" pitchFamily="34" charset="-122"/>
                <a:cs typeface="Calibri" pitchFamily="34" charset="-120"/>
              </a:rPr>
              <a:t>Hydrogel (solvent)</a:t>
            </a:r>
            <a:endParaRPr lang="en-US" sz="1300" dirty="0"/>
          </a:p>
        </p:txBody>
      </p:sp>
      <p:sp>
        <p:nvSpPr>
          <p:cNvPr id="13" name="hl1"/>
          <p:cNvSpPr/>
          <p:nvPr/>
        </p:nvSpPr>
        <p:spPr>
          <a:xfrm>
            <a:off x="3886200" y="2267712"/>
            <a:ext cx="1371600" cy="329184"/>
          </a:xfrm>
          <a:prstGeom prst="roundRect">
            <a:avLst>
              <a:gd name="adj" fmla="val 22222"/>
            </a:avLst>
          </a:prstGeom>
          <a:solidFill>
            <a:schemeClr val="tx2"/>
          </a:solidFill>
          <a:ln w="12700">
            <a:solidFill>
              <a:schemeClr val="tx2"/>
            </a:solidFill>
            <a:prstDash val="solid"/>
          </a:ln>
        </p:spPr>
      </p:sp>
      <p:sp>
        <p:nvSpPr>
          <p:cNvPr id="14" name="Text 12"/>
          <p:cNvSpPr txBox="1"/>
          <p:nvPr/>
        </p:nvSpPr>
        <p:spPr>
          <a:xfrm>
            <a:off x="3886200" y="2267712"/>
            <a:ext cx="1371600" cy="329184"/>
          </a:xfrm>
          <a:prstGeom prst="rect">
            <a:avLst/>
          </a:prstGeom>
          <a:noFill/>
          <a:ln/>
        </p:spPr>
        <p:txBody>
          <a:bodyPr wrap="square" lIns="0" tIns="0" rIns="0" bIns="0"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Material</a:t>
            </a:r>
            <a:endParaRPr lang="en-US" sz="1100" dirty="0"/>
          </a:p>
        </p:txBody>
      </p:sp>
      <p:sp>
        <p:nvSpPr>
          <p:cNvPr id="15" name="Text 13"/>
          <p:cNvSpPr txBox="1"/>
          <p:nvPr/>
        </p:nvSpPr>
        <p:spPr>
          <a:xfrm>
            <a:off x="5623560" y="2240280"/>
            <a:ext cx="2880360" cy="384048"/>
          </a:xfrm>
          <a:prstGeom prst="rect">
            <a:avLst/>
          </a:prstGeom>
          <a:noFill/>
          <a:ln/>
        </p:spPr>
        <p:txBody>
          <a:bodyPr wrap="square" lIns="0" tIns="0" rIns="0" bIns="0" rtlCol="0" anchor="ctr"/>
          <a:lstStyle/>
          <a:p>
            <a:pPr algn="ctr" indent="0" marL="0">
              <a:buNone/>
            </a:pPr>
            <a:r>
              <a:rPr lang="en-US" sz="1300" dirty="0">
                <a:solidFill>
                  <a:schemeClr val="tx2"/>
                </a:solidFill>
                <a:latin typeface="Calibri" pitchFamily="34" charset="0"/>
                <a:ea typeface="Calibri" pitchFamily="34" charset="-122"/>
                <a:cs typeface="Calibri" pitchFamily="34" charset="-120"/>
              </a:rPr>
              <a:t>SMP + TPU (heat)</a:t>
            </a:r>
            <a:endParaRPr lang="en-US" sz="1300" dirty="0"/>
          </a:p>
        </p:txBody>
      </p:sp>
      <p:sp>
        <p:nvSpPr>
          <p:cNvPr id="16" name="Text 14"/>
          <p:cNvSpPr txBox="1"/>
          <p:nvPr/>
        </p:nvSpPr>
        <p:spPr>
          <a:xfrm>
            <a:off x="640080" y="2697480"/>
            <a:ext cx="2880360" cy="384048"/>
          </a:xfrm>
          <a:prstGeom prst="rect">
            <a:avLst/>
          </a:prstGeom>
          <a:noFill/>
          <a:ln/>
        </p:spPr>
        <p:txBody>
          <a:bodyPr wrap="square" lIns="0" tIns="0" rIns="0" bIns="0" rtlCol="0" anchor="ctr"/>
          <a:lstStyle/>
          <a:p>
            <a:pPr algn="ctr" indent="0" marL="0">
              <a:buNone/>
            </a:pPr>
            <a:r>
              <a:rPr lang="en-US" sz="1300" dirty="0">
                <a:solidFill>
                  <a:schemeClr val="tx2"/>
                </a:solidFill>
                <a:latin typeface="Calibri" pitchFamily="34" charset="0"/>
                <a:ea typeface="Calibri" pitchFamily="34" charset="-122"/>
                <a:cs typeface="Calibri" pitchFamily="34" charset="-120"/>
              </a:rPr>
              <a:t>2 × 10 binary beam</a:t>
            </a:r>
            <a:endParaRPr lang="en-US" sz="1300" dirty="0"/>
          </a:p>
        </p:txBody>
      </p:sp>
      <p:sp>
        <p:nvSpPr>
          <p:cNvPr id="17" name="hl2"/>
          <p:cNvSpPr/>
          <p:nvPr/>
        </p:nvSpPr>
        <p:spPr>
          <a:xfrm>
            <a:off x="3886200" y="2724912"/>
            <a:ext cx="1371600" cy="329184"/>
          </a:xfrm>
          <a:prstGeom prst="roundRect">
            <a:avLst>
              <a:gd name="adj" fmla="val 22222"/>
            </a:avLst>
          </a:prstGeom>
          <a:solidFill>
            <a:schemeClr val="tx2"/>
          </a:solidFill>
          <a:ln w="12700">
            <a:solidFill>
              <a:schemeClr val="tx2"/>
            </a:solidFill>
            <a:prstDash val="solid"/>
          </a:ln>
        </p:spPr>
      </p:sp>
      <p:sp>
        <p:nvSpPr>
          <p:cNvPr id="18" name="Text 16"/>
          <p:cNvSpPr txBox="1"/>
          <p:nvPr/>
        </p:nvSpPr>
        <p:spPr>
          <a:xfrm>
            <a:off x="3886200" y="2724912"/>
            <a:ext cx="1371600" cy="329184"/>
          </a:xfrm>
          <a:prstGeom prst="rect">
            <a:avLst/>
          </a:prstGeom>
          <a:noFill/>
          <a:ln/>
        </p:spPr>
        <p:txBody>
          <a:bodyPr wrap="square" lIns="0" tIns="0" rIns="0" bIns="0"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Layout</a:t>
            </a:r>
            <a:endParaRPr lang="en-US" sz="1100" dirty="0"/>
          </a:p>
        </p:txBody>
      </p:sp>
      <p:sp>
        <p:nvSpPr>
          <p:cNvPr id="19" name="Text 17"/>
          <p:cNvSpPr txBox="1"/>
          <p:nvPr/>
        </p:nvSpPr>
        <p:spPr>
          <a:xfrm>
            <a:off x="5623560" y="2697480"/>
            <a:ext cx="2880360" cy="384048"/>
          </a:xfrm>
          <a:prstGeom prst="rect">
            <a:avLst/>
          </a:prstGeom>
          <a:noFill/>
          <a:ln/>
        </p:spPr>
        <p:txBody>
          <a:bodyPr wrap="square" lIns="0" tIns="0" rIns="0" bIns="0" rtlCol="0" anchor="ctr"/>
          <a:lstStyle/>
          <a:p>
            <a:pPr algn="ctr" indent="0" marL="0">
              <a:buNone/>
            </a:pPr>
            <a:r>
              <a:rPr lang="en-US" sz="1300" dirty="0">
                <a:solidFill>
                  <a:schemeClr val="tx2"/>
                </a:solidFill>
                <a:latin typeface="Calibri" pitchFamily="34" charset="0"/>
                <a:ea typeface="Calibri" pitchFamily="34" charset="-122"/>
                <a:cs typeface="Calibri" pitchFamily="34" charset="-120"/>
              </a:rPr>
              <a:t>Padded 0/1/2 grid</a:t>
            </a:r>
            <a:endParaRPr lang="en-US" sz="1300" dirty="0"/>
          </a:p>
        </p:txBody>
      </p:sp>
      <p:sp>
        <p:nvSpPr>
          <p:cNvPr id="20" name="Text 18"/>
          <p:cNvSpPr txBox="1"/>
          <p:nvPr/>
        </p:nvSpPr>
        <p:spPr>
          <a:xfrm>
            <a:off x="640080" y="3154680"/>
            <a:ext cx="2880360" cy="384048"/>
          </a:xfrm>
          <a:prstGeom prst="rect">
            <a:avLst/>
          </a:prstGeom>
          <a:noFill/>
          <a:ln/>
        </p:spPr>
        <p:txBody>
          <a:bodyPr wrap="square" lIns="0" tIns="0" rIns="0" bIns="0" rtlCol="0" anchor="ctr"/>
          <a:lstStyle/>
          <a:p>
            <a:pPr algn="ctr" indent="0" marL="0">
              <a:buNone/>
            </a:pPr>
            <a:r>
              <a:rPr lang="en-US" sz="1300" dirty="0">
                <a:solidFill>
                  <a:schemeClr val="tx2"/>
                </a:solidFill>
                <a:latin typeface="Calibri" pitchFamily="34" charset="0"/>
                <a:ea typeface="Calibri" pitchFamily="34" charset="-122"/>
                <a:cs typeface="Calibri" pitchFamily="34" charset="-120"/>
              </a:rPr>
              <a:t>SEP-CNN</a:t>
            </a:r>
            <a:endParaRPr lang="en-US" sz="1300" dirty="0"/>
          </a:p>
        </p:txBody>
      </p:sp>
      <p:sp>
        <p:nvSpPr>
          <p:cNvPr id="21" name="hl3"/>
          <p:cNvSpPr/>
          <p:nvPr/>
        </p:nvSpPr>
        <p:spPr>
          <a:xfrm>
            <a:off x="3886200" y="3182112"/>
            <a:ext cx="1371600" cy="329184"/>
          </a:xfrm>
          <a:prstGeom prst="roundRect">
            <a:avLst>
              <a:gd name="adj" fmla="val 22222"/>
            </a:avLst>
          </a:prstGeom>
          <a:solidFill>
            <a:schemeClr val="tx2"/>
          </a:solidFill>
          <a:ln w="12700">
            <a:solidFill>
              <a:schemeClr val="tx2"/>
            </a:solidFill>
            <a:prstDash val="solid"/>
          </a:ln>
        </p:spPr>
      </p:sp>
      <p:sp>
        <p:nvSpPr>
          <p:cNvPr id="22" name="Text 20"/>
          <p:cNvSpPr txBox="1"/>
          <p:nvPr/>
        </p:nvSpPr>
        <p:spPr>
          <a:xfrm>
            <a:off x="3886200" y="3182112"/>
            <a:ext cx="1371600" cy="329184"/>
          </a:xfrm>
          <a:prstGeom prst="rect">
            <a:avLst/>
          </a:prstGeom>
          <a:noFill/>
          <a:ln/>
        </p:spPr>
        <p:txBody>
          <a:bodyPr wrap="square" lIns="0" tIns="0" rIns="0" bIns="0"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Network</a:t>
            </a:r>
            <a:endParaRPr lang="en-US" sz="1100" dirty="0"/>
          </a:p>
        </p:txBody>
      </p:sp>
      <p:sp>
        <p:nvSpPr>
          <p:cNvPr id="23" name="Text 21"/>
          <p:cNvSpPr txBox="1"/>
          <p:nvPr/>
        </p:nvSpPr>
        <p:spPr>
          <a:xfrm>
            <a:off x="5623560" y="3154680"/>
            <a:ext cx="2880360" cy="384048"/>
          </a:xfrm>
          <a:prstGeom prst="rect">
            <a:avLst/>
          </a:prstGeom>
          <a:noFill/>
          <a:ln/>
        </p:spPr>
        <p:txBody>
          <a:bodyPr wrap="square" lIns="0" tIns="0" rIns="0" bIns="0" rtlCol="0" anchor="ctr"/>
          <a:lstStyle/>
          <a:p>
            <a:pPr algn="ctr" indent="0" marL="0">
              <a:buNone/>
            </a:pPr>
            <a:r>
              <a:rPr lang="en-US" sz="1300" dirty="0">
                <a:solidFill>
                  <a:schemeClr val="tx2"/>
                </a:solidFill>
                <a:latin typeface="Calibri" pitchFamily="34" charset="0"/>
                <a:ea typeface="Calibri" pitchFamily="34" charset="-122"/>
                <a:cs typeface="Calibri" pitchFamily="34" charset="-120"/>
              </a:rPr>
              <a:t>ResNet</a:t>
            </a:r>
            <a:endParaRPr lang="en-US" sz="1300" dirty="0"/>
          </a:p>
        </p:txBody>
      </p:sp>
      <p:sp>
        <p:nvSpPr>
          <p:cNvPr id="24" name="Text 22"/>
          <p:cNvSpPr txBox="1"/>
          <p:nvPr/>
        </p:nvSpPr>
        <p:spPr>
          <a:xfrm>
            <a:off x="640080" y="3611880"/>
            <a:ext cx="2880360" cy="384048"/>
          </a:xfrm>
          <a:prstGeom prst="rect">
            <a:avLst/>
          </a:prstGeom>
          <a:noFill/>
          <a:ln/>
        </p:spPr>
        <p:txBody>
          <a:bodyPr wrap="square" lIns="0" tIns="0" rIns="0" bIns="0" rtlCol="0" anchor="ctr"/>
          <a:lstStyle/>
          <a:p>
            <a:pPr algn="ctr" indent="0" marL="0">
              <a:buNone/>
            </a:pPr>
            <a:r>
              <a:rPr lang="en-US" sz="1300" dirty="0">
                <a:solidFill>
                  <a:schemeClr val="tx2"/>
                </a:solidFill>
                <a:latin typeface="Calibri" pitchFamily="34" charset="0"/>
                <a:ea typeface="Calibri" pitchFamily="34" charset="-122"/>
                <a:cs typeface="Calibri" pitchFamily="34" charset="-120"/>
              </a:rPr>
              <a:t>Progressive EA</a:t>
            </a:r>
            <a:endParaRPr lang="en-US" sz="1300" dirty="0"/>
          </a:p>
        </p:txBody>
      </p:sp>
      <p:sp>
        <p:nvSpPr>
          <p:cNvPr id="25" name="hl4"/>
          <p:cNvSpPr/>
          <p:nvPr/>
        </p:nvSpPr>
        <p:spPr>
          <a:xfrm>
            <a:off x="3886200" y="3639312"/>
            <a:ext cx="1371600" cy="329184"/>
          </a:xfrm>
          <a:prstGeom prst="roundRect">
            <a:avLst>
              <a:gd name="adj" fmla="val 22222"/>
            </a:avLst>
          </a:prstGeom>
          <a:solidFill>
            <a:schemeClr val="tx2"/>
          </a:solidFill>
          <a:ln w="12700">
            <a:solidFill>
              <a:schemeClr val="tx2"/>
            </a:solidFill>
            <a:prstDash val="solid"/>
          </a:ln>
        </p:spPr>
      </p:sp>
      <p:sp>
        <p:nvSpPr>
          <p:cNvPr id="26" name="Text 24"/>
          <p:cNvSpPr txBox="1"/>
          <p:nvPr/>
        </p:nvSpPr>
        <p:spPr>
          <a:xfrm>
            <a:off x="3886200" y="3639312"/>
            <a:ext cx="1371600" cy="329184"/>
          </a:xfrm>
          <a:prstGeom prst="rect">
            <a:avLst/>
          </a:prstGeom>
          <a:noFill/>
          <a:ln/>
        </p:spPr>
        <p:txBody>
          <a:bodyPr wrap="square" lIns="0" tIns="0" rIns="0" bIns="0"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Search</a:t>
            </a:r>
            <a:endParaRPr lang="en-US" sz="1100" dirty="0"/>
          </a:p>
        </p:txBody>
      </p:sp>
      <p:sp>
        <p:nvSpPr>
          <p:cNvPr id="27" name="Text 25"/>
          <p:cNvSpPr txBox="1"/>
          <p:nvPr/>
        </p:nvSpPr>
        <p:spPr>
          <a:xfrm>
            <a:off x="5623560" y="3611880"/>
            <a:ext cx="2880360" cy="384048"/>
          </a:xfrm>
          <a:prstGeom prst="rect">
            <a:avLst/>
          </a:prstGeom>
          <a:noFill/>
          <a:ln/>
        </p:spPr>
        <p:txBody>
          <a:bodyPr wrap="square" lIns="0" tIns="0" rIns="0" bIns="0" rtlCol="0" anchor="ctr"/>
          <a:lstStyle/>
          <a:p>
            <a:pPr algn="ctr" indent="0" marL="0">
              <a:buNone/>
            </a:pPr>
            <a:r>
              <a:rPr lang="en-US" sz="1300" dirty="0">
                <a:solidFill>
                  <a:schemeClr val="tx2"/>
                </a:solidFill>
                <a:latin typeface="Calibri" pitchFamily="34" charset="0"/>
                <a:ea typeface="Calibri" pitchFamily="34" charset="-122"/>
                <a:cs typeface="Calibri" pitchFamily="34" charset="-120"/>
              </a:rPr>
              <a:t>Standard EA</a:t>
            </a:r>
            <a:endParaRPr lang="en-US" sz="1300" dirty="0"/>
          </a:p>
        </p:txBody>
      </p:sp>
      <p:sp>
        <p:nvSpPr>
          <p:cNvPr id="28" name="Text 26"/>
          <p:cNvSpPr txBox="1"/>
          <p:nvPr/>
        </p:nvSpPr>
        <p:spPr>
          <a:xfrm>
            <a:off x="640080" y="4069080"/>
            <a:ext cx="2880360" cy="384048"/>
          </a:xfrm>
          <a:prstGeom prst="rect">
            <a:avLst/>
          </a:prstGeom>
          <a:noFill/>
          <a:ln/>
        </p:spPr>
        <p:txBody>
          <a:bodyPr wrap="square" lIns="0" tIns="0" rIns="0" bIns="0" rtlCol="0" anchor="ctr"/>
          <a:lstStyle/>
          <a:p>
            <a:pPr algn="ctr" indent="0" marL="0">
              <a:buNone/>
            </a:pPr>
            <a:r>
              <a:rPr lang="en-US" sz="1300" dirty="0">
                <a:solidFill>
                  <a:schemeClr val="tx2"/>
                </a:solidFill>
                <a:latin typeface="Calibri" pitchFamily="34" charset="0"/>
                <a:ea typeface="Calibri" pitchFamily="34" charset="-122"/>
                <a:cs typeface="Calibri" pitchFamily="34" charset="-120"/>
              </a:rPr>
              <a:t>≈3 s · 98.7%</a:t>
            </a:r>
            <a:endParaRPr lang="en-US" sz="1300" dirty="0"/>
          </a:p>
        </p:txBody>
      </p:sp>
      <p:sp>
        <p:nvSpPr>
          <p:cNvPr id="29" name="hl5"/>
          <p:cNvSpPr/>
          <p:nvPr/>
        </p:nvSpPr>
        <p:spPr>
          <a:xfrm>
            <a:off x="3886200" y="4096512"/>
            <a:ext cx="1371600" cy="329184"/>
          </a:xfrm>
          <a:prstGeom prst="roundRect">
            <a:avLst>
              <a:gd name="adj" fmla="val 22222"/>
            </a:avLst>
          </a:prstGeom>
          <a:solidFill>
            <a:schemeClr val="tx2"/>
          </a:solidFill>
          <a:ln w="12700">
            <a:solidFill>
              <a:schemeClr val="tx2"/>
            </a:solidFill>
            <a:prstDash val="solid"/>
          </a:ln>
        </p:spPr>
      </p:sp>
      <p:sp>
        <p:nvSpPr>
          <p:cNvPr id="30" name="Text 28"/>
          <p:cNvSpPr txBox="1"/>
          <p:nvPr/>
        </p:nvSpPr>
        <p:spPr>
          <a:xfrm>
            <a:off x="3886200" y="4096512"/>
            <a:ext cx="1371600" cy="329184"/>
          </a:xfrm>
          <a:prstGeom prst="rect">
            <a:avLst/>
          </a:prstGeom>
          <a:noFill/>
          <a:ln/>
        </p:spPr>
        <p:txBody>
          <a:bodyPr wrap="square" lIns="0" tIns="0" rIns="0" bIns="0"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Headline</a:t>
            </a:r>
            <a:endParaRPr lang="en-US" sz="1100" dirty="0"/>
          </a:p>
        </p:txBody>
      </p:sp>
      <p:sp>
        <p:nvSpPr>
          <p:cNvPr id="31" name="Text 29"/>
          <p:cNvSpPr txBox="1"/>
          <p:nvPr/>
        </p:nvSpPr>
        <p:spPr>
          <a:xfrm>
            <a:off x="5623560" y="4069080"/>
            <a:ext cx="2880360" cy="384048"/>
          </a:xfrm>
          <a:prstGeom prst="rect">
            <a:avLst/>
          </a:prstGeom>
          <a:noFill/>
          <a:ln/>
        </p:spPr>
        <p:txBody>
          <a:bodyPr wrap="square" lIns="0" tIns="0" rIns="0" bIns="0" rtlCol="0" anchor="ctr"/>
          <a:lstStyle/>
          <a:p>
            <a:pPr algn="ctr" indent="0" marL="0">
              <a:buNone/>
            </a:pPr>
            <a:r>
              <a:rPr lang="en-US" sz="1300" dirty="0">
                <a:solidFill>
                  <a:schemeClr val="tx2"/>
                </a:solidFill>
                <a:latin typeface="Calibri" pitchFamily="34" charset="0"/>
                <a:ea typeface="Calibri" pitchFamily="34" charset="-122"/>
                <a:cs typeface="Calibri" pitchFamily="34" charset="-120"/>
              </a:rPr>
              <a:t>≈1 mm inverse error</a:t>
            </a:r>
            <a:endParaRPr lang="en-US" sz="1300" dirty="0"/>
          </a:p>
        </p:txBody>
      </p:sp>
      <p:sp>
        <p:nvSpPr>
          <p:cNvPr id="32" name="Text 30"/>
          <p:cNvSpPr txBox="1"/>
          <p:nvPr/>
        </p:nvSpPr>
        <p:spPr>
          <a:xfrm>
            <a:off x="457200" y="4818888"/>
            <a:ext cx="7498080" cy="201168"/>
          </a:xfrm>
          <a:prstGeom prst="rect">
            <a:avLst/>
          </a:prstGeom>
          <a:noFill/>
          <a:ln/>
        </p:spPr>
        <p:txBody>
          <a:bodyPr wrap="square" lIns="0" tIns="0" rIns="0" bIns="0" rtlCol="0" anchor="t"/>
          <a:lstStyle/>
          <a:p>
            <a:pPr indent="0" marL="0">
              <a:buNone/>
            </a:pPr>
            <a:r>
              <a:rPr lang="en-US" sz="800" dirty="0">
                <a:solidFill>
                  <a:schemeClr val="accent4"/>
                </a:solidFill>
                <a:latin typeface="Calibri" pitchFamily="34" charset="0"/>
                <a:ea typeface="Calibri" pitchFamily="34" charset="-122"/>
                <a:cs typeface="Calibri" pitchFamily="34" charset="-120"/>
              </a:rPr>
              <a:t>Compiled from Wang et al. 2025 [1] and Jin et al. 2024 [2]. Headline metrics are not directly comparable.</a:t>
            </a:r>
            <a:endParaRPr lang="en-US" sz="8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5B6B82"/>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0"/>
          <p:cNvSpPr/>
          <p:nvPr>
            <p:ph idx="120" type="body" hasCustomPrompt="1"/>
          </p:nvPr>
        </p:nvSpPr>
        <p:spPr>
          <a:xfrm>
            <a:off x="548640" y="1097280"/>
            <a:ext cx="2743200" cy="914400"/>
          </a:xfrm>
          <a:prstGeom prst="rect">
            <a:avLst/>
          </a:prstGeom>
          <a:noFill/>
          <a:ln/>
        </p:spPr>
        <p:txBody>
          <a:bodyPr wrap="square" lIns="0" tIns="0" rIns="0" bIns="0" rtlCol="0" anchor="b"/>
          <a:lstStyle/>
          <a:p>
            <a:pPr algn="l" indent="0" marL="0">
              <a:buNone/>
            </a:pPr>
            <a:r>
              <a:rPr lang="en-US" sz="5400" b="1" dirty="0">
                <a:solidFill>
                  <a:schemeClr val="accent3"/>
                </a:solidFill>
                <a:latin typeface="Georgia" pitchFamily="34" charset="0"/>
                <a:ea typeface="Georgia" pitchFamily="34" charset="-122"/>
                <a:cs typeface="Georgia" pitchFamily="34" charset="-120"/>
              </a:rPr>
              <a:t>02</a:t>
            </a:r>
            <a:endParaRPr lang="en-US" sz="5400" dirty="0"/>
          </a:p>
        </p:txBody>
      </p:sp>
      <p:sp>
        <p:nvSpPr>
          <p:cNvPr id="3" name="Text 20"/>
          <p:cNvSpPr/>
          <p:nvPr>
            <p:ph idx="121" type="title" hasCustomPrompt="1"/>
          </p:nvPr>
        </p:nvSpPr>
        <p:spPr>
          <a:xfrm>
            <a:off x="548640" y="2103120"/>
            <a:ext cx="4297680" cy="1188720"/>
          </a:xfrm>
          <a:prstGeom prst="rect">
            <a:avLst/>
          </a:prstGeom>
          <a:noFill/>
          <a:ln/>
        </p:spPr>
        <p:txBody>
          <a:bodyPr wrap="square" lIns="0" tIns="0" rIns="0" bIns="0" rtlCol="0" anchor="t"/>
          <a:lstStyle/>
          <a:p>
            <a:pPr algn="l" indent="0" marL="0">
              <a:buNone/>
            </a:pPr>
            <a:r>
              <a:rPr lang="en-US" sz="3000" b="1" dirty="0">
                <a:solidFill>
                  <a:schemeClr val="bg1"/>
                </a:solidFill>
                <a:latin typeface="Georgia" pitchFamily="34" charset="0"/>
                <a:ea typeface="Georgia" pitchFamily="34" charset="-122"/>
                <a:cs typeface="Georgia" pitchFamily="34" charset="-120"/>
              </a:rPr>
              <a:t>What our repo does</a:t>
            </a:r>
            <a:endParaRPr lang="en-US" sz="3000" dirty="0"/>
          </a:p>
        </p:txBody>
      </p:sp>
      <p:sp>
        <p:nvSpPr>
          <p:cNvPr id="4" name="Text 20"/>
          <p:cNvSpPr/>
          <p:nvPr>
            <p:ph idx="122" type="body" hasCustomPrompt="1"/>
          </p:nvPr>
        </p:nvSpPr>
        <p:spPr>
          <a:xfrm>
            <a:off x="548640" y="3383280"/>
            <a:ext cx="4297680" cy="731520"/>
          </a:xfrm>
          <a:prstGeom prst="rect">
            <a:avLst/>
          </a:prstGeom>
          <a:noFill/>
          <a:ln/>
        </p:spPr>
        <p:txBody>
          <a:bodyPr wrap="square" lIns="0" tIns="0" rIns="0" bIns="0" rtlCol="0" anchor="t"/>
          <a:lstStyle/>
          <a:p>
            <a:pPr algn="l" indent="0" marL="0">
              <a:buNone/>
            </a:pPr>
            <a:r>
              <a:rPr lang="en-US" sz="1500" dirty="0">
                <a:solidFill>
                  <a:schemeClr val="accent5"/>
                </a:solidFill>
                <a:latin typeface="Calibri" pitchFamily="34" charset="0"/>
                <a:ea typeface="Calibri" pitchFamily="34" charset="-122"/>
                <a:cs typeface="Calibri" pitchFamily="34" charset="-120"/>
              </a:rPr>
              <a:t>A fork of Wang’s code with a ResNet experiment</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p:nvPr>
            <p:ph idx="102" type="body" hasCustomPrompt="1"/>
          </p:nvPr>
        </p:nvSpPr>
        <p:spPr>
          <a:xfrm>
            <a:off x="457200" y="256032"/>
            <a:ext cx="7315200" cy="228600"/>
          </a:xfrm>
          <a:prstGeom prst="rect">
            <a:avLst/>
          </a:prstGeom>
          <a:noFill/>
          <a:ln/>
        </p:spPr>
        <p:txBody>
          <a:bodyPr wrap="square" lIns="0" tIns="0" rIns="0" bIns="0" rtlCol="0" anchor="ctr"/>
          <a:lstStyle/>
          <a:p>
            <a:pPr algn="l" indent="0" marL="0">
              <a:buNone/>
            </a:pPr>
            <a:r>
              <a:rPr lang="en-US" sz="1000" b="1" spc="200" kern="0" dirty="0">
                <a:solidFill>
                  <a:schemeClr val="accent1"/>
                </a:solidFill>
                <a:latin typeface="Calibri" pitchFamily="34" charset="0"/>
                <a:ea typeface="Calibri" pitchFamily="34" charset="-122"/>
                <a:cs typeface="Calibri" pitchFamily="34" charset="-120"/>
              </a:rPr>
              <a:t>OUR FORK</a:t>
            </a:r>
            <a:endParaRPr lang="en-US" sz="1000" dirty="0"/>
          </a:p>
        </p:txBody>
      </p:sp>
      <p:sp>
        <p:nvSpPr>
          <p:cNvPr id="3" name="Text 2"/>
          <p:cNvSpPr/>
          <p:nvPr>
            <p:ph idx="103" type="title" hasCustomPrompt="1"/>
          </p:nvPr>
        </p:nvSpPr>
        <p:spPr>
          <a:xfrm>
            <a:off x="457200" y="502920"/>
            <a:ext cx="8229600" cy="548640"/>
          </a:xfrm>
          <a:prstGeom prst="rect">
            <a:avLst/>
          </a:prstGeom>
          <a:noFill/>
          <a:ln/>
        </p:spPr>
        <p:txBody>
          <a:bodyPr wrap="square" lIns="0" tIns="0" rIns="0" bIns="0" rtlCol="0" anchor="ctr"/>
          <a:lstStyle/>
          <a:p>
            <a:pPr algn="l" indent="0" marL="0">
              <a:buNone/>
            </a:pPr>
            <a:r>
              <a:rPr lang="en-US" sz="2400" b="1" dirty="0">
                <a:solidFill>
                  <a:schemeClr val="tx2"/>
                </a:solidFill>
                <a:latin typeface="Georgia" pitchFamily="34" charset="0"/>
                <a:ea typeface="Georgia" pitchFamily="34" charset="-122"/>
                <a:cs typeface="Georgia" pitchFamily="34" charset="-120"/>
              </a:rPr>
              <a:t>Replacing the model: not plug-and-play</a:t>
            </a:r>
            <a:endParaRPr lang="en-US" sz="2400" dirty="0"/>
          </a:p>
        </p:txBody>
      </p:sp>
      <p:sp>
        <p:nvSpPr>
          <p:cNvPr id="4" name="pp0"/>
          <p:cNvSpPr/>
          <p:nvPr/>
        </p:nvSpPr>
        <p:spPr>
          <a:xfrm>
            <a:off x="457200" y="1234440"/>
            <a:ext cx="1463040" cy="868680"/>
          </a:xfrm>
          <a:prstGeom prst="roundRect">
            <a:avLst>
              <a:gd name="adj" fmla="val 8421"/>
            </a:avLst>
          </a:prstGeom>
          <a:solidFill>
            <a:schemeClr val="bg2"/>
          </a:solidFill>
          <a:ln w="12700">
            <a:solidFill>
              <a:schemeClr val="bg2"/>
            </a:solidFill>
            <a:prstDash val="solid"/>
          </a:ln>
        </p:spPr>
      </p:sp>
      <p:sp>
        <p:nvSpPr>
          <p:cNvPr id="5" name="Text 3"/>
          <p:cNvSpPr txBox="1"/>
          <p:nvPr/>
        </p:nvSpPr>
        <p:spPr>
          <a:xfrm>
            <a:off x="512064" y="1234440"/>
            <a:ext cx="1353312" cy="868680"/>
          </a:xfrm>
          <a:prstGeom prst="rect">
            <a:avLst/>
          </a:prstGeom>
          <a:noFill/>
          <a:ln/>
        </p:spPr>
        <p:txBody>
          <a:bodyPr wrap="square" lIns="0" tIns="0" rIns="0" bIns="0" rtlCol="0" anchor="ctr"/>
          <a:lstStyle/>
          <a:p>
            <a:pPr algn="ctr" indent="0" marL="0">
              <a:buNone/>
            </a:pPr>
            <a:r>
              <a:rPr lang="en-US" sz="1200" b="1" dirty="0">
                <a:solidFill>
                  <a:schemeClr val="tx2"/>
                </a:solidFill>
                <a:latin typeface="Calibri" pitchFamily="34" charset="0"/>
                <a:ea typeface="Calibri" pitchFamily="34" charset="-122"/>
                <a:cs typeface="Calibri" pitchFamily="34" charset="-120"/>
              </a:rPr>
              <a:t>Layout</a:t>
            </a:r>
            <a:endParaRPr lang="en-US" sz="1200" dirty="0"/>
          </a:p>
          <a:p>
            <a:pPr algn="ctr" indent="0" marL="0">
              <a:buNone/>
            </a:pPr>
            <a:r>
              <a:rPr lang="en-US" sz="1000" dirty="0">
                <a:solidFill>
                  <a:schemeClr val="tx2"/>
                </a:solidFill>
                <a:latin typeface="Consolas" pitchFamily="34" charset="0"/>
                <a:ea typeface="Consolas" pitchFamily="34" charset="-122"/>
                <a:cs typeface="Consolas" pitchFamily="34" charset="-120"/>
              </a:rPr>
              <a:t>(batch, 2, 10)</a:t>
            </a:r>
            <a:endParaRPr lang="en-US" sz="1200" dirty="0"/>
          </a:p>
        </p:txBody>
      </p:sp>
      <p:sp>
        <p:nvSpPr>
          <p:cNvPr id="6" name="ppa0"/>
          <p:cNvSpPr/>
          <p:nvPr/>
        </p:nvSpPr>
        <p:spPr>
          <a:xfrm>
            <a:off x="1938528" y="1668780"/>
            <a:ext cx="192024" cy="0"/>
          </a:xfrm>
          <a:prstGeom prst="line">
            <a:avLst/>
          </a:prstGeom>
          <a:noFill/>
          <a:ln w="22225">
            <a:solidFill>
              <a:schemeClr val="accent4"/>
            </a:solidFill>
            <a:prstDash val="solid"/>
            <a:tailEnd type="triangle"/>
          </a:ln>
        </p:spPr>
      </p:sp>
      <p:sp>
        <p:nvSpPr>
          <p:cNvPr id="7" name="pp1"/>
          <p:cNvSpPr/>
          <p:nvPr/>
        </p:nvSpPr>
        <p:spPr>
          <a:xfrm>
            <a:off x="2148840" y="1234440"/>
            <a:ext cx="1463040" cy="868680"/>
          </a:xfrm>
          <a:prstGeom prst="roundRect">
            <a:avLst>
              <a:gd name="adj" fmla="val 8421"/>
            </a:avLst>
          </a:prstGeom>
          <a:solidFill>
            <a:schemeClr val="accent1"/>
          </a:solidFill>
          <a:ln w="12700">
            <a:solidFill>
              <a:schemeClr val="accent1"/>
            </a:solidFill>
            <a:prstDash val="solid"/>
          </a:ln>
        </p:spPr>
      </p:sp>
      <p:sp>
        <p:nvSpPr>
          <p:cNvPr id="8" name="Text 6"/>
          <p:cNvSpPr txBox="1"/>
          <p:nvPr/>
        </p:nvSpPr>
        <p:spPr>
          <a:xfrm>
            <a:off x="2203704" y="1234440"/>
            <a:ext cx="1353312" cy="868680"/>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SEP-CNN  or  2D ResNet</a:t>
            </a:r>
            <a:endParaRPr lang="en-US" sz="1200" dirty="0"/>
          </a:p>
        </p:txBody>
      </p:sp>
      <p:sp>
        <p:nvSpPr>
          <p:cNvPr id="9" name="ppa1"/>
          <p:cNvSpPr/>
          <p:nvPr/>
        </p:nvSpPr>
        <p:spPr>
          <a:xfrm>
            <a:off x="3630168" y="1668780"/>
            <a:ext cx="192024" cy="0"/>
          </a:xfrm>
          <a:prstGeom prst="line">
            <a:avLst/>
          </a:prstGeom>
          <a:noFill/>
          <a:ln w="22225">
            <a:solidFill>
              <a:schemeClr val="accent4"/>
            </a:solidFill>
            <a:prstDash val="solid"/>
            <a:tailEnd type="triangle"/>
          </a:ln>
        </p:spPr>
      </p:sp>
      <p:sp>
        <p:nvSpPr>
          <p:cNvPr id="10" name="pp2"/>
          <p:cNvSpPr/>
          <p:nvPr/>
        </p:nvSpPr>
        <p:spPr>
          <a:xfrm>
            <a:off x="3840480" y="1234440"/>
            <a:ext cx="1463040" cy="868680"/>
          </a:xfrm>
          <a:prstGeom prst="roundRect">
            <a:avLst>
              <a:gd name="adj" fmla="val 8421"/>
            </a:avLst>
          </a:prstGeom>
          <a:solidFill>
            <a:schemeClr val="bg2"/>
          </a:solidFill>
          <a:ln w="12700">
            <a:solidFill>
              <a:schemeClr val="bg2"/>
            </a:solidFill>
            <a:prstDash val="solid"/>
          </a:ln>
        </p:spPr>
      </p:sp>
      <p:sp>
        <p:nvSpPr>
          <p:cNvPr id="11" name="Text 9"/>
          <p:cNvSpPr txBox="1"/>
          <p:nvPr/>
        </p:nvSpPr>
        <p:spPr>
          <a:xfrm>
            <a:off x="3895344" y="1234440"/>
            <a:ext cx="1353312" cy="868680"/>
          </a:xfrm>
          <a:prstGeom prst="rect">
            <a:avLst/>
          </a:prstGeom>
          <a:noFill/>
          <a:ln/>
        </p:spPr>
        <p:txBody>
          <a:bodyPr wrap="square" lIns="0" tIns="0" rIns="0" bIns="0" rtlCol="0" anchor="ctr"/>
          <a:lstStyle/>
          <a:p>
            <a:pPr algn="ctr" indent="0" marL="0">
              <a:buNone/>
            </a:pPr>
            <a:r>
              <a:rPr lang="en-US" sz="1200" b="1" dirty="0">
                <a:solidFill>
                  <a:schemeClr val="tx2"/>
                </a:solidFill>
                <a:latin typeface="Calibri" pitchFamily="34" charset="0"/>
                <a:ea typeface="Calibri" pitchFamily="34" charset="-122"/>
                <a:cs typeface="Calibri" pitchFamily="34" charset="-120"/>
              </a:rPr>
              <a:t>Predicted curve</a:t>
            </a:r>
            <a:endParaRPr lang="en-US" sz="1200" dirty="0"/>
          </a:p>
          <a:p>
            <a:pPr algn="ctr" indent="0" marL="0">
              <a:buNone/>
            </a:pPr>
            <a:r>
              <a:rPr lang="en-US" sz="1000" dirty="0">
                <a:solidFill>
                  <a:schemeClr val="tx2"/>
                </a:solidFill>
                <a:latin typeface="Consolas" pitchFamily="34" charset="0"/>
                <a:ea typeface="Consolas" pitchFamily="34" charset="-122"/>
                <a:cs typeface="Consolas" pitchFamily="34" charset="-120"/>
              </a:rPr>
              <a:t>(batch, 2, 200)</a:t>
            </a:r>
            <a:endParaRPr lang="en-US" sz="1200" dirty="0"/>
          </a:p>
        </p:txBody>
      </p:sp>
      <p:sp>
        <p:nvSpPr>
          <p:cNvPr id="12" name="ppa2"/>
          <p:cNvSpPr/>
          <p:nvPr/>
        </p:nvSpPr>
        <p:spPr>
          <a:xfrm>
            <a:off x="5321808" y="1668780"/>
            <a:ext cx="192024" cy="0"/>
          </a:xfrm>
          <a:prstGeom prst="line">
            <a:avLst/>
          </a:prstGeom>
          <a:noFill/>
          <a:ln w="22225">
            <a:solidFill>
              <a:schemeClr val="accent4"/>
            </a:solidFill>
            <a:prstDash val="solid"/>
            <a:tailEnd type="triangle"/>
          </a:ln>
        </p:spPr>
      </p:sp>
      <p:sp>
        <p:nvSpPr>
          <p:cNvPr id="13" name="pp3"/>
          <p:cNvSpPr/>
          <p:nvPr/>
        </p:nvSpPr>
        <p:spPr>
          <a:xfrm>
            <a:off x="5532120" y="1234440"/>
            <a:ext cx="1463040" cy="868680"/>
          </a:xfrm>
          <a:prstGeom prst="roundRect">
            <a:avLst>
              <a:gd name="adj" fmla="val 8421"/>
            </a:avLst>
          </a:prstGeom>
          <a:solidFill>
            <a:schemeClr val="bg2"/>
          </a:solidFill>
          <a:ln w="12700">
            <a:solidFill>
              <a:schemeClr val="bg2"/>
            </a:solidFill>
            <a:prstDash val="solid"/>
          </a:ln>
        </p:spPr>
      </p:sp>
      <p:sp>
        <p:nvSpPr>
          <p:cNvPr id="14" name="Text 12"/>
          <p:cNvSpPr txBox="1"/>
          <p:nvPr/>
        </p:nvSpPr>
        <p:spPr>
          <a:xfrm>
            <a:off x="5586984" y="1234440"/>
            <a:ext cx="1353312" cy="868680"/>
          </a:xfrm>
          <a:prstGeom prst="rect">
            <a:avLst/>
          </a:prstGeom>
          <a:noFill/>
          <a:ln/>
        </p:spPr>
        <p:txBody>
          <a:bodyPr wrap="square" lIns="0" tIns="0" rIns="0" bIns="0" rtlCol="0" anchor="ctr"/>
          <a:lstStyle/>
          <a:p>
            <a:pPr algn="ctr" indent="0" marL="0">
              <a:buNone/>
            </a:pPr>
            <a:r>
              <a:rPr lang="en-US" sz="1200" b="1" dirty="0">
                <a:solidFill>
                  <a:schemeClr val="tx2"/>
                </a:solidFill>
                <a:latin typeface="Calibri" pitchFamily="34" charset="0"/>
                <a:ea typeface="Calibri" pitchFamily="34" charset="-122"/>
                <a:cs typeface="Calibri" pitchFamily="34" charset="-120"/>
              </a:rPr>
              <a:t>Score vs target</a:t>
            </a:r>
            <a:endParaRPr lang="en-US" sz="1200" dirty="0"/>
          </a:p>
          <a:p>
            <a:pPr algn="ctr" indent="0" marL="0">
              <a:buNone/>
            </a:pPr>
            <a:r>
              <a:rPr lang="en-US" sz="1000" dirty="0">
                <a:solidFill>
                  <a:schemeClr val="tx2"/>
                </a:solidFill>
                <a:latin typeface="Consolas" pitchFamily="34" charset="0"/>
                <a:ea typeface="Consolas" pitchFamily="34" charset="-122"/>
                <a:cs typeface="Consolas" pitchFamily="34" charset="-120"/>
              </a:rPr>
              <a:t>target_test.csv</a:t>
            </a:r>
            <a:endParaRPr lang="en-US" sz="1200" dirty="0"/>
          </a:p>
        </p:txBody>
      </p:sp>
      <p:sp>
        <p:nvSpPr>
          <p:cNvPr id="15" name="ppa3"/>
          <p:cNvSpPr/>
          <p:nvPr/>
        </p:nvSpPr>
        <p:spPr>
          <a:xfrm>
            <a:off x="7013448" y="1668780"/>
            <a:ext cx="192024" cy="0"/>
          </a:xfrm>
          <a:prstGeom prst="line">
            <a:avLst/>
          </a:prstGeom>
          <a:noFill/>
          <a:ln w="22225">
            <a:solidFill>
              <a:schemeClr val="accent4"/>
            </a:solidFill>
            <a:prstDash val="solid"/>
            <a:tailEnd type="triangle"/>
          </a:ln>
        </p:spPr>
      </p:sp>
      <p:sp>
        <p:nvSpPr>
          <p:cNvPr id="16" name="pp4"/>
          <p:cNvSpPr/>
          <p:nvPr/>
        </p:nvSpPr>
        <p:spPr>
          <a:xfrm>
            <a:off x="7223760" y="1234440"/>
            <a:ext cx="1463040" cy="868680"/>
          </a:xfrm>
          <a:prstGeom prst="roundRect">
            <a:avLst>
              <a:gd name="adj" fmla="val 8421"/>
            </a:avLst>
          </a:prstGeom>
          <a:solidFill>
            <a:schemeClr val="bg2"/>
          </a:solidFill>
          <a:ln w="12700">
            <a:solidFill>
              <a:schemeClr val="bg2"/>
            </a:solidFill>
            <a:prstDash val="solid"/>
          </a:ln>
        </p:spPr>
      </p:sp>
      <p:sp>
        <p:nvSpPr>
          <p:cNvPr id="17" name="Text 15"/>
          <p:cNvSpPr txBox="1"/>
          <p:nvPr/>
        </p:nvSpPr>
        <p:spPr>
          <a:xfrm>
            <a:off x="7278624" y="1234440"/>
            <a:ext cx="1353312" cy="868680"/>
          </a:xfrm>
          <a:prstGeom prst="rect">
            <a:avLst/>
          </a:prstGeom>
          <a:noFill/>
          <a:ln/>
        </p:spPr>
        <p:txBody>
          <a:bodyPr wrap="square" lIns="0" tIns="0" rIns="0" bIns="0" rtlCol="0" anchor="ctr"/>
          <a:lstStyle/>
          <a:p>
            <a:pPr algn="ctr" indent="0" marL="0">
              <a:buNone/>
            </a:pPr>
            <a:r>
              <a:rPr lang="en-US" sz="1200" b="1" dirty="0">
                <a:solidFill>
                  <a:schemeClr val="tx2"/>
                </a:solidFill>
                <a:latin typeface="Calibri" pitchFamily="34" charset="0"/>
                <a:ea typeface="Calibri" pitchFamily="34" charset="-122"/>
                <a:cs typeface="Calibri" pitchFamily="34" charset="-120"/>
              </a:rPr>
              <a:t>PEA</a:t>
            </a:r>
            <a:endParaRPr lang="en-US" sz="1200" dirty="0"/>
          </a:p>
          <a:p>
            <a:pPr algn="ctr" indent="0" marL="0">
              <a:buNone/>
            </a:pPr>
            <a:r>
              <a:rPr lang="en-US" sz="1000" dirty="0">
                <a:solidFill>
                  <a:schemeClr val="tx2"/>
                </a:solidFill>
                <a:latin typeface="Consolas" pitchFamily="34" charset="0"/>
                <a:ea typeface="Consolas" pitchFamily="34" charset="-122"/>
                <a:cs typeface="Consolas" pitchFamily="34" charset="-120"/>
              </a:rPr>
              <a:t>search</a:t>
            </a:r>
            <a:endParaRPr lang="en-US" sz="1200" dirty="0"/>
          </a:p>
        </p:txBody>
      </p:sp>
      <p:sp>
        <p:nvSpPr>
          <p:cNvPr id="18" name="Text 16"/>
          <p:cNvSpPr txBox="1"/>
          <p:nvPr/>
        </p:nvSpPr>
        <p:spPr>
          <a:xfrm>
            <a:off x="457200" y="2331720"/>
            <a:ext cx="8229600" cy="320040"/>
          </a:xfrm>
          <a:prstGeom prst="rect">
            <a:avLst/>
          </a:prstGeom>
          <a:noFill/>
          <a:ln/>
        </p:spPr>
        <p:txBody>
          <a:bodyPr wrap="square" lIns="0" tIns="0" rIns="0" bIns="0" rtlCol="0" anchor="t"/>
          <a:lstStyle/>
          <a:p>
            <a:pPr indent="0" marL="0">
              <a:buNone/>
            </a:pPr>
            <a:r>
              <a:rPr lang="en-US" sz="1400" b="1" dirty="0">
                <a:solidFill>
                  <a:schemeClr val="tx2"/>
                </a:solidFill>
                <a:latin typeface="Calibri" pitchFamily="34" charset="0"/>
                <a:ea typeface="Calibri" pitchFamily="34" charset="-122"/>
                <a:cs typeface="Calibri" pitchFamily="34" charset="-120"/>
              </a:rPr>
              <a:t>Same input/output shapes. Still needed:</a:t>
            </a:r>
            <a:endParaRPr lang="en-US" sz="1400" dirty="0"/>
          </a:p>
        </p:txBody>
      </p:sp>
      <p:sp>
        <p:nvSpPr>
          <p:cNvPr id="19" name="nd0"/>
          <p:cNvSpPr/>
          <p:nvPr/>
        </p:nvSpPr>
        <p:spPr>
          <a:xfrm>
            <a:off x="457200" y="2743200"/>
            <a:ext cx="1938528" cy="1325880"/>
          </a:xfrm>
          <a:prstGeom prst="roundRect">
            <a:avLst>
              <a:gd name="adj" fmla="val 5517"/>
            </a:avLst>
          </a:prstGeom>
          <a:solidFill>
            <a:schemeClr val="bg2"/>
          </a:solidFill>
          <a:ln w="12700">
            <a:solidFill>
              <a:schemeClr val="bg2"/>
            </a:solidFill>
            <a:prstDash val="solid"/>
          </a:ln>
        </p:spPr>
      </p:sp>
      <p:sp>
        <p:nvSpPr>
          <p:cNvPr id="20" name="ndc0-c"/>
          <p:cNvSpPr/>
          <p:nvPr/>
        </p:nvSpPr>
        <p:spPr>
          <a:xfrm>
            <a:off x="594360" y="2880360"/>
            <a:ext cx="457200" cy="457200"/>
          </a:xfrm>
          <a:prstGeom prst="ellipse">
            <a:avLst/>
          </a:prstGeom>
          <a:solidFill>
            <a:schemeClr val="accent2"/>
          </a:solidFill>
          <a:ln w="12700">
            <a:solidFill>
              <a:schemeClr val="accent2"/>
            </a:solidFill>
            <a:prstDash val="solid"/>
          </a:ln>
        </p:spPr>
      </p:sp>
      <p:pic>
        <p:nvPicPr>
          <p:cNvPr id="21" name="ndc0-i" descr="preencoded.png">    </p:cNvPr>
          <p:cNvPicPr>
            <a:picLocks noChangeAspect="1"/>
          </p:cNvPicPr>
          <p:nvPr/>
        </p:nvPicPr>
        <p:blipFill>
          <a:blip r:embed="rId1"/>
          <a:stretch>
            <a:fillRect/>
          </a:stretch>
        </p:blipFill>
        <p:spPr>
          <a:xfrm>
            <a:off x="713232" y="2999232"/>
            <a:ext cx="219456" cy="219456"/>
          </a:xfrm>
          <a:prstGeom prst="rect">
            <a:avLst/>
          </a:prstGeom>
        </p:spPr>
      </p:pic>
      <p:sp>
        <p:nvSpPr>
          <p:cNvPr id="22" name="Text 19"/>
          <p:cNvSpPr txBox="1"/>
          <p:nvPr/>
        </p:nvSpPr>
        <p:spPr>
          <a:xfrm>
            <a:off x="594360" y="3401568"/>
            <a:ext cx="1691640" cy="274320"/>
          </a:xfrm>
          <a:prstGeom prst="rect">
            <a:avLst/>
          </a:prstGeom>
          <a:noFill/>
          <a:ln/>
        </p:spPr>
        <p:txBody>
          <a:bodyPr wrap="square" lIns="0" tIns="0" rIns="0" bIns="0" rtlCol="0" anchor="t"/>
          <a:lstStyle/>
          <a:p>
            <a:pPr indent="0" marL="0">
              <a:buNone/>
            </a:pPr>
            <a:r>
              <a:rPr lang="en-US" sz="1250" b="1" dirty="0">
                <a:solidFill>
                  <a:schemeClr val="tx2"/>
                </a:solidFill>
                <a:latin typeface="Calibri" pitchFamily="34" charset="0"/>
                <a:ea typeface="Calibri" pitchFamily="34" charset="-122"/>
                <a:cs typeface="Calibri" pitchFamily="34" charset="-120"/>
              </a:rPr>
              <a:t>Matching preprocessing</a:t>
            </a:r>
            <a:endParaRPr lang="en-US" sz="1250" dirty="0"/>
          </a:p>
        </p:txBody>
      </p:sp>
      <p:sp>
        <p:nvSpPr>
          <p:cNvPr id="23" name="Text 20"/>
          <p:cNvSpPr txBox="1"/>
          <p:nvPr/>
        </p:nvSpPr>
        <p:spPr>
          <a:xfrm>
            <a:off x="594360" y="3675888"/>
            <a:ext cx="1691640" cy="320040"/>
          </a:xfrm>
          <a:prstGeom prst="rect">
            <a:avLst/>
          </a:prstGeom>
          <a:noFill/>
          <a:ln/>
        </p:spPr>
        <p:txBody>
          <a:bodyPr wrap="square" lIns="0" tIns="0" rIns="0" bIns="0" rtlCol="0" anchor="t"/>
          <a:lstStyle/>
          <a:p>
            <a:pPr indent="0" marL="0">
              <a:buNone/>
            </a:pPr>
            <a:r>
              <a:rPr lang="en-US" sz="1000" dirty="0">
                <a:solidFill>
                  <a:schemeClr val="accent4"/>
                </a:solidFill>
                <a:latin typeface="Calibri" pitchFamily="34" charset="0"/>
                <a:ea typeface="Calibri" pitchFamily="34" charset="-122"/>
                <a:cs typeface="Calibri" pitchFamily="34" charset="-120"/>
              </a:rPr>
              <a:t>/1000 scaling, curve unification</a:t>
            </a:r>
            <a:endParaRPr lang="en-US" sz="1000" dirty="0"/>
          </a:p>
        </p:txBody>
      </p:sp>
      <p:sp>
        <p:nvSpPr>
          <p:cNvPr id="24" name="nd1"/>
          <p:cNvSpPr/>
          <p:nvPr/>
        </p:nvSpPr>
        <p:spPr>
          <a:xfrm>
            <a:off x="2532888" y="2743200"/>
            <a:ext cx="1938528" cy="1325880"/>
          </a:xfrm>
          <a:prstGeom prst="roundRect">
            <a:avLst>
              <a:gd name="adj" fmla="val 5517"/>
            </a:avLst>
          </a:prstGeom>
          <a:solidFill>
            <a:schemeClr val="bg2"/>
          </a:solidFill>
          <a:ln w="12700">
            <a:solidFill>
              <a:schemeClr val="bg2"/>
            </a:solidFill>
            <a:prstDash val="solid"/>
          </a:ln>
        </p:spPr>
      </p:sp>
      <p:sp>
        <p:nvSpPr>
          <p:cNvPr id="25" name="ndc1-c"/>
          <p:cNvSpPr/>
          <p:nvPr/>
        </p:nvSpPr>
        <p:spPr>
          <a:xfrm>
            <a:off x="2670048" y="2880360"/>
            <a:ext cx="457200" cy="457200"/>
          </a:xfrm>
          <a:prstGeom prst="ellipse">
            <a:avLst/>
          </a:prstGeom>
          <a:solidFill>
            <a:schemeClr val="accent2"/>
          </a:solidFill>
          <a:ln w="12700">
            <a:solidFill>
              <a:schemeClr val="accent2"/>
            </a:solidFill>
            <a:prstDash val="solid"/>
          </a:ln>
        </p:spPr>
      </p:sp>
      <p:pic>
        <p:nvPicPr>
          <p:cNvPr id="26" name="ndc1-i" descr="preencoded.png">    </p:cNvPr>
          <p:cNvPicPr>
            <a:picLocks noChangeAspect="1"/>
          </p:cNvPicPr>
          <p:nvPr/>
        </p:nvPicPr>
        <p:blipFill>
          <a:blip r:embed="rId2"/>
          <a:stretch>
            <a:fillRect/>
          </a:stretch>
        </p:blipFill>
        <p:spPr>
          <a:xfrm>
            <a:off x="2788920" y="2999232"/>
            <a:ext cx="219456" cy="219456"/>
          </a:xfrm>
          <a:prstGeom prst="rect">
            <a:avLst/>
          </a:prstGeom>
        </p:spPr>
      </p:pic>
      <p:sp>
        <p:nvSpPr>
          <p:cNvPr id="27" name="Text 23"/>
          <p:cNvSpPr txBox="1"/>
          <p:nvPr/>
        </p:nvSpPr>
        <p:spPr>
          <a:xfrm>
            <a:off x="2670048" y="3401568"/>
            <a:ext cx="1691640" cy="274320"/>
          </a:xfrm>
          <a:prstGeom prst="rect">
            <a:avLst/>
          </a:prstGeom>
          <a:noFill/>
          <a:ln/>
        </p:spPr>
        <p:txBody>
          <a:bodyPr wrap="square" lIns="0" tIns="0" rIns="0" bIns="0" rtlCol="0" anchor="t"/>
          <a:lstStyle/>
          <a:p>
            <a:pPr indent="0" marL="0">
              <a:buNone/>
            </a:pPr>
            <a:r>
              <a:rPr lang="en-US" sz="1250" b="1" dirty="0">
                <a:solidFill>
                  <a:schemeClr val="tx2"/>
                </a:solidFill>
                <a:latin typeface="Calibri" pitchFamily="34" charset="0"/>
                <a:ea typeface="Calibri" pitchFamily="34" charset="-122"/>
                <a:cs typeface="Calibri" pitchFamily="34" charset="-120"/>
              </a:rPr>
              <a:t>Same output format</a:t>
            </a:r>
            <a:endParaRPr lang="en-US" sz="1250" dirty="0"/>
          </a:p>
        </p:txBody>
      </p:sp>
      <p:sp>
        <p:nvSpPr>
          <p:cNvPr id="28" name="Text 24"/>
          <p:cNvSpPr txBox="1"/>
          <p:nvPr/>
        </p:nvSpPr>
        <p:spPr>
          <a:xfrm>
            <a:off x="2670048" y="3675888"/>
            <a:ext cx="1691640" cy="320040"/>
          </a:xfrm>
          <a:prstGeom prst="rect">
            <a:avLst/>
          </a:prstGeom>
          <a:noFill/>
          <a:ln/>
        </p:spPr>
        <p:txBody>
          <a:bodyPr wrap="square" lIns="0" tIns="0" rIns="0" bIns="0" rtlCol="0" anchor="t"/>
          <a:lstStyle/>
          <a:p>
            <a:pPr indent="0" marL="0">
              <a:buNone/>
            </a:pPr>
            <a:r>
              <a:rPr lang="en-US" sz="1000" dirty="0">
                <a:solidFill>
                  <a:schemeClr val="accent4"/>
                </a:solidFill>
                <a:latin typeface="Calibri" pitchFamily="34" charset="0"/>
                <a:ea typeface="Calibri" pitchFamily="34" charset="-122"/>
                <a:cs typeface="Calibri" pitchFamily="34" charset="-120"/>
              </a:rPr>
              <a:t>2 × 200 predicted curve</a:t>
            </a:r>
            <a:endParaRPr lang="en-US" sz="1000" dirty="0"/>
          </a:p>
        </p:txBody>
      </p:sp>
      <p:sp>
        <p:nvSpPr>
          <p:cNvPr id="29" name="nd2"/>
          <p:cNvSpPr/>
          <p:nvPr/>
        </p:nvSpPr>
        <p:spPr>
          <a:xfrm>
            <a:off x="4608576" y="2743200"/>
            <a:ext cx="1938528" cy="1325880"/>
          </a:xfrm>
          <a:prstGeom prst="roundRect">
            <a:avLst>
              <a:gd name="adj" fmla="val 5517"/>
            </a:avLst>
          </a:prstGeom>
          <a:solidFill>
            <a:schemeClr val="bg2"/>
          </a:solidFill>
          <a:ln w="12700">
            <a:solidFill>
              <a:schemeClr val="bg2"/>
            </a:solidFill>
            <a:prstDash val="solid"/>
          </a:ln>
        </p:spPr>
      </p:sp>
      <p:sp>
        <p:nvSpPr>
          <p:cNvPr id="30" name="ndc2-c"/>
          <p:cNvSpPr/>
          <p:nvPr/>
        </p:nvSpPr>
        <p:spPr>
          <a:xfrm>
            <a:off x="4745736" y="2880360"/>
            <a:ext cx="457200" cy="457200"/>
          </a:xfrm>
          <a:prstGeom prst="ellipse">
            <a:avLst/>
          </a:prstGeom>
          <a:solidFill>
            <a:schemeClr val="accent2"/>
          </a:solidFill>
          <a:ln w="12700">
            <a:solidFill>
              <a:schemeClr val="accent2"/>
            </a:solidFill>
            <a:prstDash val="solid"/>
          </a:ln>
        </p:spPr>
      </p:sp>
      <p:pic>
        <p:nvPicPr>
          <p:cNvPr id="31" name="ndc2-i" descr="preencoded.png">    </p:cNvPr>
          <p:cNvPicPr>
            <a:picLocks noChangeAspect="1"/>
          </p:cNvPicPr>
          <p:nvPr/>
        </p:nvPicPr>
        <p:blipFill>
          <a:blip r:embed="rId3"/>
          <a:stretch>
            <a:fillRect/>
          </a:stretch>
        </p:blipFill>
        <p:spPr>
          <a:xfrm>
            <a:off x="4864608" y="2999232"/>
            <a:ext cx="219456" cy="219456"/>
          </a:xfrm>
          <a:prstGeom prst="rect">
            <a:avLst/>
          </a:prstGeom>
        </p:spPr>
      </p:pic>
      <p:sp>
        <p:nvSpPr>
          <p:cNvPr id="32" name="Text 27"/>
          <p:cNvSpPr txBox="1"/>
          <p:nvPr/>
        </p:nvSpPr>
        <p:spPr>
          <a:xfrm>
            <a:off x="4745736" y="3401568"/>
            <a:ext cx="1691640" cy="274320"/>
          </a:xfrm>
          <a:prstGeom prst="rect">
            <a:avLst/>
          </a:prstGeom>
          <a:noFill/>
          <a:ln/>
        </p:spPr>
        <p:txBody>
          <a:bodyPr wrap="square" lIns="0" tIns="0" rIns="0" bIns="0" rtlCol="0" anchor="t"/>
          <a:lstStyle/>
          <a:p>
            <a:pPr indent="0" marL="0">
              <a:buNone/>
            </a:pPr>
            <a:r>
              <a:rPr lang="en-US" sz="1250" b="1" dirty="0">
                <a:solidFill>
                  <a:schemeClr val="tx2"/>
                </a:solidFill>
                <a:latin typeface="Calibri" pitchFamily="34" charset="0"/>
                <a:ea typeface="Calibri" pitchFamily="34" charset="-122"/>
                <a:cs typeface="Calibri" pitchFamily="34" charset="-120"/>
              </a:rPr>
              <a:t>New trained weights</a:t>
            </a:r>
            <a:endParaRPr lang="en-US" sz="1250" dirty="0"/>
          </a:p>
        </p:txBody>
      </p:sp>
      <p:sp>
        <p:nvSpPr>
          <p:cNvPr id="33" name="Text 28"/>
          <p:cNvSpPr txBox="1"/>
          <p:nvPr/>
        </p:nvSpPr>
        <p:spPr>
          <a:xfrm>
            <a:off x="4745736" y="3675888"/>
            <a:ext cx="1691640" cy="320040"/>
          </a:xfrm>
          <a:prstGeom prst="rect">
            <a:avLst/>
          </a:prstGeom>
          <a:noFill/>
          <a:ln/>
        </p:spPr>
        <p:txBody>
          <a:bodyPr wrap="square" lIns="0" tIns="0" rIns="0" bIns="0" rtlCol="0" anchor="t"/>
          <a:lstStyle/>
          <a:p>
            <a:pPr indent="0" marL="0">
              <a:buNone/>
            </a:pPr>
            <a:r>
              <a:rPr lang="en-US" sz="1000" dirty="0">
                <a:solidFill>
                  <a:schemeClr val="accent4"/>
                </a:solidFill>
                <a:latin typeface="Calibri" pitchFamily="34" charset="0"/>
                <a:ea typeface="Calibri" pitchFamily="34" charset="-122"/>
                <a:cs typeface="Calibri" pitchFamily="34" charset="-120"/>
              </a:rPr>
              <a:t>retrained checkpoint</a:t>
            </a:r>
            <a:endParaRPr lang="en-US" sz="1000" dirty="0"/>
          </a:p>
        </p:txBody>
      </p:sp>
      <p:sp>
        <p:nvSpPr>
          <p:cNvPr id="34" name="nd3"/>
          <p:cNvSpPr/>
          <p:nvPr/>
        </p:nvSpPr>
        <p:spPr>
          <a:xfrm>
            <a:off x="6684264" y="2743200"/>
            <a:ext cx="1938528" cy="1325880"/>
          </a:xfrm>
          <a:prstGeom prst="roundRect">
            <a:avLst>
              <a:gd name="adj" fmla="val 5517"/>
            </a:avLst>
          </a:prstGeom>
          <a:solidFill>
            <a:schemeClr val="bg2"/>
          </a:solidFill>
          <a:ln w="12700">
            <a:solidFill>
              <a:schemeClr val="bg2"/>
            </a:solidFill>
            <a:prstDash val="solid"/>
          </a:ln>
        </p:spPr>
      </p:sp>
      <p:sp>
        <p:nvSpPr>
          <p:cNvPr id="35" name="ndc3-c"/>
          <p:cNvSpPr/>
          <p:nvPr/>
        </p:nvSpPr>
        <p:spPr>
          <a:xfrm>
            <a:off x="6821424" y="2880360"/>
            <a:ext cx="457200" cy="457200"/>
          </a:xfrm>
          <a:prstGeom prst="ellipse">
            <a:avLst/>
          </a:prstGeom>
          <a:solidFill>
            <a:schemeClr val="accent2"/>
          </a:solidFill>
          <a:ln w="12700">
            <a:solidFill>
              <a:schemeClr val="accent2"/>
            </a:solidFill>
            <a:prstDash val="solid"/>
          </a:ln>
        </p:spPr>
      </p:sp>
      <p:pic>
        <p:nvPicPr>
          <p:cNvPr id="36" name="ndc3-i" descr="preencoded.png">    </p:cNvPr>
          <p:cNvPicPr>
            <a:picLocks noChangeAspect="1"/>
          </p:cNvPicPr>
          <p:nvPr/>
        </p:nvPicPr>
        <p:blipFill>
          <a:blip r:embed="rId4"/>
          <a:stretch>
            <a:fillRect/>
          </a:stretch>
        </p:blipFill>
        <p:spPr>
          <a:xfrm>
            <a:off x="6940296" y="2999232"/>
            <a:ext cx="219456" cy="219456"/>
          </a:xfrm>
          <a:prstGeom prst="rect">
            <a:avLst/>
          </a:prstGeom>
        </p:spPr>
      </p:pic>
      <p:sp>
        <p:nvSpPr>
          <p:cNvPr id="37" name="Text 31"/>
          <p:cNvSpPr txBox="1"/>
          <p:nvPr/>
        </p:nvSpPr>
        <p:spPr>
          <a:xfrm>
            <a:off x="6821424" y="3401568"/>
            <a:ext cx="1691640" cy="274320"/>
          </a:xfrm>
          <a:prstGeom prst="rect">
            <a:avLst/>
          </a:prstGeom>
          <a:noFill/>
          <a:ln/>
        </p:spPr>
        <p:txBody>
          <a:bodyPr wrap="square" lIns="0" tIns="0" rIns="0" bIns="0" rtlCol="0" anchor="t"/>
          <a:lstStyle/>
          <a:p>
            <a:pPr indent="0" marL="0">
              <a:buNone/>
            </a:pPr>
            <a:r>
              <a:rPr lang="en-US" sz="1250" b="1" dirty="0">
                <a:solidFill>
                  <a:schemeClr val="tx2"/>
                </a:solidFill>
                <a:latin typeface="Calibri" pitchFamily="34" charset="0"/>
                <a:ea typeface="Calibri" pitchFamily="34" charset="-122"/>
                <a:cs typeface="Calibri" pitchFamily="34" charset="-120"/>
              </a:rPr>
              <a:t>PEA integration</a:t>
            </a:r>
            <a:endParaRPr lang="en-US" sz="1250" dirty="0"/>
          </a:p>
        </p:txBody>
      </p:sp>
      <p:sp>
        <p:nvSpPr>
          <p:cNvPr id="38" name="Text 32"/>
          <p:cNvSpPr txBox="1"/>
          <p:nvPr/>
        </p:nvSpPr>
        <p:spPr>
          <a:xfrm>
            <a:off x="6821424" y="3675888"/>
            <a:ext cx="1691640" cy="320040"/>
          </a:xfrm>
          <a:prstGeom prst="rect">
            <a:avLst/>
          </a:prstGeom>
          <a:noFill/>
          <a:ln/>
        </p:spPr>
        <p:txBody>
          <a:bodyPr wrap="square" lIns="0" tIns="0" rIns="0" bIns="0" rtlCol="0" anchor="t"/>
          <a:lstStyle/>
          <a:p>
            <a:pPr indent="0" marL="0">
              <a:buNone/>
            </a:pPr>
            <a:r>
              <a:rPr lang="en-US" sz="1000" dirty="0">
                <a:solidFill>
                  <a:schemeClr val="accent4"/>
                </a:solidFill>
                <a:latin typeface="Consolas" pitchFamily="34" charset="0"/>
                <a:ea typeface="Consolas" pitchFamily="34" charset="-122"/>
                <a:cs typeface="Consolas" pitchFamily="34" charset="-120"/>
              </a:rPr>
              <a:t>PEA_fair_resnet.py</a:t>
            </a:r>
            <a:endParaRPr lang="en-US" sz="1000" dirty="0"/>
          </a:p>
        </p:txBody>
      </p:sp>
      <p:sp>
        <p:nvSpPr>
          <p:cNvPr id="39" name="Text 33"/>
          <p:cNvSpPr txBox="1"/>
          <p:nvPr/>
        </p:nvSpPr>
        <p:spPr>
          <a:xfrm>
            <a:off x="457200" y="4206240"/>
            <a:ext cx="8229600" cy="411480"/>
          </a:xfrm>
          <a:prstGeom prst="rect">
            <a:avLst/>
          </a:prstGeom>
          <a:noFill/>
          <a:ln/>
        </p:spPr>
        <p:txBody>
          <a:bodyPr wrap="square" lIns="0" tIns="0" rIns="0" bIns="0" rtlCol="0" anchor="ctr"/>
          <a:lstStyle/>
          <a:p>
            <a:pPr indent="0" marL="0">
              <a:buNone/>
            </a:pPr>
            <a:r>
              <a:rPr lang="en-US" sz="1150" i="1" dirty="0">
                <a:solidFill>
                  <a:schemeClr val="accent4"/>
                </a:solidFill>
                <a:latin typeface="Calibri" pitchFamily="34" charset="0"/>
                <a:ea typeface="Calibri" pitchFamily="34" charset="-122"/>
                <a:cs typeface="Calibri" pitchFamily="34" charset="-120"/>
              </a:rPr>
              <a:t>Both trained with the same steps (10,000), batch size, learning rate, preprocessing and MSE loss on 6,000 train / 2,000 test samples.</a:t>
            </a:r>
            <a:endParaRPr lang="en-US" sz="1150" dirty="0"/>
          </a:p>
        </p:txBody>
      </p:sp>
      <p:sp>
        <p:nvSpPr>
          <p:cNvPr id="40" name="Text 34"/>
          <p:cNvSpPr txBox="1"/>
          <p:nvPr/>
        </p:nvSpPr>
        <p:spPr>
          <a:xfrm>
            <a:off x="457200" y="4818888"/>
            <a:ext cx="7498080" cy="201168"/>
          </a:xfrm>
          <a:prstGeom prst="rect">
            <a:avLst/>
          </a:prstGeom>
          <a:noFill/>
          <a:ln/>
        </p:spPr>
        <p:txBody>
          <a:bodyPr wrap="square" lIns="0" tIns="0" rIns="0" bIns="0" rtlCol="0" anchor="t"/>
          <a:lstStyle/>
          <a:p>
            <a:pPr indent="0" marL="0">
              <a:buNone/>
            </a:pPr>
            <a:r>
              <a:rPr lang="en-US" sz="800" dirty="0">
                <a:solidFill>
                  <a:schemeClr val="accent4"/>
                </a:solidFill>
                <a:latin typeface="Calibri" pitchFamily="34" charset="0"/>
                <a:ea typeface="Calibri" pitchFamily="34" charset="-122"/>
                <a:cs typeface="Calibri" pitchFamily="34" charset="-120"/>
              </a:rPr>
              <a:t>Repository: train_*_fair.py, PEA_fair_sepcnn.py, PEA_fair_resnet.py, Documentation.md [6].</a:t>
            </a:r>
            <a:endParaRPr lang="en-US" sz="8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5B6B82"/>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2"/>
          <p:cNvSpPr/>
          <p:nvPr>
            <p:ph idx="102" type="body" hasCustomPrompt="1"/>
          </p:nvPr>
        </p:nvSpPr>
        <p:spPr>
          <a:xfrm>
            <a:off x="457200" y="256032"/>
            <a:ext cx="7315200" cy="228600"/>
          </a:xfrm>
          <a:prstGeom prst="rect">
            <a:avLst/>
          </a:prstGeom>
          <a:noFill/>
          <a:ln/>
        </p:spPr>
        <p:txBody>
          <a:bodyPr wrap="square" lIns="0" tIns="0" rIns="0" bIns="0" rtlCol="0" anchor="ctr"/>
          <a:lstStyle/>
          <a:p>
            <a:pPr algn="l" indent="0" marL="0">
              <a:buNone/>
            </a:pPr>
            <a:r>
              <a:rPr lang="en-US" sz="1000" b="1" spc="200" kern="0" dirty="0">
                <a:solidFill>
                  <a:schemeClr val="accent1"/>
                </a:solidFill>
                <a:latin typeface="Calibri" pitchFamily="34" charset="0"/>
                <a:ea typeface="Calibri" pitchFamily="34" charset="-122"/>
                <a:cs typeface="Calibri" pitchFamily="34" charset="-120"/>
              </a:rPr>
              <a:t>OUR FORK</a:t>
            </a:r>
            <a:endParaRPr lang="en-US" sz="1000" dirty="0"/>
          </a:p>
        </p:txBody>
      </p:sp>
      <p:sp>
        <p:nvSpPr>
          <p:cNvPr id="3" name="Text 2"/>
          <p:cNvSpPr/>
          <p:nvPr>
            <p:ph idx="103" type="title" hasCustomPrompt="1"/>
          </p:nvPr>
        </p:nvSpPr>
        <p:spPr>
          <a:xfrm>
            <a:off x="457200" y="502920"/>
            <a:ext cx="8229600" cy="548640"/>
          </a:xfrm>
          <a:prstGeom prst="rect">
            <a:avLst/>
          </a:prstGeom>
          <a:noFill/>
          <a:ln/>
        </p:spPr>
        <p:txBody>
          <a:bodyPr wrap="square" lIns="0" tIns="0" rIns="0" bIns="0" rtlCol="0" anchor="ctr"/>
          <a:lstStyle/>
          <a:p>
            <a:pPr algn="l" indent="0" marL="0">
              <a:buNone/>
            </a:pPr>
            <a:r>
              <a:rPr lang="en-US" sz="2400" b="1" dirty="0">
                <a:solidFill>
                  <a:schemeClr val="tx2"/>
                </a:solidFill>
                <a:latin typeface="Georgia" pitchFamily="34" charset="0"/>
                <a:ea typeface="Georgia" pitchFamily="34" charset="-122"/>
                <a:cs typeface="Georgia" pitchFamily="34" charset="-120"/>
              </a:rPr>
              <a:t>Three tests, three different answers</a:t>
            </a:r>
            <a:endParaRPr lang="en-US" sz="2400" dirty="0"/>
          </a:p>
        </p:txBody>
      </p:sp>
      <p:sp>
        <p:nvSpPr>
          <p:cNvPr id="4" name="f1"/>
          <p:cNvSpPr/>
          <p:nvPr/>
        </p:nvSpPr>
        <p:spPr>
          <a:xfrm>
            <a:off x="457200" y="1188720"/>
            <a:ext cx="2560320" cy="2743200"/>
          </a:xfrm>
          <a:prstGeom prst="roundRect">
            <a:avLst>
              <a:gd name="adj" fmla="val 2857"/>
            </a:avLst>
          </a:prstGeom>
          <a:solidFill>
            <a:schemeClr val="bg2"/>
          </a:solidFill>
          <a:ln w="12700">
            <a:solidFill>
              <a:schemeClr val="bg2"/>
            </a:solidFill>
            <a:prstDash val="solid"/>
          </a:ln>
        </p:spPr>
      </p:sp>
      <p:sp>
        <p:nvSpPr>
          <p:cNvPr id="5" name="Text 3"/>
          <p:cNvSpPr txBox="1"/>
          <p:nvPr/>
        </p:nvSpPr>
        <p:spPr>
          <a:xfrm>
            <a:off x="594360" y="1261872"/>
            <a:ext cx="2286000" cy="27432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Held-out test MSE</a:t>
            </a:r>
            <a:endParaRPr lang="en-US" sz="1200" dirty="0"/>
          </a:p>
        </p:txBody>
      </p:sp>
      <p:graphicFrame>
        <p:nvGraphicFramePr>
          <p:cNvPr id="6" name="Chart 0" descr=""/>
          <p:cNvGraphicFramePr/>
          <p:nvPr/>
        </p:nvGraphicFramePr>
        <p:xfrm>
          <a:off x="502920" y="1508760"/>
          <a:ext cx="2468880" cy="160020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594360" y="3154680"/>
            <a:ext cx="2286000" cy="365760"/>
          </a:xfrm>
          <a:prstGeom prst="rect">
            <a:avLst/>
          </a:prstGeom>
          <a:noFill/>
          <a:ln/>
        </p:spPr>
        <p:txBody>
          <a:bodyPr wrap="square" lIns="0" tIns="0" rIns="0" bIns="0" rtlCol="0" anchor="t"/>
          <a:lstStyle/>
          <a:p>
            <a:pPr indent="0" marL="0">
              <a:buNone/>
            </a:pPr>
            <a:r>
              <a:rPr lang="en-US" sz="1500" b="1" dirty="0">
                <a:solidFill>
                  <a:schemeClr val="accent1"/>
                </a:solidFill>
                <a:latin typeface="Georgia" pitchFamily="34" charset="0"/>
                <a:ea typeface="Georgia" pitchFamily="34" charset="-122"/>
                <a:cs typeface="Georgia" pitchFamily="34" charset="-120"/>
              </a:rPr>
              <a:t>≈41× lower (ResNet)</a:t>
            </a:r>
            <a:endParaRPr lang="en-US" sz="1500" dirty="0"/>
          </a:p>
        </p:txBody>
      </p:sp>
      <p:sp>
        <p:nvSpPr>
          <p:cNvPr id="8" name="Text 5"/>
          <p:cNvSpPr txBox="1"/>
          <p:nvPr/>
        </p:nvSpPr>
        <p:spPr>
          <a:xfrm>
            <a:off x="594360" y="3520440"/>
            <a:ext cx="2286000" cy="365760"/>
          </a:xfrm>
          <a:prstGeom prst="rect">
            <a:avLst/>
          </a:prstGeom>
          <a:noFill/>
          <a:ln/>
        </p:spPr>
        <p:txBody>
          <a:bodyPr wrap="square" lIns="0" tIns="0" rIns="0" bIns="0" rtlCol="0" anchor="t"/>
          <a:lstStyle/>
          <a:p>
            <a:pPr indent="0" marL="0">
              <a:buNone/>
            </a:pPr>
            <a:r>
              <a:rPr lang="en-US" sz="1000" dirty="0">
                <a:solidFill>
                  <a:schemeClr val="accent4"/>
                </a:solidFill>
                <a:latin typeface="Calibri" pitchFamily="34" charset="0"/>
                <a:ea typeface="Calibri" pitchFamily="34" charset="-122"/>
                <a:cs typeface="Calibri" pitchFamily="34" charset="-120"/>
              </a:rPr>
              <a:t>2,000 test samples · predictive accuracy only</a:t>
            </a:r>
            <a:endParaRPr lang="en-US" sz="1000" dirty="0"/>
          </a:p>
        </p:txBody>
      </p:sp>
      <p:sp>
        <p:nvSpPr>
          <p:cNvPr id="9" name="f2"/>
          <p:cNvSpPr/>
          <p:nvPr/>
        </p:nvSpPr>
        <p:spPr>
          <a:xfrm>
            <a:off x="3291840" y="1188720"/>
            <a:ext cx="2560320" cy="2743200"/>
          </a:xfrm>
          <a:prstGeom prst="roundRect">
            <a:avLst>
              <a:gd name="adj" fmla="val 2857"/>
            </a:avLst>
          </a:prstGeom>
          <a:solidFill>
            <a:schemeClr val="bg2"/>
          </a:solidFill>
          <a:ln w="12700">
            <a:solidFill>
              <a:schemeClr val="bg2"/>
            </a:solidFill>
            <a:prstDash val="solid"/>
          </a:ln>
        </p:spPr>
      </p:sp>
      <p:sp>
        <p:nvSpPr>
          <p:cNvPr id="10" name="Text 7"/>
          <p:cNvSpPr txBox="1"/>
          <p:nvPr/>
        </p:nvSpPr>
        <p:spPr>
          <a:xfrm>
            <a:off x="3429000" y="1261872"/>
            <a:ext cx="2286000" cy="27432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Two selected designs</a:t>
            </a:r>
            <a:endParaRPr lang="en-US" sz="1200" dirty="0"/>
          </a:p>
        </p:txBody>
      </p:sp>
      <p:sp>
        <p:nvSpPr>
          <p:cNvPr id="11" name="f2c-c"/>
          <p:cNvSpPr/>
          <p:nvPr/>
        </p:nvSpPr>
        <p:spPr>
          <a:xfrm>
            <a:off x="4160520" y="1783080"/>
            <a:ext cx="822960" cy="822960"/>
          </a:xfrm>
          <a:prstGeom prst="ellipse">
            <a:avLst/>
          </a:prstGeom>
          <a:solidFill>
            <a:schemeClr val="accent4"/>
          </a:solidFill>
          <a:ln w="12700">
            <a:solidFill>
              <a:schemeClr val="accent4"/>
            </a:solidFill>
            <a:prstDash val="solid"/>
          </a:ln>
        </p:spPr>
      </p:sp>
      <p:pic>
        <p:nvPicPr>
          <p:cNvPr id="12" name="f2c-i" descr="preencoded.png">    </p:cNvPr>
          <p:cNvPicPr>
            <a:picLocks noChangeAspect="1"/>
          </p:cNvPicPr>
          <p:nvPr/>
        </p:nvPicPr>
        <p:blipFill>
          <a:blip r:embed="rId2"/>
          <a:stretch>
            <a:fillRect/>
          </a:stretch>
        </p:blipFill>
        <p:spPr>
          <a:xfrm>
            <a:off x="4374490" y="1997050"/>
            <a:ext cx="395021" cy="395021"/>
          </a:xfrm>
          <a:prstGeom prst="rect">
            <a:avLst/>
          </a:prstGeom>
        </p:spPr>
      </p:pic>
      <p:sp>
        <p:nvSpPr>
          <p:cNvPr id="13" name="Text 9"/>
          <p:cNvSpPr txBox="1"/>
          <p:nvPr/>
        </p:nvSpPr>
        <p:spPr>
          <a:xfrm>
            <a:off x="3429000" y="2788920"/>
            <a:ext cx="2286000" cy="411480"/>
          </a:xfrm>
          <a:prstGeom prst="rect">
            <a:avLst/>
          </a:prstGeom>
          <a:noFill/>
          <a:ln/>
        </p:spPr>
        <p:txBody>
          <a:bodyPr wrap="square" lIns="0" tIns="0" rIns="0" bIns="0" rtlCol="0" anchor="t"/>
          <a:lstStyle/>
          <a:p>
            <a:pPr algn="ctr" indent="0" marL="0">
              <a:buNone/>
            </a:pPr>
            <a:r>
              <a:rPr lang="en-US" sz="2400" b="1" dirty="0">
                <a:solidFill>
                  <a:schemeClr val="accent4"/>
                </a:solidFill>
                <a:latin typeface="Georgia" pitchFamily="34" charset="0"/>
                <a:ea typeface="Georgia" pitchFamily="34" charset="-122"/>
                <a:cs typeface="Georgia" pitchFamily="34" charset="-120"/>
              </a:rPr>
              <a:t>Mixed</a:t>
            </a:r>
            <a:endParaRPr lang="en-US" sz="2400" dirty="0"/>
          </a:p>
        </p:txBody>
      </p:sp>
      <p:sp>
        <p:nvSpPr>
          <p:cNvPr id="14" name="Text 10"/>
          <p:cNvSpPr txBox="1"/>
          <p:nvPr/>
        </p:nvSpPr>
        <p:spPr>
          <a:xfrm>
            <a:off x="3429000" y="3246120"/>
            <a:ext cx="2286000" cy="548640"/>
          </a:xfrm>
          <a:prstGeom prst="rect">
            <a:avLst/>
          </a:prstGeom>
          <a:noFill/>
          <a:ln/>
        </p:spPr>
        <p:txBody>
          <a:bodyPr wrap="square" lIns="0" tIns="0" rIns="0" bIns="0" rtlCol="0" anchor="t"/>
          <a:lstStyle/>
          <a:p>
            <a:pPr algn="ctr" indent="0" marL="0">
              <a:buNone/>
            </a:pPr>
            <a:r>
              <a:rPr lang="en-US" sz="1100" dirty="0">
                <a:solidFill>
                  <a:schemeClr val="accent4"/>
                </a:solidFill>
                <a:latin typeface="Calibri" pitchFamily="34" charset="0"/>
                <a:ea typeface="Calibri" pitchFamily="34" charset="-122"/>
                <a:cs typeface="Calibri" pitchFamily="34" charset="-120"/>
              </a:rPr>
              <a:t>neither model lower on both designs</a:t>
            </a:r>
            <a:endParaRPr lang="en-US" sz="1100" dirty="0"/>
          </a:p>
        </p:txBody>
      </p:sp>
      <p:sp>
        <p:nvSpPr>
          <p:cNvPr id="15" name="f3"/>
          <p:cNvSpPr/>
          <p:nvPr/>
        </p:nvSpPr>
        <p:spPr>
          <a:xfrm>
            <a:off x="6126480" y="1188720"/>
            <a:ext cx="2560320" cy="2743200"/>
          </a:xfrm>
          <a:prstGeom prst="roundRect">
            <a:avLst>
              <a:gd name="adj" fmla="val 2857"/>
            </a:avLst>
          </a:prstGeom>
          <a:solidFill>
            <a:schemeClr val="bg2"/>
          </a:solidFill>
          <a:ln w="12700">
            <a:solidFill>
              <a:schemeClr val="bg2"/>
            </a:solidFill>
            <a:prstDash val="solid"/>
          </a:ln>
        </p:spPr>
      </p:sp>
      <p:sp>
        <p:nvSpPr>
          <p:cNvPr id="16" name="Text 12"/>
          <p:cNvSpPr txBox="1"/>
          <p:nvPr/>
        </p:nvSpPr>
        <p:spPr>
          <a:xfrm>
            <a:off x="6263640" y="1261872"/>
            <a:ext cx="2286000" cy="27432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Same 1,024 candidates</a:t>
            </a:r>
            <a:endParaRPr lang="en-US" sz="1200" dirty="0"/>
          </a:p>
        </p:txBody>
      </p:sp>
      <p:graphicFrame>
        <p:nvGraphicFramePr>
          <p:cNvPr id="17" name="Chart 1" descr=""/>
          <p:cNvGraphicFramePr/>
          <p:nvPr/>
        </p:nvGraphicFramePr>
        <p:xfrm>
          <a:off x="6172200" y="1508760"/>
          <a:ext cx="2468880" cy="1600200"/>
        </p:xfrm>
        <a:graphic xmlns:a="http://schemas.openxmlformats.org/drawingml/2006/main">
          <a:graphicData uri="http://schemas.openxmlformats.org/drawingml/2006/chart">
            <c:chart xmlns:c="http://schemas.openxmlformats.org/drawingml/2006/chart" r:id="rId3"/>
          </a:graphicData>
        </a:graphic>
      </p:graphicFrame>
      <p:sp>
        <p:nvSpPr>
          <p:cNvPr id="18" name="Text 13"/>
          <p:cNvSpPr txBox="1"/>
          <p:nvPr/>
        </p:nvSpPr>
        <p:spPr>
          <a:xfrm>
            <a:off x="6263640" y="3154680"/>
            <a:ext cx="2286000" cy="365760"/>
          </a:xfrm>
          <a:prstGeom prst="rect">
            <a:avLst/>
          </a:prstGeom>
          <a:noFill/>
          <a:ln/>
        </p:spPr>
        <p:txBody>
          <a:bodyPr wrap="square" lIns="0" tIns="0" rIns="0" bIns="0" rtlCol="0" anchor="t"/>
          <a:lstStyle/>
          <a:p>
            <a:pPr indent="0" marL="0">
              <a:buNone/>
            </a:pPr>
            <a:r>
              <a:rPr lang="en-US" sz="1600" b="1" dirty="0">
                <a:solidFill>
                  <a:schemeClr val="accent2"/>
                </a:solidFill>
                <a:latin typeface="Georgia" pitchFamily="34" charset="0"/>
                <a:ea typeface="Georgia" pitchFamily="34" charset="-122"/>
                <a:cs typeface="Georgia" pitchFamily="34" charset="-120"/>
              </a:rPr>
              <a:t>1,016 / 1,024</a:t>
            </a:r>
            <a:endParaRPr lang="en-US" sz="1600" dirty="0"/>
          </a:p>
        </p:txBody>
      </p:sp>
      <p:sp>
        <p:nvSpPr>
          <p:cNvPr id="19" name="Text 14"/>
          <p:cNvSpPr txBox="1"/>
          <p:nvPr/>
        </p:nvSpPr>
        <p:spPr>
          <a:xfrm>
            <a:off x="6263640" y="3520440"/>
            <a:ext cx="2286000" cy="365760"/>
          </a:xfrm>
          <a:prstGeom prst="rect">
            <a:avLst/>
          </a:prstGeom>
          <a:noFill/>
          <a:ln/>
        </p:spPr>
        <p:txBody>
          <a:bodyPr wrap="square" lIns="0" tIns="0" rIns="0" bIns="0" rtlCol="0" anchor="t"/>
          <a:lstStyle/>
          <a:p>
            <a:pPr indent="0" marL="0">
              <a:buNone/>
            </a:pPr>
            <a:r>
              <a:rPr lang="en-US" sz="1000" dirty="0">
                <a:solidFill>
                  <a:schemeClr val="accent4"/>
                </a:solidFill>
                <a:latin typeface="Calibri" pitchFamily="34" charset="0"/>
                <a:ea typeface="Calibri" pitchFamily="34" charset="-122"/>
                <a:cs typeface="Calibri" pitchFamily="34" charset="-120"/>
              </a:rPr>
              <a:t>where SEP-CNN error was lower · this set only</a:t>
            </a:r>
            <a:endParaRPr lang="en-US" sz="1000" dirty="0"/>
          </a:p>
        </p:txBody>
      </p:sp>
      <p:sp>
        <p:nvSpPr>
          <p:cNvPr id="20" name="f-warn"/>
          <p:cNvSpPr/>
          <p:nvPr/>
        </p:nvSpPr>
        <p:spPr>
          <a:xfrm>
            <a:off x="457200" y="4069080"/>
            <a:ext cx="8229600" cy="548640"/>
          </a:xfrm>
          <a:prstGeom prst="roundRect">
            <a:avLst>
              <a:gd name="adj" fmla="val 13333"/>
            </a:avLst>
          </a:prstGeom>
          <a:solidFill>
            <a:schemeClr val="tx2"/>
          </a:solidFill>
          <a:ln w="12700">
            <a:solidFill>
              <a:schemeClr val="tx2"/>
            </a:solidFill>
            <a:prstDash val="solid"/>
          </a:ln>
        </p:spPr>
      </p:sp>
      <p:sp>
        <p:nvSpPr>
          <p:cNvPr id="21" name="fw-c"/>
          <p:cNvSpPr/>
          <p:nvPr/>
        </p:nvSpPr>
        <p:spPr>
          <a:xfrm>
            <a:off x="594360" y="4133088"/>
            <a:ext cx="420624" cy="420624"/>
          </a:xfrm>
          <a:prstGeom prst="ellipse">
            <a:avLst/>
          </a:prstGeom>
          <a:solidFill>
            <a:schemeClr val="accent3"/>
          </a:solidFill>
          <a:ln w="12700">
            <a:solidFill>
              <a:schemeClr val="accent3"/>
            </a:solidFill>
            <a:prstDash val="solid"/>
          </a:ln>
        </p:spPr>
      </p:sp>
      <p:pic>
        <p:nvPicPr>
          <p:cNvPr id="22" name="fw-i" descr="preencoded.png">    </p:cNvPr>
          <p:cNvPicPr>
            <a:picLocks noChangeAspect="1"/>
          </p:cNvPicPr>
          <p:nvPr/>
        </p:nvPicPr>
        <p:blipFill>
          <a:blip r:embed="rId4"/>
          <a:stretch>
            <a:fillRect/>
          </a:stretch>
        </p:blipFill>
        <p:spPr>
          <a:xfrm>
            <a:off x="703722" y="4242450"/>
            <a:ext cx="201900" cy="201900"/>
          </a:xfrm>
          <a:prstGeom prst="rect">
            <a:avLst/>
          </a:prstGeom>
        </p:spPr>
      </p:pic>
      <p:sp>
        <p:nvSpPr>
          <p:cNvPr id="23" name="Text 17"/>
          <p:cNvSpPr txBox="1"/>
          <p:nvPr/>
        </p:nvSpPr>
        <p:spPr>
          <a:xfrm>
            <a:off x="1143000" y="4069080"/>
            <a:ext cx="7406640" cy="548640"/>
          </a:xfrm>
          <a:prstGeom prst="rect">
            <a:avLst/>
          </a:prstGeom>
          <a:noFill/>
          <a:ln/>
        </p:spPr>
        <p:txBody>
          <a:bodyPr wrap="square" lIns="0" tIns="0" rIns="0" bIns="0" rtlCol="0" anchor="ctr"/>
          <a:lstStyle/>
          <a:p>
            <a:pPr indent="0" marL="0">
              <a:buNone/>
            </a:pPr>
            <a:r>
              <a:rPr lang="en-US" sz="1250" dirty="0">
                <a:solidFill>
                  <a:schemeClr val="bg1"/>
                </a:solidFill>
                <a:latin typeface="Calibri" pitchFamily="34" charset="0"/>
                <a:ea typeface="Calibri" pitchFamily="34" charset="-122"/>
                <a:cs typeface="Calibri" pitchFamily="34" charset="-120"/>
              </a:rPr>
              <a:t>All errors are model predictions vs. a numeric target, not FE or physical validation. No universal winner.</a:t>
            </a:r>
            <a:endParaRPr lang="en-US" sz="1250" dirty="0"/>
          </a:p>
        </p:txBody>
      </p:sp>
      <p:sp>
        <p:nvSpPr>
          <p:cNvPr id="24" name="Text 18"/>
          <p:cNvSpPr txBox="1"/>
          <p:nvPr/>
        </p:nvSpPr>
        <p:spPr>
          <a:xfrm>
            <a:off x="457200" y="4818888"/>
            <a:ext cx="7498080" cy="201168"/>
          </a:xfrm>
          <a:prstGeom prst="rect">
            <a:avLst/>
          </a:prstGeom>
          <a:noFill/>
          <a:ln/>
        </p:spPr>
        <p:txBody>
          <a:bodyPr wrap="square" lIns="0" tIns="0" rIns="0" bIns="0" rtlCol="0" anchor="t"/>
          <a:lstStyle/>
          <a:p>
            <a:pPr indent="0" marL="0">
              <a:buNone/>
            </a:pPr>
            <a:r>
              <a:rPr lang="en-US" sz="800" dirty="0">
                <a:solidFill>
                  <a:schemeClr val="accent4"/>
                </a:solidFill>
                <a:latin typeface="Calibri" pitchFamily="34" charset="0"/>
                <a:ea typeface="Calibri" pitchFamily="34" charset="-122"/>
                <a:cs typeface="Calibri" pitchFamily="34" charset="-120"/>
              </a:rPr>
              <a:t>Documentation.md (test MSE, 2-design check); cross_model_1024_results.csv [6].</a:t>
            </a:r>
            <a:endParaRPr lang="en-US" sz="8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5B6B82"/>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2"/>
          <p:cNvSpPr/>
          <p:nvPr>
            <p:ph idx="102" type="body" hasCustomPrompt="1"/>
          </p:nvPr>
        </p:nvSpPr>
        <p:spPr>
          <a:xfrm>
            <a:off x="457200" y="256032"/>
            <a:ext cx="7315200" cy="228600"/>
          </a:xfrm>
          <a:prstGeom prst="rect">
            <a:avLst/>
          </a:prstGeom>
          <a:noFill/>
          <a:ln/>
        </p:spPr>
        <p:txBody>
          <a:bodyPr wrap="square" lIns="0" tIns="0" rIns="0" bIns="0" rtlCol="0" anchor="ctr"/>
          <a:lstStyle/>
          <a:p>
            <a:pPr algn="l" indent="0" marL="0">
              <a:buNone/>
            </a:pPr>
            <a:r>
              <a:rPr lang="en-US" sz="1000" b="1" spc="200" kern="0" dirty="0">
                <a:solidFill>
                  <a:schemeClr val="accent1"/>
                </a:solidFill>
                <a:latin typeface="Calibri" pitchFamily="34" charset="0"/>
                <a:ea typeface="Calibri" pitchFamily="34" charset="-122"/>
                <a:cs typeface="Calibri" pitchFamily="34" charset="-120"/>
              </a:rPr>
              <a:t>WHAT’S NEXT</a:t>
            </a:r>
            <a:endParaRPr lang="en-US" sz="1000" dirty="0"/>
          </a:p>
        </p:txBody>
      </p:sp>
      <p:sp>
        <p:nvSpPr>
          <p:cNvPr id="3" name="Text 2"/>
          <p:cNvSpPr/>
          <p:nvPr>
            <p:ph idx="103" type="title" hasCustomPrompt="1"/>
          </p:nvPr>
        </p:nvSpPr>
        <p:spPr>
          <a:xfrm>
            <a:off x="457200" y="502920"/>
            <a:ext cx="8229600" cy="548640"/>
          </a:xfrm>
          <a:prstGeom prst="rect">
            <a:avLst/>
          </a:prstGeom>
          <a:noFill/>
          <a:ln/>
        </p:spPr>
        <p:txBody>
          <a:bodyPr wrap="square" lIns="0" tIns="0" rIns="0" bIns="0" rtlCol="0" anchor="ctr"/>
          <a:lstStyle/>
          <a:p>
            <a:pPr algn="l" indent="0" marL="0">
              <a:buNone/>
            </a:pPr>
            <a:r>
              <a:rPr lang="en-US" sz="2400" b="1" dirty="0">
                <a:solidFill>
                  <a:schemeClr val="tx2"/>
                </a:solidFill>
                <a:latin typeface="Georgia" pitchFamily="34" charset="0"/>
                <a:ea typeface="Georgia" pitchFamily="34" charset="-122"/>
                <a:cs typeface="Georgia" pitchFamily="34" charset="-120"/>
              </a:rPr>
              <a:t>The 4D vision (proposed, not yet built)</a:t>
            </a:r>
            <a:endParaRPr lang="en-US" sz="2400" dirty="0"/>
          </a:p>
        </p:txBody>
      </p:sp>
      <p:sp>
        <p:nvSpPr>
          <p:cNvPr id="4" name="vs0"/>
          <p:cNvSpPr/>
          <p:nvPr/>
        </p:nvSpPr>
        <p:spPr>
          <a:xfrm>
            <a:off x="457200" y="1234440"/>
            <a:ext cx="1234440" cy="1234440"/>
          </a:xfrm>
          <a:prstGeom prst="roundRect">
            <a:avLst>
              <a:gd name="adj" fmla="val 5926"/>
            </a:avLst>
          </a:prstGeom>
          <a:solidFill>
            <a:schemeClr val="bg1"/>
          </a:solidFill>
          <a:ln w="15875">
            <a:solidFill>
              <a:schemeClr val="accent2"/>
            </a:solidFill>
            <a:prstDash val="dash"/>
          </a:ln>
        </p:spPr>
      </p:sp>
      <p:sp>
        <p:nvSpPr>
          <p:cNvPr id="5" name="vsc0-c"/>
          <p:cNvSpPr/>
          <p:nvPr/>
        </p:nvSpPr>
        <p:spPr>
          <a:xfrm>
            <a:off x="822960" y="1353312"/>
            <a:ext cx="502920" cy="502920"/>
          </a:xfrm>
          <a:prstGeom prst="ellipse">
            <a:avLst/>
          </a:prstGeom>
          <a:solidFill>
            <a:schemeClr val="accent2"/>
          </a:solidFill>
          <a:ln w="12700">
            <a:solidFill>
              <a:schemeClr val="accent2"/>
            </a:solidFill>
            <a:prstDash val="solid"/>
          </a:ln>
        </p:spPr>
      </p:sp>
      <p:pic>
        <p:nvPicPr>
          <p:cNvPr id="6" name="vsc0-i" descr="preencoded.png">    </p:cNvPr>
          <p:cNvPicPr>
            <a:picLocks noChangeAspect="1"/>
          </p:cNvPicPr>
          <p:nvPr/>
        </p:nvPicPr>
        <p:blipFill>
          <a:blip r:embed="rId1"/>
          <a:stretch>
            <a:fillRect/>
          </a:stretch>
        </p:blipFill>
        <p:spPr>
          <a:xfrm>
            <a:off x="953719" y="1484071"/>
            <a:ext cx="241402" cy="241402"/>
          </a:xfrm>
          <a:prstGeom prst="rect">
            <a:avLst/>
          </a:prstGeom>
        </p:spPr>
      </p:pic>
      <p:sp>
        <p:nvSpPr>
          <p:cNvPr id="7" name="Text 4"/>
          <p:cNvSpPr txBox="1"/>
          <p:nvPr/>
        </p:nvSpPr>
        <p:spPr>
          <a:xfrm>
            <a:off x="502920" y="1920240"/>
            <a:ext cx="1143000" cy="457200"/>
          </a:xfrm>
          <a:prstGeom prst="rect">
            <a:avLst/>
          </a:prstGeom>
          <a:noFill/>
          <a:ln/>
        </p:spPr>
        <p:txBody>
          <a:bodyPr wrap="square" lIns="0" tIns="0" rIns="0" bIns="0" rtlCol="0" anchor="ctr"/>
          <a:lstStyle/>
          <a:p>
            <a:pPr algn="ctr" indent="0" marL="0">
              <a:buNone/>
            </a:pPr>
            <a:r>
              <a:rPr lang="en-US" sz="1150" b="1" dirty="0">
                <a:solidFill>
                  <a:schemeClr val="tx2"/>
                </a:solidFill>
                <a:latin typeface="Calibri" pitchFamily="34" charset="0"/>
                <a:ea typeface="Calibri" pitchFamily="34" charset="-122"/>
                <a:cs typeface="Calibri" pitchFamily="34" charset="-120"/>
              </a:rPr>
              <a:t>Hand scan</a:t>
            </a:r>
            <a:endParaRPr lang="en-US" sz="1150" dirty="0"/>
          </a:p>
        </p:txBody>
      </p:sp>
      <p:sp>
        <p:nvSpPr>
          <p:cNvPr id="8" name="vsa0"/>
          <p:cNvSpPr/>
          <p:nvPr/>
        </p:nvSpPr>
        <p:spPr>
          <a:xfrm>
            <a:off x="1700784" y="1847088"/>
            <a:ext cx="146304" cy="0"/>
          </a:xfrm>
          <a:prstGeom prst="line">
            <a:avLst/>
          </a:prstGeom>
          <a:noFill/>
          <a:ln w="22225">
            <a:solidFill>
              <a:schemeClr val="accent4"/>
            </a:solidFill>
            <a:prstDash val="solid"/>
            <a:tailEnd type="triangle"/>
          </a:ln>
        </p:spPr>
      </p:sp>
      <p:sp>
        <p:nvSpPr>
          <p:cNvPr id="9" name="vs1"/>
          <p:cNvSpPr/>
          <p:nvPr/>
        </p:nvSpPr>
        <p:spPr>
          <a:xfrm>
            <a:off x="1856232" y="1234440"/>
            <a:ext cx="1234440" cy="1234440"/>
          </a:xfrm>
          <a:prstGeom prst="roundRect">
            <a:avLst>
              <a:gd name="adj" fmla="val 5926"/>
            </a:avLst>
          </a:prstGeom>
          <a:solidFill>
            <a:schemeClr val="bg1"/>
          </a:solidFill>
          <a:ln w="15875">
            <a:solidFill>
              <a:schemeClr val="accent2"/>
            </a:solidFill>
            <a:prstDash val="dash"/>
          </a:ln>
        </p:spPr>
      </p:sp>
      <p:sp>
        <p:nvSpPr>
          <p:cNvPr id="10" name="vsc1-c"/>
          <p:cNvSpPr/>
          <p:nvPr/>
        </p:nvSpPr>
        <p:spPr>
          <a:xfrm>
            <a:off x="2221992" y="1353312"/>
            <a:ext cx="502920" cy="502920"/>
          </a:xfrm>
          <a:prstGeom prst="ellipse">
            <a:avLst/>
          </a:prstGeom>
          <a:solidFill>
            <a:schemeClr val="accent2"/>
          </a:solidFill>
          <a:ln w="12700">
            <a:solidFill>
              <a:schemeClr val="accent2"/>
            </a:solidFill>
            <a:prstDash val="solid"/>
          </a:ln>
        </p:spPr>
      </p:sp>
      <p:pic>
        <p:nvPicPr>
          <p:cNvPr id="11" name="vsc1-i" descr="preencoded.png">    </p:cNvPr>
          <p:cNvPicPr>
            <a:picLocks noChangeAspect="1"/>
          </p:cNvPicPr>
          <p:nvPr/>
        </p:nvPicPr>
        <p:blipFill>
          <a:blip r:embed="rId2"/>
          <a:stretch>
            <a:fillRect/>
          </a:stretch>
        </p:blipFill>
        <p:spPr>
          <a:xfrm>
            <a:off x="2352751" y="1484071"/>
            <a:ext cx="241402" cy="241402"/>
          </a:xfrm>
          <a:prstGeom prst="rect">
            <a:avLst/>
          </a:prstGeom>
        </p:spPr>
      </p:pic>
      <p:sp>
        <p:nvSpPr>
          <p:cNvPr id="12" name="Text 8"/>
          <p:cNvSpPr txBox="1"/>
          <p:nvPr/>
        </p:nvSpPr>
        <p:spPr>
          <a:xfrm>
            <a:off x="1901952" y="1920240"/>
            <a:ext cx="1143000" cy="457200"/>
          </a:xfrm>
          <a:prstGeom prst="rect">
            <a:avLst/>
          </a:prstGeom>
          <a:noFill/>
          <a:ln/>
        </p:spPr>
        <p:txBody>
          <a:bodyPr wrap="square" lIns="0" tIns="0" rIns="0" bIns="0" rtlCol="0" anchor="ctr"/>
          <a:lstStyle/>
          <a:p>
            <a:pPr algn="ctr" indent="0" marL="0">
              <a:buNone/>
            </a:pPr>
            <a:r>
              <a:rPr lang="en-US" sz="1150" b="1" dirty="0">
                <a:solidFill>
                  <a:schemeClr val="tx2"/>
                </a:solidFill>
                <a:latin typeface="Calibri" pitchFamily="34" charset="0"/>
                <a:ea typeface="Calibri" pitchFamily="34" charset="-122"/>
                <a:cs typeface="Calibri" pitchFamily="34" charset="-120"/>
              </a:rPr>
              <a:t>Target shape</a:t>
            </a:r>
            <a:endParaRPr lang="en-US" sz="1150" dirty="0"/>
          </a:p>
        </p:txBody>
      </p:sp>
      <p:sp>
        <p:nvSpPr>
          <p:cNvPr id="13" name="vsa1"/>
          <p:cNvSpPr/>
          <p:nvPr/>
        </p:nvSpPr>
        <p:spPr>
          <a:xfrm>
            <a:off x="3099816" y="1847088"/>
            <a:ext cx="146304" cy="0"/>
          </a:xfrm>
          <a:prstGeom prst="line">
            <a:avLst/>
          </a:prstGeom>
          <a:noFill/>
          <a:ln w="22225">
            <a:solidFill>
              <a:schemeClr val="accent4"/>
            </a:solidFill>
            <a:prstDash val="solid"/>
            <a:tailEnd type="triangle"/>
          </a:ln>
        </p:spPr>
      </p:sp>
      <p:sp>
        <p:nvSpPr>
          <p:cNvPr id="14" name="vs2"/>
          <p:cNvSpPr/>
          <p:nvPr/>
        </p:nvSpPr>
        <p:spPr>
          <a:xfrm>
            <a:off x="3255264" y="1234440"/>
            <a:ext cx="1234440" cy="1234440"/>
          </a:xfrm>
          <a:prstGeom prst="roundRect">
            <a:avLst>
              <a:gd name="adj" fmla="val 5926"/>
            </a:avLst>
          </a:prstGeom>
          <a:solidFill>
            <a:schemeClr val="bg1"/>
          </a:solidFill>
          <a:ln w="15875">
            <a:solidFill>
              <a:schemeClr val="accent2"/>
            </a:solidFill>
            <a:prstDash val="dash"/>
          </a:ln>
        </p:spPr>
      </p:sp>
      <p:sp>
        <p:nvSpPr>
          <p:cNvPr id="15" name="vsc2-c"/>
          <p:cNvSpPr/>
          <p:nvPr/>
        </p:nvSpPr>
        <p:spPr>
          <a:xfrm>
            <a:off x="3621024" y="1353312"/>
            <a:ext cx="502920" cy="502920"/>
          </a:xfrm>
          <a:prstGeom prst="ellipse">
            <a:avLst/>
          </a:prstGeom>
          <a:solidFill>
            <a:schemeClr val="accent2"/>
          </a:solidFill>
          <a:ln w="12700">
            <a:solidFill>
              <a:schemeClr val="accent2"/>
            </a:solidFill>
            <a:prstDash val="solid"/>
          </a:ln>
        </p:spPr>
      </p:sp>
      <p:pic>
        <p:nvPicPr>
          <p:cNvPr id="16" name="vsc2-i" descr="preencoded.png">    </p:cNvPr>
          <p:cNvPicPr>
            <a:picLocks noChangeAspect="1"/>
          </p:cNvPicPr>
          <p:nvPr/>
        </p:nvPicPr>
        <p:blipFill>
          <a:blip r:embed="rId3"/>
          <a:stretch>
            <a:fillRect/>
          </a:stretch>
        </p:blipFill>
        <p:spPr>
          <a:xfrm>
            <a:off x="3751783" y="1484071"/>
            <a:ext cx="241402" cy="241402"/>
          </a:xfrm>
          <a:prstGeom prst="rect">
            <a:avLst/>
          </a:prstGeom>
        </p:spPr>
      </p:pic>
      <p:sp>
        <p:nvSpPr>
          <p:cNvPr id="17" name="Text 12"/>
          <p:cNvSpPr txBox="1"/>
          <p:nvPr/>
        </p:nvSpPr>
        <p:spPr>
          <a:xfrm>
            <a:off x="3300984" y="1920240"/>
            <a:ext cx="1143000" cy="457200"/>
          </a:xfrm>
          <a:prstGeom prst="rect">
            <a:avLst/>
          </a:prstGeom>
          <a:noFill/>
          <a:ln/>
        </p:spPr>
        <p:txBody>
          <a:bodyPr wrap="square" lIns="0" tIns="0" rIns="0" bIns="0" rtlCol="0" anchor="ctr"/>
          <a:lstStyle/>
          <a:p>
            <a:pPr algn="ctr" indent="0" marL="0">
              <a:buNone/>
            </a:pPr>
            <a:r>
              <a:rPr lang="en-US" sz="1150" b="1" dirty="0">
                <a:solidFill>
                  <a:schemeClr val="tx2"/>
                </a:solidFill>
                <a:latin typeface="Calibri" pitchFamily="34" charset="0"/>
                <a:ea typeface="Calibri" pitchFamily="34" charset="-122"/>
                <a:cs typeface="Calibri" pitchFamily="34" charset="-120"/>
              </a:rPr>
              <a:t>Voxel grid</a:t>
            </a:r>
            <a:endParaRPr lang="en-US" sz="1150" dirty="0"/>
          </a:p>
        </p:txBody>
      </p:sp>
      <p:sp>
        <p:nvSpPr>
          <p:cNvPr id="18" name="vsa2"/>
          <p:cNvSpPr/>
          <p:nvPr/>
        </p:nvSpPr>
        <p:spPr>
          <a:xfrm>
            <a:off x="4498848" y="1847088"/>
            <a:ext cx="146304" cy="0"/>
          </a:xfrm>
          <a:prstGeom prst="line">
            <a:avLst/>
          </a:prstGeom>
          <a:noFill/>
          <a:ln w="22225">
            <a:solidFill>
              <a:schemeClr val="accent4"/>
            </a:solidFill>
            <a:prstDash val="solid"/>
            <a:tailEnd type="triangle"/>
          </a:ln>
        </p:spPr>
      </p:sp>
      <p:sp>
        <p:nvSpPr>
          <p:cNvPr id="19" name="vs3"/>
          <p:cNvSpPr/>
          <p:nvPr/>
        </p:nvSpPr>
        <p:spPr>
          <a:xfrm>
            <a:off x="4654296" y="1234440"/>
            <a:ext cx="1234440" cy="1234440"/>
          </a:xfrm>
          <a:prstGeom prst="roundRect">
            <a:avLst>
              <a:gd name="adj" fmla="val 5926"/>
            </a:avLst>
          </a:prstGeom>
          <a:solidFill>
            <a:schemeClr val="bg1"/>
          </a:solidFill>
          <a:ln w="15875">
            <a:solidFill>
              <a:schemeClr val="accent2"/>
            </a:solidFill>
            <a:prstDash val="dash"/>
          </a:ln>
        </p:spPr>
      </p:sp>
      <p:sp>
        <p:nvSpPr>
          <p:cNvPr id="20" name="vsc3-c"/>
          <p:cNvSpPr/>
          <p:nvPr/>
        </p:nvSpPr>
        <p:spPr>
          <a:xfrm>
            <a:off x="5020056" y="1353312"/>
            <a:ext cx="502920" cy="502920"/>
          </a:xfrm>
          <a:prstGeom prst="ellipse">
            <a:avLst/>
          </a:prstGeom>
          <a:solidFill>
            <a:schemeClr val="accent2"/>
          </a:solidFill>
          <a:ln w="12700">
            <a:solidFill>
              <a:schemeClr val="accent2"/>
            </a:solidFill>
            <a:prstDash val="solid"/>
          </a:ln>
        </p:spPr>
      </p:sp>
      <p:pic>
        <p:nvPicPr>
          <p:cNvPr id="21" name="vsc3-i" descr="preencoded.png">    </p:cNvPr>
          <p:cNvPicPr>
            <a:picLocks noChangeAspect="1"/>
          </p:cNvPicPr>
          <p:nvPr/>
        </p:nvPicPr>
        <p:blipFill>
          <a:blip r:embed="rId4"/>
          <a:stretch>
            <a:fillRect/>
          </a:stretch>
        </p:blipFill>
        <p:spPr>
          <a:xfrm>
            <a:off x="5150815" y="1484071"/>
            <a:ext cx="241402" cy="241402"/>
          </a:xfrm>
          <a:prstGeom prst="rect">
            <a:avLst/>
          </a:prstGeom>
        </p:spPr>
      </p:pic>
      <p:sp>
        <p:nvSpPr>
          <p:cNvPr id="22" name="Text 16"/>
          <p:cNvSpPr txBox="1"/>
          <p:nvPr/>
        </p:nvSpPr>
        <p:spPr>
          <a:xfrm>
            <a:off x="4700016" y="1920240"/>
            <a:ext cx="1143000" cy="457200"/>
          </a:xfrm>
          <a:prstGeom prst="rect">
            <a:avLst/>
          </a:prstGeom>
          <a:noFill/>
          <a:ln/>
        </p:spPr>
        <p:txBody>
          <a:bodyPr wrap="square" lIns="0" tIns="0" rIns="0" bIns="0" rtlCol="0" anchor="ctr"/>
          <a:lstStyle/>
          <a:p>
            <a:pPr algn="ctr" indent="0" marL="0">
              <a:buNone/>
            </a:pPr>
            <a:r>
              <a:rPr lang="en-US" sz="1150" b="1" dirty="0">
                <a:solidFill>
                  <a:schemeClr val="tx2"/>
                </a:solidFill>
                <a:latin typeface="Calibri" pitchFamily="34" charset="0"/>
                <a:ea typeface="Calibri" pitchFamily="34" charset="-122"/>
                <a:cs typeface="Calibri" pitchFamily="34" charset="-120"/>
              </a:rPr>
              <a:t>Surrogate + PEA</a:t>
            </a:r>
            <a:endParaRPr lang="en-US" sz="1150" dirty="0"/>
          </a:p>
        </p:txBody>
      </p:sp>
      <p:sp>
        <p:nvSpPr>
          <p:cNvPr id="23" name="vsa3"/>
          <p:cNvSpPr/>
          <p:nvPr/>
        </p:nvSpPr>
        <p:spPr>
          <a:xfrm>
            <a:off x="5897880" y="1847088"/>
            <a:ext cx="146304" cy="0"/>
          </a:xfrm>
          <a:prstGeom prst="line">
            <a:avLst/>
          </a:prstGeom>
          <a:noFill/>
          <a:ln w="22225">
            <a:solidFill>
              <a:schemeClr val="accent4"/>
            </a:solidFill>
            <a:prstDash val="solid"/>
            <a:tailEnd type="triangle"/>
          </a:ln>
        </p:spPr>
      </p:sp>
      <p:sp>
        <p:nvSpPr>
          <p:cNvPr id="24" name="vs4"/>
          <p:cNvSpPr/>
          <p:nvPr/>
        </p:nvSpPr>
        <p:spPr>
          <a:xfrm>
            <a:off x="6053328" y="1234440"/>
            <a:ext cx="1234440" cy="1234440"/>
          </a:xfrm>
          <a:prstGeom prst="roundRect">
            <a:avLst>
              <a:gd name="adj" fmla="val 5926"/>
            </a:avLst>
          </a:prstGeom>
          <a:solidFill>
            <a:schemeClr val="bg1"/>
          </a:solidFill>
          <a:ln w="15875">
            <a:solidFill>
              <a:schemeClr val="accent2"/>
            </a:solidFill>
            <a:prstDash val="dash"/>
          </a:ln>
        </p:spPr>
      </p:sp>
      <p:sp>
        <p:nvSpPr>
          <p:cNvPr id="25" name="vsc4-c"/>
          <p:cNvSpPr/>
          <p:nvPr/>
        </p:nvSpPr>
        <p:spPr>
          <a:xfrm>
            <a:off x="6419088" y="1353312"/>
            <a:ext cx="502920" cy="502920"/>
          </a:xfrm>
          <a:prstGeom prst="ellipse">
            <a:avLst/>
          </a:prstGeom>
          <a:solidFill>
            <a:schemeClr val="accent2"/>
          </a:solidFill>
          <a:ln w="12700">
            <a:solidFill>
              <a:schemeClr val="accent2"/>
            </a:solidFill>
            <a:prstDash val="solid"/>
          </a:ln>
        </p:spPr>
      </p:sp>
      <p:pic>
        <p:nvPicPr>
          <p:cNvPr id="26" name="vsc4-i" descr="preencoded.png">    </p:cNvPr>
          <p:cNvPicPr>
            <a:picLocks noChangeAspect="1"/>
          </p:cNvPicPr>
          <p:nvPr/>
        </p:nvPicPr>
        <p:blipFill>
          <a:blip r:embed="rId5"/>
          <a:stretch>
            <a:fillRect/>
          </a:stretch>
        </p:blipFill>
        <p:spPr>
          <a:xfrm>
            <a:off x="6549847" y="1484071"/>
            <a:ext cx="241402" cy="241402"/>
          </a:xfrm>
          <a:prstGeom prst="rect">
            <a:avLst/>
          </a:prstGeom>
        </p:spPr>
      </p:pic>
      <p:sp>
        <p:nvSpPr>
          <p:cNvPr id="27" name="Text 20"/>
          <p:cNvSpPr txBox="1"/>
          <p:nvPr/>
        </p:nvSpPr>
        <p:spPr>
          <a:xfrm>
            <a:off x="6099048" y="1920240"/>
            <a:ext cx="1143000" cy="457200"/>
          </a:xfrm>
          <a:prstGeom prst="rect">
            <a:avLst/>
          </a:prstGeom>
          <a:noFill/>
          <a:ln/>
        </p:spPr>
        <p:txBody>
          <a:bodyPr wrap="square" lIns="0" tIns="0" rIns="0" bIns="0" rtlCol="0" anchor="ctr"/>
          <a:lstStyle/>
          <a:p>
            <a:pPr algn="ctr" indent="0" marL="0">
              <a:buNone/>
            </a:pPr>
            <a:r>
              <a:rPr lang="en-US" sz="1150" b="1" dirty="0">
                <a:solidFill>
                  <a:schemeClr val="tx2"/>
                </a:solidFill>
                <a:latin typeface="Calibri" pitchFamily="34" charset="0"/>
                <a:ea typeface="Calibri" pitchFamily="34" charset="-122"/>
                <a:cs typeface="Calibri" pitchFamily="34" charset="-120"/>
              </a:rPr>
              <a:t>FE check</a:t>
            </a:r>
            <a:endParaRPr lang="en-US" sz="1150" dirty="0"/>
          </a:p>
        </p:txBody>
      </p:sp>
      <p:sp>
        <p:nvSpPr>
          <p:cNvPr id="28" name="vsa4"/>
          <p:cNvSpPr/>
          <p:nvPr/>
        </p:nvSpPr>
        <p:spPr>
          <a:xfrm>
            <a:off x="7296912" y="1847088"/>
            <a:ext cx="146304" cy="0"/>
          </a:xfrm>
          <a:prstGeom prst="line">
            <a:avLst/>
          </a:prstGeom>
          <a:noFill/>
          <a:ln w="22225">
            <a:solidFill>
              <a:schemeClr val="accent4"/>
            </a:solidFill>
            <a:prstDash val="solid"/>
            <a:tailEnd type="triangle"/>
          </a:ln>
        </p:spPr>
      </p:sp>
      <p:sp>
        <p:nvSpPr>
          <p:cNvPr id="29" name="vs5"/>
          <p:cNvSpPr/>
          <p:nvPr/>
        </p:nvSpPr>
        <p:spPr>
          <a:xfrm>
            <a:off x="7452360" y="1234440"/>
            <a:ext cx="1234440" cy="1234440"/>
          </a:xfrm>
          <a:prstGeom prst="roundRect">
            <a:avLst>
              <a:gd name="adj" fmla="val 5926"/>
            </a:avLst>
          </a:prstGeom>
          <a:solidFill>
            <a:schemeClr val="bg1"/>
          </a:solidFill>
          <a:ln w="15875">
            <a:solidFill>
              <a:schemeClr val="accent2"/>
            </a:solidFill>
            <a:prstDash val="dash"/>
          </a:ln>
        </p:spPr>
      </p:sp>
      <p:sp>
        <p:nvSpPr>
          <p:cNvPr id="30" name="vsc5-c"/>
          <p:cNvSpPr/>
          <p:nvPr/>
        </p:nvSpPr>
        <p:spPr>
          <a:xfrm>
            <a:off x="7818120" y="1353312"/>
            <a:ext cx="502920" cy="502920"/>
          </a:xfrm>
          <a:prstGeom prst="ellipse">
            <a:avLst/>
          </a:prstGeom>
          <a:solidFill>
            <a:schemeClr val="accent2"/>
          </a:solidFill>
          <a:ln w="12700">
            <a:solidFill>
              <a:schemeClr val="accent2"/>
            </a:solidFill>
            <a:prstDash val="solid"/>
          </a:ln>
        </p:spPr>
      </p:sp>
      <p:pic>
        <p:nvPicPr>
          <p:cNvPr id="31" name="vsc5-i" descr="preencoded.png">    </p:cNvPr>
          <p:cNvPicPr>
            <a:picLocks noChangeAspect="1"/>
          </p:cNvPicPr>
          <p:nvPr/>
        </p:nvPicPr>
        <p:blipFill>
          <a:blip r:embed="rId6"/>
          <a:stretch>
            <a:fillRect/>
          </a:stretch>
        </p:blipFill>
        <p:spPr>
          <a:xfrm>
            <a:off x="7948879" y="1484071"/>
            <a:ext cx="241402" cy="241402"/>
          </a:xfrm>
          <a:prstGeom prst="rect">
            <a:avLst/>
          </a:prstGeom>
        </p:spPr>
      </p:pic>
      <p:sp>
        <p:nvSpPr>
          <p:cNvPr id="32" name="Text 24"/>
          <p:cNvSpPr txBox="1"/>
          <p:nvPr/>
        </p:nvSpPr>
        <p:spPr>
          <a:xfrm>
            <a:off x="7498080" y="1920240"/>
            <a:ext cx="1143000" cy="457200"/>
          </a:xfrm>
          <a:prstGeom prst="rect">
            <a:avLst/>
          </a:prstGeom>
          <a:noFill/>
          <a:ln/>
        </p:spPr>
        <p:txBody>
          <a:bodyPr wrap="square" lIns="0" tIns="0" rIns="0" bIns="0" rtlCol="0" anchor="ctr"/>
          <a:lstStyle/>
          <a:p>
            <a:pPr algn="ctr" indent="0" marL="0">
              <a:buNone/>
            </a:pPr>
            <a:r>
              <a:rPr lang="en-US" sz="1150" b="1" dirty="0">
                <a:solidFill>
                  <a:schemeClr val="tx2"/>
                </a:solidFill>
                <a:latin typeface="Calibri" pitchFamily="34" charset="0"/>
                <a:ea typeface="Calibri" pitchFamily="34" charset="-122"/>
                <a:cs typeface="Calibri" pitchFamily="34" charset="-120"/>
              </a:rPr>
              <a:t>4D print</a:t>
            </a:r>
            <a:endParaRPr lang="en-US" sz="1150" dirty="0"/>
          </a:p>
        </p:txBody>
      </p:sp>
      <p:sp>
        <p:nvSpPr>
          <p:cNvPr id="33" name="Text 25"/>
          <p:cNvSpPr txBox="1"/>
          <p:nvPr/>
        </p:nvSpPr>
        <p:spPr>
          <a:xfrm>
            <a:off x="457200" y="2606040"/>
            <a:ext cx="8229600" cy="457200"/>
          </a:xfrm>
          <a:prstGeom prst="rect">
            <a:avLst/>
          </a:prstGeom>
          <a:noFill/>
          <a:ln/>
        </p:spPr>
        <p:txBody>
          <a:bodyPr wrap="square" lIns="0" tIns="0" rIns="0" bIns="0" rtlCol="0" anchor="ctr"/>
          <a:lstStyle/>
          <a:p>
            <a:pPr indent="0" marL="0">
              <a:buNone/>
            </a:pPr>
            <a:r>
              <a:rPr lang="en-US" sz="1100" i="1" dirty="0">
                <a:solidFill>
                  <a:schemeClr val="accent4"/>
                </a:solidFill>
                <a:latin typeface="Calibri" pitchFamily="34" charset="0"/>
                <a:ea typeface="Calibri" pitchFamily="34" charset="-122"/>
                <a:cs typeface="Calibri" pitchFamily="34" charset="-120"/>
              </a:rPr>
              <a:t>Needs first: digitize the target curve, resample to 200 points, and match coordinates and scale. Our separate FreiHAND prototype is not part of this code.</a:t>
            </a:r>
            <a:endParaRPr lang="en-US" sz="1100" dirty="0"/>
          </a:p>
        </p:txBody>
      </p:sp>
      <p:sp>
        <p:nvSpPr>
          <p:cNvPr id="34" name="tk0"/>
          <p:cNvSpPr/>
          <p:nvPr/>
        </p:nvSpPr>
        <p:spPr>
          <a:xfrm>
            <a:off x="457200" y="3246120"/>
            <a:ext cx="2606040" cy="1371600"/>
          </a:xfrm>
          <a:prstGeom prst="roundRect">
            <a:avLst>
              <a:gd name="adj" fmla="val 5333"/>
            </a:avLst>
          </a:prstGeom>
          <a:solidFill>
            <a:schemeClr val="accent1"/>
          </a:solidFill>
          <a:ln w="12700">
            <a:solidFill>
              <a:schemeClr val="accent1"/>
            </a:solidFill>
            <a:prstDash val="solid"/>
          </a:ln>
        </p:spPr>
      </p:sp>
      <p:sp>
        <p:nvSpPr>
          <p:cNvPr id="35" name="Text 27"/>
          <p:cNvSpPr txBox="1"/>
          <p:nvPr/>
        </p:nvSpPr>
        <p:spPr>
          <a:xfrm>
            <a:off x="640080" y="3310128"/>
            <a:ext cx="548640" cy="548640"/>
          </a:xfrm>
          <a:prstGeom prst="rect">
            <a:avLst/>
          </a:prstGeom>
          <a:noFill/>
          <a:ln/>
        </p:spPr>
        <p:txBody>
          <a:bodyPr wrap="square" lIns="0" tIns="0" rIns="0" bIns="0" rtlCol="0" anchor="t"/>
          <a:lstStyle/>
          <a:p>
            <a:pPr indent="0" marL="0">
              <a:buNone/>
            </a:pPr>
            <a:r>
              <a:rPr lang="en-US" sz="2800" b="1" dirty="0">
                <a:solidFill>
                  <a:schemeClr val="bg1"/>
                </a:solidFill>
                <a:latin typeface="Georgia" pitchFamily="34" charset="0"/>
                <a:ea typeface="Georgia" pitchFamily="34" charset="-122"/>
                <a:cs typeface="Georgia" pitchFamily="34" charset="-120"/>
              </a:rPr>
              <a:t>1</a:t>
            </a:r>
            <a:endParaRPr lang="en-US" sz="2800" dirty="0"/>
          </a:p>
        </p:txBody>
      </p:sp>
      <p:sp>
        <p:nvSpPr>
          <p:cNvPr id="36" name="Text 28"/>
          <p:cNvSpPr txBox="1"/>
          <p:nvPr/>
        </p:nvSpPr>
        <p:spPr>
          <a:xfrm>
            <a:off x="640080" y="3840480"/>
            <a:ext cx="2240280" cy="685800"/>
          </a:xfrm>
          <a:prstGeom prst="rect">
            <a:avLst/>
          </a:prstGeom>
          <a:noFill/>
          <a:ln/>
        </p:spPr>
        <p:txBody>
          <a:bodyPr wrap="square" lIns="0" tIns="0" rIns="0" bIns="0" rtlCol="0" anchor="t"/>
          <a:lstStyle/>
          <a:p>
            <a:pPr indent="0" marL="0">
              <a:buNone/>
            </a:pPr>
            <a:r>
              <a:rPr lang="en-US" sz="1400" b="1" dirty="0">
                <a:solidFill>
                  <a:schemeClr val="bg1"/>
                </a:solidFill>
                <a:latin typeface="Calibri" pitchFamily="34" charset="0"/>
                <a:ea typeface="Calibri" pitchFamily="34" charset="-122"/>
                <a:cs typeface="Calibri" pitchFamily="34" charset="-120"/>
              </a:rPr>
              <a:t>Representation decides what you can design</a:t>
            </a:r>
            <a:endParaRPr lang="en-US" sz="1400" dirty="0"/>
          </a:p>
        </p:txBody>
      </p:sp>
      <p:sp>
        <p:nvSpPr>
          <p:cNvPr id="37" name="tk1"/>
          <p:cNvSpPr/>
          <p:nvPr/>
        </p:nvSpPr>
        <p:spPr>
          <a:xfrm>
            <a:off x="3246120" y="3246120"/>
            <a:ext cx="2606040" cy="1371600"/>
          </a:xfrm>
          <a:prstGeom prst="roundRect">
            <a:avLst>
              <a:gd name="adj" fmla="val 5333"/>
            </a:avLst>
          </a:prstGeom>
          <a:solidFill>
            <a:schemeClr val="accent2"/>
          </a:solidFill>
          <a:ln w="12700">
            <a:solidFill>
              <a:schemeClr val="accent2"/>
            </a:solidFill>
            <a:prstDash val="solid"/>
          </a:ln>
        </p:spPr>
      </p:sp>
      <p:sp>
        <p:nvSpPr>
          <p:cNvPr id="38" name="Text 30"/>
          <p:cNvSpPr txBox="1"/>
          <p:nvPr/>
        </p:nvSpPr>
        <p:spPr>
          <a:xfrm>
            <a:off x="3429000" y="3310128"/>
            <a:ext cx="548640" cy="548640"/>
          </a:xfrm>
          <a:prstGeom prst="rect">
            <a:avLst/>
          </a:prstGeom>
          <a:noFill/>
          <a:ln/>
        </p:spPr>
        <p:txBody>
          <a:bodyPr wrap="square" lIns="0" tIns="0" rIns="0" bIns="0" rtlCol="0" anchor="t"/>
          <a:lstStyle/>
          <a:p>
            <a:pPr indent="0" marL="0">
              <a:buNone/>
            </a:pPr>
            <a:r>
              <a:rPr lang="en-US" sz="2800" b="1" dirty="0">
                <a:solidFill>
                  <a:schemeClr val="bg1"/>
                </a:solidFill>
                <a:latin typeface="Georgia" pitchFamily="34" charset="0"/>
                <a:ea typeface="Georgia" pitchFamily="34" charset="-122"/>
                <a:cs typeface="Georgia" pitchFamily="34" charset="-120"/>
              </a:rPr>
              <a:t>2</a:t>
            </a:r>
            <a:endParaRPr lang="en-US" sz="2800" dirty="0"/>
          </a:p>
        </p:txBody>
      </p:sp>
      <p:sp>
        <p:nvSpPr>
          <p:cNvPr id="39" name="Text 31"/>
          <p:cNvSpPr txBox="1"/>
          <p:nvPr/>
        </p:nvSpPr>
        <p:spPr>
          <a:xfrm>
            <a:off x="3429000" y="3840480"/>
            <a:ext cx="2240280" cy="685800"/>
          </a:xfrm>
          <a:prstGeom prst="rect">
            <a:avLst/>
          </a:prstGeom>
          <a:noFill/>
          <a:ln/>
        </p:spPr>
        <p:txBody>
          <a:bodyPr wrap="square" lIns="0" tIns="0" rIns="0" bIns="0" rtlCol="0" anchor="t"/>
          <a:lstStyle/>
          <a:p>
            <a:pPr indent="0" marL="0">
              <a:buNone/>
            </a:pPr>
            <a:r>
              <a:rPr lang="en-US" sz="1400" b="1" dirty="0">
                <a:solidFill>
                  <a:schemeClr val="bg1"/>
                </a:solidFill>
                <a:latin typeface="Calibri" pitchFamily="34" charset="0"/>
                <a:ea typeface="Calibri" pitchFamily="34" charset="-122"/>
                <a:cs typeface="Calibri" pitchFamily="34" charset="-120"/>
              </a:rPr>
              <a:t>Test the surrogate inside the search loop</a:t>
            </a:r>
            <a:endParaRPr lang="en-US" sz="1400" dirty="0"/>
          </a:p>
        </p:txBody>
      </p:sp>
      <p:sp>
        <p:nvSpPr>
          <p:cNvPr id="40" name="tk2"/>
          <p:cNvSpPr/>
          <p:nvPr/>
        </p:nvSpPr>
        <p:spPr>
          <a:xfrm>
            <a:off x="6035040" y="3246120"/>
            <a:ext cx="2606040" cy="1371600"/>
          </a:xfrm>
          <a:prstGeom prst="roundRect">
            <a:avLst>
              <a:gd name="adj" fmla="val 5333"/>
            </a:avLst>
          </a:prstGeom>
          <a:solidFill>
            <a:schemeClr val="tx2"/>
          </a:solidFill>
          <a:ln w="12700">
            <a:solidFill>
              <a:schemeClr val="tx2"/>
            </a:solidFill>
            <a:prstDash val="solid"/>
          </a:ln>
        </p:spPr>
      </p:sp>
      <p:sp>
        <p:nvSpPr>
          <p:cNvPr id="41" name="Text 33"/>
          <p:cNvSpPr txBox="1"/>
          <p:nvPr/>
        </p:nvSpPr>
        <p:spPr>
          <a:xfrm>
            <a:off x="6217920" y="3310128"/>
            <a:ext cx="548640" cy="548640"/>
          </a:xfrm>
          <a:prstGeom prst="rect">
            <a:avLst/>
          </a:prstGeom>
          <a:noFill/>
          <a:ln/>
        </p:spPr>
        <p:txBody>
          <a:bodyPr wrap="square" lIns="0" tIns="0" rIns="0" bIns="0" rtlCol="0" anchor="t"/>
          <a:lstStyle/>
          <a:p>
            <a:pPr indent="0" marL="0">
              <a:buNone/>
            </a:pPr>
            <a:r>
              <a:rPr lang="en-US" sz="2800" b="1" dirty="0">
                <a:solidFill>
                  <a:schemeClr val="bg1"/>
                </a:solidFill>
                <a:latin typeface="Georgia" pitchFamily="34" charset="0"/>
                <a:ea typeface="Georgia" pitchFamily="34" charset="-122"/>
                <a:cs typeface="Georgia" pitchFamily="34" charset="-120"/>
              </a:rPr>
              <a:t>3</a:t>
            </a:r>
            <a:endParaRPr lang="en-US" sz="2800" dirty="0"/>
          </a:p>
        </p:txBody>
      </p:sp>
      <p:sp>
        <p:nvSpPr>
          <p:cNvPr id="42" name="Text 34"/>
          <p:cNvSpPr txBox="1"/>
          <p:nvPr/>
        </p:nvSpPr>
        <p:spPr>
          <a:xfrm>
            <a:off x="6217920" y="3840480"/>
            <a:ext cx="2240280" cy="685800"/>
          </a:xfrm>
          <a:prstGeom prst="rect">
            <a:avLst/>
          </a:prstGeom>
          <a:noFill/>
          <a:ln/>
        </p:spPr>
        <p:txBody>
          <a:bodyPr wrap="square" lIns="0" tIns="0" rIns="0" bIns="0" rtlCol="0" anchor="t"/>
          <a:lstStyle/>
          <a:p>
            <a:pPr indent="0" marL="0">
              <a:buNone/>
            </a:pPr>
            <a:r>
              <a:rPr lang="en-US" sz="1400" b="1" dirty="0">
                <a:solidFill>
                  <a:schemeClr val="bg1"/>
                </a:solidFill>
                <a:latin typeface="Calibri" pitchFamily="34" charset="0"/>
                <a:ea typeface="Calibri" pitchFamily="34" charset="-122"/>
                <a:cs typeface="Calibri" pitchFamily="34" charset="-120"/>
              </a:rPr>
              <a:t>Validate designs with FE and printing</a:t>
            </a:r>
            <a:endParaRPr lang="en-US" sz="1400" dirty="0"/>
          </a:p>
        </p:txBody>
      </p:sp>
      <p:sp>
        <p:nvSpPr>
          <p:cNvPr id="43" name="Text 35"/>
          <p:cNvSpPr txBox="1"/>
          <p:nvPr/>
        </p:nvSpPr>
        <p:spPr>
          <a:xfrm>
            <a:off x="457200" y="4818888"/>
            <a:ext cx="7498080" cy="201168"/>
          </a:xfrm>
          <a:prstGeom prst="rect">
            <a:avLst/>
          </a:prstGeom>
          <a:noFill/>
          <a:ln/>
        </p:spPr>
        <p:txBody>
          <a:bodyPr wrap="square" lIns="0" tIns="0" rIns="0" bIns="0" rtlCol="0" anchor="t"/>
          <a:lstStyle/>
          <a:p>
            <a:pPr indent="0" marL="0">
              <a:buNone/>
            </a:pPr>
            <a:r>
              <a:rPr lang="en-US" sz="800" dirty="0">
                <a:solidFill>
                  <a:schemeClr val="accent4"/>
                </a:solidFill>
                <a:latin typeface="Calibri" pitchFamily="34" charset="0"/>
                <a:ea typeface="Calibri" pitchFamily="34" charset="-122"/>
                <a:cs typeface="Calibri" pitchFamily="34" charset="-120"/>
              </a:rPr>
              <a:t>Proposed research direction. Demonstrated hand-shape actuation: Jin et al. 2024, Fig. 7 [2].</a:t>
            </a:r>
            <a:endParaRPr lang="en-US" sz="8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5B6B82"/>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5120640" cy="1737360"/>
          </a:xfrm>
          <a:prstGeom prst="rect">
            <a:avLst/>
          </a:prstGeom>
          <a:noFill/>
          <a:ln/>
        </p:spPr>
        <p:txBody>
          <a:bodyPr wrap="square" lIns="0" tIns="0" rIns="0" bIns="0" rtlCol="0" anchor="b"/>
          <a:lstStyle/>
          <a:p>
            <a:pPr algn="l" indent="0" marL="0">
              <a:buNone/>
            </a:pPr>
            <a:r>
              <a:rPr lang="en-US" sz="3000" b="1" dirty="0">
                <a:solidFill>
                  <a:schemeClr val="bg1"/>
                </a:solidFill>
                <a:latin typeface="Georgia" pitchFamily="34" charset="0"/>
                <a:ea typeface="Georgia" pitchFamily="34" charset="-122"/>
                <a:cs typeface="Georgia" pitchFamily="34" charset="-120"/>
              </a:rPr>
              <a:t>Questions?</a:t>
            </a:r>
            <a:endParaRPr lang="en-US" sz="3000" dirty="0"/>
          </a:p>
        </p:txBody>
      </p:sp>
      <p:sp>
        <p:nvSpPr>
          <p:cNvPr id="3" name="qq-c"/>
          <p:cNvSpPr/>
          <p:nvPr/>
        </p:nvSpPr>
        <p:spPr>
          <a:xfrm>
            <a:off x="548640" y="640080"/>
            <a:ext cx="822960" cy="822960"/>
          </a:xfrm>
          <a:prstGeom prst="ellipse">
            <a:avLst/>
          </a:prstGeom>
          <a:solidFill>
            <a:schemeClr val="accent1"/>
          </a:solidFill>
          <a:ln w="12700">
            <a:solidFill>
              <a:schemeClr val="accent1"/>
            </a:solidFill>
            <a:prstDash val="solid"/>
          </a:ln>
        </p:spPr>
      </p:sp>
      <p:pic>
        <p:nvPicPr>
          <p:cNvPr id="4" name="qq-i" descr="preencoded.png">    </p:cNvPr>
          <p:cNvPicPr>
            <a:picLocks noChangeAspect="1"/>
          </p:cNvPicPr>
          <p:nvPr/>
        </p:nvPicPr>
        <p:blipFill>
          <a:blip r:embed="rId1"/>
          <a:stretch>
            <a:fillRect/>
          </a:stretch>
        </p:blipFill>
        <p:spPr>
          <a:xfrm>
            <a:off x="762610" y="854050"/>
            <a:ext cx="395021" cy="395021"/>
          </a:xfrm>
          <a:prstGeom prst="rect">
            <a:avLst/>
          </a:prstGeom>
        </p:spPr>
      </p:pic>
      <p:sp>
        <p:nvSpPr>
          <p:cNvPr id="5" name="Text 0"/>
          <p:cNvSpPr/>
          <p:nvPr>
            <p:ph idx="101" type="body" hasCustomPrompt="1"/>
          </p:nvPr>
        </p:nvSpPr>
        <p:spPr>
          <a:xfrm>
            <a:off x="548640" y="3291840"/>
            <a:ext cx="5120640" cy="822960"/>
          </a:xfrm>
          <a:prstGeom prst="rect">
            <a:avLst/>
          </a:prstGeom>
          <a:noFill/>
          <a:ln/>
        </p:spPr>
        <p:txBody>
          <a:bodyPr wrap="square" lIns="0" tIns="0" rIns="0" bIns="0" rtlCol="0" anchor="t"/>
          <a:lstStyle/>
          <a:p>
            <a:pPr algn="l" indent="0" marL="0">
              <a:buNone/>
            </a:pPr>
            <a:r>
              <a:rPr lang="en-US" sz="1500" dirty="0">
                <a:solidFill>
                  <a:schemeClr val="accent5"/>
                </a:solidFill>
                <a:latin typeface="Calibri" pitchFamily="34" charset="0"/>
                <a:ea typeface="Calibri" pitchFamily="34" charset="-122"/>
                <a:cs typeface="Calibri" pitchFamily="34" charset="-120"/>
              </a:rPr>
              <a:t>Which validation step should come first: an FE check, a printed measurement, or new target shapes?</a:t>
            </a:r>
            <a:endParaRPr lang="en-US" sz="1500" dirty="0"/>
          </a:p>
        </p:txBody>
      </p:sp>
      <p:sp>
        <p:nvSpPr>
          <p:cNvPr id="6" name="refs"/>
          <p:cNvSpPr/>
          <p:nvPr/>
        </p:nvSpPr>
        <p:spPr>
          <a:xfrm>
            <a:off x="5897880" y="548640"/>
            <a:ext cx="2834640" cy="4023360"/>
          </a:xfrm>
          <a:prstGeom prst="roundRect">
            <a:avLst>
              <a:gd name="adj" fmla="val 2581"/>
            </a:avLst>
          </a:prstGeom>
          <a:solidFill>
            <a:srgbClr val="22325A"/>
          </a:solidFill>
          <a:ln w="12700">
            <a:solidFill>
              <a:srgbClr val="22325A"/>
            </a:solidFill>
            <a:prstDash val="solid"/>
          </a:ln>
        </p:spPr>
      </p:sp>
      <p:sp>
        <p:nvSpPr>
          <p:cNvPr id="7" name="Text 4"/>
          <p:cNvSpPr txBox="1"/>
          <p:nvPr/>
        </p:nvSpPr>
        <p:spPr>
          <a:xfrm>
            <a:off x="6080760" y="685800"/>
            <a:ext cx="2468880" cy="320040"/>
          </a:xfrm>
          <a:prstGeom prst="rect">
            <a:avLst/>
          </a:prstGeom>
          <a:noFill/>
          <a:ln/>
        </p:spPr>
        <p:txBody>
          <a:bodyPr wrap="square" lIns="0" tIns="0" rIns="0" bIns="0" rtlCol="0" anchor="t"/>
          <a:lstStyle/>
          <a:p>
            <a:pPr indent="0" marL="0">
              <a:buNone/>
            </a:pPr>
            <a:r>
              <a:rPr lang="en-US" sz="1300" b="1" dirty="0">
                <a:solidFill>
                  <a:schemeClr val="accent3"/>
                </a:solidFill>
                <a:latin typeface="Georgia" pitchFamily="34" charset="0"/>
                <a:ea typeface="Georgia" pitchFamily="34" charset="-122"/>
                <a:cs typeface="Georgia" pitchFamily="34" charset="-120"/>
              </a:rPr>
              <a:t>References</a:t>
            </a:r>
            <a:endParaRPr lang="en-US" sz="1300" dirty="0"/>
          </a:p>
        </p:txBody>
      </p:sp>
      <p:sp>
        <p:nvSpPr>
          <p:cNvPr id="8" name="Text 5"/>
          <p:cNvSpPr txBox="1"/>
          <p:nvPr/>
        </p:nvSpPr>
        <p:spPr>
          <a:xfrm>
            <a:off x="6080760" y="1051560"/>
            <a:ext cx="2514600" cy="3429000"/>
          </a:xfrm>
          <a:prstGeom prst="rect">
            <a:avLst/>
          </a:prstGeom>
          <a:noFill/>
          <a:ln/>
        </p:spPr>
        <p:txBody>
          <a:bodyPr wrap="square" lIns="0" tIns="0" rIns="0" bIns="0" rtlCol="0" anchor="t"/>
          <a:lstStyle/>
          <a:p>
            <a:pPr indent="0" marL="0">
              <a:spcAft>
                <a:spcPts val="600"/>
              </a:spcAft>
              <a:buNone/>
            </a:pPr>
            <a:r>
              <a:rPr lang="en-US" sz="900" dirty="0">
                <a:solidFill>
                  <a:schemeClr val="accent6"/>
                </a:solidFill>
                <a:latin typeface="Calibri" pitchFamily="34" charset="0"/>
                <a:ea typeface="Calibri" pitchFamily="34" charset="-122"/>
                <a:cs typeface="Calibri" pitchFamily="34" charset="-120"/>
              </a:rPr>
              <a:t>[1] M. Wang et al., Adv. Sci. 12(12), 2407825, 2025. doi:10.1002/advs.202407825</a:t>
            </a:r>
            <a:endParaRPr lang="en-US" sz="900" dirty="0"/>
          </a:p>
          <a:p>
            <a:pPr indent="0" marL="0">
              <a:spcAft>
                <a:spcPts val="600"/>
              </a:spcAft>
              <a:buNone/>
            </a:pPr>
            <a:r>
              <a:rPr lang="en-US" sz="900" dirty="0">
                <a:solidFill>
                  <a:schemeClr val="accent6"/>
                </a:solidFill>
                <a:latin typeface="Calibri" pitchFamily="34" charset="0"/>
                <a:ea typeface="Calibri" pitchFamily="34" charset="-122"/>
                <a:cs typeface="Calibri" pitchFamily="34" charset="-120"/>
              </a:rPr>
              <a:t>[2] L. Jin et al., Appl. Mater. Today 40, 102373, 2024. doi:10.1016/j.apmt.2024.102373</a:t>
            </a:r>
            <a:endParaRPr lang="en-US" sz="900" dirty="0"/>
          </a:p>
          <a:p>
            <a:pPr indent="0" marL="0">
              <a:spcAft>
                <a:spcPts val="600"/>
              </a:spcAft>
              <a:buNone/>
            </a:pPr>
            <a:r>
              <a:rPr lang="en-US" sz="900" dirty="0">
                <a:solidFill>
                  <a:schemeClr val="accent6"/>
                </a:solidFill>
                <a:latin typeface="Calibri" pitchFamily="34" charset="0"/>
                <a:ea typeface="Calibri" pitchFamily="34" charset="-122"/>
                <a:cs typeface="Calibri" pitchFamily="34" charset="-120"/>
              </a:rPr>
              <a:t>[3] “4Doodle,” Proc. CHI ’23, ACM. doi:10.1145/3544548.3581321</a:t>
            </a:r>
            <a:endParaRPr lang="en-US" sz="900" dirty="0"/>
          </a:p>
          <a:p>
            <a:pPr indent="0" marL="0">
              <a:spcAft>
                <a:spcPts val="600"/>
              </a:spcAft>
              <a:buNone/>
            </a:pPr>
            <a:r>
              <a:rPr lang="en-US" sz="900" dirty="0">
                <a:solidFill>
                  <a:schemeClr val="accent6"/>
                </a:solidFill>
                <a:latin typeface="Calibri" pitchFamily="34" charset="0"/>
                <a:ea typeface="Calibri" pitchFamily="34" charset="-122"/>
                <a:cs typeface="Calibri" pitchFamily="34" charset="-120"/>
              </a:rPr>
              <a:t>[4] X. Sun et al., Adv. Funct. Mater. 32(10), 2109805, 2022. doi:10.1002/adfm.202109805</a:t>
            </a:r>
            <a:endParaRPr lang="en-US" sz="900" dirty="0"/>
          </a:p>
          <a:p>
            <a:pPr indent="0" marL="0">
              <a:spcAft>
                <a:spcPts val="600"/>
              </a:spcAft>
              <a:buNone/>
            </a:pPr>
            <a:r>
              <a:rPr lang="en-US" sz="900" dirty="0">
                <a:solidFill>
                  <a:schemeClr val="accent6"/>
                </a:solidFill>
                <a:latin typeface="Calibri" pitchFamily="34" charset="0"/>
                <a:ea typeface="Calibri" pitchFamily="34" charset="-122"/>
                <a:cs typeface="Calibri" pitchFamily="34" charset="-120"/>
              </a:rPr>
              <a:t>[5] X. Sun et al., J. Mech. Phys. Solids, 105561, 2024. doi:10.1016/j.jmps.2024.105561</a:t>
            </a:r>
            <a:endParaRPr lang="en-US" sz="900" dirty="0"/>
          </a:p>
          <a:p>
            <a:pPr indent="0" marL="0">
              <a:spcAft>
                <a:spcPts val="600"/>
              </a:spcAft>
              <a:buNone/>
            </a:pPr>
            <a:r>
              <a:rPr lang="en-US" sz="900" dirty="0">
                <a:solidFill>
                  <a:schemeClr val="accent6"/>
                </a:solidFill>
                <a:latin typeface="Calibri" pitchFamily="34" charset="0"/>
                <a:ea typeface="Calibri" pitchFamily="34" charset="-122"/>
                <a:cs typeface="Calibri" pitchFamily="34" charset="-120"/>
              </a:rPr>
              <a:t>[6] github.com/proknapz/Fast-reverse-design-of-4D-printing (fork of MengtaoWANG/…)</a:t>
            </a:r>
            <a:endParaRPr lang="en-US" sz="900" dirty="0"/>
          </a:p>
        </p:txBody>
      </p:sp>
      <p:sp>
        <p:nvSpPr>
          <p:cNvPr id="9" name="Text 6"/>
          <p:cNvSpPr txBox="1"/>
          <p:nvPr/>
        </p:nvSpPr>
        <p:spPr>
          <a:xfrm>
            <a:off x="548640" y="4480560"/>
            <a:ext cx="5029200" cy="274320"/>
          </a:xfrm>
          <a:prstGeom prst="rect">
            <a:avLst/>
          </a:prstGeom>
          <a:noFill/>
          <a:ln/>
        </p:spPr>
        <p:txBody>
          <a:bodyPr wrap="square" lIns="0" tIns="0" rIns="0" bIns="0" rtlCol="0" anchor="t"/>
          <a:lstStyle/>
          <a:p>
            <a:pPr indent="0" marL="0">
              <a:buNone/>
            </a:pPr>
            <a:r>
              <a:rPr lang="en-US" sz="1100" dirty="0">
                <a:solidFill>
                  <a:schemeClr val="accent4"/>
                </a:solidFill>
                <a:latin typeface="Calibri" pitchFamily="34" charset="0"/>
                <a:ea typeface="Calibri" pitchFamily="34" charset="-122"/>
                <a:cs typeface="Calibri" pitchFamily="34" charset="-120"/>
              </a:rPr>
              <a:t>Pavan Kailas Patil  ·  Omar Khan  ·  UT Dallas</a:t>
            </a:r>
            <a:endParaRPr lang="en-US" sz="1100" dirty="0"/>
          </a:p>
        </p:txBody>
      </p:sp>
    </p:spTree>
  </p:cSld>
  <p:clrMapOvr>
    <a:masterClrMapping/>
  </p:clrMapOvr>
</p:sld>
</file>

<file path=ppt/theme/theme1.xml><?xml version="1.0" encoding="utf-8"?>
<a:theme xmlns:a="http://schemas.openxmlformats.org/drawingml/2006/main" name="Voxel Bold">
  <a:themeElements>
    <a:clrScheme name="Voxel Bold">
      <a:dk1>
        <a:srgbClr val="1B2333"/>
      </a:dk1>
      <a:lt1>
        <a:srgbClr val="FFFFFF"/>
      </a:lt1>
      <a:dk2>
        <a:srgbClr val="14213D"/>
      </a:dk2>
      <a:lt2>
        <a:srgbClr val="EEF2F6"/>
      </a:lt2>
      <a:accent1>
        <a:srgbClr val="0E9E8E"/>
      </a:accent1>
      <a:accent2>
        <a:srgbClr val="E4572E"/>
      </a:accent2>
      <a:accent3>
        <a:srgbClr val="F2B134"/>
      </a:accent3>
      <a:accent4>
        <a:srgbClr val="5B6B82"/>
      </a:accent4>
      <a:accent5>
        <a:srgbClr val="9FD8CF"/>
      </a:accent5>
      <a:accent6>
        <a:srgbClr val="C9D3DF"/>
      </a:accent6>
      <a:hlink>
        <a:srgbClr val="0E9E8E"/>
      </a:hlink>
      <a:folHlink>
        <a:srgbClr val="5B6B82"/>
      </a:folHlink>
    </a:clrScheme>
    <a:fontScheme name="Voxel Bold">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Freehand 4D Printing to AI-Driven Fast Reverse Design</dc:title>
  <dc:subject>PptxGenJS Presentation</dc:subject>
  <dc:creator>Pavan Kailas Patil; Omar Khan</dc:creator>
  <cp:lastModifiedBy>Pavan Kailas Patil; Omar Khan</cp:lastModifiedBy>
  <cp:revision>1</cp:revision>
  <dcterms:created xsi:type="dcterms:W3CDTF">2026-10-11T16:59:36Z</dcterms:created>
  <dcterms:modified xsi:type="dcterms:W3CDTF">2026-10-11T16:59:36Z</dcterms:modified>
</cp:coreProperties>
</file>